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product promise: AI helps prepare an investigation; a person owns the decision. The data shown is fictional. This is a course prototype, not a live bank monitoring or regulatory filing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distinction between alert and finding. An alert is a reason to investigate, not proof of fraud. The application is intentionally scoped to post-alert case work. The source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left to right, top row then bottom row. The last box contains supporting views rather than a mandatory sequential step. An investigator can also request more information or close the case, not only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“Where is the third-party alert webhook?”, answer directly: there is none. Forty-two alerts are imported from the fictional workbook, and two are calculated from fictional transaction fixtures during the local database build. incoming_monitor.py is a tested calculation component, not an authenticated ingestion service. A real feed needs identity, data contract, validation, deduplication, idempotency and durable storage. Rule Config previews sensitivities; it does not regenerate the alert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CASE-043 as the safer current-build example: both it and CASE-044 were derived from Rahul’s matched test data, but their hidden proposed outcomes were deliberately omitted. Four incoming rows total INR 1.2 million; six outgoing rows total INR 1.08 million. The source account has a six-month INR 80,000 monthly credit baseline, so incoming is 15 times baseline and outbound is 90 percent of incoming. These are account activity aggregates, not proof that any particular incoming rupee funded a particular outgoing payment. The opening INR 20,000 and ending INR 140,000 balance are fixture assumptions. The right next step is to request original evidence and verify counterparty identities; do not infer legality. CASE-041 remains in the deployed video, but its older captured material is separate and must not be mistaken for this new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SQLite file is rebuilt deterministically from a fictional workbook plus two fictional matched fixtures. The runtime file preserves user actions and audit history. The 1,770 case source records are generated text/row representations, not 1,770 uploaded documents. Original identity uploads remain zero. The workbook has an ACC-1004 collision between CUST-1004 and CUST-0004, so the code warns and withholds ownership-specific conclusions for older cases. Avoid saying the runtime audit is tamper-proof. Code: data/build_database.py, data/case_evidence.py and data/runtime_db.py.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decomposed fixed workflow, not six autonomous planning agents. Stages 1–5 use Python, SQLite and search. Stage 6 can use a non-generative calculated draft or optional Gemini. The single-trigger amount / average-transaction ratio is not the same as 24-hour aggregate incoming / six-month monthly credit baseline. GroundingValidator runs after the draft and cannot guarantee factual correctness. Code: agents/orchestrator.py, agents/transaction_investigation_agent.py, agents/calculated_summary.py.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retrieval corpora. For 24 synthetic playbooks, C0 is title plus escalation criteria and body chunks group two sentences. For 1,770 generated case records, paragraph chunks preserve source row IDs, SHA-256, case/customer scope and explicit verification status. Both use FTS5/BM25, not vector embeddings. Generated fictional PAN/OVD samples are deliberately invalid and clearly marked; they are not original KYC scans or independently verified evidence. The Evidence &amp; RAG page lets a professor inspect exact source and chunks on-site. Code: data/knowledge_search.py, data/case_evidence.py, agents/evidence_agent.py, pages/8_Evidence_RAG.py.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calculated draft uses current database facts and missing-evidence markers without calling a model. Gemini can draft a JSON-shaped report when configured; five saved reports support replay. The validator checks selected reference and math claims but can miss unsupported statements. A citation is not independent proof, and a PASS is not a legal assessment. The chat panel is separate. Code: agents/calculated_summary.py, agents/investigation_summary_agent.py, agents/grounding_validator.py, agents/chat_agent.py.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Human Decision panel. AI can suggest an outcome but cannot submit it. The reviewer can accept or reject individual draft findings and must enter a rationale. pages/2_Investigation_Demo.py lines 352–404 calls data/runtime_db.py record_human_decision. The selected display role is not real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Compliance Queue derives escalated cases from latest saved human decisions, not from LLM output alone. It records a second human action and rationale. Audit is persistent in this deployment but should not be described as immutable, legally certified or bank-grade. Code: pages/3_Compliance_Queue.py and data/runtime_db.py.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these pages in flow order, not menu order. Home introduces the product. Queue is the operational entry. Investigation is the main work area. Compliance is downstream only if escalated. Search, Analytics, RAG and Admin are supporting/explanatory views. The roster is a draft; confirm names and assignments with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oral pattern for each row: course idea; actual problem; exact file/screen; reason for this choice; honest boundary. Case studies can motivate principles but do not prove our results. In particular, DBS/Erica/BMW inform human oversight; they are not Indian regulatory evidence. Source: Product Docs/15-Course-Concept-Application-Map.md.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current local build, not the still-older public release. Do not imply tests prove fraud accuracy, business value or regulatory compliance. Original uploaded KYC files: zero. Some source account IDs are ambiguous; ACC-1004 has two customer owners, so the code withholds attribution. The fictional matched cases intentionally have unknown external identities. A real rollout needs legal/compliance ownership, data permissions, secure ingestion, monitoring, retention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roles are proposed, not verified completed contributions. Do not tell the evaluation panel that a person wrote code without checking commits and asking the team. Rahul is known to be a strong developer per user input, but that does not establish authorship of each module. Confirm the official group name and full roster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the one-sentence memory cue. For “Where is the third-party alert code?” answer that incoming_monitor.py calculates a signal from supplied data, but there is no authenticated bank endpoint or durable incoming feed. For “Is it fraud?” answer no: the app identifies activity for review. For “Where is the evidence?” show exact transaction IDs, generated source and chunk text, and the missing-evidence flags in Evidence &amp; RAG. For optional Gemini drafting, show agents/investigation_summary_agent.py; calculated_summary.py is the model-free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3B"/>
        </a:solidFill>
      </p:bgPr>
    </p:bg>
    <p:spTree>
      <p:nvGrpSpPr>
        <p:cNvPr id="1" name=""/>
        <p:cNvGrpSpPr/>
        <p:nvPr/>
      </p:nvGrpSpPr>
      <p:grpSpPr>
        <a:xfrm>
          <a:off x="0" y="0"/>
          <a:ext cx="0" cy="0"/>
          <a:chOff x="0" y="0"/>
          <a:chExt cx="0" cy="0"/>
        </a:xfrm>
      </p:grpSpPr>
      <p:sp>
        <p:nvSpPr>
          <p:cNvPr id="2" name="Text 0"/>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A9BDD7"/>
                </a:solidFill>
                <a:latin typeface="Arial" pitchFamily="34" charset="0"/>
                <a:ea typeface="Arial" pitchFamily="34" charset="-122"/>
                <a:cs typeface="Arial" pitchFamily="34" charset="-120"/>
              </a:rPr>
              <a:t>InvestigateIQ  /  Capstone Group 7</a:t>
            </a:r>
            <a:endParaRPr lang="en-US" sz="900" dirty="0"/>
          </a:p>
        </p:txBody>
      </p:sp>
      <p:sp>
        <p:nvSpPr>
          <p:cNvPr id="3" name="Text 1"/>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A9BDD7"/>
                </a:solidFill>
                <a:latin typeface="Arial" pitchFamily="34" charset="0"/>
                <a:ea typeface="Arial" pitchFamily="34" charset="-122"/>
                <a:cs typeface="Arial" pitchFamily="34" charset="-120"/>
              </a:rPr>
              <a:t>01</a:t>
            </a:r>
            <a:endParaRPr lang="en-US" sz="900" dirty="0"/>
          </a:p>
        </p:txBody>
      </p:sp>
      <p:sp>
        <p:nvSpPr>
          <p:cNvPr id="4" name="Text 2"/>
          <p:cNvSpPr txBox="1"/>
          <p:nvPr/>
        </p:nvSpPr>
        <p:spPr>
          <a:xfrm>
            <a:off x="658368" y="914400"/>
            <a:ext cx="7772400" cy="82296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rial" pitchFamily="34" charset="0"/>
                <a:ea typeface="Arial" pitchFamily="34" charset="-122"/>
                <a:cs typeface="Arial" pitchFamily="34" charset="-120"/>
              </a:rPr>
              <a:t>InvestigateIQ</a:t>
            </a:r>
            <a:endParaRPr lang="en-US" sz="4600" dirty="0"/>
          </a:p>
        </p:txBody>
      </p:sp>
      <p:sp>
        <p:nvSpPr>
          <p:cNvPr id="5" name="Text 3"/>
          <p:cNvSpPr txBox="1"/>
          <p:nvPr/>
        </p:nvSpPr>
        <p:spPr>
          <a:xfrm>
            <a:off x="685800" y="1856232"/>
            <a:ext cx="8869680" cy="475488"/>
          </a:xfrm>
          <a:prstGeom prst="rect">
            <a:avLst/>
          </a:prstGeom>
          <a:noFill/>
          <a:ln/>
        </p:spPr>
        <p:txBody>
          <a:bodyPr wrap="square" lIns="0" tIns="0" rIns="0" bIns="0" rtlCol="0" anchor="ctr">
            <a:normAutofit/>
          </a:bodyPr>
          <a:lstStyle/>
          <a:p>
            <a:pPr indent="0" marL="0">
              <a:buNone/>
            </a:pPr>
            <a:r>
              <a:rPr lang="en-US" sz="2300" dirty="0">
                <a:solidFill>
                  <a:srgbClr val="BFEAF0"/>
                </a:solidFill>
                <a:latin typeface="Arial" pitchFamily="34" charset="0"/>
                <a:ea typeface="Arial" pitchFamily="34" charset="-122"/>
                <a:cs typeface="Arial" pitchFamily="34" charset="-120"/>
              </a:rPr>
              <a:t>Trace the evidence. Own the decision.</a:t>
            </a:r>
            <a:endParaRPr lang="en-US" sz="2300" dirty="0"/>
          </a:p>
        </p:txBody>
      </p:sp>
      <p:sp>
        <p:nvSpPr>
          <p:cNvPr id="6" name="Text 4"/>
          <p:cNvSpPr txBox="1"/>
          <p:nvPr/>
        </p:nvSpPr>
        <p:spPr>
          <a:xfrm>
            <a:off x="685800" y="2633472"/>
            <a:ext cx="8869680" cy="438912"/>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Technical flow + code walkthrough</a:t>
            </a:r>
            <a:endParaRPr lang="en-US" sz="2100" dirty="0"/>
          </a:p>
        </p:txBody>
      </p:sp>
      <p:sp>
        <p:nvSpPr>
          <p:cNvPr id="7" name="Text 5"/>
          <p:cNvSpPr txBox="1"/>
          <p:nvPr/>
        </p:nvSpPr>
        <p:spPr>
          <a:xfrm>
            <a:off x="685800" y="3182112"/>
            <a:ext cx="8503920" cy="530352"/>
          </a:xfrm>
          <a:prstGeom prst="rect">
            <a:avLst/>
          </a:prstGeom>
          <a:noFill/>
          <a:ln/>
        </p:spPr>
        <p:txBody>
          <a:bodyPr wrap="square" lIns="0" tIns="0" rIns="0" bIns="0" rtlCol="0" anchor="ctr">
            <a:normAutofit/>
          </a:bodyPr>
          <a:lstStyle/>
          <a:p>
            <a:pPr indent="0" marL="0">
              <a:buNone/>
            </a:pPr>
            <a:r>
              <a:rPr lang="en-US" sz="1700" dirty="0">
                <a:solidFill>
                  <a:srgbClr val="C2D3E8"/>
                </a:solidFill>
                <a:latin typeface="Arial" pitchFamily="34" charset="0"/>
                <a:ea typeface="Arial" pitchFamily="34" charset="-122"/>
                <a:cs typeface="Arial" pitchFamily="34" charset="-120"/>
              </a:rPr>
              <a:t>How an alert becomes an evidence-linked draft, then a human decision.</a:t>
            </a:r>
            <a:endParaRPr lang="en-US" sz="1700" dirty="0"/>
          </a:p>
        </p:txBody>
      </p:sp>
      <p:sp>
        <p:nvSpPr>
          <p:cNvPr id="8" name="Shape 6"/>
          <p:cNvSpPr/>
          <p:nvPr/>
        </p:nvSpPr>
        <p:spPr>
          <a:xfrm>
            <a:off x="758952" y="4709160"/>
            <a:ext cx="530352" cy="530352"/>
          </a:xfrm>
          <a:prstGeom prst="ellipse">
            <a:avLst/>
          </a:prstGeom>
          <a:solidFill>
            <a:srgbClr val="087E8B"/>
          </a:solidFill>
          <a:ln w="12700">
            <a:solidFill>
              <a:srgbClr val="087E8B"/>
            </a:solidFill>
            <a:prstDash val="solid"/>
          </a:ln>
        </p:spPr>
      </p:sp>
      <p:sp>
        <p:nvSpPr>
          <p:cNvPr id="9" name="Text 7"/>
          <p:cNvSpPr txBox="1"/>
          <p:nvPr/>
        </p:nvSpPr>
        <p:spPr>
          <a:xfrm>
            <a:off x="758952" y="4709160"/>
            <a:ext cx="530352" cy="53035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A</a:t>
            </a:r>
            <a:endParaRPr lang="en-US" sz="1700" dirty="0"/>
          </a:p>
        </p:txBody>
      </p:sp>
      <p:sp>
        <p:nvSpPr>
          <p:cNvPr id="10" name="Text 8"/>
          <p:cNvSpPr txBox="1"/>
          <p:nvPr/>
        </p:nvSpPr>
        <p:spPr>
          <a:xfrm>
            <a:off x="649224" y="5340096"/>
            <a:ext cx="749808" cy="27432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Alert</a:t>
            </a:r>
            <a:endParaRPr lang="en-US" sz="1100" dirty="0"/>
          </a:p>
        </p:txBody>
      </p:sp>
      <p:sp>
        <p:nvSpPr>
          <p:cNvPr id="11" name="Shape 9"/>
          <p:cNvSpPr/>
          <p:nvPr/>
        </p:nvSpPr>
        <p:spPr>
          <a:xfrm>
            <a:off x="1340510" y="4961534"/>
            <a:ext cx="25603" cy="25603"/>
          </a:xfrm>
          <a:prstGeom prst="ellipse">
            <a:avLst/>
          </a:prstGeom>
          <a:solidFill>
            <a:srgbClr val="6EC9D2"/>
          </a:solidFill>
          <a:ln w="12700">
            <a:solidFill>
              <a:srgbClr val="6EC9D2"/>
            </a:solidFill>
            <a:prstDash val="solid"/>
          </a:ln>
        </p:spPr>
      </p:sp>
      <p:sp>
        <p:nvSpPr>
          <p:cNvPr id="12" name="Shape 10"/>
          <p:cNvSpPr/>
          <p:nvPr/>
        </p:nvSpPr>
        <p:spPr>
          <a:xfrm>
            <a:off x="1426072" y="4961534"/>
            <a:ext cx="25603" cy="25603"/>
          </a:xfrm>
          <a:prstGeom prst="ellipse">
            <a:avLst/>
          </a:prstGeom>
          <a:solidFill>
            <a:srgbClr val="6EC9D2"/>
          </a:solidFill>
          <a:ln w="12700">
            <a:solidFill>
              <a:srgbClr val="6EC9D2"/>
            </a:solidFill>
            <a:prstDash val="solid"/>
          </a:ln>
        </p:spPr>
      </p:sp>
      <p:sp>
        <p:nvSpPr>
          <p:cNvPr id="13" name="Shape 11"/>
          <p:cNvSpPr/>
          <p:nvPr/>
        </p:nvSpPr>
        <p:spPr>
          <a:xfrm>
            <a:off x="1511634" y="4961534"/>
            <a:ext cx="25603" cy="25603"/>
          </a:xfrm>
          <a:prstGeom prst="ellipse">
            <a:avLst/>
          </a:prstGeom>
          <a:solidFill>
            <a:srgbClr val="6EC9D2"/>
          </a:solidFill>
          <a:ln w="12700">
            <a:solidFill>
              <a:srgbClr val="6EC9D2"/>
            </a:solidFill>
            <a:prstDash val="solid"/>
          </a:ln>
        </p:spPr>
      </p:sp>
      <p:sp>
        <p:nvSpPr>
          <p:cNvPr id="14" name="Shape 12"/>
          <p:cNvSpPr/>
          <p:nvPr/>
        </p:nvSpPr>
        <p:spPr>
          <a:xfrm>
            <a:off x="1597196" y="4961534"/>
            <a:ext cx="25603" cy="25603"/>
          </a:xfrm>
          <a:prstGeom prst="ellipse">
            <a:avLst/>
          </a:prstGeom>
          <a:solidFill>
            <a:srgbClr val="6EC9D2"/>
          </a:solidFill>
          <a:ln w="12700">
            <a:solidFill>
              <a:srgbClr val="6EC9D2"/>
            </a:solidFill>
            <a:prstDash val="solid"/>
          </a:ln>
        </p:spPr>
      </p:sp>
      <p:sp>
        <p:nvSpPr>
          <p:cNvPr id="15" name="Shape 13"/>
          <p:cNvSpPr/>
          <p:nvPr/>
        </p:nvSpPr>
        <p:spPr>
          <a:xfrm>
            <a:off x="1682757" y="4961534"/>
            <a:ext cx="25603" cy="25603"/>
          </a:xfrm>
          <a:prstGeom prst="ellipse">
            <a:avLst/>
          </a:prstGeom>
          <a:solidFill>
            <a:srgbClr val="6EC9D2"/>
          </a:solidFill>
          <a:ln w="12700">
            <a:solidFill>
              <a:srgbClr val="6EC9D2"/>
            </a:solidFill>
            <a:prstDash val="solid"/>
          </a:ln>
        </p:spPr>
      </p:sp>
      <p:sp>
        <p:nvSpPr>
          <p:cNvPr id="16" name="Shape 14"/>
          <p:cNvSpPr/>
          <p:nvPr/>
        </p:nvSpPr>
        <p:spPr>
          <a:xfrm>
            <a:off x="1768319" y="4961534"/>
            <a:ext cx="25603" cy="25603"/>
          </a:xfrm>
          <a:prstGeom prst="ellipse">
            <a:avLst/>
          </a:prstGeom>
          <a:solidFill>
            <a:srgbClr val="6EC9D2"/>
          </a:solidFill>
          <a:ln w="12700">
            <a:solidFill>
              <a:srgbClr val="6EC9D2"/>
            </a:solidFill>
            <a:prstDash val="solid"/>
          </a:ln>
        </p:spPr>
      </p:sp>
      <p:sp>
        <p:nvSpPr>
          <p:cNvPr id="17" name="Shape 15"/>
          <p:cNvSpPr/>
          <p:nvPr/>
        </p:nvSpPr>
        <p:spPr>
          <a:xfrm>
            <a:off x="1853881" y="4961534"/>
            <a:ext cx="25603" cy="25603"/>
          </a:xfrm>
          <a:prstGeom prst="ellipse">
            <a:avLst/>
          </a:prstGeom>
          <a:solidFill>
            <a:srgbClr val="6EC9D2"/>
          </a:solidFill>
          <a:ln w="12700">
            <a:solidFill>
              <a:srgbClr val="6EC9D2"/>
            </a:solidFill>
            <a:prstDash val="solid"/>
          </a:ln>
        </p:spPr>
      </p:sp>
      <p:sp>
        <p:nvSpPr>
          <p:cNvPr id="18" name="Shape 16"/>
          <p:cNvSpPr/>
          <p:nvPr/>
        </p:nvSpPr>
        <p:spPr>
          <a:xfrm>
            <a:off x="1939442" y="4961534"/>
            <a:ext cx="25603" cy="25603"/>
          </a:xfrm>
          <a:prstGeom prst="ellipse">
            <a:avLst/>
          </a:prstGeom>
          <a:solidFill>
            <a:srgbClr val="6EC9D2"/>
          </a:solidFill>
          <a:ln w="12700">
            <a:solidFill>
              <a:srgbClr val="6EC9D2"/>
            </a:solidFill>
            <a:prstDash val="solid"/>
          </a:ln>
        </p:spPr>
      </p:sp>
      <p:sp>
        <p:nvSpPr>
          <p:cNvPr id="19" name="Shape 17"/>
          <p:cNvSpPr/>
          <p:nvPr/>
        </p:nvSpPr>
        <p:spPr>
          <a:xfrm>
            <a:off x="2025004" y="4961534"/>
            <a:ext cx="25603" cy="25603"/>
          </a:xfrm>
          <a:prstGeom prst="ellipse">
            <a:avLst/>
          </a:prstGeom>
          <a:solidFill>
            <a:srgbClr val="6EC9D2"/>
          </a:solidFill>
          <a:ln w="12700">
            <a:solidFill>
              <a:srgbClr val="6EC9D2"/>
            </a:solidFill>
            <a:prstDash val="solid"/>
          </a:ln>
        </p:spPr>
      </p:sp>
      <p:sp>
        <p:nvSpPr>
          <p:cNvPr id="20" name="Shape 18"/>
          <p:cNvSpPr/>
          <p:nvPr/>
        </p:nvSpPr>
        <p:spPr>
          <a:xfrm>
            <a:off x="2110566" y="4961534"/>
            <a:ext cx="25603" cy="25603"/>
          </a:xfrm>
          <a:prstGeom prst="ellipse">
            <a:avLst/>
          </a:prstGeom>
          <a:solidFill>
            <a:srgbClr val="6EC9D2"/>
          </a:solidFill>
          <a:ln w="12700">
            <a:solidFill>
              <a:srgbClr val="6EC9D2"/>
            </a:solidFill>
            <a:prstDash val="solid"/>
          </a:ln>
        </p:spPr>
      </p:sp>
      <p:sp>
        <p:nvSpPr>
          <p:cNvPr id="21" name="Shape 19"/>
          <p:cNvSpPr/>
          <p:nvPr/>
        </p:nvSpPr>
        <p:spPr>
          <a:xfrm>
            <a:off x="2196128" y="4961534"/>
            <a:ext cx="25603" cy="25603"/>
          </a:xfrm>
          <a:prstGeom prst="ellipse">
            <a:avLst/>
          </a:prstGeom>
          <a:solidFill>
            <a:srgbClr val="6EC9D2"/>
          </a:solidFill>
          <a:ln w="12700">
            <a:solidFill>
              <a:srgbClr val="6EC9D2"/>
            </a:solidFill>
            <a:prstDash val="solid"/>
          </a:ln>
        </p:spPr>
      </p:sp>
      <p:sp>
        <p:nvSpPr>
          <p:cNvPr id="22" name="Shape 20"/>
          <p:cNvSpPr/>
          <p:nvPr/>
        </p:nvSpPr>
        <p:spPr>
          <a:xfrm>
            <a:off x="2281689" y="4961534"/>
            <a:ext cx="25603" cy="25603"/>
          </a:xfrm>
          <a:prstGeom prst="ellipse">
            <a:avLst/>
          </a:prstGeom>
          <a:solidFill>
            <a:srgbClr val="6EC9D2"/>
          </a:solidFill>
          <a:ln w="12700">
            <a:solidFill>
              <a:srgbClr val="6EC9D2"/>
            </a:solidFill>
            <a:prstDash val="solid"/>
          </a:ln>
        </p:spPr>
      </p:sp>
      <p:sp>
        <p:nvSpPr>
          <p:cNvPr id="23" name="Shape 21"/>
          <p:cNvSpPr/>
          <p:nvPr/>
        </p:nvSpPr>
        <p:spPr>
          <a:xfrm>
            <a:off x="2367251" y="4961534"/>
            <a:ext cx="25603" cy="25603"/>
          </a:xfrm>
          <a:prstGeom prst="ellipse">
            <a:avLst/>
          </a:prstGeom>
          <a:solidFill>
            <a:srgbClr val="6EC9D2"/>
          </a:solidFill>
          <a:ln w="12700">
            <a:solidFill>
              <a:srgbClr val="6EC9D2"/>
            </a:solidFill>
            <a:prstDash val="solid"/>
          </a:ln>
        </p:spPr>
      </p:sp>
      <p:sp>
        <p:nvSpPr>
          <p:cNvPr id="24" name="Shape 22"/>
          <p:cNvSpPr/>
          <p:nvPr/>
        </p:nvSpPr>
        <p:spPr>
          <a:xfrm>
            <a:off x="2452813" y="4961534"/>
            <a:ext cx="25603" cy="25603"/>
          </a:xfrm>
          <a:prstGeom prst="ellipse">
            <a:avLst/>
          </a:prstGeom>
          <a:solidFill>
            <a:srgbClr val="6EC9D2"/>
          </a:solidFill>
          <a:ln w="12700">
            <a:solidFill>
              <a:srgbClr val="6EC9D2"/>
            </a:solidFill>
            <a:prstDash val="solid"/>
          </a:ln>
        </p:spPr>
      </p:sp>
      <p:sp>
        <p:nvSpPr>
          <p:cNvPr id="25" name="Text 23"/>
          <p:cNvSpPr txBox="1"/>
          <p:nvPr/>
        </p:nvSpPr>
        <p:spPr>
          <a:xfrm>
            <a:off x="2468880" y="4846320"/>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6EC9D2"/>
                </a:solidFill>
                <a:latin typeface="Arial" pitchFamily="34" charset="0"/>
                <a:ea typeface="Arial" pitchFamily="34" charset="-122"/>
                <a:cs typeface="Arial" pitchFamily="34" charset="-120"/>
              </a:rPr>
              <a:t>›</a:t>
            </a:r>
            <a:endParaRPr lang="en-US" sz="2000" dirty="0"/>
          </a:p>
        </p:txBody>
      </p:sp>
      <p:sp>
        <p:nvSpPr>
          <p:cNvPr id="26" name="Shape 24"/>
          <p:cNvSpPr/>
          <p:nvPr/>
        </p:nvSpPr>
        <p:spPr>
          <a:xfrm>
            <a:off x="2660904" y="4709160"/>
            <a:ext cx="530352" cy="530352"/>
          </a:xfrm>
          <a:prstGeom prst="ellipse">
            <a:avLst/>
          </a:prstGeom>
          <a:solidFill>
            <a:srgbClr val="087E8B"/>
          </a:solidFill>
          <a:ln w="12700">
            <a:solidFill>
              <a:srgbClr val="087E8B"/>
            </a:solidFill>
            <a:prstDash val="solid"/>
          </a:ln>
        </p:spPr>
      </p:sp>
      <p:sp>
        <p:nvSpPr>
          <p:cNvPr id="27" name="Text 25"/>
          <p:cNvSpPr txBox="1"/>
          <p:nvPr/>
        </p:nvSpPr>
        <p:spPr>
          <a:xfrm>
            <a:off x="2660904" y="4709160"/>
            <a:ext cx="530352" cy="53035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E</a:t>
            </a:r>
            <a:endParaRPr lang="en-US" sz="1700" dirty="0"/>
          </a:p>
        </p:txBody>
      </p:sp>
      <p:sp>
        <p:nvSpPr>
          <p:cNvPr id="28" name="Text 26"/>
          <p:cNvSpPr txBox="1"/>
          <p:nvPr/>
        </p:nvSpPr>
        <p:spPr>
          <a:xfrm>
            <a:off x="2551176" y="5340096"/>
            <a:ext cx="749808" cy="27432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Evidence</a:t>
            </a:r>
            <a:endParaRPr lang="en-US" sz="1100" dirty="0"/>
          </a:p>
        </p:txBody>
      </p:sp>
      <p:sp>
        <p:nvSpPr>
          <p:cNvPr id="29" name="Shape 27"/>
          <p:cNvSpPr/>
          <p:nvPr/>
        </p:nvSpPr>
        <p:spPr>
          <a:xfrm>
            <a:off x="3242462" y="4961534"/>
            <a:ext cx="25603" cy="25603"/>
          </a:xfrm>
          <a:prstGeom prst="ellipse">
            <a:avLst/>
          </a:prstGeom>
          <a:solidFill>
            <a:srgbClr val="6EC9D2"/>
          </a:solidFill>
          <a:ln w="12700">
            <a:solidFill>
              <a:srgbClr val="6EC9D2"/>
            </a:solidFill>
            <a:prstDash val="solid"/>
          </a:ln>
        </p:spPr>
      </p:sp>
      <p:sp>
        <p:nvSpPr>
          <p:cNvPr id="30" name="Shape 28"/>
          <p:cNvSpPr/>
          <p:nvPr/>
        </p:nvSpPr>
        <p:spPr>
          <a:xfrm>
            <a:off x="3328024" y="4961534"/>
            <a:ext cx="25603" cy="25603"/>
          </a:xfrm>
          <a:prstGeom prst="ellipse">
            <a:avLst/>
          </a:prstGeom>
          <a:solidFill>
            <a:srgbClr val="6EC9D2"/>
          </a:solidFill>
          <a:ln w="12700">
            <a:solidFill>
              <a:srgbClr val="6EC9D2"/>
            </a:solidFill>
            <a:prstDash val="solid"/>
          </a:ln>
        </p:spPr>
      </p:sp>
      <p:sp>
        <p:nvSpPr>
          <p:cNvPr id="31" name="Shape 29"/>
          <p:cNvSpPr/>
          <p:nvPr/>
        </p:nvSpPr>
        <p:spPr>
          <a:xfrm>
            <a:off x="3413586" y="4961534"/>
            <a:ext cx="25603" cy="25603"/>
          </a:xfrm>
          <a:prstGeom prst="ellipse">
            <a:avLst/>
          </a:prstGeom>
          <a:solidFill>
            <a:srgbClr val="6EC9D2"/>
          </a:solidFill>
          <a:ln w="12700">
            <a:solidFill>
              <a:srgbClr val="6EC9D2"/>
            </a:solidFill>
            <a:prstDash val="solid"/>
          </a:ln>
        </p:spPr>
      </p:sp>
      <p:sp>
        <p:nvSpPr>
          <p:cNvPr id="32" name="Shape 30"/>
          <p:cNvSpPr/>
          <p:nvPr/>
        </p:nvSpPr>
        <p:spPr>
          <a:xfrm>
            <a:off x="3499148" y="4961534"/>
            <a:ext cx="25603" cy="25603"/>
          </a:xfrm>
          <a:prstGeom prst="ellipse">
            <a:avLst/>
          </a:prstGeom>
          <a:solidFill>
            <a:srgbClr val="6EC9D2"/>
          </a:solidFill>
          <a:ln w="12700">
            <a:solidFill>
              <a:srgbClr val="6EC9D2"/>
            </a:solidFill>
            <a:prstDash val="solid"/>
          </a:ln>
        </p:spPr>
      </p:sp>
      <p:sp>
        <p:nvSpPr>
          <p:cNvPr id="33" name="Shape 31"/>
          <p:cNvSpPr/>
          <p:nvPr/>
        </p:nvSpPr>
        <p:spPr>
          <a:xfrm>
            <a:off x="3584709" y="4961534"/>
            <a:ext cx="25603" cy="25603"/>
          </a:xfrm>
          <a:prstGeom prst="ellipse">
            <a:avLst/>
          </a:prstGeom>
          <a:solidFill>
            <a:srgbClr val="6EC9D2"/>
          </a:solidFill>
          <a:ln w="12700">
            <a:solidFill>
              <a:srgbClr val="6EC9D2"/>
            </a:solidFill>
            <a:prstDash val="solid"/>
          </a:ln>
        </p:spPr>
      </p:sp>
      <p:sp>
        <p:nvSpPr>
          <p:cNvPr id="34" name="Shape 32"/>
          <p:cNvSpPr/>
          <p:nvPr/>
        </p:nvSpPr>
        <p:spPr>
          <a:xfrm>
            <a:off x="3670271" y="4961534"/>
            <a:ext cx="25603" cy="25603"/>
          </a:xfrm>
          <a:prstGeom prst="ellipse">
            <a:avLst/>
          </a:prstGeom>
          <a:solidFill>
            <a:srgbClr val="6EC9D2"/>
          </a:solidFill>
          <a:ln w="12700">
            <a:solidFill>
              <a:srgbClr val="6EC9D2"/>
            </a:solidFill>
            <a:prstDash val="solid"/>
          </a:ln>
        </p:spPr>
      </p:sp>
      <p:sp>
        <p:nvSpPr>
          <p:cNvPr id="35" name="Shape 33"/>
          <p:cNvSpPr/>
          <p:nvPr/>
        </p:nvSpPr>
        <p:spPr>
          <a:xfrm>
            <a:off x="3755833" y="4961534"/>
            <a:ext cx="25603" cy="25603"/>
          </a:xfrm>
          <a:prstGeom prst="ellipse">
            <a:avLst/>
          </a:prstGeom>
          <a:solidFill>
            <a:srgbClr val="6EC9D2"/>
          </a:solidFill>
          <a:ln w="12700">
            <a:solidFill>
              <a:srgbClr val="6EC9D2"/>
            </a:solidFill>
            <a:prstDash val="solid"/>
          </a:ln>
        </p:spPr>
      </p:sp>
      <p:sp>
        <p:nvSpPr>
          <p:cNvPr id="36" name="Shape 34"/>
          <p:cNvSpPr/>
          <p:nvPr/>
        </p:nvSpPr>
        <p:spPr>
          <a:xfrm>
            <a:off x="3841394" y="4961534"/>
            <a:ext cx="25603" cy="25603"/>
          </a:xfrm>
          <a:prstGeom prst="ellipse">
            <a:avLst/>
          </a:prstGeom>
          <a:solidFill>
            <a:srgbClr val="6EC9D2"/>
          </a:solidFill>
          <a:ln w="12700">
            <a:solidFill>
              <a:srgbClr val="6EC9D2"/>
            </a:solidFill>
            <a:prstDash val="solid"/>
          </a:ln>
        </p:spPr>
      </p:sp>
      <p:sp>
        <p:nvSpPr>
          <p:cNvPr id="37" name="Shape 35"/>
          <p:cNvSpPr/>
          <p:nvPr/>
        </p:nvSpPr>
        <p:spPr>
          <a:xfrm>
            <a:off x="3926956" y="4961534"/>
            <a:ext cx="25603" cy="25603"/>
          </a:xfrm>
          <a:prstGeom prst="ellipse">
            <a:avLst/>
          </a:prstGeom>
          <a:solidFill>
            <a:srgbClr val="6EC9D2"/>
          </a:solidFill>
          <a:ln w="12700">
            <a:solidFill>
              <a:srgbClr val="6EC9D2"/>
            </a:solidFill>
            <a:prstDash val="solid"/>
          </a:ln>
        </p:spPr>
      </p:sp>
      <p:sp>
        <p:nvSpPr>
          <p:cNvPr id="38" name="Shape 36"/>
          <p:cNvSpPr/>
          <p:nvPr/>
        </p:nvSpPr>
        <p:spPr>
          <a:xfrm>
            <a:off x="4012518" y="4961534"/>
            <a:ext cx="25603" cy="25603"/>
          </a:xfrm>
          <a:prstGeom prst="ellipse">
            <a:avLst/>
          </a:prstGeom>
          <a:solidFill>
            <a:srgbClr val="6EC9D2"/>
          </a:solidFill>
          <a:ln w="12700">
            <a:solidFill>
              <a:srgbClr val="6EC9D2"/>
            </a:solidFill>
            <a:prstDash val="solid"/>
          </a:ln>
        </p:spPr>
      </p:sp>
      <p:sp>
        <p:nvSpPr>
          <p:cNvPr id="39" name="Shape 37"/>
          <p:cNvSpPr/>
          <p:nvPr/>
        </p:nvSpPr>
        <p:spPr>
          <a:xfrm>
            <a:off x="4098080" y="4961534"/>
            <a:ext cx="25603" cy="25603"/>
          </a:xfrm>
          <a:prstGeom prst="ellipse">
            <a:avLst/>
          </a:prstGeom>
          <a:solidFill>
            <a:srgbClr val="6EC9D2"/>
          </a:solidFill>
          <a:ln w="12700">
            <a:solidFill>
              <a:srgbClr val="6EC9D2"/>
            </a:solidFill>
            <a:prstDash val="solid"/>
          </a:ln>
        </p:spPr>
      </p:sp>
      <p:sp>
        <p:nvSpPr>
          <p:cNvPr id="40" name="Shape 38"/>
          <p:cNvSpPr/>
          <p:nvPr/>
        </p:nvSpPr>
        <p:spPr>
          <a:xfrm>
            <a:off x="4183641" y="4961534"/>
            <a:ext cx="25603" cy="25603"/>
          </a:xfrm>
          <a:prstGeom prst="ellipse">
            <a:avLst/>
          </a:prstGeom>
          <a:solidFill>
            <a:srgbClr val="6EC9D2"/>
          </a:solidFill>
          <a:ln w="12700">
            <a:solidFill>
              <a:srgbClr val="6EC9D2"/>
            </a:solidFill>
            <a:prstDash val="solid"/>
          </a:ln>
        </p:spPr>
      </p:sp>
      <p:sp>
        <p:nvSpPr>
          <p:cNvPr id="41" name="Shape 39"/>
          <p:cNvSpPr/>
          <p:nvPr/>
        </p:nvSpPr>
        <p:spPr>
          <a:xfrm>
            <a:off x="4269203" y="4961534"/>
            <a:ext cx="25603" cy="25603"/>
          </a:xfrm>
          <a:prstGeom prst="ellipse">
            <a:avLst/>
          </a:prstGeom>
          <a:solidFill>
            <a:srgbClr val="6EC9D2"/>
          </a:solidFill>
          <a:ln w="12700">
            <a:solidFill>
              <a:srgbClr val="6EC9D2"/>
            </a:solidFill>
            <a:prstDash val="solid"/>
          </a:ln>
        </p:spPr>
      </p:sp>
      <p:sp>
        <p:nvSpPr>
          <p:cNvPr id="42" name="Shape 40"/>
          <p:cNvSpPr/>
          <p:nvPr/>
        </p:nvSpPr>
        <p:spPr>
          <a:xfrm>
            <a:off x="4354765" y="4961534"/>
            <a:ext cx="25603" cy="25603"/>
          </a:xfrm>
          <a:prstGeom prst="ellipse">
            <a:avLst/>
          </a:prstGeom>
          <a:solidFill>
            <a:srgbClr val="6EC9D2"/>
          </a:solidFill>
          <a:ln w="12700">
            <a:solidFill>
              <a:srgbClr val="6EC9D2"/>
            </a:solidFill>
            <a:prstDash val="solid"/>
          </a:ln>
        </p:spPr>
      </p:sp>
      <p:sp>
        <p:nvSpPr>
          <p:cNvPr id="43" name="Text 41"/>
          <p:cNvSpPr txBox="1"/>
          <p:nvPr/>
        </p:nvSpPr>
        <p:spPr>
          <a:xfrm>
            <a:off x="4370832" y="4846320"/>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6EC9D2"/>
                </a:solidFill>
                <a:latin typeface="Arial" pitchFamily="34" charset="0"/>
                <a:ea typeface="Arial" pitchFamily="34" charset="-122"/>
                <a:cs typeface="Arial" pitchFamily="34" charset="-120"/>
              </a:rPr>
              <a:t>›</a:t>
            </a:r>
            <a:endParaRPr lang="en-US" sz="2000" dirty="0"/>
          </a:p>
        </p:txBody>
      </p:sp>
      <p:sp>
        <p:nvSpPr>
          <p:cNvPr id="44" name="Shape 42"/>
          <p:cNvSpPr/>
          <p:nvPr/>
        </p:nvSpPr>
        <p:spPr>
          <a:xfrm>
            <a:off x="4562856" y="4709160"/>
            <a:ext cx="530352" cy="530352"/>
          </a:xfrm>
          <a:prstGeom prst="ellipse">
            <a:avLst/>
          </a:prstGeom>
          <a:solidFill>
            <a:srgbClr val="087E8B"/>
          </a:solidFill>
          <a:ln w="12700">
            <a:solidFill>
              <a:srgbClr val="087E8B"/>
            </a:solidFill>
            <a:prstDash val="solid"/>
          </a:ln>
        </p:spPr>
      </p:sp>
      <p:sp>
        <p:nvSpPr>
          <p:cNvPr id="45" name="Text 43"/>
          <p:cNvSpPr txBox="1"/>
          <p:nvPr/>
        </p:nvSpPr>
        <p:spPr>
          <a:xfrm>
            <a:off x="4562856" y="4709160"/>
            <a:ext cx="530352" cy="53035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R</a:t>
            </a:r>
            <a:endParaRPr lang="en-US" sz="1700" dirty="0"/>
          </a:p>
        </p:txBody>
      </p:sp>
      <p:sp>
        <p:nvSpPr>
          <p:cNvPr id="46" name="Text 44"/>
          <p:cNvSpPr txBox="1"/>
          <p:nvPr/>
        </p:nvSpPr>
        <p:spPr>
          <a:xfrm>
            <a:off x="4453128" y="5340096"/>
            <a:ext cx="749808" cy="27432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Retrieve</a:t>
            </a:r>
            <a:endParaRPr lang="en-US" sz="1100" dirty="0"/>
          </a:p>
        </p:txBody>
      </p:sp>
      <p:sp>
        <p:nvSpPr>
          <p:cNvPr id="47" name="Shape 45"/>
          <p:cNvSpPr/>
          <p:nvPr/>
        </p:nvSpPr>
        <p:spPr>
          <a:xfrm>
            <a:off x="5144414" y="4961534"/>
            <a:ext cx="25603" cy="25603"/>
          </a:xfrm>
          <a:prstGeom prst="ellipse">
            <a:avLst/>
          </a:prstGeom>
          <a:solidFill>
            <a:srgbClr val="6EC9D2"/>
          </a:solidFill>
          <a:ln w="12700">
            <a:solidFill>
              <a:srgbClr val="6EC9D2"/>
            </a:solidFill>
            <a:prstDash val="solid"/>
          </a:ln>
        </p:spPr>
      </p:sp>
      <p:sp>
        <p:nvSpPr>
          <p:cNvPr id="48" name="Shape 46"/>
          <p:cNvSpPr/>
          <p:nvPr/>
        </p:nvSpPr>
        <p:spPr>
          <a:xfrm>
            <a:off x="5229976" y="4961534"/>
            <a:ext cx="25603" cy="25603"/>
          </a:xfrm>
          <a:prstGeom prst="ellipse">
            <a:avLst/>
          </a:prstGeom>
          <a:solidFill>
            <a:srgbClr val="6EC9D2"/>
          </a:solidFill>
          <a:ln w="12700">
            <a:solidFill>
              <a:srgbClr val="6EC9D2"/>
            </a:solidFill>
            <a:prstDash val="solid"/>
          </a:ln>
        </p:spPr>
      </p:sp>
      <p:sp>
        <p:nvSpPr>
          <p:cNvPr id="49" name="Shape 47"/>
          <p:cNvSpPr/>
          <p:nvPr/>
        </p:nvSpPr>
        <p:spPr>
          <a:xfrm>
            <a:off x="5315538" y="4961534"/>
            <a:ext cx="25603" cy="25603"/>
          </a:xfrm>
          <a:prstGeom prst="ellipse">
            <a:avLst/>
          </a:prstGeom>
          <a:solidFill>
            <a:srgbClr val="6EC9D2"/>
          </a:solidFill>
          <a:ln w="12700">
            <a:solidFill>
              <a:srgbClr val="6EC9D2"/>
            </a:solidFill>
            <a:prstDash val="solid"/>
          </a:ln>
        </p:spPr>
      </p:sp>
      <p:sp>
        <p:nvSpPr>
          <p:cNvPr id="50" name="Shape 48"/>
          <p:cNvSpPr/>
          <p:nvPr/>
        </p:nvSpPr>
        <p:spPr>
          <a:xfrm>
            <a:off x="5401100" y="4961534"/>
            <a:ext cx="25603" cy="25603"/>
          </a:xfrm>
          <a:prstGeom prst="ellipse">
            <a:avLst/>
          </a:prstGeom>
          <a:solidFill>
            <a:srgbClr val="6EC9D2"/>
          </a:solidFill>
          <a:ln w="12700">
            <a:solidFill>
              <a:srgbClr val="6EC9D2"/>
            </a:solidFill>
            <a:prstDash val="solid"/>
          </a:ln>
        </p:spPr>
      </p:sp>
      <p:sp>
        <p:nvSpPr>
          <p:cNvPr id="51" name="Shape 49"/>
          <p:cNvSpPr/>
          <p:nvPr/>
        </p:nvSpPr>
        <p:spPr>
          <a:xfrm>
            <a:off x="5486661" y="4961534"/>
            <a:ext cx="25603" cy="25603"/>
          </a:xfrm>
          <a:prstGeom prst="ellipse">
            <a:avLst/>
          </a:prstGeom>
          <a:solidFill>
            <a:srgbClr val="6EC9D2"/>
          </a:solidFill>
          <a:ln w="12700">
            <a:solidFill>
              <a:srgbClr val="6EC9D2"/>
            </a:solidFill>
            <a:prstDash val="solid"/>
          </a:ln>
        </p:spPr>
      </p:sp>
      <p:sp>
        <p:nvSpPr>
          <p:cNvPr id="52" name="Shape 50"/>
          <p:cNvSpPr/>
          <p:nvPr/>
        </p:nvSpPr>
        <p:spPr>
          <a:xfrm>
            <a:off x="5572223" y="4961534"/>
            <a:ext cx="25603" cy="25603"/>
          </a:xfrm>
          <a:prstGeom prst="ellipse">
            <a:avLst/>
          </a:prstGeom>
          <a:solidFill>
            <a:srgbClr val="6EC9D2"/>
          </a:solidFill>
          <a:ln w="12700">
            <a:solidFill>
              <a:srgbClr val="6EC9D2"/>
            </a:solidFill>
            <a:prstDash val="solid"/>
          </a:ln>
        </p:spPr>
      </p:sp>
      <p:sp>
        <p:nvSpPr>
          <p:cNvPr id="53" name="Shape 51"/>
          <p:cNvSpPr/>
          <p:nvPr/>
        </p:nvSpPr>
        <p:spPr>
          <a:xfrm>
            <a:off x="5657785" y="4961534"/>
            <a:ext cx="25603" cy="25603"/>
          </a:xfrm>
          <a:prstGeom prst="ellipse">
            <a:avLst/>
          </a:prstGeom>
          <a:solidFill>
            <a:srgbClr val="6EC9D2"/>
          </a:solidFill>
          <a:ln w="12700">
            <a:solidFill>
              <a:srgbClr val="6EC9D2"/>
            </a:solidFill>
            <a:prstDash val="solid"/>
          </a:ln>
        </p:spPr>
      </p:sp>
      <p:sp>
        <p:nvSpPr>
          <p:cNvPr id="54" name="Shape 52"/>
          <p:cNvSpPr/>
          <p:nvPr/>
        </p:nvSpPr>
        <p:spPr>
          <a:xfrm>
            <a:off x="5743346" y="4961534"/>
            <a:ext cx="25603" cy="25603"/>
          </a:xfrm>
          <a:prstGeom prst="ellipse">
            <a:avLst/>
          </a:prstGeom>
          <a:solidFill>
            <a:srgbClr val="6EC9D2"/>
          </a:solidFill>
          <a:ln w="12700">
            <a:solidFill>
              <a:srgbClr val="6EC9D2"/>
            </a:solidFill>
            <a:prstDash val="solid"/>
          </a:ln>
        </p:spPr>
      </p:sp>
      <p:sp>
        <p:nvSpPr>
          <p:cNvPr id="55" name="Shape 53"/>
          <p:cNvSpPr/>
          <p:nvPr/>
        </p:nvSpPr>
        <p:spPr>
          <a:xfrm>
            <a:off x="5828908" y="4961534"/>
            <a:ext cx="25603" cy="25603"/>
          </a:xfrm>
          <a:prstGeom prst="ellipse">
            <a:avLst/>
          </a:prstGeom>
          <a:solidFill>
            <a:srgbClr val="6EC9D2"/>
          </a:solidFill>
          <a:ln w="12700">
            <a:solidFill>
              <a:srgbClr val="6EC9D2"/>
            </a:solidFill>
            <a:prstDash val="solid"/>
          </a:ln>
        </p:spPr>
      </p:sp>
      <p:sp>
        <p:nvSpPr>
          <p:cNvPr id="56" name="Shape 54"/>
          <p:cNvSpPr/>
          <p:nvPr/>
        </p:nvSpPr>
        <p:spPr>
          <a:xfrm>
            <a:off x="5914470" y="4961534"/>
            <a:ext cx="25603" cy="25603"/>
          </a:xfrm>
          <a:prstGeom prst="ellipse">
            <a:avLst/>
          </a:prstGeom>
          <a:solidFill>
            <a:srgbClr val="6EC9D2"/>
          </a:solidFill>
          <a:ln w="12700">
            <a:solidFill>
              <a:srgbClr val="6EC9D2"/>
            </a:solidFill>
            <a:prstDash val="solid"/>
          </a:ln>
        </p:spPr>
      </p:sp>
      <p:sp>
        <p:nvSpPr>
          <p:cNvPr id="57" name="Shape 55"/>
          <p:cNvSpPr/>
          <p:nvPr/>
        </p:nvSpPr>
        <p:spPr>
          <a:xfrm>
            <a:off x="6000032" y="4961534"/>
            <a:ext cx="25603" cy="25603"/>
          </a:xfrm>
          <a:prstGeom prst="ellipse">
            <a:avLst/>
          </a:prstGeom>
          <a:solidFill>
            <a:srgbClr val="6EC9D2"/>
          </a:solidFill>
          <a:ln w="12700">
            <a:solidFill>
              <a:srgbClr val="6EC9D2"/>
            </a:solidFill>
            <a:prstDash val="solid"/>
          </a:ln>
        </p:spPr>
      </p:sp>
      <p:sp>
        <p:nvSpPr>
          <p:cNvPr id="58" name="Shape 56"/>
          <p:cNvSpPr/>
          <p:nvPr/>
        </p:nvSpPr>
        <p:spPr>
          <a:xfrm>
            <a:off x="6085593" y="4961534"/>
            <a:ext cx="25603" cy="25603"/>
          </a:xfrm>
          <a:prstGeom prst="ellipse">
            <a:avLst/>
          </a:prstGeom>
          <a:solidFill>
            <a:srgbClr val="6EC9D2"/>
          </a:solidFill>
          <a:ln w="12700">
            <a:solidFill>
              <a:srgbClr val="6EC9D2"/>
            </a:solidFill>
            <a:prstDash val="solid"/>
          </a:ln>
        </p:spPr>
      </p:sp>
      <p:sp>
        <p:nvSpPr>
          <p:cNvPr id="59" name="Shape 57"/>
          <p:cNvSpPr/>
          <p:nvPr/>
        </p:nvSpPr>
        <p:spPr>
          <a:xfrm>
            <a:off x="6171155" y="4961534"/>
            <a:ext cx="25603" cy="25603"/>
          </a:xfrm>
          <a:prstGeom prst="ellipse">
            <a:avLst/>
          </a:prstGeom>
          <a:solidFill>
            <a:srgbClr val="6EC9D2"/>
          </a:solidFill>
          <a:ln w="12700">
            <a:solidFill>
              <a:srgbClr val="6EC9D2"/>
            </a:solidFill>
            <a:prstDash val="solid"/>
          </a:ln>
        </p:spPr>
      </p:sp>
      <p:sp>
        <p:nvSpPr>
          <p:cNvPr id="60" name="Shape 58"/>
          <p:cNvSpPr/>
          <p:nvPr/>
        </p:nvSpPr>
        <p:spPr>
          <a:xfrm>
            <a:off x="6256717" y="4961534"/>
            <a:ext cx="25603" cy="25603"/>
          </a:xfrm>
          <a:prstGeom prst="ellipse">
            <a:avLst/>
          </a:prstGeom>
          <a:solidFill>
            <a:srgbClr val="6EC9D2"/>
          </a:solidFill>
          <a:ln w="12700">
            <a:solidFill>
              <a:srgbClr val="6EC9D2"/>
            </a:solidFill>
            <a:prstDash val="solid"/>
          </a:ln>
        </p:spPr>
      </p:sp>
      <p:sp>
        <p:nvSpPr>
          <p:cNvPr id="61" name="Text 59"/>
          <p:cNvSpPr txBox="1"/>
          <p:nvPr/>
        </p:nvSpPr>
        <p:spPr>
          <a:xfrm>
            <a:off x="6272784" y="4846320"/>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6EC9D2"/>
                </a:solidFill>
                <a:latin typeface="Arial" pitchFamily="34" charset="0"/>
                <a:ea typeface="Arial" pitchFamily="34" charset="-122"/>
                <a:cs typeface="Arial" pitchFamily="34" charset="-120"/>
              </a:rPr>
              <a:t>›</a:t>
            </a:r>
            <a:endParaRPr lang="en-US" sz="2000" dirty="0"/>
          </a:p>
        </p:txBody>
      </p:sp>
      <p:sp>
        <p:nvSpPr>
          <p:cNvPr id="62" name="Shape 60"/>
          <p:cNvSpPr/>
          <p:nvPr/>
        </p:nvSpPr>
        <p:spPr>
          <a:xfrm>
            <a:off x="6464808" y="4709160"/>
            <a:ext cx="530352" cy="530352"/>
          </a:xfrm>
          <a:prstGeom prst="ellipse">
            <a:avLst/>
          </a:prstGeom>
          <a:solidFill>
            <a:srgbClr val="087E8B"/>
          </a:solidFill>
          <a:ln w="12700">
            <a:solidFill>
              <a:srgbClr val="087E8B"/>
            </a:solidFill>
            <a:prstDash val="solid"/>
          </a:ln>
        </p:spPr>
      </p:sp>
      <p:sp>
        <p:nvSpPr>
          <p:cNvPr id="63" name="Text 61"/>
          <p:cNvSpPr txBox="1"/>
          <p:nvPr/>
        </p:nvSpPr>
        <p:spPr>
          <a:xfrm>
            <a:off x="6464808" y="4709160"/>
            <a:ext cx="530352" cy="53035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D</a:t>
            </a:r>
            <a:endParaRPr lang="en-US" sz="1700" dirty="0"/>
          </a:p>
        </p:txBody>
      </p:sp>
      <p:sp>
        <p:nvSpPr>
          <p:cNvPr id="64" name="Text 62"/>
          <p:cNvSpPr txBox="1"/>
          <p:nvPr/>
        </p:nvSpPr>
        <p:spPr>
          <a:xfrm>
            <a:off x="6355080" y="5340096"/>
            <a:ext cx="749808" cy="27432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Draft</a:t>
            </a:r>
            <a:endParaRPr lang="en-US" sz="1100" dirty="0"/>
          </a:p>
        </p:txBody>
      </p:sp>
      <p:sp>
        <p:nvSpPr>
          <p:cNvPr id="65" name="Shape 63"/>
          <p:cNvSpPr/>
          <p:nvPr/>
        </p:nvSpPr>
        <p:spPr>
          <a:xfrm>
            <a:off x="7046366" y="4961534"/>
            <a:ext cx="25603" cy="25603"/>
          </a:xfrm>
          <a:prstGeom prst="ellipse">
            <a:avLst/>
          </a:prstGeom>
          <a:solidFill>
            <a:srgbClr val="6EC9D2"/>
          </a:solidFill>
          <a:ln w="12700">
            <a:solidFill>
              <a:srgbClr val="6EC9D2"/>
            </a:solidFill>
            <a:prstDash val="solid"/>
          </a:ln>
        </p:spPr>
      </p:sp>
      <p:sp>
        <p:nvSpPr>
          <p:cNvPr id="66" name="Shape 64"/>
          <p:cNvSpPr/>
          <p:nvPr/>
        </p:nvSpPr>
        <p:spPr>
          <a:xfrm>
            <a:off x="7131928" y="4961534"/>
            <a:ext cx="25603" cy="25603"/>
          </a:xfrm>
          <a:prstGeom prst="ellipse">
            <a:avLst/>
          </a:prstGeom>
          <a:solidFill>
            <a:srgbClr val="6EC9D2"/>
          </a:solidFill>
          <a:ln w="12700">
            <a:solidFill>
              <a:srgbClr val="6EC9D2"/>
            </a:solidFill>
            <a:prstDash val="solid"/>
          </a:ln>
        </p:spPr>
      </p:sp>
      <p:sp>
        <p:nvSpPr>
          <p:cNvPr id="67" name="Shape 65"/>
          <p:cNvSpPr/>
          <p:nvPr/>
        </p:nvSpPr>
        <p:spPr>
          <a:xfrm>
            <a:off x="7217490" y="4961534"/>
            <a:ext cx="25603" cy="25603"/>
          </a:xfrm>
          <a:prstGeom prst="ellipse">
            <a:avLst/>
          </a:prstGeom>
          <a:solidFill>
            <a:srgbClr val="6EC9D2"/>
          </a:solidFill>
          <a:ln w="12700">
            <a:solidFill>
              <a:srgbClr val="6EC9D2"/>
            </a:solidFill>
            <a:prstDash val="solid"/>
          </a:ln>
        </p:spPr>
      </p:sp>
      <p:sp>
        <p:nvSpPr>
          <p:cNvPr id="68" name="Shape 66"/>
          <p:cNvSpPr/>
          <p:nvPr/>
        </p:nvSpPr>
        <p:spPr>
          <a:xfrm>
            <a:off x="7303052" y="4961534"/>
            <a:ext cx="25603" cy="25603"/>
          </a:xfrm>
          <a:prstGeom prst="ellipse">
            <a:avLst/>
          </a:prstGeom>
          <a:solidFill>
            <a:srgbClr val="6EC9D2"/>
          </a:solidFill>
          <a:ln w="12700">
            <a:solidFill>
              <a:srgbClr val="6EC9D2"/>
            </a:solidFill>
            <a:prstDash val="solid"/>
          </a:ln>
        </p:spPr>
      </p:sp>
      <p:sp>
        <p:nvSpPr>
          <p:cNvPr id="69" name="Shape 67"/>
          <p:cNvSpPr/>
          <p:nvPr/>
        </p:nvSpPr>
        <p:spPr>
          <a:xfrm>
            <a:off x="7388613" y="4961534"/>
            <a:ext cx="25603" cy="25603"/>
          </a:xfrm>
          <a:prstGeom prst="ellipse">
            <a:avLst/>
          </a:prstGeom>
          <a:solidFill>
            <a:srgbClr val="6EC9D2"/>
          </a:solidFill>
          <a:ln w="12700">
            <a:solidFill>
              <a:srgbClr val="6EC9D2"/>
            </a:solidFill>
            <a:prstDash val="solid"/>
          </a:ln>
        </p:spPr>
      </p:sp>
      <p:sp>
        <p:nvSpPr>
          <p:cNvPr id="70" name="Shape 68"/>
          <p:cNvSpPr/>
          <p:nvPr/>
        </p:nvSpPr>
        <p:spPr>
          <a:xfrm>
            <a:off x="7474175" y="4961534"/>
            <a:ext cx="25603" cy="25603"/>
          </a:xfrm>
          <a:prstGeom prst="ellipse">
            <a:avLst/>
          </a:prstGeom>
          <a:solidFill>
            <a:srgbClr val="6EC9D2"/>
          </a:solidFill>
          <a:ln w="12700">
            <a:solidFill>
              <a:srgbClr val="6EC9D2"/>
            </a:solidFill>
            <a:prstDash val="solid"/>
          </a:ln>
        </p:spPr>
      </p:sp>
      <p:sp>
        <p:nvSpPr>
          <p:cNvPr id="71" name="Shape 69"/>
          <p:cNvSpPr/>
          <p:nvPr/>
        </p:nvSpPr>
        <p:spPr>
          <a:xfrm>
            <a:off x="7559737" y="4961534"/>
            <a:ext cx="25603" cy="25603"/>
          </a:xfrm>
          <a:prstGeom prst="ellipse">
            <a:avLst/>
          </a:prstGeom>
          <a:solidFill>
            <a:srgbClr val="6EC9D2"/>
          </a:solidFill>
          <a:ln w="12700">
            <a:solidFill>
              <a:srgbClr val="6EC9D2"/>
            </a:solidFill>
            <a:prstDash val="solid"/>
          </a:ln>
        </p:spPr>
      </p:sp>
      <p:sp>
        <p:nvSpPr>
          <p:cNvPr id="72" name="Shape 70"/>
          <p:cNvSpPr/>
          <p:nvPr/>
        </p:nvSpPr>
        <p:spPr>
          <a:xfrm>
            <a:off x="7645298" y="4961534"/>
            <a:ext cx="25603" cy="25603"/>
          </a:xfrm>
          <a:prstGeom prst="ellipse">
            <a:avLst/>
          </a:prstGeom>
          <a:solidFill>
            <a:srgbClr val="6EC9D2"/>
          </a:solidFill>
          <a:ln w="12700">
            <a:solidFill>
              <a:srgbClr val="6EC9D2"/>
            </a:solidFill>
            <a:prstDash val="solid"/>
          </a:ln>
        </p:spPr>
      </p:sp>
      <p:sp>
        <p:nvSpPr>
          <p:cNvPr id="73" name="Shape 71"/>
          <p:cNvSpPr/>
          <p:nvPr/>
        </p:nvSpPr>
        <p:spPr>
          <a:xfrm>
            <a:off x="7730860" y="4961534"/>
            <a:ext cx="25603" cy="25603"/>
          </a:xfrm>
          <a:prstGeom prst="ellipse">
            <a:avLst/>
          </a:prstGeom>
          <a:solidFill>
            <a:srgbClr val="6EC9D2"/>
          </a:solidFill>
          <a:ln w="12700">
            <a:solidFill>
              <a:srgbClr val="6EC9D2"/>
            </a:solidFill>
            <a:prstDash val="solid"/>
          </a:ln>
        </p:spPr>
      </p:sp>
      <p:sp>
        <p:nvSpPr>
          <p:cNvPr id="74" name="Shape 72"/>
          <p:cNvSpPr/>
          <p:nvPr/>
        </p:nvSpPr>
        <p:spPr>
          <a:xfrm>
            <a:off x="7816422" y="4961534"/>
            <a:ext cx="25603" cy="25603"/>
          </a:xfrm>
          <a:prstGeom prst="ellipse">
            <a:avLst/>
          </a:prstGeom>
          <a:solidFill>
            <a:srgbClr val="6EC9D2"/>
          </a:solidFill>
          <a:ln w="12700">
            <a:solidFill>
              <a:srgbClr val="6EC9D2"/>
            </a:solidFill>
            <a:prstDash val="solid"/>
          </a:ln>
        </p:spPr>
      </p:sp>
      <p:sp>
        <p:nvSpPr>
          <p:cNvPr id="75" name="Shape 73"/>
          <p:cNvSpPr/>
          <p:nvPr/>
        </p:nvSpPr>
        <p:spPr>
          <a:xfrm>
            <a:off x="7901984" y="4961534"/>
            <a:ext cx="25603" cy="25603"/>
          </a:xfrm>
          <a:prstGeom prst="ellipse">
            <a:avLst/>
          </a:prstGeom>
          <a:solidFill>
            <a:srgbClr val="6EC9D2"/>
          </a:solidFill>
          <a:ln w="12700">
            <a:solidFill>
              <a:srgbClr val="6EC9D2"/>
            </a:solidFill>
            <a:prstDash val="solid"/>
          </a:ln>
        </p:spPr>
      </p:sp>
      <p:sp>
        <p:nvSpPr>
          <p:cNvPr id="76" name="Shape 74"/>
          <p:cNvSpPr/>
          <p:nvPr/>
        </p:nvSpPr>
        <p:spPr>
          <a:xfrm>
            <a:off x="7987545" y="4961534"/>
            <a:ext cx="25603" cy="25603"/>
          </a:xfrm>
          <a:prstGeom prst="ellipse">
            <a:avLst/>
          </a:prstGeom>
          <a:solidFill>
            <a:srgbClr val="6EC9D2"/>
          </a:solidFill>
          <a:ln w="12700">
            <a:solidFill>
              <a:srgbClr val="6EC9D2"/>
            </a:solidFill>
            <a:prstDash val="solid"/>
          </a:ln>
        </p:spPr>
      </p:sp>
      <p:sp>
        <p:nvSpPr>
          <p:cNvPr id="77" name="Shape 75"/>
          <p:cNvSpPr/>
          <p:nvPr/>
        </p:nvSpPr>
        <p:spPr>
          <a:xfrm>
            <a:off x="8073107" y="4961534"/>
            <a:ext cx="25603" cy="25603"/>
          </a:xfrm>
          <a:prstGeom prst="ellipse">
            <a:avLst/>
          </a:prstGeom>
          <a:solidFill>
            <a:srgbClr val="6EC9D2"/>
          </a:solidFill>
          <a:ln w="12700">
            <a:solidFill>
              <a:srgbClr val="6EC9D2"/>
            </a:solidFill>
            <a:prstDash val="solid"/>
          </a:ln>
        </p:spPr>
      </p:sp>
      <p:sp>
        <p:nvSpPr>
          <p:cNvPr id="78" name="Shape 76"/>
          <p:cNvSpPr/>
          <p:nvPr/>
        </p:nvSpPr>
        <p:spPr>
          <a:xfrm>
            <a:off x="8158669" y="4961534"/>
            <a:ext cx="25603" cy="25603"/>
          </a:xfrm>
          <a:prstGeom prst="ellipse">
            <a:avLst/>
          </a:prstGeom>
          <a:solidFill>
            <a:srgbClr val="6EC9D2"/>
          </a:solidFill>
          <a:ln w="12700">
            <a:solidFill>
              <a:srgbClr val="6EC9D2"/>
            </a:solidFill>
            <a:prstDash val="solid"/>
          </a:ln>
        </p:spPr>
      </p:sp>
      <p:sp>
        <p:nvSpPr>
          <p:cNvPr id="79" name="Text 77"/>
          <p:cNvSpPr txBox="1"/>
          <p:nvPr/>
        </p:nvSpPr>
        <p:spPr>
          <a:xfrm>
            <a:off x="8174736" y="4846320"/>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6EC9D2"/>
                </a:solidFill>
                <a:latin typeface="Arial" pitchFamily="34" charset="0"/>
                <a:ea typeface="Arial" pitchFamily="34" charset="-122"/>
                <a:cs typeface="Arial" pitchFamily="34" charset="-120"/>
              </a:rPr>
              <a:t>›</a:t>
            </a:r>
            <a:endParaRPr lang="en-US" sz="2000" dirty="0"/>
          </a:p>
        </p:txBody>
      </p:sp>
      <p:sp>
        <p:nvSpPr>
          <p:cNvPr id="80" name="Shape 78"/>
          <p:cNvSpPr/>
          <p:nvPr/>
        </p:nvSpPr>
        <p:spPr>
          <a:xfrm>
            <a:off x="8366760" y="4709160"/>
            <a:ext cx="530352" cy="530352"/>
          </a:xfrm>
          <a:prstGeom prst="ellipse">
            <a:avLst/>
          </a:prstGeom>
          <a:solidFill>
            <a:srgbClr val="087E8B"/>
          </a:solidFill>
          <a:ln w="12700">
            <a:solidFill>
              <a:srgbClr val="087E8B"/>
            </a:solidFill>
            <a:prstDash val="solid"/>
          </a:ln>
        </p:spPr>
      </p:sp>
      <p:sp>
        <p:nvSpPr>
          <p:cNvPr id="81" name="Text 79"/>
          <p:cNvSpPr txBox="1"/>
          <p:nvPr/>
        </p:nvSpPr>
        <p:spPr>
          <a:xfrm>
            <a:off x="8366760" y="4709160"/>
            <a:ext cx="530352" cy="53035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V</a:t>
            </a:r>
            <a:endParaRPr lang="en-US" sz="1700" dirty="0"/>
          </a:p>
        </p:txBody>
      </p:sp>
      <p:sp>
        <p:nvSpPr>
          <p:cNvPr id="82" name="Text 80"/>
          <p:cNvSpPr txBox="1"/>
          <p:nvPr/>
        </p:nvSpPr>
        <p:spPr>
          <a:xfrm>
            <a:off x="8257032" y="5340096"/>
            <a:ext cx="749808" cy="27432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Validate</a:t>
            </a:r>
            <a:endParaRPr lang="en-US" sz="1100" dirty="0"/>
          </a:p>
        </p:txBody>
      </p:sp>
      <p:sp>
        <p:nvSpPr>
          <p:cNvPr id="83" name="Shape 81"/>
          <p:cNvSpPr/>
          <p:nvPr/>
        </p:nvSpPr>
        <p:spPr>
          <a:xfrm>
            <a:off x="8948318" y="4961534"/>
            <a:ext cx="25603" cy="25603"/>
          </a:xfrm>
          <a:prstGeom prst="ellipse">
            <a:avLst/>
          </a:prstGeom>
          <a:solidFill>
            <a:srgbClr val="6EC9D2"/>
          </a:solidFill>
          <a:ln w="12700">
            <a:solidFill>
              <a:srgbClr val="6EC9D2"/>
            </a:solidFill>
            <a:prstDash val="solid"/>
          </a:ln>
        </p:spPr>
      </p:sp>
      <p:sp>
        <p:nvSpPr>
          <p:cNvPr id="84" name="Shape 82"/>
          <p:cNvSpPr/>
          <p:nvPr/>
        </p:nvSpPr>
        <p:spPr>
          <a:xfrm>
            <a:off x="9033880" y="4961534"/>
            <a:ext cx="25603" cy="25603"/>
          </a:xfrm>
          <a:prstGeom prst="ellipse">
            <a:avLst/>
          </a:prstGeom>
          <a:solidFill>
            <a:srgbClr val="6EC9D2"/>
          </a:solidFill>
          <a:ln w="12700">
            <a:solidFill>
              <a:srgbClr val="6EC9D2"/>
            </a:solidFill>
            <a:prstDash val="solid"/>
          </a:ln>
        </p:spPr>
      </p:sp>
      <p:sp>
        <p:nvSpPr>
          <p:cNvPr id="85" name="Shape 83"/>
          <p:cNvSpPr/>
          <p:nvPr/>
        </p:nvSpPr>
        <p:spPr>
          <a:xfrm>
            <a:off x="9119442" y="4961534"/>
            <a:ext cx="25603" cy="25603"/>
          </a:xfrm>
          <a:prstGeom prst="ellipse">
            <a:avLst/>
          </a:prstGeom>
          <a:solidFill>
            <a:srgbClr val="6EC9D2"/>
          </a:solidFill>
          <a:ln w="12700">
            <a:solidFill>
              <a:srgbClr val="6EC9D2"/>
            </a:solidFill>
            <a:prstDash val="solid"/>
          </a:ln>
        </p:spPr>
      </p:sp>
      <p:sp>
        <p:nvSpPr>
          <p:cNvPr id="86" name="Shape 84"/>
          <p:cNvSpPr/>
          <p:nvPr/>
        </p:nvSpPr>
        <p:spPr>
          <a:xfrm>
            <a:off x="9205004" y="4961534"/>
            <a:ext cx="25603" cy="25603"/>
          </a:xfrm>
          <a:prstGeom prst="ellipse">
            <a:avLst/>
          </a:prstGeom>
          <a:solidFill>
            <a:srgbClr val="6EC9D2"/>
          </a:solidFill>
          <a:ln w="12700">
            <a:solidFill>
              <a:srgbClr val="6EC9D2"/>
            </a:solidFill>
            <a:prstDash val="solid"/>
          </a:ln>
        </p:spPr>
      </p:sp>
      <p:sp>
        <p:nvSpPr>
          <p:cNvPr id="87" name="Shape 85"/>
          <p:cNvSpPr/>
          <p:nvPr/>
        </p:nvSpPr>
        <p:spPr>
          <a:xfrm>
            <a:off x="9290565" y="4961534"/>
            <a:ext cx="25603" cy="25603"/>
          </a:xfrm>
          <a:prstGeom prst="ellipse">
            <a:avLst/>
          </a:prstGeom>
          <a:solidFill>
            <a:srgbClr val="6EC9D2"/>
          </a:solidFill>
          <a:ln w="12700">
            <a:solidFill>
              <a:srgbClr val="6EC9D2"/>
            </a:solidFill>
            <a:prstDash val="solid"/>
          </a:ln>
        </p:spPr>
      </p:sp>
      <p:sp>
        <p:nvSpPr>
          <p:cNvPr id="88" name="Shape 86"/>
          <p:cNvSpPr/>
          <p:nvPr/>
        </p:nvSpPr>
        <p:spPr>
          <a:xfrm>
            <a:off x="9376127" y="4961534"/>
            <a:ext cx="25603" cy="25603"/>
          </a:xfrm>
          <a:prstGeom prst="ellipse">
            <a:avLst/>
          </a:prstGeom>
          <a:solidFill>
            <a:srgbClr val="6EC9D2"/>
          </a:solidFill>
          <a:ln w="12700">
            <a:solidFill>
              <a:srgbClr val="6EC9D2"/>
            </a:solidFill>
            <a:prstDash val="solid"/>
          </a:ln>
        </p:spPr>
      </p:sp>
      <p:sp>
        <p:nvSpPr>
          <p:cNvPr id="89" name="Shape 87"/>
          <p:cNvSpPr/>
          <p:nvPr/>
        </p:nvSpPr>
        <p:spPr>
          <a:xfrm>
            <a:off x="9461689" y="4961534"/>
            <a:ext cx="25603" cy="25603"/>
          </a:xfrm>
          <a:prstGeom prst="ellipse">
            <a:avLst/>
          </a:prstGeom>
          <a:solidFill>
            <a:srgbClr val="6EC9D2"/>
          </a:solidFill>
          <a:ln w="12700">
            <a:solidFill>
              <a:srgbClr val="6EC9D2"/>
            </a:solidFill>
            <a:prstDash val="solid"/>
          </a:ln>
        </p:spPr>
      </p:sp>
      <p:sp>
        <p:nvSpPr>
          <p:cNvPr id="90" name="Shape 88"/>
          <p:cNvSpPr/>
          <p:nvPr/>
        </p:nvSpPr>
        <p:spPr>
          <a:xfrm>
            <a:off x="9547250" y="4961534"/>
            <a:ext cx="25603" cy="25603"/>
          </a:xfrm>
          <a:prstGeom prst="ellipse">
            <a:avLst/>
          </a:prstGeom>
          <a:solidFill>
            <a:srgbClr val="6EC9D2"/>
          </a:solidFill>
          <a:ln w="12700">
            <a:solidFill>
              <a:srgbClr val="6EC9D2"/>
            </a:solidFill>
            <a:prstDash val="solid"/>
          </a:ln>
        </p:spPr>
      </p:sp>
      <p:sp>
        <p:nvSpPr>
          <p:cNvPr id="91" name="Shape 89"/>
          <p:cNvSpPr/>
          <p:nvPr/>
        </p:nvSpPr>
        <p:spPr>
          <a:xfrm>
            <a:off x="9632812" y="4961534"/>
            <a:ext cx="25603" cy="25603"/>
          </a:xfrm>
          <a:prstGeom prst="ellipse">
            <a:avLst/>
          </a:prstGeom>
          <a:solidFill>
            <a:srgbClr val="6EC9D2"/>
          </a:solidFill>
          <a:ln w="12700">
            <a:solidFill>
              <a:srgbClr val="6EC9D2"/>
            </a:solidFill>
            <a:prstDash val="solid"/>
          </a:ln>
        </p:spPr>
      </p:sp>
      <p:sp>
        <p:nvSpPr>
          <p:cNvPr id="92" name="Shape 90"/>
          <p:cNvSpPr/>
          <p:nvPr/>
        </p:nvSpPr>
        <p:spPr>
          <a:xfrm>
            <a:off x="9718374" y="4961534"/>
            <a:ext cx="25603" cy="25603"/>
          </a:xfrm>
          <a:prstGeom prst="ellipse">
            <a:avLst/>
          </a:prstGeom>
          <a:solidFill>
            <a:srgbClr val="6EC9D2"/>
          </a:solidFill>
          <a:ln w="12700">
            <a:solidFill>
              <a:srgbClr val="6EC9D2"/>
            </a:solidFill>
            <a:prstDash val="solid"/>
          </a:ln>
        </p:spPr>
      </p:sp>
      <p:sp>
        <p:nvSpPr>
          <p:cNvPr id="93" name="Shape 91"/>
          <p:cNvSpPr/>
          <p:nvPr/>
        </p:nvSpPr>
        <p:spPr>
          <a:xfrm>
            <a:off x="9803936" y="4961534"/>
            <a:ext cx="25603" cy="25603"/>
          </a:xfrm>
          <a:prstGeom prst="ellipse">
            <a:avLst/>
          </a:prstGeom>
          <a:solidFill>
            <a:srgbClr val="6EC9D2"/>
          </a:solidFill>
          <a:ln w="12700">
            <a:solidFill>
              <a:srgbClr val="6EC9D2"/>
            </a:solidFill>
            <a:prstDash val="solid"/>
          </a:ln>
        </p:spPr>
      </p:sp>
      <p:sp>
        <p:nvSpPr>
          <p:cNvPr id="94" name="Shape 92"/>
          <p:cNvSpPr/>
          <p:nvPr/>
        </p:nvSpPr>
        <p:spPr>
          <a:xfrm>
            <a:off x="9889497" y="4961534"/>
            <a:ext cx="25603" cy="25603"/>
          </a:xfrm>
          <a:prstGeom prst="ellipse">
            <a:avLst/>
          </a:prstGeom>
          <a:solidFill>
            <a:srgbClr val="6EC9D2"/>
          </a:solidFill>
          <a:ln w="12700">
            <a:solidFill>
              <a:srgbClr val="6EC9D2"/>
            </a:solidFill>
            <a:prstDash val="solid"/>
          </a:ln>
        </p:spPr>
      </p:sp>
      <p:sp>
        <p:nvSpPr>
          <p:cNvPr id="95" name="Shape 93"/>
          <p:cNvSpPr/>
          <p:nvPr/>
        </p:nvSpPr>
        <p:spPr>
          <a:xfrm>
            <a:off x="9975059" y="4961534"/>
            <a:ext cx="25603" cy="25603"/>
          </a:xfrm>
          <a:prstGeom prst="ellipse">
            <a:avLst/>
          </a:prstGeom>
          <a:solidFill>
            <a:srgbClr val="6EC9D2"/>
          </a:solidFill>
          <a:ln w="12700">
            <a:solidFill>
              <a:srgbClr val="6EC9D2"/>
            </a:solidFill>
            <a:prstDash val="solid"/>
          </a:ln>
        </p:spPr>
      </p:sp>
      <p:sp>
        <p:nvSpPr>
          <p:cNvPr id="96" name="Shape 94"/>
          <p:cNvSpPr/>
          <p:nvPr/>
        </p:nvSpPr>
        <p:spPr>
          <a:xfrm>
            <a:off x="10060621" y="4961534"/>
            <a:ext cx="25603" cy="25603"/>
          </a:xfrm>
          <a:prstGeom prst="ellipse">
            <a:avLst/>
          </a:prstGeom>
          <a:solidFill>
            <a:srgbClr val="6EC9D2"/>
          </a:solidFill>
          <a:ln w="12700">
            <a:solidFill>
              <a:srgbClr val="6EC9D2"/>
            </a:solidFill>
            <a:prstDash val="solid"/>
          </a:ln>
        </p:spPr>
      </p:sp>
      <p:sp>
        <p:nvSpPr>
          <p:cNvPr id="97" name="Text 95"/>
          <p:cNvSpPr txBox="1"/>
          <p:nvPr/>
        </p:nvSpPr>
        <p:spPr>
          <a:xfrm>
            <a:off x="10076688" y="4846320"/>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6EC9D2"/>
                </a:solidFill>
                <a:latin typeface="Arial" pitchFamily="34" charset="0"/>
                <a:ea typeface="Arial" pitchFamily="34" charset="-122"/>
                <a:cs typeface="Arial" pitchFamily="34" charset="-120"/>
              </a:rPr>
              <a:t>›</a:t>
            </a:r>
            <a:endParaRPr lang="en-US" sz="2000" dirty="0"/>
          </a:p>
        </p:txBody>
      </p:sp>
      <p:sp>
        <p:nvSpPr>
          <p:cNvPr id="98" name="Shape 96"/>
          <p:cNvSpPr/>
          <p:nvPr/>
        </p:nvSpPr>
        <p:spPr>
          <a:xfrm>
            <a:off x="10268712" y="4709160"/>
            <a:ext cx="530352" cy="530352"/>
          </a:xfrm>
          <a:prstGeom prst="ellipse">
            <a:avLst/>
          </a:prstGeom>
          <a:solidFill>
            <a:srgbClr val="B06A14"/>
          </a:solidFill>
          <a:ln w="12700">
            <a:solidFill>
              <a:srgbClr val="B06A14"/>
            </a:solidFill>
            <a:prstDash val="solid"/>
          </a:ln>
        </p:spPr>
      </p:sp>
      <p:sp>
        <p:nvSpPr>
          <p:cNvPr id="99" name="Text 97"/>
          <p:cNvSpPr txBox="1"/>
          <p:nvPr/>
        </p:nvSpPr>
        <p:spPr>
          <a:xfrm>
            <a:off x="10268712" y="4709160"/>
            <a:ext cx="530352" cy="53035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H</a:t>
            </a:r>
            <a:endParaRPr lang="en-US" sz="1700" dirty="0"/>
          </a:p>
        </p:txBody>
      </p:sp>
      <p:sp>
        <p:nvSpPr>
          <p:cNvPr id="100" name="Text 98"/>
          <p:cNvSpPr txBox="1"/>
          <p:nvPr/>
        </p:nvSpPr>
        <p:spPr>
          <a:xfrm>
            <a:off x="10158984" y="5340096"/>
            <a:ext cx="749808" cy="27432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Human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01 / WHY THIS EXISTS</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A narrow problem, with a clear boundary</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02</a:t>
            </a:r>
            <a:endParaRPr lang="en-US" sz="900" dirty="0"/>
          </a:p>
        </p:txBody>
      </p:sp>
      <p:sp>
        <p:nvSpPr>
          <p:cNvPr id="6" name="Shape 4"/>
          <p:cNvSpPr/>
          <p:nvPr/>
        </p:nvSpPr>
        <p:spPr>
          <a:xfrm>
            <a:off x="594360" y="1508760"/>
            <a:ext cx="5257800" cy="3310128"/>
          </a:xfrm>
          <a:prstGeom prst="roundRect">
            <a:avLst>
              <a:gd name="adj" fmla="val 4420"/>
            </a:avLst>
          </a:prstGeom>
          <a:solidFill>
            <a:srgbClr val="FFFFFF"/>
          </a:solidFill>
          <a:ln w="15240">
            <a:solidFill>
              <a:srgbClr val="C8D6E8"/>
            </a:solidFill>
            <a:prstDash val="solid"/>
          </a:ln>
        </p:spPr>
      </p:sp>
      <p:sp>
        <p:nvSpPr>
          <p:cNvPr id="7" name="Shape 5"/>
          <p:cNvSpPr/>
          <p:nvPr/>
        </p:nvSpPr>
        <p:spPr>
          <a:xfrm>
            <a:off x="758952" y="1691640"/>
            <a:ext cx="420624" cy="420624"/>
          </a:xfrm>
          <a:prstGeom prst="ellipse">
            <a:avLst/>
          </a:prstGeom>
          <a:solidFill>
            <a:srgbClr val="2E67B7"/>
          </a:solidFill>
          <a:ln w="12700">
            <a:solidFill>
              <a:srgbClr val="2E67B7"/>
            </a:solidFill>
            <a:prstDash val="solid"/>
          </a:ln>
        </p:spPr>
      </p:sp>
      <p:sp>
        <p:nvSpPr>
          <p:cNvPr id="8" name="Text 6"/>
          <p:cNvSpPr txBox="1"/>
          <p:nvPr/>
        </p:nvSpPr>
        <p:spPr>
          <a:xfrm>
            <a:off x="758952" y="1691640"/>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9" name="Text 7"/>
          <p:cNvSpPr txBox="1"/>
          <p:nvPr/>
        </p:nvSpPr>
        <p:spPr>
          <a:xfrm>
            <a:off x="1298448" y="1664208"/>
            <a:ext cx="437997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The investigator’s problem</a:t>
            </a:r>
            <a:endParaRPr lang="en-US" sz="1700" dirty="0"/>
          </a:p>
        </p:txBody>
      </p:sp>
      <p:sp>
        <p:nvSpPr>
          <p:cNvPr id="10" name="Text 8"/>
          <p:cNvSpPr txBox="1"/>
          <p:nvPr/>
        </p:nvSpPr>
        <p:spPr>
          <a:xfrm>
            <a:off x="777240" y="2231136"/>
            <a:ext cx="4892040" cy="2450592"/>
          </a:xfrm>
          <a:prstGeom prst="rect">
            <a:avLst/>
          </a:prstGeom>
          <a:noFill/>
          <a:ln/>
        </p:spPr>
        <p:txBody>
          <a:bodyPr wrap="square" lIns="0" tIns="0" rIns="0" bIns="0" rtlCol="0" anchor="t">
            <a:normAutofit/>
          </a:bodyPr>
          <a:lstStyle/>
          <a:p>
            <a:pPr indent="0" marL="0">
              <a:buNone/>
            </a:pPr>
            <a:r>
              <a:rPr lang="en-US" sz="1800" dirty="0">
                <a:solidFill>
                  <a:srgbClr val="5B6C81"/>
                </a:solidFill>
                <a:latin typeface="Arial" pitchFamily="34" charset="0"/>
                <a:ea typeface="Arial" pitchFamily="34" charset="-122"/>
                <a:cs typeface="Arial" pitchFamily="34" charset="-120"/>
              </a:rPr>
              <a:t>A monitoring alert is only a signal. Someone must connect customer context, transactions, relationships, documents and guidance before reaching a reasoned conclusion.</a:t>
            </a:r>
            <a:endParaRPr lang="en-US" sz="1800" dirty="0"/>
          </a:p>
        </p:txBody>
      </p:sp>
      <p:sp>
        <p:nvSpPr>
          <p:cNvPr id="11" name="Shape 9"/>
          <p:cNvSpPr/>
          <p:nvPr/>
        </p:nvSpPr>
        <p:spPr>
          <a:xfrm>
            <a:off x="6254496" y="1508760"/>
            <a:ext cx="5257800" cy="3310128"/>
          </a:xfrm>
          <a:prstGeom prst="roundRect">
            <a:avLst>
              <a:gd name="adj" fmla="val 4420"/>
            </a:avLst>
          </a:prstGeom>
          <a:solidFill>
            <a:srgbClr val="FFFFFF"/>
          </a:solidFill>
          <a:ln w="15240">
            <a:solidFill>
              <a:srgbClr val="C8D6E8"/>
            </a:solidFill>
            <a:prstDash val="solid"/>
          </a:ln>
        </p:spPr>
      </p:sp>
      <p:sp>
        <p:nvSpPr>
          <p:cNvPr id="12" name="Shape 10"/>
          <p:cNvSpPr/>
          <p:nvPr/>
        </p:nvSpPr>
        <p:spPr>
          <a:xfrm>
            <a:off x="6419088" y="1691640"/>
            <a:ext cx="420624" cy="420624"/>
          </a:xfrm>
          <a:prstGeom prst="ellipse">
            <a:avLst/>
          </a:prstGeom>
          <a:solidFill>
            <a:srgbClr val="087E8B"/>
          </a:solidFill>
          <a:ln w="12700">
            <a:solidFill>
              <a:srgbClr val="087E8B"/>
            </a:solidFill>
            <a:prstDash val="solid"/>
          </a:ln>
        </p:spPr>
      </p:sp>
      <p:sp>
        <p:nvSpPr>
          <p:cNvPr id="13" name="Text 11"/>
          <p:cNvSpPr txBox="1"/>
          <p:nvPr/>
        </p:nvSpPr>
        <p:spPr>
          <a:xfrm>
            <a:off x="6419088" y="1691640"/>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4" name="Text 12"/>
          <p:cNvSpPr txBox="1"/>
          <p:nvPr/>
        </p:nvSpPr>
        <p:spPr>
          <a:xfrm>
            <a:off x="6958584" y="1664208"/>
            <a:ext cx="437997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What this product does</a:t>
            </a:r>
            <a:endParaRPr lang="en-US" sz="1700" dirty="0"/>
          </a:p>
        </p:txBody>
      </p:sp>
      <p:sp>
        <p:nvSpPr>
          <p:cNvPr id="15" name="Text 13"/>
          <p:cNvSpPr txBox="1"/>
          <p:nvPr/>
        </p:nvSpPr>
        <p:spPr>
          <a:xfrm>
            <a:off x="6437376" y="2231136"/>
            <a:ext cx="4892040" cy="2450592"/>
          </a:xfrm>
          <a:prstGeom prst="rect">
            <a:avLst/>
          </a:prstGeom>
          <a:noFill/>
          <a:ln/>
        </p:spPr>
        <p:txBody>
          <a:bodyPr wrap="square" lIns="0" tIns="0" rIns="0" bIns="0" rtlCol="0" anchor="t">
            <a:normAutofit/>
          </a:bodyPr>
          <a:lstStyle/>
          <a:p>
            <a:pPr indent="0" marL="0">
              <a:buNone/>
            </a:pPr>
            <a:r>
              <a:rPr lang="en-US" sz="1800" dirty="0">
                <a:solidFill>
                  <a:srgbClr val="5B6C81"/>
                </a:solidFill>
                <a:latin typeface="Arial" pitchFamily="34" charset="0"/>
                <a:ea typeface="Arial" pitchFamily="34" charset="-122"/>
                <a:cs typeface="Arial" pitchFamily="34" charset="-120"/>
              </a:rPr>
              <a:t>One workspace assembles those records, retrieves relevant synthetic playbook text, drafts a cited report, checks selected claims and records a human action.</a:t>
            </a:r>
            <a:endParaRPr lang="en-US" sz="1800" dirty="0"/>
          </a:p>
        </p:txBody>
      </p:sp>
      <p:sp>
        <p:nvSpPr>
          <p:cNvPr id="16" name="Shape 14"/>
          <p:cNvSpPr/>
          <p:nvPr/>
        </p:nvSpPr>
        <p:spPr>
          <a:xfrm>
            <a:off x="676656" y="5212080"/>
            <a:ext cx="3017520" cy="292608"/>
          </a:xfrm>
          <a:prstGeom prst="roundRect">
            <a:avLst>
              <a:gd name="adj" fmla="val 31250"/>
            </a:avLst>
          </a:prstGeom>
          <a:solidFill>
            <a:srgbClr val="E1F4EB"/>
          </a:solidFill>
          <a:ln w="15240">
            <a:solidFill>
              <a:srgbClr val="E1F4EB"/>
            </a:solidFill>
            <a:prstDash val="solid"/>
          </a:ln>
        </p:spPr>
      </p:sp>
      <p:sp>
        <p:nvSpPr>
          <p:cNvPr id="17" name="Text 15"/>
          <p:cNvSpPr txBox="1"/>
          <p:nvPr/>
        </p:nvSpPr>
        <p:spPr>
          <a:xfrm>
            <a:off x="749808" y="5221224"/>
            <a:ext cx="2871216" cy="256032"/>
          </a:xfrm>
          <a:prstGeom prst="rect">
            <a:avLst/>
          </a:prstGeom>
          <a:noFill/>
          <a:ln/>
        </p:spPr>
        <p:txBody>
          <a:bodyPr wrap="square" lIns="0" tIns="0" rIns="0" bIns="0" rtlCol="0" anchor="ctr">
            <a:normAutofit/>
          </a:bodyPr>
          <a:lstStyle/>
          <a:p>
            <a:pPr algn="ctr" indent="0" marL="0">
              <a:buNone/>
            </a:pPr>
            <a:r>
              <a:rPr lang="en-US" sz="1000" b="1" dirty="0">
                <a:solidFill>
                  <a:srgbClr val="247352"/>
                </a:solidFill>
                <a:latin typeface="Arial" pitchFamily="34" charset="0"/>
                <a:ea typeface="Arial" pitchFamily="34" charset="-122"/>
                <a:cs typeface="Arial" pitchFamily="34" charset="-120"/>
              </a:rPr>
              <a:t>BUILT: investigation workflow</a:t>
            </a:r>
            <a:endParaRPr lang="en-US" sz="1000" dirty="0"/>
          </a:p>
        </p:txBody>
      </p:sp>
      <p:sp>
        <p:nvSpPr>
          <p:cNvPr id="18" name="Shape 16"/>
          <p:cNvSpPr/>
          <p:nvPr/>
        </p:nvSpPr>
        <p:spPr>
          <a:xfrm>
            <a:off x="3977640" y="5212080"/>
            <a:ext cx="3749040" cy="292608"/>
          </a:xfrm>
          <a:prstGeom prst="roundRect">
            <a:avLst>
              <a:gd name="adj" fmla="val 31250"/>
            </a:avLst>
          </a:prstGeom>
          <a:solidFill>
            <a:srgbClr val="F8E9E9"/>
          </a:solidFill>
          <a:ln w="15240">
            <a:solidFill>
              <a:srgbClr val="F8E9E9"/>
            </a:solidFill>
            <a:prstDash val="solid"/>
          </a:ln>
        </p:spPr>
      </p:sp>
      <p:sp>
        <p:nvSpPr>
          <p:cNvPr id="19" name="Text 17"/>
          <p:cNvSpPr txBox="1"/>
          <p:nvPr/>
        </p:nvSpPr>
        <p:spPr>
          <a:xfrm>
            <a:off x="4050792" y="5221224"/>
            <a:ext cx="3602736" cy="256032"/>
          </a:xfrm>
          <a:prstGeom prst="rect">
            <a:avLst/>
          </a:prstGeom>
          <a:noFill/>
          <a:ln/>
        </p:spPr>
        <p:txBody>
          <a:bodyPr wrap="square" lIns="0" tIns="0" rIns="0" bIns="0" rtlCol="0" anchor="ctr">
            <a:normAutofit/>
          </a:bodyPr>
          <a:lstStyle/>
          <a:p>
            <a:pPr algn="ctr" indent="0" marL="0">
              <a:buNone/>
            </a:pPr>
            <a:r>
              <a:rPr lang="en-US" sz="1000" b="1" dirty="0">
                <a:solidFill>
                  <a:srgbClr val="A24040"/>
                </a:solidFill>
                <a:latin typeface="Arial" pitchFamily="34" charset="0"/>
                <a:ea typeface="Arial" pitchFamily="34" charset="-122"/>
                <a:cs typeface="Arial" pitchFamily="34" charset="-120"/>
              </a:rPr>
              <a:t>NOT BUILT: real bank feed or filing</a:t>
            </a:r>
            <a:endParaRPr lang="en-US" sz="1000" dirty="0"/>
          </a:p>
        </p:txBody>
      </p:sp>
      <p:sp>
        <p:nvSpPr>
          <p:cNvPr id="20" name="Shape 18"/>
          <p:cNvSpPr/>
          <p:nvPr/>
        </p:nvSpPr>
        <p:spPr>
          <a:xfrm>
            <a:off x="8065008" y="5212080"/>
            <a:ext cx="2011680" cy="292608"/>
          </a:xfrm>
          <a:prstGeom prst="roundRect">
            <a:avLst>
              <a:gd name="adj" fmla="val 31250"/>
            </a:avLst>
          </a:prstGeom>
          <a:solidFill>
            <a:srgbClr val="F8E7BF"/>
          </a:solidFill>
          <a:ln w="15240">
            <a:solidFill>
              <a:srgbClr val="F8E7BF"/>
            </a:solidFill>
            <a:prstDash val="solid"/>
          </a:ln>
        </p:spPr>
      </p:sp>
      <p:sp>
        <p:nvSpPr>
          <p:cNvPr id="21" name="Text 19"/>
          <p:cNvSpPr txBox="1"/>
          <p:nvPr/>
        </p:nvSpPr>
        <p:spPr>
          <a:xfrm>
            <a:off x="8138160" y="5221224"/>
            <a:ext cx="1865376" cy="256032"/>
          </a:xfrm>
          <a:prstGeom prst="rect">
            <a:avLst/>
          </a:prstGeom>
          <a:noFill/>
          <a:ln/>
        </p:spPr>
        <p:txBody>
          <a:bodyPr wrap="square" lIns="0" tIns="0" rIns="0" bIns="0" rtlCol="0" anchor="ctr">
            <a:normAutofit/>
          </a:bodyPr>
          <a:lstStyle/>
          <a:p>
            <a:pPr algn="ctr" indent="0" marL="0">
              <a:buNone/>
            </a:pPr>
            <a:r>
              <a:rPr lang="en-US" sz="1000" b="1" dirty="0">
                <a:solidFill>
                  <a:srgbClr val="B06A14"/>
                </a:solidFill>
                <a:latin typeface="Arial" pitchFamily="34" charset="0"/>
                <a:ea typeface="Arial" pitchFamily="34" charset="-122"/>
                <a:cs typeface="Arial" pitchFamily="34" charset="-120"/>
              </a:rPr>
              <a:t>DATA: fictional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02 / THE OPERATING FLOW</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One case, end to end</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03</a:t>
            </a:r>
            <a:endParaRPr lang="en-US" sz="900" dirty="0"/>
          </a:p>
        </p:txBody>
      </p:sp>
      <p:sp>
        <p:nvSpPr>
          <p:cNvPr id="6" name="Shape 4"/>
          <p:cNvSpPr/>
          <p:nvPr/>
        </p:nvSpPr>
        <p:spPr>
          <a:xfrm>
            <a:off x="566928" y="1572768"/>
            <a:ext cx="2624328" cy="1627632"/>
          </a:xfrm>
          <a:prstGeom prst="roundRect">
            <a:avLst>
              <a:gd name="adj" fmla="val 8989"/>
            </a:avLst>
          </a:prstGeom>
          <a:solidFill>
            <a:srgbClr val="FFFFFF"/>
          </a:solidFill>
          <a:ln w="15240">
            <a:solidFill>
              <a:srgbClr val="C8D6E8"/>
            </a:solidFill>
            <a:prstDash val="solid"/>
          </a:ln>
        </p:spPr>
      </p:sp>
      <p:sp>
        <p:nvSpPr>
          <p:cNvPr id="7" name="Shape 5"/>
          <p:cNvSpPr/>
          <p:nvPr/>
        </p:nvSpPr>
        <p:spPr>
          <a:xfrm>
            <a:off x="731520" y="1755648"/>
            <a:ext cx="420624" cy="420624"/>
          </a:xfrm>
          <a:prstGeom prst="ellipse">
            <a:avLst/>
          </a:prstGeom>
          <a:solidFill>
            <a:srgbClr val="087E8B"/>
          </a:solidFill>
          <a:ln w="12700">
            <a:solidFill>
              <a:srgbClr val="087E8B"/>
            </a:solidFill>
            <a:prstDash val="solid"/>
          </a:ln>
        </p:spPr>
      </p:sp>
      <p:sp>
        <p:nvSpPr>
          <p:cNvPr id="8" name="Text 6"/>
          <p:cNvSpPr txBox="1"/>
          <p:nvPr/>
        </p:nvSpPr>
        <p:spPr>
          <a:xfrm>
            <a:off x="731520" y="17556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271016" y="17282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Review alert</a:t>
            </a:r>
            <a:endParaRPr lang="en-US" sz="1700" dirty="0"/>
          </a:p>
        </p:txBody>
      </p:sp>
      <p:sp>
        <p:nvSpPr>
          <p:cNvPr id="10" name="Text 8"/>
          <p:cNvSpPr txBox="1"/>
          <p:nvPr/>
        </p:nvSpPr>
        <p:spPr>
          <a:xfrm>
            <a:off x="749808" y="22951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Imported or calculated</a:t>
            </a:r>
            <a:endParaRPr lang="en-US" sz="1200" dirty="0"/>
          </a:p>
        </p:txBody>
      </p:sp>
      <p:sp>
        <p:nvSpPr>
          <p:cNvPr id="11" name="Shape 9"/>
          <p:cNvSpPr/>
          <p:nvPr/>
        </p:nvSpPr>
        <p:spPr>
          <a:xfrm>
            <a:off x="3215030" y="2392070"/>
            <a:ext cx="25603" cy="25603"/>
          </a:xfrm>
          <a:prstGeom prst="ellipse">
            <a:avLst/>
          </a:prstGeom>
          <a:solidFill>
            <a:srgbClr val="087E8B"/>
          </a:solidFill>
          <a:ln w="12700">
            <a:solidFill>
              <a:srgbClr val="087E8B"/>
            </a:solidFill>
            <a:prstDash val="solid"/>
          </a:ln>
        </p:spPr>
      </p:sp>
      <p:sp>
        <p:nvSpPr>
          <p:cNvPr id="12" name="Shape 10"/>
          <p:cNvSpPr/>
          <p:nvPr/>
        </p:nvSpPr>
        <p:spPr>
          <a:xfrm>
            <a:off x="3297326" y="2392070"/>
            <a:ext cx="25603" cy="25603"/>
          </a:xfrm>
          <a:prstGeom prst="ellipse">
            <a:avLst/>
          </a:prstGeom>
          <a:solidFill>
            <a:srgbClr val="087E8B"/>
          </a:solidFill>
          <a:ln w="12700">
            <a:solidFill>
              <a:srgbClr val="087E8B"/>
            </a:solidFill>
            <a:prstDash val="solid"/>
          </a:ln>
        </p:spPr>
      </p:sp>
      <p:sp>
        <p:nvSpPr>
          <p:cNvPr id="13" name="Shape 11"/>
          <p:cNvSpPr/>
          <p:nvPr/>
        </p:nvSpPr>
        <p:spPr>
          <a:xfrm>
            <a:off x="3379622" y="2392070"/>
            <a:ext cx="25603" cy="25603"/>
          </a:xfrm>
          <a:prstGeom prst="ellipse">
            <a:avLst/>
          </a:prstGeom>
          <a:solidFill>
            <a:srgbClr val="087E8B"/>
          </a:solidFill>
          <a:ln w="12700">
            <a:solidFill>
              <a:srgbClr val="087E8B"/>
            </a:solidFill>
            <a:prstDash val="solid"/>
          </a:ln>
        </p:spPr>
      </p:sp>
      <p:sp>
        <p:nvSpPr>
          <p:cNvPr id="14" name="Text 12"/>
          <p:cNvSpPr txBox="1"/>
          <p:nvPr/>
        </p:nvSpPr>
        <p:spPr>
          <a:xfrm>
            <a:off x="3392424" y="227685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3493008" y="1572768"/>
            <a:ext cx="2624328" cy="1627632"/>
          </a:xfrm>
          <a:prstGeom prst="roundRect">
            <a:avLst>
              <a:gd name="adj" fmla="val 8989"/>
            </a:avLst>
          </a:prstGeom>
          <a:solidFill>
            <a:srgbClr val="FFFFFF"/>
          </a:solidFill>
          <a:ln w="15240">
            <a:solidFill>
              <a:srgbClr val="C8D6E8"/>
            </a:solidFill>
            <a:prstDash val="solid"/>
          </a:ln>
        </p:spPr>
      </p:sp>
      <p:sp>
        <p:nvSpPr>
          <p:cNvPr id="16" name="Shape 14"/>
          <p:cNvSpPr/>
          <p:nvPr/>
        </p:nvSpPr>
        <p:spPr>
          <a:xfrm>
            <a:off x="3657600" y="1755648"/>
            <a:ext cx="420624" cy="420624"/>
          </a:xfrm>
          <a:prstGeom prst="ellipse">
            <a:avLst/>
          </a:prstGeom>
          <a:solidFill>
            <a:srgbClr val="087E8B"/>
          </a:solidFill>
          <a:ln w="12700">
            <a:solidFill>
              <a:srgbClr val="087E8B"/>
            </a:solidFill>
            <a:prstDash val="solid"/>
          </a:ln>
        </p:spPr>
      </p:sp>
      <p:sp>
        <p:nvSpPr>
          <p:cNvPr id="17" name="Text 15"/>
          <p:cNvSpPr txBox="1"/>
          <p:nvPr/>
        </p:nvSpPr>
        <p:spPr>
          <a:xfrm>
            <a:off x="3657600" y="17556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8" name="Text 16"/>
          <p:cNvSpPr txBox="1"/>
          <p:nvPr/>
        </p:nvSpPr>
        <p:spPr>
          <a:xfrm>
            <a:off x="4197096" y="17282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Case selected</a:t>
            </a:r>
            <a:endParaRPr lang="en-US" sz="1700" dirty="0"/>
          </a:p>
        </p:txBody>
      </p:sp>
      <p:sp>
        <p:nvSpPr>
          <p:cNvPr id="19" name="Text 17"/>
          <p:cNvSpPr txBox="1"/>
          <p:nvPr/>
        </p:nvSpPr>
        <p:spPr>
          <a:xfrm>
            <a:off x="3675888" y="22951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Investigation Workspace</a:t>
            </a:r>
            <a:endParaRPr lang="en-US" sz="1200" dirty="0"/>
          </a:p>
        </p:txBody>
      </p:sp>
      <p:sp>
        <p:nvSpPr>
          <p:cNvPr id="20" name="Shape 18"/>
          <p:cNvSpPr/>
          <p:nvPr/>
        </p:nvSpPr>
        <p:spPr>
          <a:xfrm>
            <a:off x="6141110" y="2392070"/>
            <a:ext cx="25603" cy="25603"/>
          </a:xfrm>
          <a:prstGeom prst="ellipse">
            <a:avLst/>
          </a:prstGeom>
          <a:solidFill>
            <a:srgbClr val="087E8B"/>
          </a:solidFill>
          <a:ln w="12700">
            <a:solidFill>
              <a:srgbClr val="087E8B"/>
            </a:solidFill>
            <a:prstDash val="solid"/>
          </a:ln>
        </p:spPr>
      </p:sp>
      <p:sp>
        <p:nvSpPr>
          <p:cNvPr id="21" name="Shape 19"/>
          <p:cNvSpPr/>
          <p:nvPr/>
        </p:nvSpPr>
        <p:spPr>
          <a:xfrm>
            <a:off x="6223406" y="2392070"/>
            <a:ext cx="25603" cy="25603"/>
          </a:xfrm>
          <a:prstGeom prst="ellipse">
            <a:avLst/>
          </a:prstGeom>
          <a:solidFill>
            <a:srgbClr val="087E8B"/>
          </a:solidFill>
          <a:ln w="12700">
            <a:solidFill>
              <a:srgbClr val="087E8B"/>
            </a:solidFill>
            <a:prstDash val="solid"/>
          </a:ln>
        </p:spPr>
      </p:sp>
      <p:sp>
        <p:nvSpPr>
          <p:cNvPr id="22" name="Shape 20"/>
          <p:cNvSpPr/>
          <p:nvPr/>
        </p:nvSpPr>
        <p:spPr>
          <a:xfrm>
            <a:off x="6305702" y="2392070"/>
            <a:ext cx="25603" cy="25603"/>
          </a:xfrm>
          <a:prstGeom prst="ellipse">
            <a:avLst/>
          </a:prstGeom>
          <a:solidFill>
            <a:srgbClr val="087E8B"/>
          </a:solidFill>
          <a:ln w="12700">
            <a:solidFill>
              <a:srgbClr val="087E8B"/>
            </a:solidFill>
            <a:prstDash val="solid"/>
          </a:ln>
        </p:spPr>
      </p:sp>
      <p:sp>
        <p:nvSpPr>
          <p:cNvPr id="23" name="Text 21"/>
          <p:cNvSpPr txBox="1"/>
          <p:nvPr/>
        </p:nvSpPr>
        <p:spPr>
          <a:xfrm>
            <a:off x="6318504" y="227685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6419088" y="1572768"/>
            <a:ext cx="2624328" cy="1627632"/>
          </a:xfrm>
          <a:prstGeom prst="roundRect">
            <a:avLst>
              <a:gd name="adj" fmla="val 8989"/>
            </a:avLst>
          </a:prstGeom>
          <a:solidFill>
            <a:srgbClr val="FFFFFF"/>
          </a:solidFill>
          <a:ln w="15240">
            <a:solidFill>
              <a:srgbClr val="C8D6E8"/>
            </a:solidFill>
            <a:prstDash val="solid"/>
          </a:ln>
        </p:spPr>
      </p:sp>
      <p:sp>
        <p:nvSpPr>
          <p:cNvPr id="25" name="Shape 23"/>
          <p:cNvSpPr/>
          <p:nvPr/>
        </p:nvSpPr>
        <p:spPr>
          <a:xfrm>
            <a:off x="6583680" y="1755648"/>
            <a:ext cx="420624" cy="420624"/>
          </a:xfrm>
          <a:prstGeom prst="ellipse">
            <a:avLst/>
          </a:prstGeom>
          <a:solidFill>
            <a:srgbClr val="087E8B"/>
          </a:solidFill>
          <a:ln w="12700">
            <a:solidFill>
              <a:srgbClr val="087E8B"/>
            </a:solidFill>
            <a:prstDash val="solid"/>
          </a:ln>
        </p:spPr>
      </p:sp>
      <p:sp>
        <p:nvSpPr>
          <p:cNvPr id="26" name="Text 24"/>
          <p:cNvSpPr txBox="1"/>
          <p:nvPr/>
        </p:nvSpPr>
        <p:spPr>
          <a:xfrm>
            <a:off x="6583680" y="17556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7" name="Text 25"/>
          <p:cNvSpPr txBox="1"/>
          <p:nvPr/>
        </p:nvSpPr>
        <p:spPr>
          <a:xfrm>
            <a:off x="7123176" y="17282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Facts gathered</a:t>
            </a:r>
            <a:endParaRPr lang="en-US" sz="1700" dirty="0"/>
          </a:p>
        </p:txBody>
      </p:sp>
      <p:sp>
        <p:nvSpPr>
          <p:cNvPr id="28" name="Text 26"/>
          <p:cNvSpPr txBox="1"/>
          <p:nvPr/>
        </p:nvSpPr>
        <p:spPr>
          <a:xfrm>
            <a:off x="6601968" y="22951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Six fixed stages</a:t>
            </a:r>
            <a:endParaRPr lang="en-US" sz="1200" dirty="0"/>
          </a:p>
        </p:txBody>
      </p:sp>
      <p:sp>
        <p:nvSpPr>
          <p:cNvPr id="29" name="Shape 27"/>
          <p:cNvSpPr/>
          <p:nvPr/>
        </p:nvSpPr>
        <p:spPr>
          <a:xfrm>
            <a:off x="9067190" y="2392070"/>
            <a:ext cx="25603" cy="25603"/>
          </a:xfrm>
          <a:prstGeom prst="ellipse">
            <a:avLst/>
          </a:prstGeom>
          <a:solidFill>
            <a:srgbClr val="087E8B"/>
          </a:solidFill>
          <a:ln w="12700">
            <a:solidFill>
              <a:srgbClr val="087E8B"/>
            </a:solidFill>
            <a:prstDash val="solid"/>
          </a:ln>
        </p:spPr>
      </p:sp>
      <p:sp>
        <p:nvSpPr>
          <p:cNvPr id="30" name="Shape 28"/>
          <p:cNvSpPr/>
          <p:nvPr/>
        </p:nvSpPr>
        <p:spPr>
          <a:xfrm>
            <a:off x="9149486" y="2392070"/>
            <a:ext cx="25603" cy="25603"/>
          </a:xfrm>
          <a:prstGeom prst="ellipse">
            <a:avLst/>
          </a:prstGeom>
          <a:solidFill>
            <a:srgbClr val="087E8B"/>
          </a:solidFill>
          <a:ln w="12700">
            <a:solidFill>
              <a:srgbClr val="087E8B"/>
            </a:solidFill>
            <a:prstDash val="solid"/>
          </a:ln>
        </p:spPr>
      </p:sp>
      <p:sp>
        <p:nvSpPr>
          <p:cNvPr id="31" name="Shape 29"/>
          <p:cNvSpPr/>
          <p:nvPr/>
        </p:nvSpPr>
        <p:spPr>
          <a:xfrm>
            <a:off x="9231782" y="2392070"/>
            <a:ext cx="25603" cy="25603"/>
          </a:xfrm>
          <a:prstGeom prst="ellipse">
            <a:avLst/>
          </a:prstGeom>
          <a:solidFill>
            <a:srgbClr val="087E8B"/>
          </a:solidFill>
          <a:ln w="12700">
            <a:solidFill>
              <a:srgbClr val="087E8B"/>
            </a:solidFill>
            <a:prstDash val="solid"/>
          </a:ln>
        </p:spPr>
      </p:sp>
      <p:sp>
        <p:nvSpPr>
          <p:cNvPr id="32" name="Text 30"/>
          <p:cNvSpPr txBox="1"/>
          <p:nvPr/>
        </p:nvSpPr>
        <p:spPr>
          <a:xfrm>
            <a:off x="9244584" y="227685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9345168" y="1572768"/>
            <a:ext cx="2624328" cy="1627632"/>
          </a:xfrm>
          <a:prstGeom prst="roundRect">
            <a:avLst>
              <a:gd name="adj" fmla="val 8989"/>
            </a:avLst>
          </a:prstGeom>
          <a:solidFill>
            <a:srgbClr val="FFFFFF"/>
          </a:solidFill>
          <a:ln w="15240">
            <a:solidFill>
              <a:srgbClr val="C8D6E8"/>
            </a:solidFill>
            <a:prstDash val="solid"/>
          </a:ln>
        </p:spPr>
      </p:sp>
      <p:sp>
        <p:nvSpPr>
          <p:cNvPr id="34" name="Shape 32"/>
          <p:cNvSpPr/>
          <p:nvPr/>
        </p:nvSpPr>
        <p:spPr>
          <a:xfrm>
            <a:off x="9509760" y="1755648"/>
            <a:ext cx="420624" cy="420624"/>
          </a:xfrm>
          <a:prstGeom prst="ellipse">
            <a:avLst/>
          </a:prstGeom>
          <a:solidFill>
            <a:srgbClr val="087E8B"/>
          </a:solidFill>
          <a:ln w="12700">
            <a:solidFill>
              <a:srgbClr val="087E8B"/>
            </a:solidFill>
            <a:prstDash val="solid"/>
          </a:ln>
        </p:spPr>
      </p:sp>
      <p:sp>
        <p:nvSpPr>
          <p:cNvPr id="35" name="Text 33"/>
          <p:cNvSpPr txBox="1"/>
          <p:nvPr/>
        </p:nvSpPr>
        <p:spPr>
          <a:xfrm>
            <a:off x="9509760" y="17556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6" name="Text 34"/>
          <p:cNvSpPr txBox="1"/>
          <p:nvPr/>
        </p:nvSpPr>
        <p:spPr>
          <a:xfrm>
            <a:off x="10049256" y="17282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Guidance found</a:t>
            </a:r>
            <a:endParaRPr lang="en-US" sz="1700" dirty="0"/>
          </a:p>
        </p:txBody>
      </p:sp>
      <p:sp>
        <p:nvSpPr>
          <p:cNvPr id="37" name="Text 35"/>
          <p:cNvSpPr txBox="1"/>
          <p:nvPr/>
        </p:nvSpPr>
        <p:spPr>
          <a:xfrm>
            <a:off x="9528048" y="22951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FTS5 / BM25</a:t>
            </a:r>
            <a:endParaRPr lang="en-US" sz="1200" dirty="0"/>
          </a:p>
        </p:txBody>
      </p:sp>
      <p:sp>
        <p:nvSpPr>
          <p:cNvPr id="38" name="Shape 36"/>
          <p:cNvSpPr/>
          <p:nvPr/>
        </p:nvSpPr>
        <p:spPr>
          <a:xfrm>
            <a:off x="9345168" y="3630168"/>
            <a:ext cx="2624328" cy="1627632"/>
          </a:xfrm>
          <a:prstGeom prst="roundRect">
            <a:avLst>
              <a:gd name="adj" fmla="val 8989"/>
            </a:avLst>
          </a:prstGeom>
          <a:solidFill>
            <a:srgbClr val="FFFFFF"/>
          </a:solidFill>
          <a:ln w="15240">
            <a:solidFill>
              <a:srgbClr val="C8D6E8"/>
            </a:solidFill>
            <a:prstDash val="solid"/>
          </a:ln>
        </p:spPr>
      </p:sp>
      <p:sp>
        <p:nvSpPr>
          <p:cNvPr id="39" name="Shape 37"/>
          <p:cNvSpPr/>
          <p:nvPr/>
        </p:nvSpPr>
        <p:spPr>
          <a:xfrm>
            <a:off x="9509760" y="3813048"/>
            <a:ext cx="420624" cy="420624"/>
          </a:xfrm>
          <a:prstGeom prst="ellipse">
            <a:avLst/>
          </a:prstGeom>
          <a:solidFill>
            <a:srgbClr val="2E67B7"/>
          </a:solidFill>
          <a:ln w="12700">
            <a:solidFill>
              <a:srgbClr val="2E67B7"/>
            </a:solidFill>
            <a:prstDash val="solid"/>
          </a:ln>
        </p:spPr>
      </p:sp>
      <p:sp>
        <p:nvSpPr>
          <p:cNvPr id="40" name="Text 38"/>
          <p:cNvSpPr txBox="1"/>
          <p:nvPr/>
        </p:nvSpPr>
        <p:spPr>
          <a:xfrm>
            <a:off x="9509760" y="38130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1" name="Text 39"/>
          <p:cNvSpPr txBox="1"/>
          <p:nvPr/>
        </p:nvSpPr>
        <p:spPr>
          <a:xfrm>
            <a:off x="10049256" y="37856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Draft + checks</a:t>
            </a:r>
            <a:endParaRPr lang="en-US" sz="1700" dirty="0"/>
          </a:p>
        </p:txBody>
      </p:sp>
      <p:sp>
        <p:nvSpPr>
          <p:cNvPr id="42" name="Text 40"/>
          <p:cNvSpPr txBox="1"/>
          <p:nvPr/>
        </p:nvSpPr>
        <p:spPr>
          <a:xfrm>
            <a:off x="9528048" y="43525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Calculated or Gemini</a:t>
            </a:r>
            <a:endParaRPr lang="en-US" sz="1200" dirty="0"/>
          </a:p>
        </p:txBody>
      </p:sp>
      <p:sp>
        <p:nvSpPr>
          <p:cNvPr id="43" name="Shape 41"/>
          <p:cNvSpPr/>
          <p:nvPr/>
        </p:nvSpPr>
        <p:spPr>
          <a:xfrm>
            <a:off x="9295790" y="4449470"/>
            <a:ext cx="25603" cy="25603"/>
          </a:xfrm>
          <a:prstGeom prst="ellipse">
            <a:avLst/>
          </a:prstGeom>
          <a:solidFill>
            <a:srgbClr val="087E8B"/>
          </a:solidFill>
          <a:ln w="12700">
            <a:solidFill>
              <a:srgbClr val="087E8B"/>
            </a:solidFill>
            <a:prstDash val="solid"/>
          </a:ln>
        </p:spPr>
      </p:sp>
      <p:sp>
        <p:nvSpPr>
          <p:cNvPr id="44" name="Shape 42"/>
          <p:cNvSpPr/>
          <p:nvPr/>
        </p:nvSpPr>
        <p:spPr>
          <a:xfrm>
            <a:off x="9225686" y="4449470"/>
            <a:ext cx="25603" cy="25603"/>
          </a:xfrm>
          <a:prstGeom prst="ellipse">
            <a:avLst/>
          </a:prstGeom>
          <a:solidFill>
            <a:srgbClr val="087E8B"/>
          </a:solidFill>
          <a:ln w="12700">
            <a:solidFill>
              <a:srgbClr val="087E8B"/>
            </a:solidFill>
            <a:prstDash val="solid"/>
          </a:ln>
        </p:spPr>
      </p:sp>
      <p:sp>
        <p:nvSpPr>
          <p:cNvPr id="45" name="Shape 43"/>
          <p:cNvSpPr/>
          <p:nvPr/>
        </p:nvSpPr>
        <p:spPr>
          <a:xfrm>
            <a:off x="9155582" y="4449470"/>
            <a:ext cx="25603" cy="25603"/>
          </a:xfrm>
          <a:prstGeom prst="ellipse">
            <a:avLst/>
          </a:prstGeom>
          <a:solidFill>
            <a:srgbClr val="087E8B"/>
          </a:solidFill>
          <a:ln w="12700">
            <a:solidFill>
              <a:srgbClr val="087E8B"/>
            </a:solidFill>
            <a:prstDash val="solid"/>
          </a:ln>
        </p:spPr>
      </p:sp>
      <p:sp>
        <p:nvSpPr>
          <p:cNvPr id="46" name="Text 44"/>
          <p:cNvSpPr txBox="1"/>
          <p:nvPr/>
        </p:nvSpPr>
        <p:spPr>
          <a:xfrm>
            <a:off x="9015984" y="433425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47" name="Shape 45"/>
          <p:cNvSpPr/>
          <p:nvPr/>
        </p:nvSpPr>
        <p:spPr>
          <a:xfrm>
            <a:off x="6419088" y="3630168"/>
            <a:ext cx="2624328" cy="1627632"/>
          </a:xfrm>
          <a:prstGeom prst="roundRect">
            <a:avLst>
              <a:gd name="adj" fmla="val 8989"/>
            </a:avLst>
          </a:prstGeom>
          <a:solidFill>
            <a:srgbClr val="FFFFFF"/>
          </a:solidFill>
          <a:ln w="15240">
            <a:solidFill>
              <a:srgbClr val="C8D6E8"/>
            </a:solidFill>
            <a:prstDash val="solid"/>
          </a:ln>
        </p:spPr>
      </p:sp>
      <p:sp>
        <p:nvSpPr>
          <p:cNvPr id="48" name="Shape 46"/>
          <p:cNvSpPr/>
          <p:nvPr/>
        </p:nvSpPr>
        <p:spPr>
          <a:xfrm>
            <a:off x="6583680" y="3813048"/>
            <a:ext cx="420624" cy="420624"/>
          </a:xfrm>
          <a:prstGeom prst="ellipse">
            <a:avLst/>
          </a:prstGeom>
          <a:solidFill>
            <a:srgbClr val="2E67B7"/>
          </a:solidFill>
          <a:ln w="12700">
            <a:solidFill>
              <a:srgbClr val="2E67B7"/>
            </a:solidFill>
            <a:prstDash val="solid"/>
          </a:ln>
        </p:spPr>
      </p:sp>
      <p:sp>
        <p:nvSpPr>
          <p:cNvPr id="49" name="Text 47"/>
          <p:cNvSpPr txBox="1"/>
          <p:nvPr/>
        </p:nvSpPr>
        <p:spPr>
          <a:xfrm>
            <a:off x="6583680" y="38130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0" name="Text 48"/>
          <p:cNvSpPr txBox="1"/>
          <p:nvPr/>
        </p:nvSpPr>
        <p:spPr>
          <a:xfrm>
            <a:off x="7123176" y="37856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Human decision</a:t>
            </a:r>
            <a:endParaRPr lang="en-US" sz="1700" dirty="0"/>
          </a:p>
        </p:txBody>
      </p:sp>
      <p:sp>
        <p:nvSpPr>
          <p:cNvPr id="51" name="Text 49"/>
          <p:cNvSpPr txBox="1"/>
          <p:nvPr/>
        </p:nvSpPr>
        <p:spPr>
          <a:xfrm>
            <a:off x="6601968" y="43525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Rationale + audit</a:t>
            </a:r>
            <a:endParaRPr lang="en-US" sz="1200" dirty="0"/>
          </a:p>
        </p:txBody>
      </p:sp>
      <p:sp>
        <p:nvSpPr>
          <p:cNvPr id="52" name="Shape 50"/>
          <p:cNvSpPr/>
          <p:nvPr/>
        </p:nvSpPr>
        <p:spPr>
          <a:xfrm>
            <a:off x="6369710" y="4449470"/>
            <a:ext cx="25603" cy="25603"/>
          </a:xfrm>
          <a:prstGeom prst="ellipse">
            <a:avLst/>
          </a:prstGeom>
          <a:solidFill>
            <a:srgbClr val="087E8B"/>
          </a:solidFill>
          <a:ln w="12700">
            <a:solidFill>
              <a:srgbClr val="087E8B"/>
            </a:solidFill>
            <a:prstDash val="solid"/>
          </a:ln>
        </p:spPr>
      </p:sp>
      <p:sp>
        <p:nvSpPr>
          <p:cNvPr id="53" name="Shape 51"/>
          <p:cNvSpPr/>
          <p:nvPr/>
        </p:nvSpPr>
        <p:spPr>
          <a:xfrm>
            <a:off x="6299606" y="4449470"/>
            <a:ext cx="25603" cy="25603"/>
          </a:xfrm>
          <a:prstGeom prst="ellipse">
            <a:avLst/>
          </a:prstGeom>
          <a:solidFill>
            <a:srgbClr val="087E8B"/>
          </a:solidFill>
          <a:ln w="12700">
            <a:solidFill>
              <a:srgbClr val="087E8B"/>
            </a:solidFill>
            <a:prstDash val="solid"/>
          </a:ln>
        </p:spPr>
      </p:sp>
      <p:sp>
        <p:nvSpPr>
          <p:cNvPr id="54" name="Shape 52"/>
          <p:cNvSpPr/>
          <p:nvPr/>
        </p:nvSpPr>
        <p:spPr>
          <a:xfrm>
            <a:off x="6229502" y="4449470"/>
            <a:ext cx="25603" cy="25603"/>
          </a:xfrm>
          <a:prstGeom prst="ellipse">
            <a:avLst/>
          </a:prstGeom>
          <a:solidFill>
            <a:srgbClr val="087E8B"/>
          </a:solidFill>
          <a:ln w="12700">
            <a:solidFill>
              <a:srgbClr val="087E8B"/>
            </a:solidFill>
            <a:prstDash val="solid"/>
          </a:ln>
        </p:spPr>
      </p:sp>
      <p:sp>
        <p:nvSpPr>
          <p:cNvPr id="55" name="Text 53"/>
          <p:cNvSpPr txBox="1"/>
          <p:nvPr/>
        </p:nvSpPr>
        <p:spPr>
          <a:xfrm>
            <a:off x="6089904" y="433425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56" name="Shape 54"/>
          <p:cNvSpPr/>
          <p:nvPr/>
        </p:nvSpPr>
        <p:spPr>
          <a:xfrm>
            <a:off x="3493008" y="3630168"/>
            <a:ext cx="2624328" cy="1627632"/>
          </a:xfrm>
          <a:prstGeom prst="roundRect">
            <a:avLst>
              <a:gd name="adj" fmla="val 8989"/>
            </a:avLst>
          </a:prstGeom>
          <a:solidFill>
            <a:srgbClr val="FFFFFF"/>
          </a:solidFill>
          <a:ln w="15240">
            <a:solidFill>
              <a:srgbClr val="C8D6E8"/>
            </a:solidFill>
            <a:prstDash val="solid"/>
          </a:ln>
        </p:spPr>
      </p:sp>
      <p:sp>
        <p:nvSpPr>
          <p:cNvPr id="57" name="Shape 55"/>
          <p:cNvSpPr/>
          <p:nvPr/>
        </p:nvSpPr>
        <p:spPr>
          <a:xfrm>
            <a:off x="3657600" y="3813048"/>
            <a:ext cx="420624" cy="420624"/>
          </a:xfrm>
          <a:prstGeom prst="ellipse">
            <a:avLst/>
          </a:prstGeom>
          <a:solidFill>
            <a:srgbClr val="2E67B7"/>
          </a:solidFill>
          <a:ln w="12700">
            <a:solidFill>
              <a:srgbClr val="2E67B7"/>
            </a:solidFill>
            <a:prstDash val="solid"/>
          </a:ln>
        </p:spPr>
      </p:sp>
      <p:sp>
        <p:nvSpPr>
          <p:cNvPr id="58" name="Text 56"/>
          <p:cNvSpPr txBox="1"/>
          <p:nvPr/>
        </p:nvSpPr>
        <p:spPr>
          <a:xfrm>
            <a:off x="3657600" y="38130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59" name="Text 57"/>
          <p:cNvSpPr txBox="1"/>
          <p:nvPr/>
        </p:nvSpPr>
        <p:spPr>
          <a:xfrm>
            <a:off x="4197096" y="37856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Compliance review</a:t>
            </a:r>
            <a:endParaRPr lang="en-US" sz="1700" dirty="0"/>
          </a:p>
        </p:txBody>
      </p:sp>
      <p:sp>
        <p:nvSpPr>
          <p:cNvPr id="60" name="Text 58"/>
          <p:cNvSpPr txBox="1"/>
          <p:nvPr/>
        </p:nvSpPr>
        <p:spPr>
          <a:xfrm>
            <a:off x="3675888" y="43525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Only if escalated</a:t>
            </a:r>
            <a:endParaRPr lang="en-US" sz="1200" dirty="0"/>
          </a:p>
        </p:txBody>
      </p:sp>
      <p:sp>
        <p:nvSpPr>
          <p:cNvPr id="61" name="Shape 59"/>
          <p:cNvSpPr/>
          <p:nvPr/>
        </p:nvSpPr>
        <p:spPr>
          <a:xfrm>
            <a:off x="3443630" y="4449470"/>
            <a:ext cx="25603" cy="25603"/>
          </a:xfrm>
          <a:prstGeom prst="ellipse">
            <a:avLst/>
          </a:prstGeom>
          <a:solidFill>
            <a:srgbClr val="087E8B"/>
          </a:solidFill>
          <a:ln w="12700">
            <a:solidFill>
              <a:srgbClr val="087E8B"/>
            </a:solidFill>
            <a:prstDash val="solid"/>
          </a:ln>
        </p:spPr>
      </p:sp>
      <p:sp>
        <p:nvSpPr>
          <p:cNvPr id="62" name="Shape 60"/>
          <p:cNvSpPr/>
          <p:nvPr/>
        </p:nvSpPr>
        <p:spPr>
          <a:xfrm>
            <a:off x="3373526" y="4449470"/>
            <a:ext cx="25603" cy="25603"/>
          </a:xfrm>
          <a:prstGeom prst="ellipse">
            <a:avLst/>
          </a:prstGeom>
          <a:solidFill>
            <a:srgbClr val="087E8B"/>
          </a:solidFill>
          <a:ln w="12700">
            <a:solidFill>
              <a:srgbClr val="087E8B"/>
            </a:solidFill>
            <a:prstDash val="solid"/>
          </a:ln>
        </p:spPr>
      </p:sp>
      <p:sp>
        <p:nvSpPr>
          <p:cNvPr id="63" name="Shape 61"/>
          <p:cNvSpPr/>
          <p:nvPr/>
        </p:nvSpPr>
        <p:spPr>
          <a:xfrm>
            <a:off x="3303422" y="4449470"/>
            <a:ext cx="25603" cy="25603"/>
          </a:xfrm>
          <a:prstGeom prst="ellipse">
            <a:avLst/>
          </a:prstGeom>
          <a:solidFill>
            <a:srgbClr val="087E8B"/>
          </a:solidFill>
          <a:ln w="12700">
            <a:solidFill>
              <a:srgbClr val="087E8B"/>
            </a:solidFill>
            <a:prstDash val="solid"/>
          </a:ln>
        </p:spPr>
      </p:sp>
      <p:sp>
        <p:nvSpPr>
          <p:cNvPr id="64" name="Text 62"/>
          <p:cNvSpPr txBox="1"/>
          <p:nvPr/>
        </p:nvSpPr>
        <p:spPr>
          <a:xfrm>
            <a:off x="3163824" y="433425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65" name="Shape 63"/>
          <p:cNvSpPr/>
          <p:nvPr/>
        </p:nvSpPr>
        <p:spPr>
          <a:xfrm>
            <a:off x="566928" y="3630168"/>
            <a:ext cx="2624328" cy="1627632"/>
          </a:xfrm>
          <a:prstGeom prst="roundRect">
            <a:avLst>
              <a:gd name="adj" fmla="val 8989"/>
            </a:avLst>
          </a:prstGeom>
          <a:solidFill>
            <a:srgbClr val="FFFFFF"/>
          </a:solidFill>
          <a:ln w="15240">
            <a:solidFill>
              <a:srgbClr val="C8D6E8"/>
            </a:solidFill>
            <a:prstDash val="solid"/>
          </a:ln>
        </p:spPr>
      </p:sp>
      <p:sp>
        <p:nvSpPr>
          <p:cNvPr id="66" name="Shape 64"/>
          <p:cNvSpPr/>
          <p:nvPr/>
        </p:nvSpPr>
        <p:spPr>
          <a:xfrm>
            <a:off x="731520" y="3813048"/>
            <a:ext cx="420624" cy="420624"/>
          </a:xfrm>
          <a:prstGeom prst="ellipse">
            <a:avLst/>
          </a:prstGeom>
          <a:solidFill>
            <a:srgbClr val="2E67B7"/>
          </a:solidFill>
          <a:ln w="12700">
            <a:solidFill>
              <a:srgbClr val="2E67B7"/>
            </a:solidFill>
            <a:prstDash val="solid"/>
          </a:ln>
        </p:spPr>
      </p:sp>
      <p:sp>
        <p:nvSpPr>
          <p:cNvPr id="67" name="Text 65"/>
          <p:cNvSpPr txBox="1"/>
          <p:nvPr/>
        </p:nvSpPr>
        <p:spPr>
          <a:xfrm>
            <a:off x="731520" y="381304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68" name="Text 66"/>
          <p:cNvSpPr txBox="1"/>
          <p:nvPr/>
        </p:nvSpPr>
        <p:spPr>
          <a:xfrm>
            <a:off x="1271016" y="3785616"/>
            <a:ext cx="174650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Explore &amp; explain</a:t>
            </a:r>
            <a:endParaRPr lang="en-US" sz="1700" dirty="0"/>
          </a:p>
        </p:txBody>
      </p:sp>
      <p:sp>
        <p:nvSpPr>
          <p:cNvPr id="69" name="Text 67"/>
          <p:cNvSpPr txBox="1"/>
          <p:nvPr/>
        </p:nvSpPr>
        <p:spPr>
          <a:xfrm>
            <a:off x="749808" y="4352544"/>
            <a:ext cx="2258568" cy="768096"/>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Search / Analytics / RAG</a:t>
            </a:r>
            <a:endParaRPr lang="en-US" sz="1200" dirty="0"/>
          </a:p>
        </p:txBody>
      </p:sp>
      <p:sp>
        <p:nvSpPr>
          <p:cNvPr id="70" name="Shape 68"/>
          <p:cNvSpPr/>
          <p:nvPr/>
        </p:nvSpPr>
        <p:spPr>
          <a:xfrm>
            <a:off x="10649102" y="3233318"/>
            <a:ext cx="25603" cy="25603"/>
          </a:xfrm>
          <a:prstGeom prst="ellipse">
            <a:avLst/>
          </a:prstGeom>
          <a:solidFill>
            <a:srgbClr val="B06A14"/>
          </a:solidFill>
          <a:ln w="12700">
            <a:solidFill>
              <a:srgbClr val="B06A14"/>
            </a:solidFill>
            <a:prstDash val="solid"/>
          </a:ln>
        </p:spPr>
      </p:sp>
      <p:sp>
        <p:nvSpPr>
          <p:cNvPr id="71" name="Shape 69"/>
          <p:cNvSpPr/>
          <p:nvPr/>
        </p:nvSpPr>
        <p:spPr>
          <a:xfrm>
            <a:off x="10649102" y="3309518"/>
            <a:ext cx="25603" cy="25603"/>
          </a:xfrm>
          <a:prstGeom prst="ellipse">
            <a:avLst/>
          </a:prstGeom>
          <a:solidFill>
            <a:srgbClr val="B06A14"/>
          </a:solidFill>
          <a:ln w="12700">
            <a:solidFill>
              <a:srgbClr val="B06A14"/>
            </a:solidFill>
            <a:prstDash val="solid"/>
          </a:ln>
        </p:spPr>
      </p:sp>
      <p:sp>
        <p:nvSpPr>
          <p:cNvPr id="72" name="Shape 70"/>
          <p:cNvSpPr/>
          <p:nvPr/>
        </p:nvSpPr>
        <p:spPr>
          <a:xfrm>
            <a:off x="10649102" y="3385718"/>
            <a:ext cx="25603" cy="25603"/>
          </a:xfrm>
          <a:prstGeom prst="ellipse">
            <a:avLst/>
          </a:prstGeom>
          <a:solidFill>
            <a:srgbClr val="B06A14"/>
          </a:solidFill>
          <a:ln w="12700">
            <a:solidFill>
              <a:srgbClr val="B06A14"/>
            </a:solidFill>
            <a:prstDash val="solid"/>
          </a:ln>
        </p:spPr>
      </p:sp>
      <p:sp>
        <p:nvSpPr>
          <p:cNvPr id="73" name="Text 71"/>
          <p:cNvSpPr txBox="1"/>
          <p:nvPr/>
        </p:nvSpPr>
        <p:spPr>
          <a:xfrm>
            <a:off x="10579608" y="3346704"/>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B06A14"/>
                </a:solidFill>
                <a:latin typeface="Arial" pitchFamily="34" charset="0"/>
                <a:ea typeface="Arial" pitchFamily="34" charset="-122"/>
                <a:cs typeface="Arial" pitchFamily="34" charset="-120"/>
              </a:rPr>
              <a:t>⌄</a:t>
            </a:r>
            <a:endParaRPr lang="en-US" sz="2000" dirty="0"/>
          </a:p>
        </p:txBody>
      </p:sp>
      <p:sp>
        <p:nvSpPr>
          <p:cNvPr id="74" name="Text 72"/>
          <p:cNvSpPr txBox="1"/>
          <p:nvPr/>
        </p:nvSpPr>
        <p:spPr>
          <a:xfrm>
            <a:off x="667512" y="5797296"/>
            <a:ext cx="10744200" cy="384048"/>
          </a:xfrm>
          <a:prstGeom prst="rect">
            <a:avLst/>
          </a:prstGeom>
          <a:noFill/>
          <a:ln/>
        </p:spPr>
        <p:txBody>
          <a:bodyPr wrap="square" lIns="0" tIns="0" rIns="0" bIns="0" rtlCol="0" anchor="ctr">
            <a:normAutofit/>
          </a:bodyPr>
          <a:lstStyle/>
          <a:p>
            <a:pPr indent="0" marL="0">
              <a:buNone/>
            </a:pPr>
            <a:r>
              <a:rPr lang="en-US" sz="1500" b="1" dirty="0">
                <a:solidFill>
                  <a:srgbClr val="A24040"/>
                </a:solidFill>
                <a:latin typeface="Arial" pitchFamily="34" charset="0"/>
                <a:ea typeface="Arial" pitchFamily="34" charset="-122"/>
                <a:cs typeface="Arial" pitchFamily="34" charset="-120"/>
              </a:rPr>
              <a:t>Escalation is a human action. “Referred” is recorded internally; the app does not file an STR.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03 / ALERT ORIGIN</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Where does the alert come from?</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04</a:t>
            </a:r>
            <a:endParaRPr lang="en-US" sz="900" dirty="0"/>
          </a:p>
        </p:txBody>
      </p:sp>
      <p:sp>
        <p:nvSpPr>
          <p:cNvPr id="6" name="Shape 4"/>
          <p:cNvSpPr/>
          <p:nvPr/>
        </p:nvSpPr>
        <p:spPr>
          <a:xfrm>
            <a:off x="603504" y="1554480"/>
            <a:ext cx="3273552" cy="2039112"/>
          </a:xfrm>
          <a:prstGeom prst="roundRect">
            <a:avLst>
              <a:gd name="adj" fmla="val 7175"/>
            </a:avLst>
          </a:prstGeom>
          <a:solidFill>
            <a:srgbClr val="FFFFFF"/>
          </a:solidFill>
          <a:ln w="15240">
            <a:solidFill>
              <a:srgbClr val="C8D6E8"/>
            </a:solidFill>
            <a:prstDash val="solid"/>
          </a:ln>
        </p:spPr>
      </p:sp>
      <p:sp>
        <p:nvSpPr>
          <p:cNvPr id="7" name="Shape 5"/>
          <p:cNvSpPr/>
          <p:nvPr/>
        </p:nvSpPr>
        <p:spPr>
          <a:xfrm>
            <a:off x="768096" y="1737360"/>
            <a:ext cx="420624" cy="420624"/>
          </a:xfrm>
          <a:prstGeom prst="ellipse">
            <a:avLst/>
          </a:prstGeom>
          <a:solidFill>
            <a:srgbClr val="087E8B"/>
          </a:solidFill>
          <a:ln w="12700">
            <a:solidFill>
              <a:srgbClr val="087E8B"/>
            </a:solidFill>
            <a:prstDash val="solid"/>
          </a:ln>
        </p:spPr>
      </p:sp>
      <p:sp>
        <p:nvSpPr>
          <p:cNvPr id="8" name="Text 6"/>
          <p:cNvSpPr txBox="1"/>
          <p:nvPr/>
        </p:nvSpPr>
        <p:spPr>
          <a:xfrm>
            <a:off x="768096" y="1737360"/>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307592" y="1709928"/>
            <a:ext cx="2395728"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Fictional inputs</a:t>
            </a:r>
            <a:endParaRPr lang="en-US" sz="1700" dirty="0"/>
          </a:p>
        </p:txBody>
      </p:sp>
      <p:sp>
        <p:nvSpPr>
          <p:cNvPr id="10" name="Text 8"/>
          <p:cNvSpPr txBox="1"/>
          <p:nvPr/>
        </p:nvSpPr>
        <p:spPr>
          <a:xfrm>
            <a:off x="786384" y="2276856"/>
            <a:ext cx="2907792" cy="1179576"/>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42 workbook alerts plus two matched ten-transaction case fixtures.</a:t>
            </a:r>
            <a:endParaRPr lang="en-US" sz="1300" dirty="0"/>
          </a:p>
        </p:txBody>
      </p:sp>
      <p:sp>
        <p:nvSpPr>
          <p:cNvPr id="11" name="Shape 9"/>
          <p:cNvSpPr/>
          <p:nvPr/>
        </p:nvSpPr>
        <p:spPr>
          <a:xfrm>
            <a:off x="4453128" y="1554480"/>
            <a:ext cx="3273552" cy="2039112"/>
          </a:xfrm>
          <a:prstGeom prst="roundRect">
            <a:avLst>
              <a:gd name="adj" fmla="val 7175"/>
            </a:avLst>
          </a:prstGeom>
          <a:solidFill>
            <a:srgbClr val="FFFFFF"/>
          </a:solidFill>
          <a:ln w="15240">
            <a:solidFill>
              <a:srgbClr val="C8D6E8"/>
            </a:solidFill>
            <a:prstDash val="solid"/>
          </a:ln>
        </p:spPr>
      </p:sp>
      <p:sp>
        <p:nvSpPr>
          <p:cNvPr id="12" name="Shape 10"/>
          <p:cNvSpPr/>
          <p:nvPr/>
        </p:nvSpPr>
        <p:spPr>
          <a:xfrm>
            <a:off x="4617720" y="1737360"/>
            <a:ext cx="420624" cy="420624"/>
          </a:xfrm>
          <a:prstGeom prst="ellipse">
            <a:avLst/>
          </a:prstGeom>
          <a:solidFill>
            <a:srgbClr val="2E67B7"/>
          </a:solidFill>
          <a:ln w="12700">
            <a:solidFill>
              <a:srgbClr val="2E67B7"/>
            </a:solidFill>
            <a:prstDash val="solid"/>
          </a:ln>
        </p:spPr>
      </p:sp>
      <p:sp>
        <p:nvSpPr>
          <p:cNvPr id="13" name="Text 11"/>
          <p:cNvSpPr txBox="1"/>
          <p:nvPr/>
        </p:nvSpPr>
        <p:spPr>
          <a:xfrm>
            <a:off x="4617720" y="1737360"/>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txBox="1"/>
          <p:nvPr/>
        </p:nvSpPr>
        <p:spPr>
          <a:xfrm>
            <a:off x="5157216" y="1709928"/>
            <a:ext cx="2395728"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Calculate + store</a:t>
            </a:r>
            <a:endParaRPr lang="en-US" sz="1700" dirty="0"/>
          </a:p>
        </p:txBody>
      </p:sp>
      <p:sp>
        <p:nvSpPr>
          <p:cNvPr id="15" name="Text 13"/>
          <p:cNvSpPr txBox="1"/>
          <p:nvPr/>
        </p:nvSpPr>
        <p:spPr>
          <a:xfrm>
            <a:off x="4636008" y="2276856"/>
            <a:ext cx="2907792" cy="1179576"/>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data/incoming_monitor.py tests the new batches; the database build stores two calculated alerts.</a:t>
            </a:r>
            <a:endParaRPr lang="en-US" sz="1300" dirty="0"/>
          </a:p>
        </p:txBody>
      </p:sp>
      <p:sp>
        <p:nvSpPr>
          <p:cNvPr id="16" name="Shape 14"/>
          <p:cNvSpPr/>
          <p:nvPr/>
        </p:nvSpPr>
        <p:spPr>
          <a:xfrm>
            <a:off x="8302752" y="1554480"/>
            <a:ext cx="3273552" cy="2039112"/>
          </a:xfrm>
          <a:prstGeom prst="roundRect">
            <a:avLst>
              <a:gd name="adj" fmla="val 7175"/>
            </a:avLst>
          </a:prstGeom>
          <a:solidFill>
            <a:srgbClr val="FFFFFF"/>
          </a:solidFill>
          <a:ln w="15240">
            <a:solidFill>
              <a:srgbClr val="C8D6E8"/>
            </a:solidFill>
            <a:prstDash val="solid"/>
          </a:ln>
        </p:spPr>
      </p:sp>
      <p:sp>
        <p:nvSpPr>
          <p:cNvPr id="17" name="Shape 15"/>
          <p:cNvSpPr/>
          <p:nvPr/>
        </p:nvSpPr>
        <p:spPr>
          <a:xfrm>
            <a:off x="8467344" y="1737360"/>
            <a:ext cx="420624" cy="420624"/>
          </a:xfrm>
          <a:prstGeom prst="ellipse">
            <a:avLst/>
          </a:prstGeom>
          <a:solidFill>
            <a:srgbClr val="7657A6"/>
          </a:solidFill>
          <a:ln w="12700">
            <a:solidFill>
              <a:srgbClr val="7657A6"/>
            </a:solidFill>
            <a:prstDash val="solid"/>
          </a:ln>
        </p:spPr>
      </p:sp>
      <p:sp>
        <p:nvSpPr>
          <p:cNvPr id="18" name="Text 16"/>
          <p:cNvSpPr txBox="1"/>
          <p:nvPr/>
        </p:nvSpPr>
        <p:spPr>
          <a:xfrm>
            <a:off x="8467344" y="1737360"/>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txBox="1"/>
          <p:nvPr/>
        </p:nvSpPr>
        <p:spPr>
          <a:xfrm>
            <a:off x="9006840" y="1709928"/>
            <a:ext cx="2395728"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Case Queue</a:t>
            </a:r>
            <a:endParaRPr lang="en-US" sz="1700" dirty="0"/>
          </a:p>
        </p:txBody>
      </p:sp>
      <p:sp>
        <p:nvSpPr>
          <p:cNvPr id="20" name="Text 18"/>
          <p:cNvSpPr txBox="1"/>
          <p:nvPr/>
        </p:nvSpPr>
        <p:spPr>
          <a:xfrm>
            <a:off x="8485632" y="2276856"/>
            <a:ext cx="2907792" cy="1179576"/>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pages/0_Case_Queue.py reads the 44 alert rows and opens a selected case.</a:t>
            </a:r>
            <a:endParaRPr lang="en-US" sz="1300" dirty="0"/>
          </a:p>
        </p:txBody>
      </p:sp>
      <p:sp>
        <p:nvSpPr>
          <p:cNvPr id="21" name="Shape 19"/>
          <p:cNvSpPr/>
          <p:nvPr/>
        </p:nvSpPr>
        <p:spPr>
          <a:xfrm>
            <a:off x="3891686" y="2520086"/>
            <a:ext cx="25603" cy="25603"/>
          </a:xfrm>
          <a:prstGeom prst="ellipse">
            <a:avLst/>
          </a:prstGeom>
          <a:solidFill>
            <a:srgbClr val="087E8B"/>
          </a:solidFill>
          <a:ln w="12700">
            <a:solidFill>
              <a:srgbClr val="087E8B"/>
            </a:solidFill>
            <a:prstDash val="solid"/>
          </a:ln>
        </p:spPr>
      </p:sp>
      <p:sp>
        <p:nvSpPr>
          <p:cNvPr id="22" name="Shape 20"/>
          <p:cNvSpPr/>
          <p:nvPr/>
        </p:nvSpPr>
        <p:spPr>
          <a:xfrm>
            <a:off x="3975506" y="2520086"/>
            <a:ext cx="25603" cy="25603"/>
          </a:xfrm>
          <a:prstGeom prst="ellipse">
            <a:avLst/>
          </a:prstGeom>
          <a:solidFill>
            <a:srgbClr val="087E8B"/>
          </a:solidFill>
          <a:ln w="12700">
            <a:solidFill>
              <a:srgbClr val="087E8B"/>
            </a:solidFill>
            <a:prstDash val="solid"/>
          </a:ln>
        </p:spPr>
      </p:sp>
      <p:sp>
        <p:nvSpPr>
          <p:cNvPr id="23" name="Shape 21"/>
          <p:cNvSpPr/>
          <p:nvPr/>
        </p:nvSpPr>
        <p:spPr>
          <a:xfrm>
            <a:off x="4059326" y="2520086"/>
            <a:ext cx="25603" cy="25603"/>
          </a:xfrm>
          <a:prstGeom prst="ellipse">
            <a:avLst/>
          </a:prstGeom>
          <a:solidFill>
            <a:srgbClr val="087E8B"/>
          </a:solidFill>
          <a:ln w="12700">
            <a:solidFill>
              <a:srgbClr val="087E8B"/>
            </a:solidFill>
            <a:prstDash val="solid"/>
          </a:ln>
        </p:spPr>
      </p:sp>
      <p:sp>
        <p:nvSpPr>
          <p:cNvPr id="24" name="Shape 22"/>
          <p:cNvSpPr/>
          <p:nvPr/>
        </p:nvSpPr>
        <p:spPr>
          <a:xfrm>
            <a:off x="4143146" y="2520086"/>
            <a:ext cx="25603" cy="25603"/>
          </a:xfrm>
          <a:prstGeom prst="ellipse">
            <a:avLst/>
          </a:prstGeom>
          <a:solidFill>
            <a:srgbClr val="087E8B"/>
          </a:solidFill>
          <a:ln w="12700">
            <a:solidFill>
              <a:srgbClr val="087E8B"/>
            </a:solidFill>
            <a:prstDash val="solid"/>
          </a:ln>
        </p:spPr>
      </p:sp>
      <p:sp>
        <p:nvSpPr>
          <p:cNvPr id="25" name="Shape 23"/>
          <p:cNvSpPr/>
          <p:nvPr/>
        </p:nvSpPr>
        <p:spPr>
          <a:xfrm>
            <a:off x="4226966" y="2520086"/>
            <a:ext cx="25603" cy="25603"/>
          </a:xfrm>
          <a:prstGeom prst="ellipse">
            <a:avLst/>
          </a:prstGeom>
          <a:solidFill>
            <a:srgbClr val="087E8B"/>
          </a:solidFill>
          <a:ln w="12700">
            <a:solidFill>
              <a:srgbClr val="087E8B"/>
            </a:solidFill>
            <a:prstDash val="solid"/>
          </a:ln>
        </p:spPr>
      </p:sp>
      <p:sp>
        <p:nvSpPr>
          <p:cNvPr id="26" name="Shape 24"/>
          <p:cNvSpPr/>
          <p:nvPr/>
        </p:nvSpPr>
        <p:spPr>
          <a:xfrm>
            <a:off x="4310786" y="2520086"/>
            <a:ext cx="25603" cy="25603"/>
          </a:xfrm>
          <a:prstGeom prst="ellipse">
            <a:avLst/>
          </a:prstGeom>
          <a:solidFill>
            <a:srgbClr val="087E8B"/>
          </a:solidFill>
          <a:ln w="12700">
            <a:solidFill>
              <a:srgbClr val="087E8B"/>
            </a:solidFill>
            <a:prstDash val="solid"/>
          </a:ln>
        </p:spPr>
      </p:sp>
      <p:sp>
        <p:nvSpPr>
          <p:cNvPr id="27" name="Text 25"/>
          <p:cNvSpPr txBox="1"/>
          <p:nvPr/>
        </p:nvSpPr>
        <p:spPr>
          <a:xfrm>
            <a:off x="4325112" y="240487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28" name="Shape 26"/>
          <p:cNvSpPr/>
          <p:nvPr/>
        </p:nvSpPr>
        <p:spPr>
          <a:xfrm>
            <a:off x="7750454" y="2520086"/>
            <a:ext cx="25603" cy="25603"/>
          </a:xfrm>
          <a:prstGeom prst="ellipse">
            <a:avLst/>
          </a:prstGeom>
          <a:solidFill>
            <a:srgbClr val="087E8B"/>
          </a:solidFill>
          <a:ln w="12700">
            <a:solidFill>
              <a:srgbClr val="087E8B"/>
            </a:solidFill>
            <a:prstDash val="solid"/>
          </a:ln>
        </p:spPr>
      </p:sp>
      <p:sp>
        <p:nvSpPr>
          <p:cNvPr id="29" name="Shape 27"/>
          <p:cNvSpPr/>
          <p:nvPr/>
        </p:nvSpPr>
        <p:spPr>
          <a:xfrm>
            <a:off x="7849210" y="2520086"/>
            <a:ext cx="25603" cy="25603"/>
          </a:xfrm>
          <a:prstGeom prst="ellipse">
            <a:avLst/>
          </a:prstGeom>
          <a:solidFill>
            <a:srgbClr val="087E8B"/>
          </a:solidFill>
          <a:ln w="12700">
            <a:solidFill>
              <a:srgbClr val="087E8B"/>
            </a:solidFill>
            <a:prstDash val="solid"/>
          </a:ln>
        </p:spPr>
      </p:sp>
      <p:sp>
        <p:nvSpPr>
          <p:cNvPr id="30" name="Shape 28"/>
          <p:cNvSpPr/>
          <p:nvPr/>
        </p:nvSpPr>
        <p:spPr>
          <a:xfrm>
            <a:off x="7947965" y="2520086"/>
            <a:ext cx="25603" cy="25603"/>
          </a:xfrm>
          <a:prstGeom prst="ellipse">
            <a:avLst/>
          </a:prstGeom>
          <a:solidFill>
            <a:srgbClr val="087E8B"/>
          </a:solidFill>
          <a:ln w="12700">
            <a:solidFill>
              <a:srgbClr val="087E8B"/>
            </a:solidFill>
            <a:prstDash val="solid"/>
          </a:ln>
        </p:spPr>
      </p:sp>
      <p:sp>
        <p:nvSpPr>
          <p:cNvPr id="31" name="Shape 29"/>
          <p:cNvSpPr/>
          <p:nvPr/>
        </p:nvSpPr>
        <p:spPr>
          <a:xfrm>
            <a:off x="8046720" y="2520086"/>
            <a:ext cx="25603" cy="25603"/>
          </a:xfrm>
          <a:prstGeom prst="ellipse">
            <a:avLst/>
          </a:prstGeom>
          <a:solidFill>
            <a:srgbClr val="087E8B"/>
          </a:solidFill>
          <a:ln w="12700">
            <a:solidFill>
              <a:srgbClr val="087E8B"/>
            </a:solidFill>
            <a:prstDash val="solid"/>
          </a:ln>
        </p:spPr>
      </p:sp>
      <p:sp>
        <p:nvSpPr>
          <p:cNvPr id="32" name="Shape 30"/>
          <p:cNvSpPr/>
          <p:nvPr/>
        </p:nvSpPr>
        <p:spPr>
          <a:xfrm>
            <a:off x="8145475" y="2520086"/>
            <a:ext cx="25603" cy="25603"/>
          </a:xfrm>
          <a:prstGeom prst="ellipse">
            <a:avLst/>
          </a:prstGeom>
          <a:solidFill>
            <a:srgbClr val="087E8B"/>
          </a:solidFill>
          <a:ln w="12700">
            <a:solidFill>
              <a:srgbClr val="087E8B"/>
            </a:solidFill>
            <a:prstDash val="solid"/>
          </a:ln>
        </p:spPr>
      </p:sp>
      <p:sp>
        <p:nvSpPr>
          <p:cNvPr id="33" name="Text 31"/>
          <p:cNvSpPr txBox="1"/>
          <p:nvPr/>
        </p:nvSpPr>
        <p:spPr>
          <a:xfrm>
            <a:off x="8174736" y="240487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34" name="Shape 32"/>
          <p:cNvSpPr/>
          <p:nvPr/>
        </p:nvSpPr>
        <p:spPr>
          <a:xfrm>
            <a:off x="667512" y="4096512"/>
            <a:ext cx="10844784" cy="1216152"/>
          </a:xfrm>
          <a:prstGeom prst="roundRect">
            <a:avLst>
              <a:gd name="adj" fmla="val 12030"/>
            </a:avLst>
          </a:prstGeom>
          <a:solidFill>
            <a:srgbClr val="F8E7BF"/>
          </a:solidFill>
          <a:ln w="15240">
            <a:solidFill>
              <a:srgbClr val="B06A14"/>
            </a:solidFill>
            <a:prstDash val="solid"/>
          </a:ln>
        </p:spPr>
      </p:sp>
      <p:sp>
        <p:nvSpPr>
          <p:cNvPr id="35" name="Text 33"/>
          <p:cNvSpPr txBox="1"/>
          <p:nvPr/>
        </p:nvSpPr>
        <p:spPr>
          <a:xfrm>
            <a:off x="914400" y="4352544"/>
            <a:ext cx="2743200" cy="320040"/>
          </a:xfrm>
          <a:prstGeom prst="rect">
            <a:avLst/>
          </a:prstGeom>
          <a:noFill/>
          <a:ln/>
        </p:spPr>
        <p:txBody>
          <a:bodyPr wrap="square" lIns="0" tIns="0" rIns="0" bIns="0" rtlCol="0" anchor="ctr">
            <a:normAutofit/>
          </a:bodyPr>
          <a:lstStyle/>
          <a:p>
            <a:pPr indent="0" marL="0">
              <a:buNone/>
            </a:pPr>
            <a:r>
              <a:rPr lang="en-US" sz="1800" b="1" dirty="0">
                <a:solidFill>
                  <a:srgbClr val="B06A14"/>
                </a:solidFill>
                <a:latin typeface="Arial" pitchFamily="34" charset="0"/>
                <a:ea typeface="Arial" pitchFamily="34" charset="-122"/>
                <a:cs typeface="Arial" pitchFamily="34" charset="-120"/>
              </a:rPr>
              <a:t>Future integration point</a:t>
            </a:r>
            <a:endParaRPr lang="en-US" sz="1800" dirty="0"/>
          </a:p>
        </p:txBody>
      </p:sp>
      <p:sp>
        <p:nvSpPr>
          <p:cNvPr id="36" name="Text 34"/>
          <p:cNvSpPr txBox="1"/>
          <p:nvPr/>
        </p:nvSpPr>
        <p:spPr>
          <a:xfrm>
            <a:off x="3703320" y="4187952"/>
            <a:ext cx="7406640" cy="868680"/>
          </a:xfrm>
          <a:prstGeom prst="rect">
            <a:avLst/>
          </a:prstGeom>
          <a:noFill/>
          <a:ln/>
        </p:spPr>
        <p:txBody>
          <a:bodyPr wrap="square" lIns="0" tIns="0" rIns="0" bIns="0" rtlCol="0" anchor="ctr">
            <a:normAutofit/>
          </a:bodyPr>
          <a:lstStyle/>
          <a:p>
            <a:pPr indent="0" marL="0">
              <a:buNone/>
            </a:pPr>
            <a:r>
              <a:rPr lang="en-US" sz="1500" dirty="0">
                <a:solidFill>
                  <a:srgbClr val="172840"/>
                </a:solidFill>
                <a:latin typeface="Arial" pitchFamily="34" charset="0"/>
                <a:ea typeface="Arial" pitchFamily="34" charset="-122"/>
                <a:cs typeface="Arial" pitchFamily="34" charset="-120"/>
              </a:rPr>
              <a:t>A bank-owned monitoring platform could send alerts through an authenticated API or batch feed into an ingestion layer. That endpoint, contract, validation and queue consumer do not exist in this code.</a:t>
            </a:r>
            <a:endParaRPr lang="en-US" sz="1500" dirty="0"/>
          </a:p>
        </p:txBody>
      </p:sp>
      <p:sp>
        <p:nvSpPr>
          <p:cNvPr id="37" name="Text 35"/>
          <p:cNvSpPr txBox="1"/>
          <p:nvPr/>
        </p:nvSpPr>
        <p:spPr>
          <a:xfrm>
            <a:off x="713232" y="5705856"/>
            <a:ext cx="10789920" cy="347472"/>
          </a:xfrm>
          <a:prstGeom prst="rect">
            <a:avLst/>
          </a:prstGeom>
          <a:noFill/>
          <a:ln/>
        </p:spPr>
        <p:txBody>
          <a:bodyPr wrap="square" lIns="0" tIns="0" rIns="0" bIns="0" rtlCol="0" anchor="ctr">
            <a:normAutofit/>
          </a:bodyPr>
          <a:lstStyle/>
          <a:p>
            <a:pPr indent="0" marL="0">
              <a:buNone/>
            </a:pPr>
            <a:r>
              <a:rPr lang="en-US" sz="1300" b="1" dirty="0">
                <a:solidFill>
                  <a:srgbClr val="A24040"/>
                </a:solidFill>
                <a:latin typeface="Arial" pitchFamily="34" charset="0"/>
                <a:ea typeface="Arial" pitchFamily="34" charset="-122"/>
                <a:cs typeface="Arial" pitchFamily="34" charset="-120"/>
              </a:rPr>
              <a:t>Rule Config only previews sensitivities; changing sliders does not regenerate existing alerts.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04 / CONCRETE EXAMPLE</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CASE-043: calculate the signal; inspect the gaps</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05</a:t>
            </a:r>
            <a:endParaRPr lang="en-US" sz="900" dirty="0"/>
          </a:p>
        </p:txBody>
      </p:sp>
      <p:sp>
        <p:nvSpPr>
          <p:cNvPr id="6" name="Shape 4"/>
          <p:cNvSpPr/>
          <p:nvPr/>
        </p:nvSpPr>
        <p:spPr>
          <a:xfrm>
            <a:off x="603504" y="1353312"/>
            <a:ext cx="5394960" cy="292608"/>
          </a:xfrm>
          <a:prstGeom prst="roundRect">
            <a:avLst>
              <a:gd name="adj" fmla="val 31250"/>
            </a:avLst>
          </a:prstGeom>
          <a:solidFill>
            <a:srgbClr val="E8F0FA"/>
          </a:solidFill>
          <a:ln w="15240">
            <a:solidFill>
              <a:srgbClr val="E8F0FA"/>
            </a:solidFill>
            <a:prstDash val="solid"/>
          </a:ln>
        </p:spPr>
      </p:sp>
      <p:sp>
        <p:nvSpPr>
          <p:cNvPr id="7" name="Text 5"/>
          <p:cNvSpPr txBox="1"/>
          <p:nvPr/>
        </p:nvSpPr>
        <p:spPr>
          <a:xfrm>
            <a:off x="676656" y="1362456"/>
            <a:ext cx="5248656" cy="256032"/>
          </a:xfrm>
          <a:prstGeom prst="rect">
            <a:avLst/>
          </a:prstGeom>
          <a:noFill/>
          <a:ln/>
        </p:spPr>
        <p:txBody>
          <a:bodyPr wrap="square" lIns="0" tIns="0" rIns="0" bIns="0" rtlCol="0" anchor="ctr">
            <a:normAutofit/>
          </a:bodyPr>
          <a:lstStyle/>
          <a:p>
            <a:pPr algn="ctr" indent="0" marL="0">
              <a:buNone/>
            </a:pPr>
            <a:r>
              <a:rPr lang="en-US" sz="1000" b="1" dirty="0">
                <a:solidFill>
                  <a:srgbClr val="2E67B7"/>
                </a:solidFill>
                <a:latin typeface="Arial" pitchFamily="34" charset="0"/>
                <a:ea typeface="Arial" pitchFamily="34" charset="-122"/>
                <a:cs typeface="Arial" pitchFamily="34" charset="-120"/>
              </a:rPr>
              <a:t>Arjun Mehta  ·  ACC-TEST-01  ·  fictional</a:t>
            </a:r>
            <a:endParaRPr lang="en-US" sz="1000" dirty="0"/>
          </a:p>
        </p:txBody>
      </p:sp>
      <p:sp>
        <p:nvSpPr>
          <p:cNvPr id="8" name="Shape 6"/>
          <p:cNvSpPr/>
          <p:nvPr/>
        </p:nvSpPr>
        <p:spPr>
          <a:xfrm>
            <a:off x="630936" y="1874520"/>
            <a:ext cx="5623560" cy="612648"/>
          </a:xfrm>
          <a:prstGeom prst="roundRect">
            <a:avLst>
              <a:gd name="adj" fmla="val 23881"/>
            </a:avLst>
          </a:prstGeom>
          <a:solidFill>
            <a:srgbClr val="E8F0FA"/>
          </a:solidFill>
          <a:ln w="15240">
            <a:solidFill>
              <a:srgbClr val="C8D6E8"/>
            </a:solidFill>
            <a:prstDash val="solid"/>
          </a:ln>
        </p:spPr>
      </p:sp>
      <p:sp>
        <p:nvSpPr>
          <p:cNvPr id="9" name="Text 7"/>
          <p:cNvSpPr txBox="1"/>
          <p:nvPr/>
        </p:nvSpPr>
        <p:spPr>
          <a:xfrm>
            <a:off x="841248" y="1993392"/>
            <a:ext cx="1508760" cy="320040"/>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4 credits</a:t>
            </a:r>
            <a:endParaRPr lang="en-US" sz="1500" dirty="0"/>
          </a:p>
        </p:txBody>
      </p:sp>
      <p:sp>
        <p:nvSpPr>
          <p:cNvPr id="10" name="Text 8"/>
          <p:cNvSpPr txBox="1"/>
          <p:nvPr/>
        </p:nvSpPr>
        <p:spPr>
          <a:xfrm>
            <a:off x="2331720" y="1965960"/>
            <a:ext cx="3657600" cy="365760"/>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₹300,000 each = ₹1,200,000</a:t>
            </a:r>
            <a:endParaRPr lang="en-US" sz="1400" dirty="0"/>
          </a:p>
        </p:txBody>
      </p:sp>
      <p:sp>
        <p:nvSpPr>
          <p:cNvPr id="11" name="Shape 9"/>
          <p:cNvSpPr/>
          <p:nvPr/>
        </p:nvSpPr>
        <p:spPr>
          <a:xfrm>
            <a:off x="630936" y="2633472"/>
            <a:ext cx="5623560" cy="612648"/>
          </a:xfrm>
          <a:prstGeom prst="roundRect">
            <a:avLst>
              <a:gd name="adj" fmla="val 23881"/>
            </a:avLst>
          </a:prstGeom>
          <a:solidFill>
            <a:srgbClr val="FFFFFF"/>
          </a:solidFill>
          <a:ln w="15240">
            <a:solidFill>
              <a:srgbClr val="C8D6E8"/>
            </a:solidFill>
            <a:prstDash val="solid"/>
          </a:ln>
        </p:spPr>
      </p:sp>
      <p:sp>
        <p:nvSpPr>
          <p:cNvPr id="12" name="Text 10"/>
          <p:cNvSpPr txBox="1"/>
          <p:nvPr/>
        </p:nvSpPr>
        <p:spPr>
          <a:xfrm>
            <a:off x="841248" y="2752344"/>
            <a:ext cx="1508760" cy="320040"/>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6 debits</a:t>
            </a:r>
            <a:endParaRPr lang="en-US" sz="1500" dirty="0"/>
          </a:p>
        </p:txBody>
      </p:sp>
      <p:sp>
        <p:nvSpPr>
          <p:cNvPr id="13" name="Text 11"/>
          <p:cNvSpPr txBox="1"/>
          <p:nvPr/>
        </p:nvSpPr>
        <p:spPr>
          <a:xfrm>
            <a:off x="2331720" y="2724912"/>
            <a:ext cx="3657600" cy="365760"/>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₹180,000 each = ₹1,080,000</a:t>
            </a:r>
            <a:endParaRPr lang="en-US" sz="1400" dirty="0"/>
          </a:p>
        </p:txBody>
      </p:sp>
      <p:sp>
        <p:nvSpPr>
          <p:cNvPr id="14" name="Shape 12"/>
          <p:cNvSpPr/>
          <p:nvPr/>
        </p:nvSpPr>
        <p:spPr>
          <a:xfrm>
            <a:off x="630936" y="3392424"/>
            <a:ext cx="5623560" cy="612648"/>
          </a:xfrm>
          <a:prstGeom prst="roundRect">
            <a:avLst>
              <a:gd name="adj" fmla="val 23881"/>
            </a:avLst>
          </a:prstGeom>
          <a:solidFill>
            <a:srgbClr val="E8F0FA"/>
          </a:solidFill>
          <a:ln w="15240">
            <a:solidFill>
              <a:srgbClr val="C8D6E8"/>
            </a:solidFill>
            <a:prstDash val="solid"/>
          </a:ln>
        </p:spPr>
      </p:sp>
      <p:sp>
        <p:nvSpPr>
          <p:cNvPr id="15" name="Text 13"/>
          <p:cNvSpPr txBox="1"/>
          <p:nvPr/>
        </p:nvSpPr>
        <p:spPr>
          <a:xfrm>
            <a:off x="841248" y="3511296"/>
            <a:ext cx="1508760" cy="320040"/>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Baseline</a:t>
            </a:r>
            <a:endParaRPr lang="en-US" sz="1500" dirty="0"/>
          </a:p>
        </p:txBody>
      </p:sp>
      <p:sp>
        <p:nvSpPr>
          <p:cNvPr id="16" name="Text 14"/>
          <p:cNvSpPr txBox="1"/>
          <p:nvPr/>
        </p:nvSpPr>
        <p:spPr>
          <a:xfrm>
            <a:off x="2331720" y="3483864"/>
            <a:ext cx="3657600" cy="365760"/>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₹80,000 monthly credit (six months)</a:t>
            </a:r>
            <a:endParaRPr lang="en-US" sz="1400" dirty="0"/>
          </a:p>
        </p:txBody>
      </p:sp>
      <p:sp>
        <p:nvSpPr>
          <p:cNvPr id="17" name="Shape 15"/>
          <p:cNvSpPr/>
          <p:nvPr/>
        </p:nvSpPr>
        <p:spPr>
          <a:xfrm>
            <a:off x="630936" y="4151376"/>
            <a:ext cx="5623560" cy="612648"/>
          </a:xfrm>
          <a:prstGeom prst="roundRect">
            <a:avLst>
              <a:gd name="adj" fmla="val 23881"/>
            </a:avLst>
          </a:prstGeom>
          <a:solidFill>
            <a:srgbClr val="FFFFFF"/>
          </a:solidFill>
          <a:ln w="15240">
            <a:solidFill>
              <a:srgbClr val="C8D6E8"/>
            </a:solidFill>
            <a:prstDash val="solid"/>
          </a:ln>
        </p:spPr>
      </p:sp>
      <p:sp>
        <p:nvSpPr>
          <p:cNvPr id="18" name="Text 16"/>
          <p:cNvSpPr txBox="1"/>
          <p:nvPr/>
        </p:nvSpPr>
        <p:spPr>
          <a:xfrm>
            <a:off x="841248" y="4270248"/>
            <a:ext cx="1508760" cy="320040"/>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Rule result</a:t>
            </a:r>
            <a:endParaRPr lang="en-US" sz="1500" dirty="0"/>
          </a:p>
        </p:txBody>
      </p:sp>
      <p:sp>
        <p:nvSpPr>
          <p:cNvPr id="19" name="Text 17"/>
          <p:cNvSpPr txBox="1"/>
          <p:nvPr/>
        </p:nvSpPr>
        <p:spPr>
          <a:xfrm>
            <a:off x="2331720" y="4242816"/>
            <a:ext cx="3657600" cy="365760"/>
          </a:xfrm>
          <a:prstGeom prst="rect">
            <a:avLst/>
          </a:prstGeom>
          <a:noFill/>
          <a:ln/>
        </p:spPr>
        <p:txBody>
          <a:bodyPr wrap="square" lIns="0" tIns="0" rIns="0" bIns="0" rtlCol="0" anchor="ctr">
            <a:normAutofit/>
          </a:bodyPr>
          <a:lstStyle/>
          <a:p>
            <a:pPr indent="0" marL="0">
              <a:buNone/>
            </a:pPr>
            <a:r>
              <a:rPr lang="en-US" sz="1400" b="1" dirty="0">
                <a:solidFill>
                  <a:srgbClr val="2E67B7"/>
                </a:solidFill>
                <a:latin typeface="Arial" pitchFamily="34" charset="0"/>
                <a:ea typeface="Arial" pitchFamily="34" charset="-122"/>
                <a:cs typeface="Arial" pitchFamily="34" charset="-120"/>
              </a:rPr>
              <a:t>15× baseline · 90% out · 6 beneficiaries</a:t>
            </a:r>
            <a:endParaRPr lang="en-US" sz="1400" dirty="0"/>
          </a:p>
        </p:txBody>
      </p:sp>
      <p:sp>
        <p:nvSpPr>
          <p:cNvPr id="20" name="Shape 18"/>
          <p:cNvSpPr/>
          <p:nvPr/>
        </p:nvSpPr>
        <p:spPr>
          <a:xfrm>
            <a:off x="6537960" y="1874520"/>
            <a:ext cx="4937760" cy="3136392"/>
          </a:xfrm>
          <a:prstGeom prst="roundRect">
            <a:avLst>
              <a:gd name="adj" fmla="val 4665"/>
            </a:avLst>
          </a:prstGeom>
          <a:solidFill>
            <a:srgbClr val="FFFFFF"/>
          </a:solidFill>
          <a:ln w="15240">
            <a:solidFill>
              <a:srgbClr val="C8D6E8"/>
            </a:solidFill>
            <a:prstDash val="solid"/>
          </a:ln>
        </p:spPr>
      </p:sp>
      <p:sp>
        <p:nvSpPr>
          <p:cNvPr id="21" name="Shape 19"/>
          <p:cNvSpPr/>
          <p:nvPr/>
        </p:nvSpPr>
        <p:spPr>
          <a:xfrm>
            <a:off x="6793992" y="2176272"/>
            <a:ext cx="539496" cy="539496"/>
          </a:xfrm>
          <a:prstGeom prst="ellipse">
            <a:avLst/>
          </a:prstGeom>
          <a:solidFill>
            <a:srgbClr val="B06A14"/>
          </a:solidFill>
          <a:ln w="12700">
            <a:solidFill>
              <a:srgbClr val="B06A14"/>
            </a:solidFill>
            <a:prstDash val="solid"/>
          </a:ln>
        </p:spPr>
      </p:sp>
      <p:sp>
        <p:nvSpPr>
          <p:cNvPr id="22" name="Text 20"/>
          <p:cNvSpPr txBox="1"/>
          <p:nvPr/>
        </p:nvSpPr>
        <p:spPr>
          <a:xfrm>
            <a:off x="6793992" y="2176272"/>
            <a:ext cx="539496" cy="53949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23" name="Text 21"/>
          <p:cNvSpPr txBox="1"/>
          <p:nvPr/>
        </p:nvSpPr>
        <p:spPr>
          <a:xfrm>
            <a:off x="7479792" y="2157984"/>
            <a:ext cx="3639312" cy="393192"/>
          </a:xfrm>
          <a:prstGeom prst="rect">
            <a:avLst/>
          </a:prstGeom>
          <a:noFill/>
          <a:ln/>
        </p:spPr>
        <p:txBody>
          <a:bodyPr wrap="square" lIns="0" tIns="0" rIns="0" bIns="0" rtlCol="0" anchor="ctr">
            <a:normAutofit/>
          </a:bodyPr>
          <a:lstStyle/>
          <a:p>
            <a:pPr indent="0" marL="0">
              <a:buNone/>
            </a:pPr>
            <a:r>
              <a:rPr lang="en-US" sz="1900" b="1" dirty="0">
                <a:solidFill>
                  <a:srgbClr val="172840"/>
                </a:solidFill>
                <a:latin typeface="Arial" pitchFamily="34" charset="0"/>
                <a:ea typeface="Arial" pitchFamily="34" charset="-122"/>
                <a:cs typeface="Arial" pitchFamily="34" charset="-120"/>
              </a:rPr>
              <a:t>Evidence still missing</a:t>
            </a:r>
            <a:endParaRPr lang="en-US" sz="1900" dirty="0"/>
          </a:p>
        </p:txBody>
      </p:sp>
      <p:sp>
        <p:nvSpPr>
          <p:cNvPr id="24" name="Text 22"/>
          <p:cNvSpPr txBox="1"/>
          <p:nvPr/>
        </p:nvSpPr>
        <p:spPr>
          <a:xfrm>
            <a:off x="6839712" y="2880360"/>
            <a:ext cx="4206240" cy="1197864"/>
          </a:xfrm>
          <a:prstGeom prst="rect">
            <a:avLst/>
          </a:prstGeom>
          <a:noFill/>
          <a:ln/>
        </p:spPr>
        <p:txBody>
          <a:bodyPr wrap="square" lIns="0" tIns="0" rIns="0" bIns="0" rtlCol="0" anchor="ctr">
            <a:normAutofit/>
          </a:bodyPr>
          <a:lstStyle/>
          <a:p>
            <a:pPr indent="0" marL="0">
              <a:buNone/>
            </a:pPr>
            <a:r>
              <a:rPr lang="en-US" sz="1600" dirty="0">
                <a:solidFill>
                  <a:srgbClr val="172840"/>
                </a:solidFill>
                <a:latin typeface="Arial" pitchFamily="34" charset="0"/>
                <a:ea typeface="Arial" pitchFamily="34" charset="-122"/>
                <a:cs typeface="Arial" pitchFamily="34" charset="-120"/>
              </a:rPr>
              <a:t>No original PAN/OVD files, sender identities, independent source-of-funds proof, or external-bank posting confirmation.</a:t>
            </a:r>
            <a:endParaRPr lang="en-US" sz="1600" dirty="0"/>
          </a:p>
        </p:txBody>
      </p:sp>
      <p:sp>
        <p:nvSpPr>
          <p:cNvPr id="25" name="Text 23"/>
          <p:cNvSpPr txBox="1"/>
          <p:nvPr/>
        </p:nvSpPr>
        <p:spPr>
          <a:xfrm>
            <a:off x="6839712" y="4389120"/>
            <a:ext cx="4206240" cy="347472"/>
          </a:xfrm>
          <a:prstGeom prst="rect">
            <a:avLst/>
          </a:prstGeom>
          <a:noFill/>
          <a:ln/>
        </p:spPr>
        <p:txBody>
          <a:bodyPr wrap="square" lIns="0" tIns="0" rIns="0" bIns="0" rtlCol="0" anchor="ctr">
            <a:normAutofit/>
          </a:bodyPr>
          <a:lstStyle/>
          <a:p>
            <a:pPr indent="0" marL="0">
              <a:buNone/>
            </a:pPr>
            <a:r>
              <a:rPr lang="en-US" sz="1500" b="1" dirty="0">
                <a:solidFill>
                  <a:srgbClr val="087E8B"/>
                </a:solidFill>
                <a:latin typeface="Arial" pitchFamily="34" charset="0"/>
                <a:ea typeface="Arial" pitchFamily="34" charset="-122"/>
                <a:cs typeface="Arial" pitchFamily="34" charset="-120"/>
              </a:rPr>
              <a:t>Customer explanation is uncorroborated.</a:t>
            </a:r>
            <a:endParaRPr lang="en-US" sz="1500" dirty="0"/>
          </a:p>
        </p:txBody>
      </p:sp>
      <p:sp>
        <p:nvSpPr>
          <p:cNvPr id="26" name="Text 24"/>
          <p:cNvSpPr txBox="1"/>
          <p:nvPr/>
        </p:nvSpPr>
        <p:spPr>
          <a:xfrm>
            <a:off x="667512" y="5669280"/>
            <a:ext cx="10789920" cy="475488"/>
          </a:xfrm>
          <a:prstGeom prst="rect">
            <a:avLst/>
          </a:prstGeom>
          <a:noFill/>
          <a:ln/>
        </p:spPr>
        <p:txBody>
          <a:bodyPr wrap="square" lIns="0" tIns="0" rIns="0" bIns="0" rtlCol="0" anchor="ctr">
            <a:normAutofit/>
          </a:bodyPr>
          <a:lstStyle/>
          <a:p>
            <a:pPr indent="0" marL="0">
              <a:buNone/>
            </a:pPr>
            <a:r>
              <a:rPr lang="en-US" sz="1600" b="1" dirty="0">
                <a:solidFill>
                  <a:srgbClr val="A24040"/>
                </a:solidFill>
                <a:latin typeface="Arial" pitchFamily="34" charset="0"/>
                <a:ea typeface="Arial" pitchFamily="34" charset="-122"/>
                <a:cs typeface="Arial" pitchFamily="34" charset="-120"/>
              </a:rPr>
              <a:t>The same ten-transaction signal also fires for CASE-044. Neither case is a fraud verdict.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05 / DATABASE MODEL</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Two data stores, two jobs</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06</a:t>
            </a:r>
            <a:endParaRPr lang="en-US" sz="900" dirty="0"/>
          </a:p>
        </p:txBody>
      </p:sp>
      <p:sp>
        <p:nvSpPr>
          <p:cNvPr id="6" name="Shape 4"/>
          <p:cNvSpPr/>
          <p:nvPr/>
        </p:nvSpPr>
        <p:spPr>
          <a:xfrm>
            <a:off x="594360" y="1499616"/>
            <a:ext cx="5257800" cy="4187952"/>
          </a:xfrm>
          <a:prstGeom prst="roundRect">
            <a:avLst>
              <a:gd name="adj" fmla="val 3493"/>
            </a:avLst>
          </a:prstGeom>
          <a:solidFill>
            <a:srgbClr val="FFFFFF"/>
          </a:solidFill>
          <a:ln w="15240">
            <a:solidFill>
              <a:srgbClr val="C8D6E8"/>
            </a:solidFill>
            <a:prstDash val="solid"/>
          </a:ln>
        </p:spPr>
      </p:sp>
      <p:sp>
        <p:nvSpPr>
          <p:cNvPr id="7" name="Shape 5"/>
          <p:cNvSpPr/>
          <p:nvPr/>
        </p:nvSpPr>
        <p:spPr>
          <a:xfrm>
            <a:off x="877824" y="1773936"/>
            <a:ext cx="557784" cy="557784"/>
          </a:xfrm>
          <a:prstGeom prst="ellipse">
            <a:avLst/>
          </a:prstGeom>
          <a:solidFill>
            <a:srgbClr val="2E67B7"/>
          </a:solidFill>
          <a:ln w="12700">
            <a:solidFill>
              <a:srgbClr val="2E67B7"/>
            </a:solidFill>
            <a:prstDash val="solid"/>
          </a:ln>
        </p:spPr>
      </p:sp>
      <p:sp>
        <p:nvSpPr>
          <p:cNvPr id="8" name="Text 6"/>
          <p:cNvSpPr txBox="1"/>
          <p:nvPr/>
        </p:nvSpPr>
        <p:spPr>
          <a:xfrm>
            <a:off x="877824" y="1773936"/>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S</a:t>
            </a:r>
            <a:endParaRPr lang="en-US" sz="1700" dirty="0"/>
          </a:p>
        </p:txBody>
      </p:sp>
      <p:sp>
        <p:nvSpPr>
          <p:cNvPr id="9" name="Text 7"/>
          <p:cNvSpPr txBox="1"/>
          <p:nvPr/>
        </p:nvSpPr>
        <p:spPr>
          <a:xfrm>
            <a:off x="1600200" y="1783080"/>
            <a:ext cx="3749040" cy="402336"/>
          </a:xfrm>
          <a:prstGeom prst="rect">
            <a:avLst/>
          </a:prstGeom>
          <a:noFill/>
          <a:ln/>
        </p:spPr>
        <p:txBody>
          <a:bodyPr wrap="square" lIns="0" tIns="0" rIns="0" bIns="0" rtlCol="0" anchor="ctr">
            <a:normAutofit/>
          </a:bodyPr>
          <a:lstStyle/>
          <a:p>
            <a:pPr indent="0" marL="0">
              <a:buNone/>
            </a:pPr>
            <a:r>
              <a:rPr lang="en-US" sz="2200" b="1" dirty="0">
                <a:solidFill>
                  <a:srgbClr val="172840"/>
                </a:solidFill>
                <a:latin typeface="Arial" pitchFamily="34" charset="0"/>
                <a:ea typeface="Arial" pitchFamily="34" charset="-122"/>
                <a:cs typeface="Arial" pitchFamily="34" charset="-120"/>
              </a:rPr>
              <a:t>Source SQLite</a:t>
            </a:r>
            <a:endParaRPr lang="en-US" sz="2200" dirty="0"/>
          </a:p>
        </p:txBody>
      </p:sp>
      <p:sp>
        <p:nvSpPr>
          <p:cNvPr id="10" name="Text 8"/>
          <p:cNvSpPr txBox="1"/>
          <p:nvPr/>
        </p:nvSpPr>
        <p:spPr>
          <a:xfrm>
            <a:off x="914400" y="2322576"/>
            <a:ext cx="4480560" cy="274320"/>
          </a:xfrm>
          <a:prstGeom prst="rect">
            <a:avLst/>
          </a:prstGeom>
          <a:noFill/>
          <a:ln/>
        </p:spPr>
        <p:txBody>
          <a:bodyPr wrap="square" lIns="0" tIns="0" rIns="0" bIns="0" rtlCol="0" anchor="ctr">
            <a:normAutofit/>
          </a:bodyPr>
          <a:lstStyle/>
          <a:p>
            <a:pPr indent="0" marL="0">
              <a:buNone/>
            </a:pPr>
            <a:r>
              <a:rPr lang="en-US" sz="1300" b="1" dirty="0">
                <a:solidFill>
                  <a:srgbClr val="087E8B"/>
                </a:solidFill>
                <a:latin typeface="Arial" pitchFamily="34" charset="0"/>
                <a:ea typeface="Arial" pitchFamily="34" charset="-122"/>
                <a:cs typeface="Arial" pitchFamily="34" charset="-120"/>
              </a:rPr>
              <a:t>data/investigateiq.db</a:t>
            </a:r>
            <a:endParaRPr lang="en-US" sz="1300" dirty="0"/>
          </a:p>
        </p:txBody>
      </p:sp>
      <p:sp>
        <p:nvSpPr>
          <p:cNvPr id="11" name="Text 9"/>
          <p:cNvSpPr txBox="1"/>
          <p:nvPr/>
        </p:nvSpPr>
        <p:spPr>
          <a:xfrm>
            <a:off x="914400" y="2852928"/>
            <a:ext cx="4462272" cy="1984248"/>
          </a:xfrm>
          <a:prstGeom prst="rect">
            <a:avLst/>
          </a:prstGeom>
          <a:noFill/>
          <a:ln/>
        </p:spPr>
        <p:txBody>
          <a:bodyPr wrap="square" lIns="0" tIns="0" rIns="0" bIns="0" rtlCol="0" anchor="t">
            <a:normAutofit/>
          </a:bodyPr>
          <a:lstStyle/>
          <a:p>
            <a:pPr indent="0" marL="0">
              <a:buNone/>
            </a:pPr>
            <a:r>
              <a:rPr lang="en-US" sz="1600" dirty="0">
                <a:solidFill>
                  <a:srgbClr val="172840"/>
                </a:solidFill>
                <a:latin typeface="Arial" pitchFamily="34" charset="0"/>
                <a:ea typeface="Arial" pitchFamily="34" charset="-122"/>
                <a:cs typeface="Arial" pitchFamily="34" charset="-120"/>
              </a:rPr>
              <a:t>Customers 554  •  Accounts 676</a:t>
            </a:r>
            <a:endParaRPr lang="en-US" sz="1600" dirty="0"/>
          </a:p>
          <a:p>
            <a:pPr indent="0" marL="0">
              <a:buNone/>
            </a:pPr>
            <a:r>
              <a:rPr lang="en-US" sz="1600" dirty="0">
                <a:solidFill>
                  <a:srgbClr val="172840"/>
                </a:solidFill>
                <a:latin typeface="Arial" pitchFamily="34" charset="0"/>
                <a:ea typeface="Arial" pitchFamily="34" charset="-122"/>
                <a:cs typeface="Arial" pitchFamily="34" charset="-120"/>
              </a:rPr>
              <a:t>Transactions 9,982  •  Alerts 44</a:t>
            </a:r>
            <a:endParaRPr lang="en-US" sz="1600" dirty="0"/>
          </a:p>
          <a:p>
            <a:pPr indent="0" marL="0">
              <a:buNone/>
            </a:pPr>
            <a:r>
              <a:rPr lang="en-US" sz="1600" dirty="0">
                <a:solidFill>
                  <a:srgbClr val="172840"/>
                </a:solidFill>
                <a:latin typeface="Arial" pitchFamily="34" charset="0"/>
                <a:ea typeface="Arial" pitchFamily="34" charset="-122"/>
                <a:cs typeface="Arial" pitchFamily="34" charset="-120"/>
              </a:rPr>
              <a:t>Case source records 1,770</a:t>
            </a:r>
            <a:endParaRPr lang="en-US" sz="1600" dirty="0"/>
          </a:p>
          <a:p>
            <a:pPr indent="0" marL="0">
              <a:buNone/>
            </a:pPr>
            <a:r>
              <a:rPr lang="en-US" sz="1600" dirty="0">
                <a:solidFill>
                  <a:srgbClr val="172840"/>
                </a:solidFill>
                <a:latin typeface="Arial" pitchFamily="34" charset="0"/>
                <a:ea typeface="Arial" pitchFamily="34" charset="-122"/>
                <a:cs typeface="Arial" pitchFamily="34" charset="-120"/>
              </a:rPr>
              <a:t>Case chunks 4,282  •  KB chunks 57</a:t>
            </a:r>
            <a:endParaRPr lang="en-US" sz="1600" dirty="0"/>
          </a:p>
        </p:txBody>
      </p:sp>
      <p:sp>
        <p:nvSpPr>
          <p:cNvPr id="12" name="Shape 10"/>
          <p:cNvSpPr/>
          <p:nvPr/>
        </p:nvSpPr>
        <p:spPr>
          <a:xfrm>
            <a:off x="6272784" y="1499616"/>
            <a:ext cx="5257800" cy="4187952"/>
          </a:xfrm>
          <a:prstGeom prst="roundRect">
            <a:avLst>
              <a:gd name="adj" fmla="val 3493"/>
            </a:avLst>
          </a:prstGeom>
          <a:solidFill>
            <a:srgbClr val="FFFFFF"/>
          </a:solidFill>
          <a:ln w="15240">
            <a:solidFill>
              <a:srgbClr val="C8D6E8"/>
            </a:solidFill>
            <a:prstDash val="solid"/>
          </a:ln>
        </p:spPr>
      </p:sp>
      <p:sp>
        <p:nvSpPr>
          <p:cNvPr id="13" name="Shape 11"/>
          <p:cNvSpPr/>
          <p:nvPr/>
        </p:nvSpPr>
        <p:spPr>
          <a:xfrm>
            <a:off x="6556248" y="1773936"/>
            <a:ext cx="557784" cy="557784"/>
          </a:xfrm>
          <a:prstGeom prst="ellipse">
            <a:avLst/>
          </a:prstGeom>
          <a:solidFill>
            <a:srgbClr val="087E8B"/>
          </a:solidFill>
          <a:ln w="12700">
            <a:solidFill>
              <a:srgbClr val="087E8B"/>
            </a:solidFill>
            <a:prstDash val="solid"/>
          </a:ln>
        </p:spPr>
      </p:sp>
      <p:sp>
        <p:nvSpPr>
          <p:cNvPr id="14" name="Text 12"/>
          <p:cNvSpPr txBox="1"/>
          <p:nvPr/>
        </p:nvSpPr>
        <p:spPr>
          <a:xfrm>
            <a:off x="6556248" y="1773936"/>
            <a:ext cx="557784" cy="55778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R</a:t>
            </a:r>
            <a:endParaRPr lang="en-US" sz="1700" dirty="0"/>
          </a:p>
        </p:txBody>
      </p:sp>
      <p:sp>
        <p:nvSpPr>
          <p:cNvPr id="15" name="Text 13"/>
          <p:cNvSpPr txBox="1"/>
          <p:nvPr/>
        </p:nvSpPr>
        <p:spPr>
          <a:xfrm>
            <a:off x="7278624" y="1783080"/>
            <a:ext cx="3749040" cy="402336"/>
          </a:xfrm>
          <a:prstGeom prst="rect">
            <a:avLst/>
          </a:prstGeom>
          <a:noFill/>
          <a:ln/>
        </p:spPr>
        <p:txBody>
          <a:bodyPr wrap="square" lIns="0" tIns="0" rIns="0" bIns="0" rtlCol="0" anchor="ctr">
            <a:normAutofit/>
          </a:bodyPr>
          <a:lstStyle/>
          <a:p>
            <a:pPr indent="0" marL="0">
              <a:buNone/>
            </a:pPr>
            <a:r>
              <a:rPr lang="en-US" sz="2200" b="1" dirty="0">
                <a:solidFill>
                  <a:srgbClr val="172840"/>
                </a:solidFill>
                <a:latin typeface="Arial" pitchFamily="34" charset="0"/>
                <a:ea typeface="Arial" pitchFamily="34" charset="-122"/>
                <a:cs typeface="Arial" pitchFamily="34" charset="-120"/>
              </a:rPr>
              <a:t>Runtime SQLite</a:t>
            </a:r>
            <a:endParaRPr lang="en-US" sz="2200" dirty="0"/>
          </a:p>
        </p:txBody>
      </p:sp>
      <p:sp>
        <p:nvSpPr>
          <p:cNvPr id="16" name="Text 14"/>
          <p:cNvSpPr txBox="1"/>
          <p:nvPr/>
        </p:nvSpPr>
        <p:spPr>
          <a:xfrm>
            <a:off x="6592824" y="2322576"/>
            <a:ext cx="4480560" cy="274320"/>
          </a:xfrm>
          <a:prstGeom prst="rect">
            <a:avLst/>
          </a:prstGeom>
          <a:noFill/>
          <a:ln/>
        </p:spPr>
        <p:txBody>
          <a:bodyPr wrap="square" lIns="0" tIns="0" rIns="0" bIns="0" rtlCol="0" anchor="ctr">
            <a:normAutofit/>
          </a:bodyPr>
          <a:lstStyle/>
          <a:p>
            <a:pPr indent="0" marL="0">
              <a:buNone/>
            </a:pPr>
            <a:r>
              <a:rPr lang="en-US" sz="1300" b="1" dirty="0">
                <a:solidFill>
                  <a:srgbClr val="087E8B"/>
                </a:solidFill>
                <a:latin typeface="Arial" pitchFamily="34" charset="0"/>
                <a:ea typeface="Arial" pitchFamily="34" charset="-122"/>
                <a:cs typeface="Arial" pitchFamily="34" charset="-120"/>
              </a:rPr>
              <a:t>data/investigateiq_runtime.db</a:t>
            </a:r>
            <a:endParaRPr lang="en-US" sz="1300" dirty="0"/>
          </a:p>
        </p:txBody>
      </p:sp>
      <p:sp>
        <p:nvSpPr>
          <p:cNvPr id="17" name="Text 15"/>
          <p:cNvSpPr txBox="1"/>
          <p:nvPr/>
        </p:nvSpPr>
        <p:spPr>
          <a:xfrm>
            <a:off x="6592824" y="2852928"/>
            <a:ext cx="4462272" cy="1984248"/>
          </a:xfrm>
          <a:prstGeom prst="rect">
            <a:avLst/>
          </a:prstGeom>
          <a:noFill/>
          <a:ln/>
        </p:spPr>
        <p:txBody>
          <a:bodyPr wrap="square" lIns="0" tIns="0" rIns="0" bIns="0" rtlCol="0" anchor="t">
            <a:normAutofit/>
          </a:bodyPr>
          <a:lstStyle/>
          <a:p>
            <a:pPr indent="0" marL="0">
              <a:buNone/>
            </a:pPr>
            <a:r>
              <a:rPr lang="en-US" sz="1600" dirty="0">
                <a:solidFill>
                  <a:srgbClr val="172840"/>
                </a:solidFill>
                <a:latin typeface="Arial" pitchFamily="34" charset="0"/>
                <a:ea typeface="Arial" pitchFamily="34" charset="-122"/>
                <a:cs typeface="Arial" pitchFamily="34" charset="-120"/>
              </a:rPr>
              <a:t>Human actions and rationale</a:t>
            </a:r>
            <a:endParaRPr lang="en-US" sz="1600" dirty="0"/>
          </a:p>
          <a:p>
            <a:pPr indent="0" marL="0">
              <a:buNone/>
            </a:pPr>
            <a:r>
              <a:rPr lang="en-US" sz="1600" dirty="0">
                <a:solidFill>
                  <a:srgbClr val="172840"/>
                </a:solidFill>
                <a:latin typeface="Arial" pitchFamily="34" charset="0"/>
                <a:ea typeface="Arial" pitchFamily="34" charset="-122"/>
                <a:cs typeface="Arial" pitchFamily="34" charset="-120"/>
              </a:rPr>
              <a:t>Audit events from each stage</a:t>
            </a:r>
            <a:endParaRPr lang="en-US" sz="1600" dirty="0"/>
          </a:p>
          <a:p>
            <a:pPr indent="0" marL="0">
              <a:buNone/>
            </a:pPr>
            <a:r>
              <a:rPr lang="en-US" sz="1600" dirty="0">
                <a:solidFill>
                  <a:srgbClr val="172840"/>
                </a:solidFill>
                <a:latin typeface="Arial" pitchFamily="34" charset="0"/>
                <a:ea typeface="Arial" pitchFamily="34" charset="-122"/>
                <a:cs typeface="Arial" pitchFamily="34" charset="-120"/>
              </a:rPr>
              <a:t>Admin rule settings and change history</a:t>
            </a:r>
            <a:endParaRPr lang="en-US" sz="1600" dirty="0"/>
          </a:p>
          <a:p>
            <a:pPr indent="0" marL="0">
              <a:buNone/>
            </a:pPr>
            <a:r>
              <a:rPr lang="en-US" sz="1600" dirty="0">
                <a:solidFill>
                  <a:srgbClr val="172840"/>
                </a:solidFill>
                <a:latin typeface="Arial" pitchFamily="34" charset="0"/>
                <a:ea typeface="Arial" pitchFamily="34" charset="-122"/>
                <a:cs typeface="Arial" pitchFamily="34" charset="-120"/>
              </a:rPr>
              <a:t>Mounted Railway volume preserves this state across deployments.</a:t>
            </a:r>
            <a:endParaRPr lang="en-US" sz="1600" dirty="0"/>
          </a:p>
        </p:txBody>
      </p:sp>
      <p:sp>
        <p:nvSpPr>
          <p:cNvPr id="18" name="Text 16"/>
          <p:cNvSpPr txBox="1"/>
          <p:nvPr/>
        </p:nvSpPr>
        <p:spPr>
          <a:xfrm>
            <a:off x="676656" y="5870448"/>
            <a:ext cx="10835640" cy="420624"/>
          </a:xfrm>
          <a:prstGeom prst="rect">
            <a:avLst/>
          </a:prstGeom>
          <a:noFill/>
          <a:ln/>
        </p:spPr>
        <p:txBody>
          <a:bodyPr wrap="square" lIns="0" tIns="0" rIns="0" bIns="0" rtlCol="0" anchor="ctr">
            <a:normAutofit/>
          </a:bodyPr>
          <a:lstStyle/>
          <a:p>
            <a:pPr indent="0" marL="0">
              <a:buNone/>
            </a:pPr>
            <a:r>
              <a:rPr lang="en-US" sz="1400" b="1" dirty="0">
                <a:solidFill>
                  <a:srgbClr val="10203B"/>
                </a:solidFill>
                <a:latin typeface="Arial" pitchFamily="34" charset="0"/>
                <a:ea typeface="Arial" pitchFamily="34" charset="-122"/>
                <a:cs typeface="Arial" pitchFamily="34" charset="-120"/>
              </a:rPr>
              <a:t>IDs link cases to rows and chunks. One source account ID has two owners: attribution is withheld.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06 / ORCHESTRATION</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Six narrow components, one fixed sequence</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07</a:t>
            </a:r>
            <a:endParaRPr lang="en-US" sz="900" dirty="0"/>
          </a:p>
        </p:txBody>
      </p:sp>
      <p:sp>
        <p:nvSpPr>
          <p:cNvPr id="6" name="Shape 4"/>
          <p:cNvSpPr/>
          <p:nvPr/>
        </p:nvSpPr>
        <p:spPr>
          <a:xfrm>
            <a:off x="640080" y="1481328"/>
            <a:ext cx="3474720" cy="1664208"/>
          </a:xfrm>
          <a:prstGeom prst="roundRect">
            <a:avLst>
              <a:gd name="adj" fmla="val 8791"/>
            </a:avLst>
          </a:prstGeom>
          <a:solidFill>
            <a:srgbClr val="FFFFFF"/>
          </a:solidFill>
          <a:ln w="15240">
            <a:solidFill>
              <a:srgbClr val="C8D6E8"/>
            </a:solidFill>
            <a:prstDash val="solid"/>
          </a:ln>
        </p:spPr>
      </p:sp>
      <p:sp>
        <p:nvSpPr>
          <p:cNvPr id="7" name="Shape 5"/>
          <p:cNvSpPr/>
          <p:nvPr/>
        </p:nvSpPr>
        <p:spPr>
          <a:xfrm>
            <a:off x="804672" y="1664208"/>
            <a:ext cx="420624" cy="420624"/>
          </a:xfrm>
          <a:prstGeom prst="ellipse">
            <a:avLst/>
          </a:prstGeom>
          <a:solidFill>
            <a:srgbClr val="087E8B"/>
          </a:solidFill>
          <a:ln w="12700">
            <a:solidFill>
              <a:srgbClr val="087E8B"/>
            </a:solidFill>
            <a:prstDash val="solid"/>
          </a:ln>
        </p:spPr>
      </p:sp>
      <p:sp>
        <p:nvSpPr>
          <p:cNvPr id="8" name="Text 6"/>
          <p:cNvSpPr txBox="1"/>
          <p:nvPr/>
        </p:nvSpPr>
        <p:spPr>
          <a:xfrm>
            <a:off x="804672" y="166420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344168" y="1636776"/>
            <a:ext cx="259689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Alert Triage</a:t>
            </a:r>
            <a:endParaRPr lang="en-US" sz="1700" dirty="0"/>
          </a:p>
        </p:txBody>
      </p:sp>
      <p:sp>
        <p:nvSpPr>
          <p:cNvPr id="10" name="Text 8"/>
          <p:cNvSpPr txBox="1"/>
          <p:nvPr/>
        </p:nvSpPr>
        <p:spPr>
          <a:xfrm>
            <a:off x="822960" y="2203704"/>
            <a:ext cx="3108960" cy="804672"/>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Find selected alert and its scenario.</a:t>
            </a:r>
            <a:endParaRPr lang="en-US" sz="1300" dirty="0"/>
          </a:p>
        </p:txBody>
      </p:sp>
      <p:sp>
        <p:nvSpPr>
          <p:cNvPr id="11" name="Shape 9"/>
          <p:cNvSpPr/>
          <p:nvPr/>
        </p:nvSpPr>
        <p:spPr>
          <a:xfrm>
            <a:off x="4138574" y="2291486"/>
            <a:ext cx="25603" cy="25603"/>
          </a:xfrm>
          <a:prstGeom prst="ellipse">
            <a:avLst/>
          </a:prstGeom>
          <a:solidFill>
            <a:srgbClr val="087E8B"/>
          </a:solidFill>
          <a:ln w="12700">
            <a:solidFill>
              <a:srgbClr val="087E8B"/>
            </a:solidFill>
            <a:prstDash val="solid"/>
          </a:ln>
        </p:spPr>
      </p:sp>
      <p:sp>
        <p:nvSpPr>
          <p:cNvPr id="12" name="Shape 10"/>
          <p:cNvSpPr/>
          <p:nvPr/>
        </p:nvSpPr>
        <p:spPr>
          <a:xfrm>
            <a:off x="4236110" y="2291486"/>
            <a:ext cx="25603" cy="25603"/>
          </a:xfrm>
          <a:prstGeom prst="ellipse">
            <a:avLst/>
          </a:prstGeom>
          <a:solidFill>
            <a:srgbClr val="087E8B"/>
          </a:solidFill>
          <a:ln w="12700">
            <a:solidFill>
              <a:srgbClr val="087E8B"/>
            </a:solidFill>
            <a:prstDash val="solid"/>
          </a:ln>
        </p:spPr>
      </p:sp>
      <p:sp>
        <p:nvSpPr>
          <p:cNvPr id="13" name="Shape 11"/>
          <p:cNvSpPr/>
          <p:nvPr/>
        </p:nvSpPr>
        <p:spPr>
          <a:xfrm>
            <a:off x="4333646" y="2291486"/>
            <a:ext cx="25603" cy="25603"/>
          </a:xfrm>
          <a:prstGeom prst="ellipse">
            <a:avLst/>
          </a:prstGeom>
          <a:solidFill>
            <a:srgbClr val="087E8B"/>
          </a:solidFill>
          <a:ln w="12700">
            <a:solidFill>
              <a:srgbClr val="087E8B"/>
            </a:solidFill>
            <a:prstDash val="solid"/>
          </a:ln>
        </p:spPr>
      </p:sp>
      <p:sp>
        <p:nvSpPr>
          <p:cNvPr id="14" name="Text 12"/>
          <p:cNvSpPr txBox="1"/>
          <p:nvPr/>
        </p:nvSpPr>
        <p:spPr>
          <a:xfrm>
            <a:off x="4361688" y="217627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4517136" y="1481328"/>
            <a:ext cx="3474720" cy="1664208"/>
          </a:xfrm>
          <a:prstGeom prst="roundRect">
            <a:avLst>
              <a:gd name="adj" fmla="val 8791"/>
            </a:avLst>
          </a:prstGeom>
          <a:solidFill>
            <a:srgbClr val="FFFFFF"/>
          </a:solidFill>
          <a:ln w="15240">
            <a:solidFill>
              <a:srgbClr val="C8D6E8"/>
            </a:solidFill>
            <a:prstDash val="solid"/>
          </a:ln>
        </p:spPr>
      </p:sp>
      <p:sp>
        <p:nvSpPr>
          <p:cNvPr id="16" name="Shape 14"/>
          <p:cNvSpPr/>
          <p:nvPr/>
        </p:nvSpPr>
        <p:spPr>
          <a:xfrm>
            <a:off x="4681728" y="1664208"/>
            <a:ext cx="420624" cy="420624"/>
          </a:xfrm>
          <a:prstGeom prst="ellipse">
            <a:avLst/>
          </a:prstGeom>
          <a:solidFill>
            <a:srgbClr val="087E8B"/>
          </a:solidFill>
          <a:ln w="12700">
            <a:solidFill>
              <a:srgbClr val="087E8B"/>
            </a:solidFill>
            <a:prstDash val="solid"/>
          </a:ln>
        </p:spPr>
      </p:sp>
      <p:sp>
        <p:nvSpPr>
          <p:cNvPr id="17" name="Text 15"/>
          <p:cNvSpPr txBox="1"/>
          <p:nvPr/>
        </p:nvSpPr>
        <p:spPr>
          <a:xfrm>
            <a:off x="4681728" y="166420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8" name="Text 16"/>
          <p:cNvSpPr txBox="1"/>
          <p:nvPr/>
        </p:nvSpPr>
        <p:spPr>
          <a:xfrm>
            <a:off x="5221224" y="1636776"/>
            <a:ext cx="259689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Customer / KYC</a:t>
            </a:r>
            <a:endParaRPr lang="en-US" sz="1700" dirty="0"/>
          </a:p>
        </p:txBody>
      </p:sp>
      <p:sp>
        <p:nvSpPr>
          <p:cNvPr id="19" name="Text 17"/>
          <p:cNvSpPr txBox="1"/>
          <p:nvPr/>
        </p:nvSpPr>
        <p:spPr>
          <a:xfrm>
            <a:off x="4700016" y="2203704"/>
            <a:ext cx="3108960" cy="804672"/>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Load profile, account and past cases.</a:t>
            </a:r>
            <a:endParaRPr lang="en-US" sz="1300" dirty="0"/>
          </a:p>
        </p:txBody>
      </p:sp>
      <p:sp>
        <p:nvSpPr>
          <p:cNvPr id="20" name="Shape 18"/>
          <p:cNvSpPr/>
          <p:nvPr/>
        </p:nvSpPr>
        <p:spPr>
          <a:xfrm>
            <a:off x="8015630" y="2291486"/>
            <a:ext cx="25603" cy="25603"/>
          </a:xfrm>
          <a:prstGeom prst="ellipse">
            <a:avLst/>
          </a:prstGeom>
          <a:solidFill>
            <a:srgbClr val="087E8B"/>
          </a:solidFill>
          <a:ln w="12700">
            <a:solidFill>
              <a:srgbClr val="087E8B"/>
            </a:solidFill>
            <a:prstDash val="solid"/>
          </a:ln>
        </p:spPr>
      </p:sp>
      <p:sp>
        <p:nvSpPr>
          <p:cNvPr id="21" name="Shape 19"/>
          <p:cNvSpPr/>
          <p:nvPr/>
        </p:nvSpPr>
        <p:spPr>
          <a:xfrm>
            <a:off x="8113166" y="2291486"/>
            <a:ext cx="25603" cy="25603"/>
          </a:xfrm>
          <a:prstGeom prst="ellipse">
            <a:avLst/>
          </a:prstGeom>
          <a:solidFill>
            <a:srgbClr val="087E8B"/>
          </a:solidFill>
          <a:ln w="12700">
            <a:solidFill>
              <a:srgbClr val="087E8B"/>
            </a:solidFill>
            <a:prstDash val="solid"/>
          </a:ln>
        </p:spPr>
      </p:sp>
      <p:sp>
        <p:nvSpPr>
          <p:cNvPr id="22" name="Shape 20"/>
          <p:cNvSpPr/>
          <p:nvPr/>
        </p:nvSpPr>
        <p:spPr>
          <a:xfrm>
            <a:off x="8210702" y="2291486"/>
            <a:ext cx="25603" cy="25603"/>
          </a:xfrm>
          <a:prstGeom prst="ellipse">
            <a:avLst/>
          </a:prstGeom>
          <a:solidFill>
            <a:srgbClr val="087E8B"/>
          </a:solidFill>
          <a:ln w="12700">
            <a:solidFill>
              <a:srgbClr val="087E8B"/>
            </a:solidFill>
            <a:prstDash val="solid"/>
          </a:ln>
        </p:spPr>
      </p:sp>
      <p:sp>
        <p:nvSpPr>
          <p:cNvPr id="23" name="Text 21"/>
          <p:cNvSpPr txBox="1"/>
          <p:nvPr/>
        </p:nvSpPr>
        <p:spPr>
          <a:xfrm>
            <a:off x="8238744" y="217627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8394192" y="1481328"/>
            <a:ext cx="3474720" cy="1664208"/>
          </a:xfrm>
          <a:prstGeom prst="roundRect">
            <a:avLst>
              <a:gd name="adj" fmla="val 8791"/>
            </a:avLst>
          </a:prstGeom>
          <a:solidFill>
            <a:srgbClr val="FFFFFF"/>
          </a:solidFill>
          <a:ln w="15240">
            <a:solidFill>
              <a:srgbClr val="C8D6E8"/>
            </a:solidFill>
            <a:prstDash val="solid"/>
          </a:ln>
        </p:spPr>
      </p:sp>
      <p:sp>
        <p:nvSpPr>
          <p:cNvPr id="25" name="Shape 23"/>
          <p:cNvSpPr/>
          <p:nvPr/>
        </p:nvSpPr>
        <p:spPr>
          <a:xfrm>
            <a:off x="8558784" y="1664208"/>
            <a:ext cx="420624" cy="420624"/>
          </a:xfrm>
          <a:prstGeom prst="ellipse">
            <a:avLst/>
          </a:prstGeom>
          <a:solidFill>
            <a:srgbClr val="087E8B"/>
          </a:solidFill>
          <a:ln w="12700">
            <a:solidFill>
              <a:srgbClr val="087E8B"/>
            </a:solidFill>
            <a:prstDash val="solid"/>
          </a:ln>
        </p:spPr>
      </p:sp>
      <p:sp>
        <p:nvSpPr>
          <p:cNvPr id="26" name="Text 24"/>
          <p:cNvSpPr txBox="1"/>
          <p:nvPr/>
        </p:nvSpPr>
        <p:spPr>
          <a:xfrm>
            <a:off x="8558784" y="166420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7" name="Text 25"/>
          <p:cNvSpPr txBox="1"/>
          <p:nvPr/>
        </p:nvSpPr>
        <p:spPr>
          <a:xfrm>
            <a:off x="9098280" y="1636776"/>
            <a:ext cx="259689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Transaction Review</a:t>
            </a:r>
            <a:endParaRPr lang="en-US" sz="1700" dirty="0"/>
          </a:p>
        </p:txBody>
      </p:sp>
      <p:sp>
        <p:nvSpPr>
          <p:cNvPr id="28" name="Text 26"/>
          <p:cNvSpPr txBox="1"/>
          <p:nvPr/>
        </p:nvSpPr>
        <p:spPr>
          <a:xfrm>
            <a:off x="8577072" y="2203704"/>
            <a:ext cx="3108960" cy="804672"/>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Collect window; compute two distinct ratios.</a:t>
            </a:r>
            <a:endParaRPr lang="en-US" sz="1300" dirty="0"/>
          </a:p>
        </p:txBody>
      </p:sp>
      <p:sp>
        <p:nvSpPr>
          <p:cNvPr id="29" name="Shape 27"/>
          <p:cNvSpPr/>
          <p:nvPr/>
        </p:nvSpPr>
        <p:spPr>
          <a:xfrm>
            <a:off x="640080" y="3456432"/>
            <a:ext cx="3474720" cy="1664208"/>
          </a:xfrm>
          <a:prstGeom prst="roundRect">
            <a:avLst>
              <a:gd name="adj" fmla="val 8791"/>
            </a:avLst>
          </a:prstGeom>
          <a:solidFill>
            <a:srgbClr val="FFFFFF"/>
          </a:solidFill>
          <a:ln w="15240">
            <a:solidFill>
              <a:srgbClr val="C8D6E8"/>
            </a:solidFill>
            <a:prstDash val="solid"/>
          </a:ln>
        </p:spPr>
      </p:sp>
      <p:sp>
        <p:nvSpPr>
          <p:cNvPr id="30" name="Shape 28"/>
          <p:cNvSpPr/>
          <p:nvPr/>
        </p:nvSpPr>
        <p:spPr>
          <a:xfrm>
            <a:off x="804672" y="3639312"/>
            <a:ext cx="420624" cy="420624"/>
          </a:xfrm>
          <a:prstGeom prst="ellipse">
            <a:avLst/>
          </a:prstGeom>
          <a:solidFill>
            <a:srgbClr val="087E8B"/>
          </a:solidFill>
          <a:ln w="12700">
            <a:solidFill>
              <a:srgbClr val="087E8B"/>
            </a:solidFill>
            <a:prstDash val="solid"/>
          </a:ln>
        </p:spPr>
      </p:sp>
      <p:sp>
        <p:nvSpPr>
          <p:cNvPr id="31" name="Text 29"/>
          <p:cNvSpPr txBox="1"/>
          <p:nvPr/>
        </p:nvSpPr>
        <p:spPr>
          <a:xfrm>
            <a:off x="804672" y="363931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2" name="Text 30"/>
          <p:cNvSpPr txBox="1"/>
          <p:nvPr/>
        </p:nvSpPr>
        <p:spPr>
          <a:xfrm>
            <a:off x="1344168" y="3611880"/>
            <a:ext cx="259689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Relationship Review</a:t>
            </a:r>
            <a:endParaRPr lang="en-US" sz="1700" dirty="0"/>
          </a:p>
        </p:txBody>
      </p:sp>
      <p:sp>
        <p:nvSpPr>
          <p:cNvPr id="33" name="Text 31"/>
          <p:cNvSpPr txBox="1"/>
          <p:nvPr/>
        </p:nvSpPr>
        <p:spPr>
          <a:xfrm>
            <a:off x="822960" y="4178808"/>
            <a:ext cx="3108960" cy="804672"/>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Show linked records; stop at uncertain owners.</a:t>
            </a:r>
            <a:endParaRPr lang="en-US" sz="1300" dirty="0"/>
          </a:p>
        </p:txBody>
      </p:sp>
      <p:sp>
        <p:nvSpPr>
          <p:cNvPr id="34" name="Shape 32"/>
          <p:cNvSpPr/>
          <p:nvPr/>
        </p:nvSpPr>
        <p:spPr>
          <a:xfrm>
            <a:off x="4138574" y="4266590"/>
            <a:ext cx="25603" cy="25603"/>
          </a:xfrm>
          <a:prstGeom prst="ellipse">
            <a:avLst/>
          </a:prstGeom>
          <a:solidFill>
            <a:srgbClr val="087E8B"/>
          </a:solidFill>
          <a:ln w="12700">
            <a:solidFill>
              <a:srgbClr val="087E8B"/>
            </a:solidFill>
            <a:prstDash val="solid"/>
          </a:ln>
        </p:spPr>
      </p:sp>
      <p:sp>
        <p:nvSpPr>
          <p:cNvPr id="35" name="Shape 33"/>
          <p:cNvSpPr/>
          <p:nvPr/>
        </p:nvSpPr>
        <p:spPr>
          <a:xfrm>
            <a:off x="4236110" y="4266590"/>
            <a:ext cx="25603" cy="25603"/>
          </a:xfrm>
          <a:prstGeom prst="ellipse">
            <a:avLst/>
          </a:prstGeom>
          <a:solidFill>
            <a:srgbClr val="087E8B"/>
          </a:solidFill>
          <a:ln w="12700">
            <a:solidFill>
              <a:srgbClr val="087E8B"/>
            </a:solidFill>
            <a:prstDash val="solid"/>
          </a:ln>
        </p:spPr>
      </p:sp>
      <p:sp>
        <p:nvSpPr>
          <p:cNvPr id="36" name="Shape 34"/>
          <p:cNvSpPr/>
          <p:nvPr/>
        </p:nvSpPr>
        <p:spPr>
          <a:xfrm>
            <a:off x="4333646" y="4266590"/>
            <a:ext cx="25603" cy="25603"/>
          </a:xfrm>
          <a:prstGeom prst="ellipse">
            <a:avLst/>
          </a:prstGeom>
          <a:solidFill>
            <a:srgbClr val="087E8B"/>
          </a:solidFill>
          <a:ln w="12700">
            <a:solidFill>
              <a:srgbClr val="087E8B"/>
            </a:solidFill>
            <a:prstDash val="solid"/>
          </a:ln>
        </p:spPr>
      </p:sp>
      <p:sp>
        <p:nvSpPr>
          <p:cNvPr id="37" name="Text 35"/>
          <p:cNvSpPr txBox="1"/>
          <p:nvPr/>
        </p:nvSpPr>
        <p:spPr>
          <a:xfrm>
            <a:off x="4361688" y="415137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38" name="Shape 36"/>
          <p:cNvSpPr/>
          <p:nvPr/>
        </p:nvSpPr>
        <p:spPr>
          <a:xfrm>
            <a:off x="4517136" y="3456432"/>
            <a:ext cx="3474720" cy="1664208"/>
          </a:xfrm>
          <a:prstGeom prst="roundRect">
            <a:avLst>
              <a:gd name="adj" fmla="val 8791"/>
            </a:avLst>
          </a:prstGeom>
          <a:solidFill>
            <a:srgbClr val="FFFFFF"/>
          </a:solidFill>
          <a:ln w="15240">
            <a:solidFill>
              <a:srgbClr val="C8D6E8"/>
            </a:solidFill>
            <a:prstDash val="solid"/>
          </a:ln>
        </p:spPr>
      </p:sp>
      <p:sp>
        <p:nvSpPr>
          <p:cNvPr id="39" name="Shape 37"/>
          <p:cNvSpPr/>
          <p:nvPr/>
        </p:nvSpPr>
        <p:spPr>
          <a:xfrm>
            <a:off x="4681728" y="3639312"/>
            <a:ext cx="420624" cy="420624"/>
          </a:xfrm>
          <a:prstGeom prst="ellipse">
            <a:avLst/>
          </a:prstGeom>
          <a:solidFill>
            <a:srgbClr val="087E8B"/>
          </a:solidFill>
          <a:ln w="12700">
            <a:solidFill>
              <a:srgbClr val="087E8B"/>
            </a:solidFill>
            <a:prstDash val="solid"/>
          </a:ln>
        </p:spPr>
      </p:sp>
      <p:sp>
        <p:nvSpPr>
          <p:cNvPr id="40" name="Text 38"/>
          <p:cNvSpPr txBox="1"/>
          <p:nvPr/>
        </p:nvSpPr>
        <p:spPr>
          <a:xfrm>
            <a:off x="4681728" y="363931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1" name="Text 39"/>
          <p:cNvSpPr txBox="1"/>
          <p:nvPr/>
        </p:nvSpPr>
        <p:spPr>
          <a:xfrm>
            <a:off x="5221224" y="3611880"/>
            <a:ext cx="259689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Evidence Retrieval</a:t>
            </a:r>
            <a:endParaRPr lang="en-US" sz="1700" dirty="0"/>
          </a:p>
        </p:txBody>
      </p:sp>
      <p:sp>
        <p:nvSpPr>
          <p:cNvPr id="42" name="Text 40"/>
          <p:cNvSpPr txBox="1"/>
          <p:nvPr/>
        </p:nvSpPr>
        <p:spPr>
          <a:xfrm>
            <a:off x="4700016" y="4178808"/>
            <a:ext cx="3108960" cy="804672"/>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Load case passages + playbook chunks.</a:t>
            </a:r>
            <a:endParaRPr lang="en-US" sz="1300" dirty="0"/>
          </a:p>
        </p:txBody>
      </p:sp>
      <p:sp>
        <p:nvSpPr>
          <p:cNvPr id="43" name="Shape 41"/>
          <p:cNvSpPr/>
          <p:nvPr/>
        </p:nvSpPr>
        <p:spPr>
          <a:xfrm>
            <a:off x="8015630" y="4266590"/>
            <a:ext cx="25603" cy="25603"/>
          </a:xfrm>
          <a:prstGeom prst="ellipse">
            <a:avLst/>
          </a:prstGeom>
          <a:solidFill>
            <a:srgbClr val="087E8B"/>
          </a:solidFill>
          <a:ln w="12700">
            <a:solidFill>
              <a:srgbClr val="087E8B"/>
            </a:solidFill>
            <a:prstDash val="solid"/>
          </a:ln>
        </p:spPr>
      </p:sp>
      <p:sp>
        <p:nvSpPr>
          <p:cNvPr id="44" name="Shape 42"/>
          <p:cNvSpPr/>
          <p:nvPr/>
        </p:nvSpPr>
        <p:spPr>
          <a:xfrm>
            <a:off x="8113166" y="4266590"/>
            <a:ext cx="25603" cy="25603"/>
          </a:xfrm>
          <a:prstGeom prst="ellipse">
            <a:avLst/>
          </a:prstGeom>
          <a:solidFill>
            <a:srgbClr val="087E8B"/>
          </a:solidFill>
          <a:ln w="12700">
            <a:solidFill>
              <a:srgbClr val="087E8B"/>
            </a:solidFill>
            <a:prstDash val="solid"/>
          </a:ln>
        </p:spPr>
      </p:sp>
      <p:sp>
        <p:nvSpPr>
          <p:cNvPr id="45" name="Shape 43"/>
          <p:cNvSpPr/>
          <p:nvPr/>
        </p:nvSpPr>
        <p:spPr>
          <a:xfrm>
            <a:off x="8210702" y="4266590"/>
            <a:ext cx="25603" cy="25603"/>
          </a:xfrm>
          <a:prstGeom prst="ellipse">
            <a:avLst/>
          </a:prstGeom>
          <a:solidFill>
            <a:srgbClr val="087E8B"/>
          </a:solidFill>
          <a:ln w="12700">
            <a:solidFill>
              <a:srgbClr val="087E8B"/>
            </a:solidFill>
            <a:prstDash val="solid"/>
          </a:ln>
        </p:spPr>
      </p:sp>
      <p:sp>
        <p:nvSpPr>
          <p:cNvPr id="46" name="Text 44"/>
          <p:cNvSpPr txBox="1"/>
          <p:nvPr/>
        </p:nvSpPr>
        <p:spPr>
          <a:xfrm>
            <a:off x="8238744" y="415137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47" name="Shape 45"/>
          <p:cNvSpPr/>
          <p:nvPr/>
        </p:nvSpPr>
        <p:spPr>
          <a:xfrm>
            <a:off x="8394192" y="3456432"/>
            <a:ext cx="3474720" cy="1664208"/>
          </a:xfrm>
          <a:prstGeom prst="roundRect">
            <a:avLst>
              <a:gd name="adj" fmla="val 8791"/>
            </a:avLst>
          </a:prstGeom>
          <a:solidFill>
            <a:srgbClr val="FFFFFF"/>
          </a:solidFill>
          <a:ln w="15240">
            <a:solidFill>
              <a:srgbClr val="C8D6E8"/>
            </a:solidFill>
            <a:prstDash val="solid"/>
          </a:ln>
        </p:spPr>
      </p:sp>
      <p:sp>
        <p:nvSpPr>
          <p:cNvPr id="48" name="Shape 46"/>
          <p:cNvSpPr/>
          <p:nvPr/>
        </p:nvSpPr>
        <p:spPr>
          <a:xfrm>
            <a:off x="8558784" y="3639312"/>
            <a:ext cx="420624" cy="420624"/>
          </a:xfrm>
          <a:prstGeom prst="ellipse">
            <a:avLst/>
          </a:prstGeom>
          <a:solidFill>
            <a:srgbClr val="B06A14"/>
          </a:solidFill>
          <a:ln w="12700">
            <a:solidFill>
              <a:srgbClr val="B06A14"/>
            </a:solidFill>
            <a:prstDash val="solid"/>
          </a:ln>
        </p:spPr>
      </p:sp>
      <p:sp>
        <p:nvSpPr>
          <p:cNvPr id="49" name="Text 47"/>
          <p:cNvSpPr txBox="1"/>
          <p:nvPr/>
        </p:nvSpPr>
        <p:spPr>
          <a:xfrm>
            <a:off x="8558784" y="363931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0" name="Text 48"/>
          <p:cNvSpPr txBox="1"/>
          <p:nvPr/>
        </p:nvSpPr>
        <p:spPr>
          <a:xfrm>
            <a:off x="9098280" y="3611880"/>
            <a:ext cx="2596896"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Investigation Summary</a:t>
            </a:r>
            <a:endParaRPr lang="en-US" sz="1700" dirty="0"/>
          </a:p>
        </p:txBody>
      </p:sp>
      <p:sp>
        <p:nvSpPr>
          <p:cNvPr id="51" name="Text 49"/>
          <p:cNvSpPr txBox="1"/>
          <p:nvPr/>
        </p:nvSpPr>
        <p:spPr>
          <a:xfrm>
            <a:off x="8577072" y="4178808"/>
            <a:ext cx="3108960" cy="804672"/>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Calculated draft or optional Gemini draft.</a:t>
            </a:r>
            <a:endParaRPr lang="en-US" sz="1300" dirty="0"/>
          </a:p>
        </p:txBody>
      </p:sp>
      <p:sp>
        <p:nvSpPr>
          <p:cNvPr id="52" name="Text 50"/>
          <p:cNvSpPr txBox="1"/>
          <p:nvPr/>
        </p:nvSpPr>
        <p:spPr>
          <a:xfrm>
            <a:off x="667512" y="5669280"/>
            <a:ext cx="10881360" cy="411480"/>
          </a:xfrm>
          <a:prstGeom prst="rect">
            <a:avLst/>
          </a:prstGeom>
          <a:noFill/>
          <a:ln/>
        </p:spPr>
        <p:txBody>
          <a:bodyPr wrap="square" lIns="0" tIns="0" rIns="0" bIns="0" rtlCol="0" anchor="ctr">
            <a:normAutofit/>
          </a:bodyPr>
          <a:lstStyle/>
          <a:p>
            <a:pPr indent="0" marL="0">
              <a:buNone/>
            </a:pPr>
            <a:r>
              <a:rPr lang="en-US" sz="1500" b="1" dirty="0">
                <a:solidFill>
                  <a:srgbClr val="10203B"/>
                </a:solidFill>
                <a:latin typeface="Arial" pitchFamily="34" charset="0"/>
                <a:ea typeface="Arial" pitchFamily="34" charset="-122"/>
                <a:cs typeface="Arial" pitchFamily="34" charset="-120"/>
              </a:rPr>
              <a:t>agents/orchestrator.py calls these in order and writes stage events; the validator runs after stage 6.</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07 / RETRIEVAL</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RAG: the answer has a visible source path</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08</a:t>
            </a:r>
            <a:endParaRPr lang="en-US" sz="900" dirty="0"/>
          </a:p>
        </p:txBody>
      </p:sp>
      <p:sp>
        <p:nvSpPr>
          <p:cNvPr id="6" name="Shape 4"/>
          <p:cNvSpPr/>
          <p:nvPr/>
        </p:nvSpPr>
        <p:spPr>
          <a:xfrm>
            <a:off x="612648" y="1618488"/>
            <a:ext cx="2075688" cy="3255264"/>
          </a:xfrm>
          <a:prstGeom prst="roundRect">
            <a:avLst>
              <a:gd name="adj" fmla="val 7048"/>
            </a:avLst>
          </a:prstGeom>
          <a:solidFill>
            <a:srgbClr val="FFFFFF"/>
          </a:solidFill>
          <a:ln w="15240">
            <a:solidFill>
              <a:srgbClr val="C8D6E8"/>
            </a:solidFill>
            <a:prstDash val="solid"/>
          </a:ln>
        </p:spPr>
      </p:sp>
      <p:sp>
        <p:nvSpPr>
          <p:cNvPr id="7" name="Shape 5"/>
          <p:cNvSpPr/>
          <p:nvPr/>
        </p:nvSpPr>
        <p:spPr>
          <a:xfrm>
            <a:off x="777240" y="1801368"/>
            <a:ext cx="420624" cy="420624"/>
          </a:xfrm>
          <a:prstGeom prst="ellipse">
            <a:avLst/>
          </a:prstGeom>
          <a:solidFill>
            <a:srgbClr val="087E8B"/>
          </a:solidFill>
          <a:ln w="12700">
            <a:solidFill>
              <a:srgbClr val="087E8B"/>
            </a:solidFill>
            <a:prstDash val="solid"/>
          </a:ln>
        </p:spPr>
      </p:sp>
      <p:sp>
        <p:nvSpPr>
          <p:cNvPr id="8" name="Text 6"/>
          <p:cNvSpPr txBox="1"/>
          <p:nvPr/>
        </p:nvSpPr>
        <p:spPr>
          <a:xfrm>
            <a:off x="777240" y="18013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316736" y="1773936"/>
            <a:ext cx="119786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Two corpora</a:t>
            </a:r>
            <a:endParaRPr lang="en-US" sz="1700" dirty="0"/>
          </a:p>
        </p:txBody>
      </p:sp>
      <p:sp>
        <p:nvSpPr>
          <p:cNvPr id="10" name="Text 8"/>
          <p:cNvSpPr txBox="1"/>
          <p:nvPr/>
        </p:nvSpPr>
        <p:spPr>
          <a:xfrm>
            <a:off x="795528" y="2340864"/>
            <a:ext cx="1709928" cy="2395728"/>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24 guidance sources plus 1,770 generated case records.</a:t>
            </a:r>
            <a:endParaRPr lang="en-US" sz="1300" dirty="0"/>
          </a:p>
        </p:txBody>
      </p:sp>
      <p:sp>
        <p:nvSpPr>
          <p:cNvPr id="11" name="Shape 9"/>
          <p:cNvSpPr/>
          <p:nvPr/>
        </p:nvSpPr>
        <p:spPr>
          <a:xfrm>
            <a:off x="2712110" y="3215030"/>
            <a:ext cx="25603" cy="25603"/>
          </a:xfrm>
          <a:prstGeom prst="ellipse">
            <a:avLst/>
          </a:prstGeom>
          <a:solidFill>
            <a:srgbClr val="087E8B"/>
          </a:solidFill>
          <a:ln w="12700">
            <a:solidFill>
              <a:srgbClr val="087E8B"/>
            </a:solidFill>
            <a:prstDash val="solid"/>
          </a:ln>
        </p:spPr>
      </p:sp>
      <p:sp>
        <p:nvSpPr>
          <p:cNvPr id="12" name="Shape 10"/>
          <p:cNvSpPr/>
          <p:nvPr/>
        </p:nvSpPr>
        <p:spPr>
          <a:xfrm>
            <a:off x="2770022" y="3215030"/>
            <a:ext cx="25603" cy="25603"/>
          </a:xfrm>
          <a:prstGeom prst="ellipse">
            <a:avLst/>
          </a:prstGeom>
          <a:solidFill>
            <a:srgbClr val="087E8B"/>
          </a:solidFill>
          <a:ln w="12700">
            <a:solidFill>
              <a:srgbClr val="087E8B"/>
            </a:solidFill>
            <a:prstDash val="solid"/>
          </a:ln>
        </p:spPr>
      </p:sp>
      <p:sp>
        <p:nvSpPr>
          <p:cNvPr id="13" name="Shape 11"/>
          <p:cNvSpPr/>
          <p:nvPr/>
        </p:nvSpPr>
        <p:spPr>
          <a:xfrm>
            <a:off x="2827934" y="3215030"/>
            <a:ext cx="25603" cy="25603"/>
          </a:xfrm>
          <a:prstGeom prst="ellipse">
            <a:avLst/>
          </a:prstGeom>
          <a:solidFill>
            <a:srgbClr val="087E8B"/>
          </a:solidFill>
          <a:ln w="12700">
            <a:solidFill>
              <a:srgbClr val="087E8B"/>
            </a:solidFill>
            <a:prstDash val="solid"/>
          </a:ln>
        </p:spPr>
      </p:sp>
      <p:sp>
        <p:nvSpPr>
          <p:cNvPr id="14" name="Text 12"/>
          <p:cNvSpPr txBox="1"/>
          <p:nvPr/>
        </p:nvSpPr>
        <p:spPr>
          <a:xfrm>
            <a:off x="2816352" y="309981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2935224" y="1618488"/>
            <a:ext cx="2075688" cy="3255264"/>
          </a:xfrm>
          <a:prstGeom prst="roundRect">
            <a:avLst>
              <a:gd name="adj" fmla="val 7048"/>
            </a:avLst>
          </a:prstGeom>
          <a:solidFill>
            <a:srgbClr val="FFFFFF"/>
          </a:solidFill>
          <a:ln w="15240">
            <a:solidFill>
              <a:srgbClr val="C8D6E8"/>
            </a:solidFill>
            <a:prstDash val="solid"/>
          </a:ln>
        </p:spPr>
      </p:sp>
      <p:sp>
        <p:nvSpPr>
          <p:cNvPr id="16" name="Shape 14"/>
          <p:cNvSpPr/>
          <p:nvPr/>
        </p:nvSpPr>
        <p:spPr>
          <a:xfrm>
            <a:off x="3099816" y="1801368"/>
            <a:ext cx="420624" cy="420624"/>
          </a:xfrm>
          <a:prstGeom prst="ellipse">
            <a:avLst/>
          </a:prstGeom>
          <a:solidFill>
            <a:srgbClr val="2E67B7"/>
          </a:solidFill>
          <a:ln w="12700">
            <a:solidFill>
              <a:srgbClr val="2E67B7"/>
            </a:solidFill>
            <a:prstDash val="solid"/>
          </a:ln>
        </p:spPr>
      </p:sp>
      <p:sp>
        <p:nvSpPr>
          <p:cNvPr id="17" name="Text 15"/>
          <p:cNvSpPr txBox="1"/>
          <p:nvPr/>
        </p:nvSpPr>
        <p:spPr>
          <a:xfrm>
            <a:off x="3099816" y="18013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8" name="Text 16"/>
          <p:cNvSpPr txBox="1"/>
          <p:nvPr/>
        </p:nvSpPr>
        <p:spPr>
          <a:xfrm>
            <a:off x="3639312" y="1773936"/>
            <a:ext cx="119786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Make chunks</a:t>
            </a:r>
            <a:endParaRPr lang="en-US" sz="1700" dirty="0"/>
          </a:p>
        </p:txBody>
      </p:sp>
      <p:sp>
        <p:nvSpPr>
          <p:cNvPr id="19" name="Text 17"/>
          <p:cNvSpPr txBox="1"/>
          <p:nvPr/>
        </p:nvSpPr>
        <p:spPr>
          <a:xfrm>
            <a:off x="3118104" y="2340864"/>
            <a:ext cx="1709928" cy="2395728"/>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Guidance: metadata + 2 sentences; case records: paragraphs.</a:t>
            </a:r>
            <a:endParaRPr lang="en-US" sz="1300" dirty="0"/>
          </a:p>
        </p:txBody>
      </p:sp>
      <p:sp>
        <p:nvSpPr>
          <p:cNvPr id="20" name="Shape 18"/>
          <p:cNvSpPr/>
          <p:nvPr/>
        </p:nvSpPr>
        <p:spPr>
          <a:xfrm>
            <a:off x="5034686" y="3215030"/>
            <a:ext cx="25603" cy="25603"/>
          </a:xfrm>
          <a:prstGeom prst="ellipse">
            <a:avLst/>
          </a:prstGeom>
          <a:solidFill>
            <a:srgbClr val="087E8B"/>
          </a:solidFill>
          <a:ln w="12700">
            <a:solidFill>
              <a:srgbClr val="087E8B"/>
            </a:solidFill>
            <a:prstDash val="solid"/>
          </a:ln>
        </p:spPr>
      </p:sp>
      <p:sp>
        <p:nvSpPr>
          <p:cNvPr id="21" name="Shape 19"/>
          <p:cNvSpPr/>
          <p:nvPr/>
        </p:nvSpPr>
        <p:spPr>
          <a:xfrm>
            <a:off x="5092598" y="3215030"/>
            <a:ext cx="25603" cy="25603"/>
          </a:xfrm>
          <a:prstGeom prst="ellipse">
            <a:avLst/>
          </a:prstGeom>
          <a:solidFill>
            <a:srgbClr val="087E8B"/>
          </a:solidFill>
          <a:ln w="12700">
            <a:solidFill>
              <a:srgbClr val="087E8B"/>
            </a:solidFill>
            <a:prstDash val="solid"/>
          </a:ln>
        </p:spPr>
      </p:sp>
      <p:sp>
        <p:nvSpPr>
          <p:cNvPr id="22" name="Shape 20"/>
          <p:cNvSpPr/>
          <p:nvPr/>
        </p:nvSpPr>
        <p:spPr>
          <a:xfrm>
            <a:off x="5150510" y="3215030"/>
            <a:ext cx="25603" cy="25603"/>
          </a:xfrm>
          <a:prstGeom prst="ellipse">
            <a:avLst/>
          </a:prstGeom>
          <a:solidFill>
            <a:srgbClr val="087E8B"/>
          </a:solidFill>
          <a:ln w="12700">
            <a:solidFill>
              <a:srgbClr val="087E8B"/>
            </a:solidFill>
            <a:prstDash val="solid"/>
          </a:ln>
        </p:spPr>
      </p:sp>
      <p:sp>
        <p:nvSpPr>
          <p:cNvPr id="23" name="Text 21"/>
          <p:cNvSpPr txBox="1"/>
          <p:nvPr/>
        </p:nvSpPr>
        <p:spPr>
          <a:xfrm>
            <a:off x="5138928" y="309981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5257800" y="1618488"/>
            <a:ext cx="2075688" cy="3255264"/>
          </a:xfrm>
          <a:prstGeom prst="roundRect">
            <a:avLst>
              <a:gd name="adj" fmla="val 7048"/>
            </a:avLst>
          </a:prstGeom>
          <a:solidFill>
            <a:srgbClr val="FFFFFF"/>
          </a:solidFill>
          <a:ln w="15240">
            <a:solidFill>
              <a:srgbClr val="C8D6E8"/>
            </a:solidFill>
            <a:prstDash val="solid"/>
          </a:ln>
        </p:spPr>
      </p:sp>
      <p:sp>
        <p:nvSpPr>
          <p:cNvPr id="25" name="Shape 23"/>
          <p:cNvSpPr/>
          <p:nvPr/>
        </p:nvSpPr>
        <p:spPr>
          <a:xfrm>
            <a:off x="5422392" y="1801368"/>
            <a:ext cx="420624" cy="420624"/>
          </a:xfrm>
          <a:prstGeom prst="ellipse">
            <a:avLst/>
          </a:prstGeom>
          <a:solidFill>
            <a:srgbClr val="087E8B"/>
          </a:solidFill>
          <a:ln w="12700">
            <a:solidFill>
              <a:srgbClr val="087E8B"/>
            </a:solidFill>
            <a:prstDash val="solid"/>
          </a:ln>
        </p:spPr>
      </p:sp>
      <p:sp>
        <p:nvSpPr>
          <p:cNvPr id="26" name="Text 24"/>
          <p:cNvSpPr txBox="1"/>
          <p:nvPr/>
        </p:nvSpPr>
        <p:spPr>
          <a:xfrm>
            <a:off x="5422392" y="18013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7" name="Text 25"/>
          <p:cNvSpPr txBox="1"/>
          <p:nvPr/>
        </p:nvSpPr>
        <p:spPr>
          <a:xfrm>
            <a:off x="5961888" y="1773936"/>
            <a:ext cx="119786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Index</a:t>
            </a:r>
            <a:endParaRPr lang="en-US" sz="1700" dirty="0"/>
          </a:p>
        </p:txBody>
      </p:sp>
      <p:sp>
        <p:nvSpPr>
          <p:cNvPr id="28" name="Text 26"/>
          <p:cNvSpPr txBox="1"/>
          <p:nvPr/>
        </p:nvSpPr>
        <p:spPr>
          <a:xfrm>
            <a:off x="5440680" y="2340864"/>
            <a:ext cx="1709928" cy="2395728"/>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57 guidance + 4,282 case chunks; SQLite FTS5.</a:t>
            </a:r>
            <a:endParaRPr lang="en-US" sz="1300" dirty="0"/>
          </a:p>
        </p:txBody>
      </p:sp>
      <p:sp>
        <p:nvSpPr>
          <p:cNvPr id="29" name="Shape 27"/>
          <p:cNvSpPr/>
          <p:nvPr/>
        </p:nvSpPr>
        <p:spPr>
          <a:xfrm>
            <a:off x="7357262" y="3215030"/>
            <a:ext cx="25603" cy="25603"/>
          </a:xfrm>
          <a:prstGeom prst="ellipse">
            <a:avLst/>
          </a:prstGeom>
          <a:solidFill>
            <a:srgbClr val="087E8B"/>
          </a:solidFill>
          <a:ln w="12700">
            <a:solidFill>
              <a:srgbClr val="087E8B"/>
            </a:solidFill>
            <a:prstDash val="solid"/>
          </a:ln>
        </p:spPr>
      </p:sp>
      <p:sp>
        <p:nvSpPr>
          <p:cNvPr id="30" name="Shape 28"/>
          <p:cNvSpPr/>
          <p:nvPr/>
        </p:nvSpPr>
        <p:spPr>
          <a:xfrm>
            <a:off x="7415174" y="3215030"/>
            <a:ext cx="25603" cy="25603"/>
          </a:xfrm>
          <a:prstGeom prst="ellipse">
            <a:avLst/>
          </a:prstGeom>
          <a:solidFill>
            <a:srgbClr val="087E8B"/>
          </a:solidFill>
          <a:ln w="12700">
            <a:solidFill>
              <a:srgbClr val="087E8B"/>
            </a:solidFill>
            <a:prstDash val="solid"/>
          </a:ln>
        </p:spPr>
      </p:sp>
      <p:sp>
        <p:nvSpPr>
          <p:cNvPr id="31" name="Shape 29"/>
          <p:cNvSpPr/>
          <p:nvPr/>
        </p:nvSpPr>
        <p:spPr>
          <a:xfrm>
            <a:off x="7473086" y="3215030"/>
            <a:ext cx="25603" cy="25603"/>
          </a:xfrm>
          <a:prstGeom prst="ellipse">
            <a:avLst/>
          </a:prstGeom>
          <a:solidFill>
            <a:srgbClr val="087E8B"/>
          </a:solidFill>
          <a:ln w="12700">
            <a:solidFill>
              <a:srgbClr val="087E8B"/>
            </a:solidFill>
            <a:prstDash val="solid"/>
          </a:ln>
        </p:spPr>
      </p:sp>
      <p:sp>
        <p:nvSpPr>
          <p:cNvPr id="32" name="Text 30"/>
          <p:cNvSpPr txBox="1"/>
          <p:nvPr/>
        </p:nvSpPr>
        <p:spPr>
          <a:xfrm>
            <a:off x="7461504" y="309981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7580376" y="1618488"/>
            <a:ext cx="2075688" cy="3255264"/>
          </a:xfrm>
          <a:prstGeom prst="roundRect">
            <a:avLst>
              <a:gd name="adj" fmla="val 7048"/>
            </a:avLst>
          </a:prstGeom>
          <a:solidFill>
            <a:srgbClr val="FFFFFF"/>
          </a:solidFill>
          <a:ln w="15240">
            <a:solidFill>
              <a:srgbClr val="C8D6E8"/>
            </a:solidFill>
            <a:prstDash val="solid"/>
          </a:ln>
        </p:spPr>
      </p:sp>
      <p:sp>
        <p:nvSpPr>
          <p:cNvPr id="34" name="Shape 32"/>
          <p:cNvSpPr/>
          <p:nvPr/>
        </p:nvSpPr>
        <p:spPr>
          <a:xfrm>
            <a:off x="7744968" y="1801368"/>
            <a:ext cx="420624" cy="420624"/>
          </a:xfrm>
          <a:prstGeom prst="ellipse">
            <a:avLst/>
          </a:prstGeom>
          <a:solidFill>
            <a:srgbClr val="2E67B7"/>
          </a:solidFill>
          <a:ln w="12700">
            <a:solidFill>
              <a:srgbClr val="2E67B7"/>
            </a:solidFill>
            <a:prstDash val="solid"/>
          </a:ln>
        </p:spPr>
      </p:sp>
      <p:sp>
        <p:nvSpPr>
          <p:cNvPr id="35" name="Text 33"/>
          <p:cNvSpPr txBox="1"/>
          <p:nvPr/>
        </p:nvSpPr>
        <p:spPr>
          <a:xfrm>
            <a:off x="7744968" y="18013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6" name="Text 34"/>
          <p:cNvSpPr txBox="1"/>
          <p:nvPr/>
        </p:nvSpPr>
        <p:spPr>
          <a:xfrm>
            <a:off x="8284464" y="1773936"/>
            <a:ext cx="119786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Retrieve</a:t>
            </a:r>
            <a:endParaRPr lang="en-US" sz="1700" dirty="0"/>
          </a:p>
        </p:txBody>
      </p:sp>
      <p:sp>
        <p:nvSpPr>
          <p:cNvPr id="37" name="Text 35"/>
          <p:cNvSpPr txBox="1"/>
          <p:nvPr/>
        </p:nvSpPr>
        <p:spPr>
          <a:xfrm>
            <a:off x="7763256" y="2340864"/>
            <a:ext cx="1709928" cy="2395728"/>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Scenario and case scope + BM25-ranked matches.</a:t>
            </a:r>
            <a:endParaRPr lang="en-US" sz="1300" dirty="0"/>
          </a:p>
        </p:txBody>
      </p:sp>
      <p:sp>
        <p:nvSpPr>
          <p:cNvPr id="38" name="Shape 36"/>
          <p:cNvSpPr/>
          <p:nvPr/>
        </p:nvSpPr>
        <p:spPr>
          <a:xfrm>
            <a:off x="9679838" y="3215030"/>
            <a:ext cx="25603" cy="25603"/>
          </a:xfrm>
          <a:prstGeom prst="ellipse">
            <a:avLst/>
          </a:prstGeom>
          <a:solidFill>
            <a:srgbClr val="087E8B"/>
          </a:solidFill>
          <a:ln w="12700">
            <a:solidFill>
              <a:srgbClr val="087E8B"/>
            </a:solidFill>
            <a:prstDash val="solid"/>
          </a:ln>
        </p:spPr>
      </p:sp>
      <p:sp>
        <p:nvSpPr>
          <p:cNvPr id="39" name="Shape 37"/>
          <p:cNvSpPr/>
          <p:nvPr/>
        </p:nvSpPr>
        <p:spPr>
          <a:xfrm>
            <a:off x="9737750" y="3215030"/>
            <a:ext cx="25603" cy="25603"/>
          </a:xfrm>
          <a:prstGeom prst="ellipse">
            <a:avLst/>
          </a:prstGeom>
          <a:solidFill>
            <a:srgbClr val="087E8B"/>
          </a:solidFill>
          <a:ln w="12700">
            <a:solidFill>
              <a:srgbClr val="087E8B"/>
            </a:solidFill>
            <a:prstDash val="solid"/>
          </a:ln>
        </p:spPr>
      </p:sp>
      <p:sp>
        <p:nvSpPr>
          <p:cNvPr id="40" name="Shape 38"/>
          <p:cNvSpPr/>
          <p:nvPr/>
        </p:nvSpPr>
        <p:spPr>
          <a:xfrm>
            <a:off x="9795662" y="3215030"/>
            <a:ext cx="25603" cy="25603"/>
          </a:xfrm>
          <a:prstGeom prst="ellipse">
            <a:avLst/>
          </a:prstGeom>
          <a:solidFill>
            <a:srgbClr val="087E8B"/>
          </a:solidFill>
          <a:ln w="12700">
            <a:solidFill>
              <a:srgbClr val="087E8B"/>
            </a:solidFill>
            <a:prstDash val="solid"/>
          </a:ln>
        </p:spPr>
      </p:sp>
      <p:sp>
        <p:nvSpPr>
          <p:cNvPr id="41" name="Text 39"/>
          <p:cNvSpPr txBox="1"/>
          <p:nvPr/>
        </p:nvSpPr>
        <p:spPr>
          <a:xfrm>
            <a:off x="9784080" y="3099816"/>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42" name="Shape 40"/>
          <p:cNvSpPr/>
          <p:nvPr/>
        </p:nvSpPr>
        <p:spPr>
          <a:xfrm>
            <a:off x="9902952" y="1618488"/>
            <a:ext cx="2075688" cy="3255264"/>
          </a:xfrm>
          <a:prstGeom prst="roundRect">
            <a:avLst>
              <a:gd name="adj" fmla="val 7048"/>
            </a:avLst>
          </a:prstGeom>
          <a:solidFill>
            <a:srgbClr val="FFFFFF"/>
          </a:solidFill>
          <a:ln w="15240">
            <a:solidFill>
              <a:srgbClr val="C8D6E8"/>
            </a:solidFill>
            <a:prstDash val="solid"/>
          </a:ln>
        </p:spPr>
      </p:sp>
      <p:sp>
        <p:nvSpPr>
          <p:cNvPr id="43" name="Shape 41"/>
          <p:cNvSpPr/>
          <p:nvPr/>
        </p:nvSpPr>
        <p:spPr>
          <a:xfrm>
            <a:off x="10067544" y="1801368"/>
            <a:ext cx="420624" cy="420624"/>
          </a:xfrm>
          <a:prstGeom prst="ellipse">
            <a:avLst/>
          </a:prstGeom>
          <a:solidFill>
            <a:srgbClr val="087E8B"/>
          </a:solidFill>
          <a:ln w="12700">
            <a:solidFill>
              <a:srgbClr val="087E8B"/>
            </a:solidFill>
            <a:prstDash val="solid"/>
          </a:ln>
        </p:spPr>
      </p:sp>
      <p:sp>
        <p:nvSpPr>
          <p:cNvPr id="44" name="Text 42"/>
          <p:cNvSpPr txBox="1"/>
          <p:nvPr/>
        </p:nvSpPr>
        <p:spPr>
          <a:xfrm>
            <a:off x="10067544" y="18013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5" name="Text 43"/>
          <p:cNvSpPr txBox="1"/>
          <p:nvPr/>
        </p:nvSpPr>
        <p:spPr>
          <a:xfrm>
            <a:off x="10607040" y="1773936"/>
            <a:ext cx="119786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Inspect</a:t>
            </a:r>
            <a:endParaRPr lang="en-US" sz="1700" dirty="0"/>
          </a:p>
        </p:txBody>
      </p:sp>
      <p:sp>
        <p:nvSpPr>
          <p:cNvPr id="46" name="Text 44"/>
          <p:cNvSpPr txBox="1"/>
          <p:nvPr/>
        </p:nvSpPr>
        <p:spPr>
          <a:xfrm>
            <a:off x="10085832" y="2340864"/>
            <a:ext cx="1709928" cy="2395728"/>
          </a:xfrm>
          <a:prstGeom prst="rect">
            <a:avLst/>
          </a:prstGeom>
          <a:noFill/>
          <a:ln/>
        </p:spPr>
        <p:txBody>
          <a:bodyPr wrap="square" lIns="0" tIns="0" rIns="0" bIns="0" rtlCol="0" anchor="t">
            <a:normAutofit/>
          </a:bodyPr>
          <a:lstStyle/>
          <a:p>
            <a:pPr indent="0" marL="0">
              <a:buNone/>
            </a:pPr>
            <a:r>
              <a:rPr lang="en-US" sz="1300" dirty="0">
                <a:solidFill>
                  <a:srgbClr val="5B6C81"/>
                </a:solidFill>
                <a:latin typeface="Arial" pitchFamily="34" charset="0"/>
                <a:ea typeface="Arial" pitchFamily="34" charset="-122"/>
                <a:cs typeface="Arial" pitchFamily="34" charset="-120"/>
              </a:rPr>
              <a:t>Open exact source text, chunk ID and data limitations.</a:t>
            </a:r>
            <a:endParaRPr lang="en-US" sz="1300" dirty="0"/>
          </a:p>
        </p:txBody>
      </p:sp>
      <p:sp>
        <p:nvSpPr>
          <p:cNvPr id="47" name="Shape 45"/>
          <p:cNvSpPr/>
          <p:nvPr/>
        </p:nvSpPr>
        <p:spPr>
          <a:xfrm>
            <a:off x="713232" y="5239512"/>
            <a:ext cx="10753344" cy="685800"/>
          </a:xfrm>
          <a:prstGeom prst="roundRect">
            <a:avLst>
              <a:gd name="adj" fmla="val 21333"/>
            </a:avLst>
          </a:prstGeom>
          <a:solidFill>
            <a:srgbClr val="D9F2F5"/>
          </a:solidFill>
          <a:ln w="15240">
            <a:solidFill>
              <a:srgbClr val="087E8B"/>
            </a:solidFill>
            <a:prstDash val="solid"/>
          </a:ln>
        </p:spPr>
      </p:sp>
      <p:sp>
        <p:nvSpPr>
          <p:cNvPr id="48" name="Text 46"/>
          <p:cNvSpPr txBox="1"/>
          <p:nvPr/>
        </p:nvSpPr>
        <p:spPr>
          <a:xfrm>
            <a:off x="950976" y="5413248"/>
            <a:ext cx="10241280" cy="329184"/>
          </a:xfrm>
          <a:prstGeom prst="rect">
            <a:avLst/>
          </a:prstGeom>
          <a:noFill/>
          <a:ln/>
        </p:spPr>
        <p:txBody>
          <a:bodyPr wrap="square" lIns="0" tIns="0" rIns="0" bIns="0" rtlCol="0" anchor="ctr">
            <a:normAutofit/>
          </a:bodyPr>
          <a:lstStyle/>
          <a:p>
            <a:pPr indent="0" marL="0">
              <a:buNone/>
            </a:pPr>
            <a:r>
              <a:rPr lang="en-US" sz="1500" b="1" dirty="0">
                <a:solidFill>
                  <a:srgbClr val="10203B"/>
                </a:solidFill>
                <a:latin typeface="Arial" pitchFamily="34" charset="0"/>
                <a:ea typeface="Arial" pitchFamily="34" charset="-122"/>
                <a:cs typeface="Arial" pitchFamily="34" charset="-120"/>
              </a:rPr>
              <a:t>This is keyword-search RAG, not vector search. A citation points to a source; it is not proof that every sentence is correct.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08 / COPILOT + GROUNDING</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From retrieved facts to a checked draft</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09</a:t>
            </a:r>
            <a:endParaRPr lang="en-US" sz="900" dirty="0"/>
          </a:p>
        </p:txBody>
      </p:sp>
      <p:sp>
        <p:nvSpPr>
          <p:cNvPr id="6" name="Shape 4"/>
          <p:cNvSpPr/>
          <p:nvPr/>
        </p:nvSpPr>
        <p:spPr>
          <a:xfrm>
            <a:off x="621792" y="1517904"/>
            <a:ext cx="3264408" cy="2267712"/>
          </a:xfrm>
          <a:prstGeom prst="roundRect">
            <a:avLst>
              <a:gd name="adj" fmla="val 6452"/>
            </a:avLst>
          </a:prstGeom>
          <a:solidFill>
            <a:srgbClr val="FFFFFF"/>
          </a:solidFill>
          <a:ln w="15240">
            <a:solidFill>
              <a:srgbClr val="C8D6E8"/>
            </a:solidFill>
            <a:prstDash val="solid"/>
          </a:ln>
        </p:spPr>
      </p:sp>
      <p:sp>
        <p:nvSpPr>
          <p:cNvPr id="7" name="Shape 5"/>
          <p:cNvSpPr/>
          <p:nvPr/>
        </p:nvSpPr>
        <p:spPr>
          <a:xfrm>
            <a:off x="786384" y="1700784"/>
            <a:ext cx="420624" cy="420624"/>
          </a:xfrm>
          <a:prstGeom prst="ellipse">
            <a:avLst/>
          </a:prstGeom>
          <a:solidFill>
            <a:srgbClr val="087E8B"/>
          </a:solidFill>
          <a:ln w="12700">
            <a:solidFill>
              <a:srgbClr val="087E8B"/>
            </a:solidFill>
            <a:prstDash val="solid"/>
          </a:ln>
        </p:spPr>
      </p:sp>
      <p:sp>
        <p:nvSpPr>
          <p:cNvPr id="8" name="Text 6"/>
          <p:cNvSpPr txBox="1"/>
          <p:nvPr/>
        </p:nvSpPr>
        <p:spPr>
          <a:xfrm>
            <a:off x="786384" y="1700784"/>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F</a:t>
            </a:r>
            <a:endParaRPr lang="en-US" sz="1700" dirty="0"/>
          </a:p>
        </p:txBody>
      </p:sp>
      <p:sp>
        <p:nvSpPr>
          <p:cNvPr id="9" name="Text 7"/>
          <p:cNvSpPr txBox="1"/>
          <p:nvPr/>
        </p:nvSpPr>
        <p:spPr>
          <a:xfrm>
            <a:off x="1325880" y="1673352"/>
            <a:ext cx="238658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Fact packet</a:t>
            </a:r>
            <a:endParaRPr lang="en-US" sz="1700" dirty="0"/>
          </a:p>
        </p:txBody>
      </p:sp>
      <p:sp>
        <p:nvSpPr>
          <p:cNvPr id="10" name="Text 8"/>
          <p:cNvSpPr txBox="1"/>
          <p:nvPr/>
        </p:nvSpPr>
        <p:spPr>
          <a:xfrm>
            <a:off x="804672" y="2240280"/>
            <a:ext cx="2898648" cy="1408176"/>
          </a:xfrm>
          <a:prstGeom prst="rect">
            <a:avLst/>
          </a:prstGeom>
          <a:noFill/>
          <a:ln/>
        </p:spPr>
        <p:txBody>
          <a:bodyPr wrap="square" lIns="0" tIns="0" rIns="0" bIns="0" rtlCol="0" anchor="t">
            <a:normAutofit/>
          </a:bodyPr>
          <a:lstStyle/>
          <a:p>
            <a:pPr indent="0" marL="0">
              <a:buNone/>
            </a:pPr>
            <a:r>
              <a:rPr lang="en-US" sz="1400" dirty="0">
                <a:solidFill>
                  <a:srgbClr val="5B6C81"/>
                </a:solidFill>
                <a:latin typeface="Arial" pitchFamily="34" charset="0"/>
                <a:ea typeface="Arial" pitchFamily="34" charset="-122"/>
                <a:cs typeface="Arial" pitchFamily="34" charset="-120"/>
              </a:rPr>
              <a:t>Case IDs, KYC status, transaction math, ownership gaps, case passages and guidance.</a:t>
            </a:r>
            <a:endParaRPr lang="en-US" sz="1400" dirty="0"/>
          </a:p>
        </p:txBody>
      </p:sp>
      <p:sp>
        <p:nvSpPr>
          <p:cNvPr id="11" name="Shape 9"/>
          <p:cNvSpPr/>
          <p:nvPr/>
        </p:nvSpPr>
        <p:spPr>
          <a:xfrm>
            <a:off x="4462272" y="1517904"/>
            <a:ext cx="3264408" cy="2267712"/>
          </a:xfrm>
          <a:prstGeom prst="roundRect">
            <a:avLst>
              <a:gd name="adj" fmla="val 6452"/>
            </a:avLst>
          </a:prstGeom>
          <a:solidFill>
            <a:srgbClr val="FFFFFF"/>
          </a:solidFill>
          <a:ln w="15240">
            <a:solidFill>
              <a:srgbClr val="C8D6E8"/>
            </a:solidFill>
            <a:prstDash val="solid"/>
          </a:ln>
        </p:spPr>
      </p:sp>
      <p:sp>
        <p:nvSpPr>
          <p:cNvPr id="12" name="Shape 10"/>
          <p:cNvSpPr/>
          <p:nvPr/>
        </p:nvSpPr>
        <p:spPr>
          <a:xfrm>
            <a:off x="4626864" y="1700784"/>
            <a:ext cx="420624" cy="420624"/>
          </a:xfrm>
          <a:prstGeom prst="ellipse">
            <a:avLst/>
          </a:prstGeom>
          <a:solidFill>
            <a:srgbClr val="2E67B7"/>
          </a:solidFill>
          <a:ln w="12700">
            <a:solidFill>
              <a:srgbClr val="2E67B7"/>
            </a:solidFill>
            <a:prstDash val="solid"/>
          </a:ln>
        </p:spPr>
      </p:sp>
      <p:sp>
        <p:nvSpPr>
          <p:cNvPr id="13" name="Text 11"/>
          <p:cNvSpPr txBox="1"/>
          <p:nvPr/>
        </p:nvSpPr>
        <p:spPr>
          <a:xfrm>
            <a:off x="4626864" y="1700784"/>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D</a:t>
            </a:r>
            <a:endParaRPr lang="en-US" sz="1700" dirty="0"/>
          </a:p>
        </p:txBody>
      </p:sp>
      <p:sp>
        <p:nvSpPr>
          <p:cNvPr id="14" name="Text 12"/>
          <p:cNvSpPr txBox="1"/>
          <p:nvPr/>
        </p:nvSpPr>
        <p:spPr>
          <a:xfrm>
            <a:off x="5166360" y="1673352"/>
            <a:ext cx="238658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Draft choice</a:t>
            </a:r>
            <a:endParaRPr lang="en-US" sz="1700" dirty="0"/>
          </a:p>
        </p:txBody>
      </p:sp>
      <p:sp>
        <p:nvSpPr>
          <p:cNvPr id="15" name="Text 13"/>
          <p:cNvSpPr txBox="1"/>
          <p:nvPr/>
        </p:nvSpPr>
        <p:spPr>
          <a:xfrm>
            <a:off x="4645152" y="2240280"/>
            <a:ext cx="2898648" cy="1408176"/>
          </a:xfrm>
          <a:prstGeom prst="rect">
            <a:avLst/>
          </a:prstGeom>
          <a:noFill/>
          <a:ln/>
        </p:spPr>
        <p:txBody>
          <a:bodyPr wrap="square" lIns="0" tIns="0" rIns="0" bIns="0" rtlCol="0" anchor="t">
            <a:normAutofit/>
          </a:bodyPr>
          <a:lstStyle/>
          <a:p>
            <a:pPr indent="0" marL="0">
              <a:buNone/>
            </a:pPr>
            <a:r>
              <a:rPr lang="en-US" sz="1400" dirty="0">
                <a:solidFill>
                  <a:srgbClr val="5B6C81"/>
                </a:solidFill>
                <a:latin typeface="Arial" pitchFamily="34" charset="0"/>
                <a:ea typeface="Arial" pitchFamily="34" charset="-122"/>
                <a:cs typeface="Arial" pitchFamily="34" charset="-120"/>
              </a:rPr>
              <a:t>Calculated source-anchored draft works without AI; Gemini can draft from controlled context.</a:t>
            </a:r>
            <a:endParaRPr lang="en-US" sz="1400" dirty="0"/>
          </a:p>
        </p:txBody>
      </p:sp>
      <p:sp>
        <p:nvSpPr>
          <p:cNvPr id="16" name="Shape 14"/>
          <p:cNvSpPr/>
          <p:nvPr/>
        </p:nvSpPr>
        <p:spPr>
          <a:xfrm>
            <a:off x="8293608" y="1517904"/>
            <a:ext cx="3264408" cy="2267712"/>
          </a:xfrm>
          <a:prstGeom prst="roundRect">
            <a:avLst>
              <a:gd name="adj" fmla="val 6452"/>
            </a:avLst>
          </a:prstGeom>
          <a:solidFill>
            <a:srgbClr val="FFFFFF"/>
          </a:solidFill>
          <a:ln w="15240">
            <a:solidFill>
              <a:srgbClr val="C8D6E8"/>
            </a:solidFill>
            <a:prstDash val="solid"/>
          </a:ln>
        </p:spPr>
      </p:sp>
      <p:sp>
        <p:nvSpPr>
          <p:cNvPr id="17" name="Shape 15"/>
          <p:cNvSpPr/>
          <p:nvPr/>
        </p:nvSpPr>
        <p:spPr>
          <a:xfrm>
            <a:off x="8458200" y="1700784"/>
            <a:ext cx="420624" cy="420624"/>
          </a:xfrm>
          <a:prstGeom prst="ellipse">
            <a:avLst/>
          </a:prstGeom>
          <a:solidFill>
            <a:srgbClr val="B06A14"/>
          </a:solidFill>
          <a:ln w="12700">
            <a:solidFill>
              <a:srgbClr val="B06A14"/>
            </a:solidFill>
            <a:prstDash val="solid"/>
          </a:ln>
        </p:spPr>
      </p:sp>
      <p:sp>
        <p:nvSpPr>
          <p:cNvPr id="18" name="Text 16"/>
          <p:cNvSpPr txBox="1"/>
          <p:nvPr/>
        </p:nvSpPr>
        <p:spPr>
          <a:xfrm>
            <a:off x="8458200" y="1700784"/>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V</a:t>
            </a:r>
            <a:endParaRPr lang="en-US" sz="1700" dirty="0"/>
          </a:p>
        </p:txBody>
      </p:sp>
      <p:sp>
        <p:nvSpPr>
          <p:cNvPr id="19" name="Text 17"/>
          <p:cNvSpPr txBox="1"/>
          <p:nvPr/>
        </p:nvSpPr>
        <p:spPr>
          <a:xfrm>
            <a:off x="8997696" y="1673352"/>
            <a:ext cx="2386584"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Selected checks</a:t>
            </a:r>
            <a:endParaRPr lang="en-US" sz="1700" dirty="0"/>
          </a:p>
        </p:txBody>
      </p:sp>
      <p:sp>
        <p:nvSpPr>
          <p:cNvPr id="20" name="Text 18"/>
          <p:cNvSpPr txBox="1"/>
          <p:nvPr/>
        </p:nvSpPr>
        <p:spPr>
          <a:xfrm>
            <a:off x="8476488" y="2240280"/>
            <a:ext cx="2898648" cy="1408176"/>
          </a:xfrm>
          <a:prstGeom prst="rect">
            <a:avLst/>
          </a:prstGeom>
          <a:noFill/>
          <a:ln/>
        </p:spPr>
        <p:txBody>
          <a:bodyPr wrap="square" lIns="0" tIns="0" rIns="0" bIns="0" rtlCol="0" anchor="t">
            <a:normAutofit/>
          </a:bodyPr>
          <a:lstStyle/>
          <a:p>
            <a:pPr indent="0" marL="0">
              <a:buNone/>
            </a:pPr>
            <a:r>
              <a:rPr lang="en-US" sz="1400" dirty="0">
                <a:solidFill>
                  <a:srgbClr val="5B6C81"/>
                </a:solidFill>
                <a:latin typeface="Arial" pitchFamily="34" charset="0"/>
                <a:ea typeface="Arial" pitchFamily="34" charset="-122"/>
                <a:cs typeface="Arial" pitchFamily="34" charset="-120"/>
              </a:rPr>
              <a:t>Validator checks cited IDs, chunk references, selected ratios and verdict-like wording.</a:t>
            </a:r>
            <a:endParaRPr lang="en-US" sz="1400" dirty="0"/>
          </a:p>
        </p:txBody>
      </p:sp>
      <p:sp>
        <p:nvSpPr>
          <p:cNvPr id="21" name="Shape 19"/>
          <p:cNvSpPr/>
          <p:nvPr/>
        </p:nvSpPr>
        <p:spPr>
          <a:xfrm>
            <a:off x="3909974" y="2638958"/>
            <a:ext cx="25603" cy="25603"/>
          </a:xfrm>
          <a:prstGeom prst="ellipse">
            <a:avLst/>
          </a:prstGeom>
          <a:solidFill>
            <a:srgbClr val="087E8B"/>
          </a:solidFill>
          <a:ln w="12700">
            <a:solidFill>
              <a:srgbClr val="087E8B"/>
            </a:solidFill>
            <a:prstDash val="solid"/>
          </a:ln>
        </p:spPr>
      </p:sp>
      <p:sp>
        <p:nvSpPr>
          <p:cNvPr id="22" name="Shape 20"/>
          <p:cNvSpPr/>
          <p:nvPr/>
        </p:nvSpPr>
        <p:spPr>
          <a:xfrm>
            <a:off x="3993794" y="2638958"/>
            <a:ext cx="25603" cy="25603"/>
          </a:xfrm>
          <a:prstGeom prst="ellipse">
            <a:avLst/>
          </a:prstGeom>
          <a:solidFill>
            <a:srgbClr val="087E8B"/>
          </a:solidFill>
          <a:ln w="12700">
            <a:solidFill>
              <a:srgbClr val="087E8B"/>
            </a:solidFill>
            <a:prstDash val="solid"/>
          </a:ln>
        </p:spPr>
      </p:sp>
      <p:sp>
        <p:nvSpPr>
          <p:cNvPr id="23" name="Shape 21"/>
          <p:cNvSpPr/>
          <p:nvPr/>
        </p:nvSpPr>
        <p:spPr>
          <a:xfrm>
            <a:off x="4077614" y="2638958"/>
            <a:ext cx="25603" cy="25603"/>
          </a:xfrm>
          <a:prstGeom prst="ellipse">
            <a:avLst/>
          </a:prstGeom>
          <a:solidFill>
            <a:srgbClr val="087E8B"/>
          </a:solidFill>
          <a:ln w="12700">
            <a:solidFill>
              <a:srgbClr val="087E8B"/>
            </a:solidFill>
            <a:prstDash val="solid"/>
          </a:ln>
        </p:spPr>
      </p:sp>
      <p:sp>
        <p:nvSpPr>
          <p:cNvPr id="24" name="Shape 22"/>
          <p:cNvSpPr/>
          <p:nvPr/>
        </p:nvSpPr>
        <p:spPr>
          <a:xfrm>
            <a:off x="4161434" y="2638958"/>
            <a:ext cx="25603" cy="25603"/>
          </a:xfrm>
          <a:prstGeom prst="ellipse">
            <a:avLst/>
          </a:prstGeom>
          <a:solidFill>
            <a:srgbClr val="087E8B"/>
          </a:solidFill>
          <a:ln w="12700">
            <a:solidFill>
              <a:srgbClr val="087E8B"/>
            </a:solidFill>
            <a:prstDash val="solid"/>
          </a:ln>
        </p:spPr>
      </p:sp>
      <p:sp>
        <p:nvSpPr>
          <p:cNvPr id="25" name="Shape 23"/>
          <p:cNvSpPr/>
          <p:nvPr/>
        </p:nvSpPr>
        <p:spPr>
          <a:xfrm>
            <a:off x="4245254" y="2638958"/>
            <a:ext cx="25603" cy="25603"/>
          </a:xfrm>
          <a:prstGeom prst="ellipse">
            <a:avLst/>
          </a:prstGeom>
          <a:solidFill>
            <a:srgbClr val="087E8B"/>
          </a:solidFill>
          <a:ln w="12700">
            <a:solidFill>
              <a:srgbClr val="087E8B"/>
            </a:solidFill>
            <a:prstDash val="solid"/>
          </a:ln>
        </p:spPr>
      </p:sp>
      <p:sp>
        <p:nvSpPr>
          <p:cNvPr id="26" name="Shape 24"/>
          <p:cNvSpPr/>
          <p:nvPr/>
        </p:nvSpPr>
        <p:spPr>
          <a:xfrm>
            <a:off x="4329074" y="2638958"/>
            <a:ext cx="25603" cy="25603"/>
          </a:xfrm>
          <a:prstGeom prst="ellipse">
            <a:avLst/>
          </a:prstGeom>
          <a:solidFill>
            <a:srgbClr val="087E8B"/>
          </a:solidFill>
          <a:ln w="12700">
            <a:solidFill>
              <a:srgbClr val="087E8B"/>
            </a:solidFill>
            <a:prstDash val="solid"/>
          </a:ln>
        </p:spPr>
      </p:sp>
      <p:sp>
        <p:nvSpPr>
          <p:cNvPr id="27" name="Text 25"/>
          <p:cNvSpPr txBox="1"/>
          <p:nvPr/>
        </p:nvSpPr>
        <p:spPr>
          <a:xfrm>
            <a:off x="4343400" y="2523744"/>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28" name="Shape 26"/>
          <p:cNvSpPr/>
          <p:nvPr/>
        </p:nvSpPr>
        <p:spPr>
          <a:xfrm>
            <a:off x="7750454" y="2638958"/>
            <a:ext cx="25603" cy="25603"/>
          </a:xfrm>
          <a:prstGeom prst="ellipse">
            <a:avLst/>
          </a:prstGeom>
          <a:solidFill>
            <a:srgbClr val="087E8B"/>
          </a:solidFill>
          <a:ln w="12700">
            <a:solidFill>
              <a:srgbClr val="087E8B"/>
            </a:solidFill>
            <a:prstDash val="solid"/>
          </a:ln>
        </p:spPr>
      </p:sp>
      <p:sp>
        <p:nvSpPr>
          <p:cNvPr id="29" name="Shape 27"/>
          <p:cNvSpPr/>
          <p:nvPr/>
        </p:nvSpPr>
        <p:spPr>
          <a:xfrm>
            <a:off x="7849210" y="2638958"/>
            <a:ext cx="25603" cy="25603"/>
          </a:xfrm>
          <a:prstGeom prst="ellipse">
            <a:avLst/>
          </a:prstGeom>
          <a:solidFill>
            <a:srgbClr val="087E8B"/>
          </a:solidFill>
          <a:ln w="12700">
            <a:solidFill>
              <a:srgbClr val="087E8B"/>
            </a:solidFill>
            <a:prstDash val="solid"/>
          </a:ln>
        </p:spPr>
      </p:sp>
      <p:sp>
        <p:nvSpPr>
          <p:cNvPr id="30" name="Shape 28"/>
          <p:cNvSpPr/>
          <p:nvPr/>
        </p:nvSpPr>
        <p:spPr>
          <a:xfrm>
            <a:off x="7947965" y="2638958"/>
            <a:ext cx="25603" cy="25603"/>
          </a:xfrm>
          <a:prstGeom prst="ellipse">
            <a:avLst/>
          </a:prstGeom>
          <a:solidFill>
            <a:srgbClr val="087E8B"/>
          </a:solidFill>
          <a:ln w="12700">
            <a:solidFill>
              <a:srgbClr val="087E8B"/>
            </a:solidFill>
            <a:prstDash val="solid"/>
          </a:ln>
        </p:spPr>
      </p:sp>
      <p:sp>
        <p:nvSpPr>
          <p:cNvPr id="31" name="Shape 29"/>
          <p:cNvSpPr/>
          <p:nvPr/>
        </p:nvSpPr>
        <p:spPr>
          <a:xfrm>
            <a:off x="8046720" y="2638958"/>
            <a:ext cx="25603" cy="25603"/>
          </a:xfrm>
          <a:prstGeom prst="ellipse">
            <a:avLst/>
          </a:prstGeom>
          <a:solidFill>
            <a:srgbClr val="087E8B"/>
          </a:solidFill>
          <a:ln w="12700">
            <a:solidFill>
              <a:srgbClr val="087E8B"/>
            </a:solidFill>
            <a:prstDash val="solid"/>
          </a:ln>
        </p:spPr>
      </p:sp>
      <p:sp>
        <p:nvSpPr>
          <p:cNvPr id="32" name="Shape 30"/>
          <p:cNvSpPr/>
          <p:nvPr/>
        </p:nvSpPr>
        <p:spPr>
          <a:xfrm>
            <a:off x="8145475" y="2638958"/>
            <a:ext cx="25603" cy="25603"/>
          </a:xfrm>
          <a:prstGeom prst="ellipse">
            <a:avLst/>
          </a:prstGeom>
          <a:solidFill>
            <a:srgbClr val="087E8B"/>
          </a:solidFill>
          <a:ln w="12700">
            <a:solidFill>
              <a:srgbClr val="087E8B"/>
            </a:solidFill>
            <a:prstDash val="solid"/>
          </a:ln>
        </p:spPr>
      </p:sp>
      <p:sp>
        <p:nvSpPr>
          <p:cNvPr id="33" name="Text 31"/>
          <p:cNvSpPr txBox="1"/>
          <p:nvPr/>
        </p:nvSpPr>
        <p:spPr>
          <a:xfrm>
            <a:off x="8174736" y="2523744"/>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34" name="Shape 32"/>
          <p:cNvSpPr/>
          <p:nvPr/>
        </p:nvSpPr>
        <p:spPr>
          <a:xfrm>
            <a:off x="713232" y="4343400"/>
            <a:ext cx="5257800" cy="1042416"/>
          </a:xfrm>
          <a:prstGeom prst="roundRect">
            <a:avLst>
              <a:gd name="adj" fmla="val 14035"/>
            </a:avLst>
          </a:prstGeom>
          <a:solidFill>
            <a:srgbClr val="E1F4EB"/>
          </a:solidFill>
          <a:ln w="15240">
            <a:solidFill>
              <a:srgbClr val="247352"/>
            </a:solidFill>
            <a:prstDash val="solid"/>
          </a:ln>
        </p:spPr>
      </p:sp>
      <p:sp>
        <p:nvSpPr>
          <p:cNvPr id="35" name="Text 33"/>
          <p:cNvSpPr txBox="1"/>
          <p:nvPr/>
        </p:nvSpPr>
        <p:spPr>
          <a:xfrm>
            <a:off x="941832" y="4572000"/>
            <a:ext cx="4800600" cy="384048"/>
          </a:xfrm>
          <a:prstGeom prst="rect">
            <a:avLst/>
          </a:prstGeom>
          <a:noFill/>
          <a:ln/>
        </p:spPr>
        <p:txBody>
          <a:bodyPr wrap="square" lIns="0" tIns="0" rIns="0" bIns="0" rtlCol="0" anchor="ctr">
            <a:normAutofit/>
          </a:bodyPr>
          <a:lstStyle/>
          <a:p>
            <a:pPr indent="0" marL="0">
              <a:buNone/>
            </a:pPr>
            <a:r>
              <a:rPr lang="en-US" sz="1700" b="1" dirty="0">
                <a:solidFill>
                  <a:srgbClr val="247352"/>
                </a:solidFill>
                <a:latin typeface="Arial" pitchFamily="34" charset="0"/>
                <a:ea typeface="Arial" pitchFamily="34" charset="-122"/>
                <a:cs typeface="Arial" pitchFamily="34" charset="-120"/>
              </a:rPr>
              <a:t>Calculated mode: no model needed</a:t>
            </a:r>
            <a:endParaRPr lang="en-US" sz="1700" dirty="0"/>
          </a:p>
        </p:txBody>
      </p:sp>
      <p:sp>
        <p:nvSpPr>
          <p:cNvPr id="36" name="Shape 34"/>
          <p:cNvSpPr/>
          <p:nvPr/>
        </p:nvSpPr>
        <p:spPr>
          <a:xfrm>
            <a:off x="6217920" y="4343400"/>
            <a:ext cx="5257800" cy="1042416"/>
          </a:xfrm>
          <a:prstGeom prst="roundRect">
            <a:avLst>
              <a:gd name="adj" fmla="val 14035"/>
            </a:avLst>
          </a:prstGeom>
          <a:solidFill>
            <a:srgbClr val="F8E7BF"/>
          </a:solidFill>
          <a:ln w="15240">
            <a:solidFill>
              <a:srgbClr val="B06A14"/>
            </a:solidFill>
            <a:prstDash val="solid"/>
          </a:ln>
        </p:spPr>
      </p:sp>
      <p:sp>
        <p:nvSpPr>
          <p:cNvPr id="37" name="Text 35"/>
          <p:cNvSpPr txBox="1"/>
          <p:nvPr/>
        </p:nvSpPr>
        <p:spPr>
          <a:xfrm>
            <a:off x="6446520" y="4572000"/>
            <a:ext cx="4800600" cy="384048"/>
          </a:xfrm>
          <a:prstGeom prst="rect">
            <a:avLst/>
          </a:prstGeom>
          <a:noFill/>
          <a:ln/>
        </p:spPr>
        <p:txBody>
          <a:bodyPr wrap="square" lIns="0" tIns="0" rIns="0" bIns="0" rtlCol="0" anchor="ctr">
            <a:normAutofit/>
          </a:bodyPr>
          <a:lstStyle/>
          <a:p>
            <a:pPr indent="0" marL="0">
              <a:buNone/>
            </a:pPr>
            <a:r>
              <a:rPr lang="en-US" sz="1700" b="1" dirty="0">
                <a:solidFill>
                  <a:srgbClr val="B06A14"/>
                </a:solidFill>
                <a:latin typeface="Arial" pitchFamily="34" charset="0"/>
                <a:ea typeface="Arial" pitchFamily="34" charset="-122"/>
                <a:cs typeface="Arial" pitchFamily="34" charset="-120"/>
              </a:rPr>
              <a:t>Optional Gemini + five saved reports</a:t>
            </a:r>
            <a:endParaRPr lang="en-US" sz="1700" dirty="0"/>
          </a:p>
        </p:txBody>
      </p:sp>
      <p:sp>
        <p:nvSpPr>
          <p:cNvPr id="38" name="Text 36"/>
          <p:cNvSpPr txBox="1"/>
          <p:nvPr/>
        </p:nvSpPr>
        <p:spPr>
          <a:xfrm>
            <a:off x="749808" y="5833872"/>
            <a:ext cx="10698480" cy="347472"/>
          </a:xfrm>
          <a:prstGeom prst="rect">
            <a:avLst/>
          </a:prstGeom>
          <a:noFill/>
          <a:ln/>
        </p:spPr>
        <p:txBody>
          <a:bodyPr wrap="square" lIns="0" tIns="0" rIns="0" bIns="0" rtlCol="0" anchor="ctr">
            <a:normAutofit/>
          </a:bodyPr>
          <a:lstStyle/>
          <a:p>
            <a:pPr indent="0" marL="0">
              <a:buNone/>
            </a:pPr>
            <a:r>
              <a:rPr lang="en-US" sz="1400" b="1" dirty="0">
                <a:solidFill>
                  <a:srgbClr val="A24040"/>
                </a:solidFill>
                <a:latin typeface="Arial" pitchFamily="34" charset="0"/>
                <a:ea typeface="Arial" pitchFamily="34" charset="-122"/>
                <a:cs typeface="Arial" pitchFamily="34" charset="-120"/>
              </a:rPr>
              <a:t>A “PASS” is only a pass of selected automated checks; it is not a factual or legal guarantee.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09 / HUMAN-IN-THE-LOOP</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The human decision is the record</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10</a:t>
            </a:r>
            <a:endParaRPr lang="en-US" sz="900" dirty="0"/>
          </a:p>
        </p:txBody>
      </p:sp>
      <p:sp>
        <p:nvSpPr>
          <p:cNvPr id="6" name="Shape 4"/>
          <p:cNvSpPr/>
          <p:nvPr/>
        </p:nvSpPr>
        <p:spPr>
          <a:xfrm>
            <a:off x="640080" y="1673352"/>
            <a:ext cx="3438144" cy="2359152"/>
          </a:xfrm>
          <a:prstGeom prst="roundRect">
            <a:avLst>
              <a:gd name="adj" fmla="val 6202"/>
            </a:avLst>
          </a:prstGeom>
          <a:solidFill>
            <a:srgbClr val="E1F4EB"/>
          </a:solidFill>
          <a:ln w="15240">
            <a:solidFill>
              <a:srgbClr val="C8D6E8"/>
            </a:solidFill>
            <a:prstDash val="solid"/>
          </a:ln>
        </p:spPr>
      </p:sp>
      <p:sp>
        <p:nvSpPr>
          <p:cNvPr id="7" name="Shape 5"/>
          <p:cNvSpPr/>
          <p:nvPr/>
        </p:nvSpPr>
        <p:spPr>
          <a:xfrm>
            <a:off x="804672" y="1856232"/>
            <a:ext cx="420624" cy="420624"/>
          </a:xfrm>
          <a:prstGeom prst="ellipse">
            <a:avLst/>
          </a:prstGeom>
          <a:solidFill>
            <a:srgbClr val="247352"/>
          </a:solidFill>
          <a:ln w="12700">
            <a:solidFill>
              <a:srgbClr val="247352"/>
            </a:solidFill>
            <a:prstDash val="solid"/>
          </a:ln>
        </p:spPr>
      </p:sp>
      <p:sp>
        <p:nvSpPr>
          <p:cNvPr id="8" name="Text 6"/>
          <p:cNvSpPr txBox="1"/>
          <p:nvPr/>
        </p:nvSpPr>
        <p:spPr>
          <a:xfrm>
            <a:off x="804672" y="185623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C</a:t>
            </a:r>
            <a:endParaRPr lang="en-US" sz="1700" dirty="0"/>
          </a:p>
        </p:txBody>
      </p:sp>
      <p:sp>
        <p:nvSpPr>
          <p:cNvPr id="9" name="Text 7"/>
          <p:cNvSpPr txBox="1"/>
          <p:nvPr/>
        </p:nvSpPr>
        <p:spPr>
          <a:xfrm>
            <a:off x="1344168" y="1828800"/>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Close</a:t>
            </a:r>
            <a:endParaRPr lang="en-US" sz="1700" dirty="0"/>
          </a:p>
        </p:txBody>
      </p:sp>
      <p:sp>
        <p:nvSpPr>
          <p:cNvPr id="10" name="Text 8"/>
          <p:cNvSpPr txBox="1"/>
          <p:nvPr/>
        </p:nvSpPr>
        <p:spPr>
          <a:xfrm>
            <a:off x="822960" y="2395728"/>
            <a:ext cx="3072384" cy="1499616"/>
          </a:xfrm>
          <a:prstGeom prst="rect">
            <a:avLst/>
          </a:prstGeom>
          <a:noFill/>
          <a:ln/>
        </p:spPr>
        <p:txBody>
          <a:bodyPr wrap="square" lIns="0" tIns="0" rIns="0" bIns="0" rtlCol="0" anchor="t">
            <a:normAutofit/>
          </a:bodyPr>
          <a:lstStyle/>
          <a:p>
            <a:pPr indent="0" marL="0">
              <a:buNone/>
            </a:pPr>
            <a:r>
              <a:rPr lang="en-US" sz="1400" dirty="0">
                <a:solidFill>
                  <a:srgbClr val="5B6C81"/>
                </a:solidFill>
                <a:latin typeface="Arial" pitchFamily="34" charset="0"/>
                <a:ea typeface="Arial" pitchFamily="34" charset="-122"/>
                <a:cs typeface="Arial" pitchFamily="34" charset="-120"/>
              </a:rPr>
              <a:t>Record why the alert does not need further investigation.</a:t>
            </a:r>
            <a:endParaRPr lang="en-US" sz="1400" dirty="0"/>
          </a:p>
        </p:txBody>
      </p:sp>
      <p:sp>
        <p:nvSpPr>
          <p:cNvPr id="11" name="Shape 9"/>
          <p:cNvSpPr/>
          <p:nvPr/>
        </p:nvSpPr>
        <p:spPr>
          <a:xfrm>
            <a:off x="4498848" y="1673352"/>
            <a:ext cx="3438144" cy="2359152"/>
          </a:xfrm>
          <a:prstGeom prst="roundRect">
            <a:avLst>
              <a:gd name="adj" fmla="val 6202"/>
            </a:avLst>
          </a:prstGeom>
          <a:solidFill>
            <a:srgbClr val="F8E7BF"/>
          </a:solidFill>
          <a:ln w="15240">
            <a:solidFill>
              <a:srgbClr val="C8D6E8"/>
            </a:solidFill>
            <a:prstDash val="solid"/>
          </a:ln>
        </p:spPr>
      </p:sp>
      <p:sp>
        <p:nvSpPr>
          <p:cNvPr id="12" name="Shape 10"/>
          <p:cNvSpPr/>
          <p:nvPr/>
        </p:nvSpPr>
        <p:spPr>
          <a:xfrm>
            <a:off x="4663440" y="1856232"/>
            <a:ext cx="420624" cy="420624"/>
          </a:xfrm>
          <a:prstGeom prst="ellipse">
            <a:avLst/>
          </a:prstGeom>
          <a:solidFill>
            <a:srgbClr val="B06A14"/>
          </a:solidFill>
          <a:ln w="12700">
            <a:solidFill>
              <a:srgbClr val="B06A14"/>
            </a:solidFill>
            <a:prstDash val="solid"/>
          </a:ln>
        </p:spPr>
      </p:sp>
      <p:sp>
        <p:nvSpPr>
          <p:cNvPr id="13" name="Text 11"/>
          <p:cNvSpPr txBox="1"/>
          <p:nvPr/>
        </p:nvSpPr>
        <p:spPr>
          <a:xfrm>
            <a:off x="4663440" y="185623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I</a:t>
            </a:r>
            <a:endParaRPr lang="en-US" sz="1700" dirty="0"/>
          </a:p>
        </p:txBody>
      </p:sp>
      <p:sp>
        <p:nvSpPr>
          <p:cNvPr id="14" name="Text 12"/>
          <p:cNvSpPr txBox="1"/>
          <p:nvPr/>
        </p:nvSpPr>
        <p:spPr>
          <a:xfrm>
            <a:off x="5202936" y="1828800"/>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Request information</a:t>
            </a:r>
            <a:endParaRPr lang="en-US" sz="1700" dirty="0"/>
          </a:p>
        </p:txBody>
      </p:sp>
      <p:sp>
        <p:nvSpPr>
          <p:cNvPr id="15" name="Text 13"/>
          <p:cNvSpPr txBox="1"/>
          <p:nvPr/>
        </p:nvSpPr>
        <p:spPr>
          <a:xfrm>
            <a:off x="4681728" y="2395728"/>
            <a:ext cx="3072384" cy="1499616"/>
          </a:xfrm>
          <a:prstGeom prst="rect">
            <a:avLst/>
          </a:prstGeom>
          <a:noFill/>
          <a:ln/>
        </p:spPr>
        <p:txBody>
          <a:bodyPr wrap="square" lIns="0" tIns="0" rIns="0" bIns="0" rtlCol="0" anchor="t">
            <a:normAutofit/>
          </a:bodyPr>
          <a:lstStyle/>
          <a:p>
            <a:pPr indent="0" marL="0">
              <a:buNone/>
            </a:pPr>
            <a:r>
              <a:rPr lang="en-US" sz="1400" dirty="0">
                <a:solidFill>
                  <a:srgbClr val="5B6C81"/>
                </a:solidFill>
                <a:latin typeface="Arial" pitchFamily="34" charset="0"/>
                <a:ea typeface="Arial" pitchFamily="34" charset="-122"/>
                <a:cs typeface="Arial" pitchFamily="34" charset="-120"/>
              </a:rPr>
              <a:t>Identify the missing business context or evidence.</a:t>
            </a:r>
            <a:endParaRPr lang="en-US" sz="1400" dirty="0"/>
          </a:p>
        </p:txBody>
      </p:sp>
      <p:sp>
        <p:nvSpPr>
          <p:cNvPr id="16" name="Shape 14"/>
          <p:cNvSpPr/>
          <p:nvPr/>
        </p:nvSpPr>
        <p:spPr>
          <a:xfrm>
            <a:off x="8357616" y="1673352"/>
            <a:ext cx="3438144" cy="2359152"/>
          </a:xfrm>
          <a:prstGeom prst="roundRect">
            <a:avLst>
              <a:gd name="adj" fmla="val 6202"/>
            </a:avLst>
          </a:prstGeom>
          <a:solidFill>
            <a:srgbClr val="F8E9E9"/>
          </a:solidFill>
          <a:ln w="15240">
            <a:solidFill>
              <a:srgbClr val="C8D6E8"/>
            </a:solidFill>
            <a:prstDash val="solid"/>
          </a:ln>
        </p:spPr>
      </p:sp>
      <p:sp>
        <p:nvSpPr>
          <p:cNvPr id="17" name="Shape 15"/>
          <p:cNvSpPr/>
          <p:nvPr/>
        </p:nvSpPr>
        <p:spPr>
          <a:xfrm>
            <a:off x="8522208" y="1856232"/>
            <a:ext cx="420624" cy="420624"/>
          </a:xfrm>
          <a:prstGeom prst="ellipse">
            <a:avLst/>
          </a:prstGeom>
          <a:solidFill>
            <a:srgbClr val="A24040"/>
          </a:solidFill>
          <a:ln w="12700">
            <a:solidFill>
              <a:srgbClr val="A24040"/>
            </a:solidFill>
            <a:prstDash val="solid"/>
          </a:ln>
        </p:spPr>
      </p:sp>
      <p:sp>
        <p:nvSpPr>
          <p:cNvPr id="18" name="Text 16"/>
          <p:cNvSpPr txBox="1"/>
          <p:nvPr/>
        </p:nvSpPr>
        <p:spPr>
          <a:xfrm>
            <a:off x="8522208" y="185623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E</a:t>
            </a:r>
            <a:endParaRPr lang="en-US" sz="1700" dirty="0"/>
          </a:p>
        </p:txBody>
      </p:sp>
      <p:sp>
        <p:nvSpPr>
          <p:cNvPr id="19" name="Text 17"/>
          <p:cNvSpPr txBox="1"/>
          <p:nvPr/>
        </p:nvSpPr>
        <p:spPr>
          <a:xfrm>
            <a:off x="9061704" y="1828800"/>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Escalate</a:t>
            </a:r>
            <a:endParaRPr lang="en-US" sz="1700" dirty="0"/>
          </a:p>
        </p:txBody>
      </p:sp>
      <p:sp>
        <p:nvSpPr>
          <p:cNvPr id="20" name="Text 18"/>
          <p:cNvSpPr txBox="1"/>
          <p:nvPr/>
        </p:nvSpPr>
        <p:spPr>
          <a:xfrm>
            <a:off x="8540496" y="2395728"/>
            <a:ext cx="3072384" cy="1499616"/>
          </a:xfrm>
          <a:prstGeom prst="rect">
            <a:avLst/>
          </a:prstGeom>
          <a:noFill/>
          <a:ln/>
        </p:spPr>
        <p:txBody>
          <a:bodyPr wrap="square" lIns="0" tIns="0" rIns="0" bIns="0" rtlCol="0" anchor="t">
            <a:normAutofit/>
          </a:bodyPr>
          <a:lstStyle/>
          <a:p>
            <a:pPr indent="0" marL="0">
              <a:buNone/>
            </a:pPr>
            <a:r>
              <a:rPr lang="en-US" sz="1400" dirty="0">
                <a:solidFill>
                  <a:srgbClr val="5B6C81"/>
                </a:solidFill>
                <a:latin typeface="Arial" pitchFamily="34" charset="0"/>
                <a:ea typeface="Arial" pitchFamily="34" charset="-122"/>
                <a:cs typeface="Arial" pitchFamily="34" charset="-120"/>
              </a:rPr>
              <a:t>Send the case to a separate Compliance queue.</a:t>
            </a:r>
            <a:endParaRPr lang="en-US" sz="1400" dirty="0"/>
          </a:p>
        </p:txBody>
      </p:sp>
      <p:sp>
        <p:nvSpPr>
          <p:cNvPr id="21" name="Shape 19"/>
          <p:cNvSpPr/>
          <p:nvPr/>
        </p:nvSpPr>
        <p:spPr>
          <a:xfrm>
            <a:off x="694944" y="4562856"/>
            <a:ext cx="10789920" cy="978408"/>
          </a:xfrm>
          <a:prstGeom prst="roundRect">
            <a:avLst>
              <a:gd name="adj" fmla="val 14953"/>
            </a:avLst>
          </a:prstGeom>
          <a:solidFill>
            <a:srgbClr val="FFFFFF"/>
          </a:solidFill>
          <a:ln w="15240">
            <a:solidFill>
              <a:srgbClr val="C8D6E8"/>
            </a:solidFill>
            <a:prstDash val="solid"/>
          </a:ln>
        </p:spPr>
      </p:sp>
      <p:sp>
        <p:nvSpPr>
          <p:cNvPr id="22" name="Shape 20"/>
          <p:cNvSpPr/>
          <p:nvPr/>
        </p:nvSpPr>
        <p:spPr>
          <a:xfrm>
            <a:off x="932688" y="4754880"/>
            <a:ext cx="457200" cy="457200"/>
          </a:xfrm>
          <a:prstGeom prst="ellipse">
            <a:avLst/>
          </a:prstGeom>
          <a:solidFill>
            <a:srgbClr val="2E67B7"/>
          </a:solidFill>
          <a:ln w="12700">
            <a:solidFill>
              <a:srgbClr val="2E67B7"/>
            </a:solidFill>
            <a:prstDash val="solid"/>
          </a:ln>
        </p:spPr>
      </p:sp>
      <p:sp>
        <p:nvSpPr>
          <p:cNvPr id="23" name="Text 21"/>
          <p:cNvSpPr txBox="1"/>
          <p:nvPr/>
        </p:nvSpPr>
        <p:spPr>
          <a:xfrm>
            <a:off x="932688" y="4754880"/>
            <a:ext cx="457200" cy="45720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24" name="Text 22"/>
          <p:cNvSpPr txBox="1"/>
          <p:nvPr/>
        </p:nvSpPr>
        <p:spPr>
          <a:xfrm>
            <a:off x="1581912" y="4718304"/>
            <a:ext cx="9418320" cy="566928"/>
          </a:xfrm>
          <a:prstGeom prst="rect">
            <a:avLst/>
          </a:prstGeom>
          <a:noFill/>
          <a:ln/>
        </p:spPr>
        <p:txBody>
          <a:bodyPr wrap="square" lIns="0" tIns="0" rIns="0" bIns="0" rtlCol="0" anchor="ctr">
            <a:normAutofit/>
          </a:bodyPr>
          <a:lstStyle/>
          <a:p>
            <a:pPr indent="0" marL="0">
              <a:buNone/>
            </a:pPr>
            <a:r>
              <a:rPr lang="en-US" sz="1600" b="1" dirty="0">
                <a:solidFill>
                  <a:srgbClr val="10203B"/>
                </a:solidFill>
                <a:latin typeface="Arial" pitchFamily="34" charset="0"/>
                <a:ea typeface="Arial" pitchFamily="34" charset="-122"/>
                <a:cs typeface="Arial" pitchFamily="34" charset="-120"/>
              </a:rPr>
              <a:t>Investigator name + written rationale are required; accepted findings and the action are saved to runtime SQLite with an audit event.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10 / COMPLIANCE + AUDIT</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Escalation leads to another human review</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11</a:t>
            </a:r>
            <a:endParaRPr lang="en-US" sz="900" dirty="0"/>
          </a:p>
        </p:txBody>
      </p:sp>
      <p:sp>
        <p:nvSpPr>
          <p:cNvPr id="6" name="Shape 4"/>
          <p:cNvSpPr/>
          <p:nvPr/>
        </p:nvSpPr>
        <p:spPr>
          <a:xfrm>
            <a:off x="685800" y="1719072"/>
            <a:ext cx="3255264" cy="2651760"/>
          </a:xfrm>
          <a:prstGeom prst="roundRect">
            <a:avLst>
              <a:gd name="adj" fmla="val 5517"/>
            </a:avLst>
          </a:prstGeom>
          <a:solidFill>
            <a:srgbClr val="FFFFFF"/>
          </a:solidFill>
          <a:ln w="15240">
            <a:solidFill>
              <a:srgbClr val="C8D6E8"/>
            </a:solidFill>
            <a:prstDash val="solid"/>
          </a:ln>
        </p:spPr>
      </p:sp>
      <p:sp>
        <p:nvSpPr>
          <p:cNvPr id="7" name="Shape 5"/>
          <p:cNvSpPr/>
          <p:nvPr/>
        </p:nvSpPr>
        <p:spPr>
          <a:xfrm>
            <a:off x="850392" y="1901952"/>
            <a:ext cx="420624" cy="420624"/>
          </a:xfrm>
          <a:prstGeom prst="ellipse">
            <a:avLst/>
          </a:prstGeom>
          <a:solidFill>
            <a:srgbClr val="A24040"/>
          </a:solidFill>
          <a:ln w="12700">
            <a:solidFill>
              <a:srgbClr val="A24040"/>
            </a:solidFill>
            <a:prstDash val="solid"/>
          </a:ln>
        </p:spPr>
      </p:sp>
      <p:sp>
        <p:nvSpPr>
          <p:cNvPr id="8" name="Text 6"/>
          <p:cNvSpPr txBox="1"/>
          <p:nvPr/>
        </p:nvSpPr>
        <p:spPr>
          <a:xfrm>
            <a:off x="850392" y="190195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389888" y="1874520"/>
            <a:ext cx="237744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Investigator escalates</a:t>
            </a:r>
            <a:endParaRPr lang="en-US" sz="1700" dirty="0"/>
          </a:p>
        </p:txBody>
      </p:sp>
      <p:sp>
        <p:nvSpPr>
          <p:cNvPr id="10" name="Text 8"/>
          <p:cNvSpPr txBox="1"/>
          <p:nvPr/>
        </p:nvSpPr>
        <p:spPr>
          <a:xfrm>
            <a:off x="868680" y="2441448"/>
            <a:ext cx="2889504" cy="1792224"/>
          </a:xfrm>
          <a:prstGeom prst="rect">
            <a:avLst/>
          </a:prstGeom>
          <a:noFill/>
          <a:ln/>
        </p:spPr>
        <p:txBody>
          <a:bodyPr wrap="square" lIns="0" tIns="0" rIns="0" bIns="0" rtlCol="0" anchor="t">
            <a:normAutofit/>
          </a:bodyPr>
          <a:lstStyle/>
          <a:p>
            <a:pPr indent="0" marL="0">
              <a:buNone/>
            </a:pPr>
            <a:r>
              <a:rPr lang="en-US" sz="1500" dirty="0">
                <a:solidFill>
                  <a:srgbClr val="5B6C81"/>
                </a:solidFill>
                <a:latin typeface="Arial" pitchFamily="34" charset="0"/>
                <a:ea typeface="Arial" pitchFamily="34" charset="-122"/>
                <a:cs typeface="Arial" pitchFamily="34" charset="-120"/>
              </a:rPr>
              <a:t>The saved decision changes the visible case status and puts the case in Compliance Queue.</a:t>
            </a:r>
            <a:endParaRPr lang="en-US" sz="1500" dirty="0"/>
          </a:p>
        </p:txBody>
      </p:sp>
      <p:sp>
        <p:nvSpPr>
          <p:cNvPr id="11" name="Shape 9"/>
          <p:cNvSpPr/>
          <p:nvPr/>
        </p:nvSpPr>
        <p:spPr>
          <a:xfrm>
            <a:off x="4453128" y="1719072"/>
            <a:ext cx="3255264" cy="2651760"/>
          </a:xfrm>
          <a:prstGeom prst="roundRect">
            <a:avLst>
              <a:gd name="adj" fmla="val 5517"/>
            </a:avLst>
          </a:prstGeom>
          <a:solidFill>
            <a:srgbClr val="FFFFFF"/>
          </a:solidFill>
          <a:ln w="15240">
            <a:solidFill>
              <a:srgbClr val="C8D6E8"/>
            </a:solidFill>
            <a:prstDash val="solid"/>
          </a:ln>
        </p:spPr>
      </p:sp>
      <p:sp>
        <p:nvSpPr>
          <p:cNvPr id="12" name="Shape 10"/>
          <p:cNvSpPr/>
          <p:nvPr/>
        </p:nvSpPr>
        <p:spPr>
          <a:xfrm>
            <a:off x="4617720" y="1901952"/>
            <a:ext cx="420624" cy="420624"/>
          </a:xfrm>
          <a:prstGeom prst="ellipse">
            <a:avLst/>
          </a:prstGeom>
          <a:solidFill>
            <a:srgbClr val="2E67B7"/>
          </a:solidFill>
          <a:ln w="12700">
            <a:solidFill>
              <a:srgbClr val="2E67B7"/>
            </a:solidFill>
            <a:prstDash val="solid"/>
          </a:ln>
        </p:spPr>
      </p:sp>
      <p:sp>
        <p:nvSpPr>
          <p:cNvPr id="13" name="Text 11"/>
          <p:cNvSpPr txBox="1"/>
          <p:nvPr/>
        </p:nvSpPr>
        <p:spPr>
          <a:xfrm>
            <a:off x="4617720" y="190195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txBox="1"/>
          <p:nvPr/>
        </p:nvSpPr>
        <p:spPr>
          <a:xfrm>
            <a:off x="5157216" y="1874520"/>
            <a:ext cx="237744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Officer reviews</a:t>
            </a:r>
            <a:endParaRPr lang="en-US" sz="1700" dirty="0"/>
          </a:p>
        </p:txBody>
      </p:sp>
      <p:sp>
        <p:nvSpPr>
          <p:cNvPr id="15" name="Text 13"/>
          <p:cNvSpPr txBox="1"/>
          <p:nvPr/>
        </p:nvSpPr>
        <p:spPr>
          <a:xfrm>
            <a:off x="4636008" y="2441448"/>
            <a:ext cx="2889504" cy="1792224"/>
          </a:xfrm>
          <a:prstGeom prst="rect">
            <a:avLst/>
          </a:prstGeom>
          <a:noFill/>
          <a:ln/>
        </p:spPr>
        <p:txBody>
          <a:bodyPr wrap="square" lIns="0" tIns="0" rIns="0" bIns="0" rtlCol="0" anchor="t">
            <a:normAutofit/>
          </a:bodyPr>
          <a:lstStyle/>
          <a:p>
            <a:pPr indent="0" marL="0">
              <a:buNone/>
            </a:pPr>
            <a:r>
              <a:rPr lang="en-US" sz="1500" dirty="0">
                <a:solidFill>
                  <a:srgbClr val="5B6C81"/>
                </a:solidFill>
                <a:latin typeface="Arial" pitchFamily="34" charset="0"/>
                <a:ea typeface="Arial" pitchFamily="34" charset="-122"/>
                <a:cs typeface="Arial" pitchFamily="34" charset="-120"/>
              </a:rPr>
              <a:t>A compliance officer can acknowledge, return for more work or record a referral.</a:t>
            </a:r>
            <a:endParaRPr lang="en-US" sz="1500" dirty="0"/>
          </a:p>
        </p:txBody>
      </p:sp>
      <p:sp>
        <p:nvSpPr>
          <p:cNvPr id="16" name="Shape 14"/>
          <p:cNvSpPr/>
          <p:nvPr/>
        </p:nvSpPr>
        <p:spPr>
          <a:xfrm>
            <a:off x="8220456" y="1719072"/>
            <a:ext cx="3255264" cy="2651760"/>
          </a:xfrm>
          <a:prstGeom prst="roundRect">
            <a:avLst>
              <a:gd name="adj" fmla="val 5517"/>
            </a:avLst>
          </a:prstGeom>
          <a:solidFill>
            <a:srgbClr val="FFFFFF"/>
          </a:solidFill>
          <a:ln w="15240">
            <a:solidFill>
              <a:srgbClr val="C8D6E8"/>
            </a:solidFill>
            <a:prstDash val="solid"/>
          </a:ln>
        </p:spPr>
      </p:sp>
      <p:sp>
        <p:nvSpPr>
          <p:cNvPr id="17" name="Shape 15"/>
          <p:cNvSpPr/>
          <p:nvPr/>
        </p:nvSpPr>
        <p:spPr>
          <a:xfrm>
            <a:off x="8385048" y="1901952"/>
            <a:ext cx="420624" cy="420624"/>
          </a:xfrm>
          <a:prstGeom prst="ellipse">
            <a:avLst/>
          </a:prstGeom>
          <a:solidFill>
            <a:srgbClr val="087E8B"/>
          </a:solidFill>
          <a:ln w="12700">
            <a:solidFill>
              <a:srgbClr val="087E8B"/>
            </a:solidFill>
            <a:prstDash val="solid"/>
          </a:ln>
        </p:spPr>
      </p:sp>
      <p:sp>
        <p:nvSpPr>
          <p:cNvPr id="18" name="Text 16"/>
          <p:cNvSpPr txBox="1"/>
          <p:nvPr/>
        </p:nvSpPr>
        <p:spPr>
          <a:xfrm>
            <a:off x="8385048" y="190195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txBox="1"/>
          <p:nvPr/>
        </p:nvSpPr>
        <p:spPr>
          <a:xfrm>
            <a:off x="8924544" y="1874520"/>
            <a:ext cx="237744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Audit persists</a:t>
            </a:r>
            <a:endParaRPr lang="en-US" sz="1700" dirty="0"/>
          </a:p>
        </p:txBody>
      </p:sp>
      <p:sp>
        <p:nvSpPr>
          <p:cNvPr id="20" name="Text 18"/>
          <p:cNvSpPr txBox="1"/>
          <p:nvPr/>
        </p:nvSpPr>
        <p:spPr>
          <a:xfrm>
            <a:off x="8403336" y="2441448"/>
            <a:ext cx="2889504" cy="1792224"/>
          </a:xfrm>
          <a:prstGeom prst="rect">
            <a:avLst/>
          </a:prstGeom>
          <a:noFill/>
          <a:ln/>
        </p:spPr>
        <p:txBody>
          <a:bodyPr wrap="square" lIns="0" tIns="0" rIns="0" bIns="0" rtlCol="0" anchor="t">
            <a:normAutofit/>
          </a:bodyPr>
          <a:lstStyle/>
          <a:p>
            <a:pPr indent="0" marL="0">
              <a:buNone/>
            </a:pPr>
            <a:r>
              <a:rPr lang="en-US" sz="1500" dirty="0">
                <a:solidFill>
                  <a:srgbClr val="5B6C81"/>
                </a:solidFill>
                <a:latin typeface="Arial" pitchFamily="34" charset="0"/>
                <a:ea typeface="Arial" pitchFamily="34" charset="-122"/>
                <a:cs typeface="Arial" pitchFamily="34" charset="-120"/>
              </a:rPr>
              <a:t>Human action, rationale and timestamps are written to the runtime database on a mounted volume.</a:t>
            </a:r>
            <a:endParaRPr lang="en-US" sz="1500" dirty="0"/>
          </a:p>
        </p:txBody>
      </p:sp>
      <p:sp>
        <p:nvSpPr>
          <p:cNvPr id="21" name="Shape 19"/>
          <p:cNvSpPr/>
          <p:nvPr/>
        </p:nvSpPr>
        <p:spPr>
          <a:xfrm>
            <a:off x="3955694" y="2958998"/>
            <a:ext cx="25603" cy="25603"/>
          </a:xfrm>
          <a:prstGeom prst="ellipse">
            <a:avLst/>
          </a:prstGeom>
          <a:solidFill>
            <a:srgbClr val="087E8B"/>
          </a:solidFill>
          <a:ln w="12700">
            <a:solidFill>
              <a:srgbClr val="087E8B"/>
            </a:solidFill>
            <a:prstDash val="solid"/>
          </a:ln>
        </p:spPr>
      </p:sp>
      <p:sp>
        <p:nvSpPr>
          <p:cNvPr id="22" name="Shape 20"/>
          <p:cNvSpPr/>
          <p:nvPr/>
        </p:nvSpPr>
        <p:spPr>
          <a:xfrm>
            <a:off x="4045306" y="2958998"/>
            <a:ext cx="25603" cy="25603"/>
          </a:xfrm>
          <a:prstGeom prst="ellipse">
            <a:avLst/>
          </a:prstGeom>
          <a:solidFill>
            <a:srgbClr val="087E8B"/>
          </a:solidFill>
          <a:ln w="12700">
            <a:solidFill>
              <a:srgbClr val="087E8B"/>
            </a:solidFill>
            <a:prstDash val="solid"/>
          </a:ln>
        </p:spPr>
      </p:sp>
      <p:sp>
        <p:nvSpPr>
          <p:cNvPr id="23" name="Shape 21"/>
          <p:cNvSpPr/>
          <p:nvPr/>
        </p:nvSpPr>
        <p:spPr>
          <a:xfrm>
            <a:off x="4134917" y="2958998"/>
            <a:ext cx="25603" cy="25603"/>
          </a:xfrm>
          <a:prstGeom prst="ellipse">
            <a:avLst/>
          </a:prstGeom>
          <a:solidFill>
            <a:srgbClr val="087E8B"/>
          </a:solidFill>
          <a:ln w="12700">
            <a:solidFill>
              <a:srgbClr val="087E8B"/>
            </a:solidFill>
            <a:prstDash val="solid"/>
          </a:ln>
        </p:spPr>
      </p:sp>
      <p:sp>
        <p:nvSpPr>
          <p:cNvPr id="24" name="Shape 22"/>
          <p:cNvSpPr/>
          <p:nvPr/>
        </p:nvSpPr>
        <p:spPr>
          <a:xfrm>
            <a:off x="4224528" y="2958998"/>
            <a:ext cx="25603" cy="25603"/>
          </a:xfrm>
          <a:prstGeom prst="ellipse">
            <a:avLst/>
          </a:prstGeom>
          <a:solidFill>
            <a:srgbClr val="087E8B"/>
          </a:solidFill>
          <a:ln w="12700">
            <a:solidFill>
              <a:srgbClr val="087E8B"/>
            </a:solidFill>
            <a:prstDash val="solid"/>
          </a:ln>
        </p:spPr>
      </p:sp>
      <p:sp>
        <p:nvSpPr>
          <p:cNvPr id="25" name="Shape 23"/>
          <p:cNvSpPr/>
          <p:nvPr/>
        </p:nvSpPr>
        <p:spPr>
          <a:xfrm>
            <a:off x="4314139" y="2958998"/>
            <a:ext cx="25603" cy="25603"/>
          </a:xfrm>
          <a:prstGeom prst="ellipse">
            <a:avLst/>
          </a:prstGeom>
          <a:solidFill>
            <a:srgbClr val="087E8B"/>
          </a:solidFill>
          <a:ln w="12700">
            <a:solidFill>
              <a:srgbClr val="087E8B"/>
            </a:solidFill>
            <a:prstDash val="solid"/>
          </a:ln>
        </p:spPr>
      </p:sp>
      <p:sp>
        <p:nvSpPr>
          <p:cNvPr id="26" name="Text 24"/>
          <p:cNvSpPr txBox="1"/>
          <p:nvPr/>
        </p:nvSpPr>
        <p:spPr>
          <a:xfrm>
            <a:off x="4334256" y="2843784"/>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27" name="Shape 25"/>
          <p:cNvSpPr/>
          <p:nvPr/>
        </p:nvSpPr>
        <p:spPr>
          <a:xfrm>
            <a:off x="7723022" y="2958998"/>
            <a:ext cx="25603" cy="25603"/>
          </a:xfrm>
          <a:prstGeom prst="ellipse">
            <a:avLst/>
          </a:prstGeom>
          <a:solidFill>
            <a:srgbClr val="087E8B"/>
          </a:solidFill>
          <a:ln w="12700">
            <a:solidFill>
              <a:srgbClr val="087E8B"/>
            </a:solidFill>
            <a:prstDash val="solid"/>
          </a:ln>
        </p:spPr>
      </p:sp>
      <p:sp>
        <p:nvSpPr>
          <p:cNvPr id="28" name="Shape 26"/>
          <p:cNvSpPr/>
          <p:nvPr/>
        </p:nvSpPr>
        <p:spPr>
          <a:xfrm>
            <a:off x="7812634" y="2958998"/>
            <a:ext cx="25603" cy="25603"/>
          </a:xfrm>
          <a:prstGeom prst="ellipse">
            <a:avLst/>
          </a:prstGeom>
          <a:solidFill>
            <a:srgbClr val="087E8B"/>
          </a:solidFill>
          <a:ln w="12700">
            <a:solidFill>
              <a:srgbClr val="087E8B"/>
            </a:solidFill>
            <a:prstDash val="solid"/>
          </a:ln>
        </p:spPr>
      </p:sp>
      <p:sp>
        <p:nvSpPr>
          <p:cNvPr id="29" name="Shape 27"/>
          <p:cNvSpPr/>
          <p:nvPr/>
        </p:nvSpPr>
        <p:spPr>
          <a:xfrm>
            <a:off x="7902245" y="2958998"/>
            <a:ext cx="25603" cy="25603"/>
          </a:xfrm>
          <a:prstGeom prst="ellipse">
            <a:avLst/>
          </a:prstGeom>
          <a:solidFill>
            <a:srgbClr val="087E8B"/>
          </a:solidFill>
          <a:ln w="12700">
            <a:solidFill>
              <a:srgbClr val="087E8B"/>
            </a:solidFill>
            <a:prstDash val="solid"/>
          </a:ln>
        </p:spPr>
      </p:sp>
      <p:sp>
        <p:nvSpPr>
          <p:cNvPr id="30" name="Shape 28"/>
          <p:cNvSpPr/>
          <p:nvPr/>
        </p:nvSpPr>
        <p:spPr>
          <a:xfrm>
            <a:off x="7991856" y="2958998"/>
            <a:ext cx="25603" cy="25603"/>
          </a:xfrm>
          <a:prstGeom prst="ellipse">
            <a:avLst/>
          </a:prstGeom>
          <a:solidFill>
            <a:srgbClr val="087E8B"/>
          </a:solidFill>
          <a:ln w="12700">
            <a:solidFill>
              <a:srgbClr val="087E8B"/>
            </a:solidFill>
            <a:prstDash val="solid"/>
          </a:ln>
        </p:spPr>
      </p:sp>
      <p:sp>
        <p:nvSpPr>
          <p:cNvPr id="31" name="Shape 29"/>
          <p:cNvSpPr/>
          <p:nvPr/>
        </p:nvSpPr>
        <p:spPr>
          <a:xfrm>
            <a:off x="8081467" y="2958998"/>
            <a:ext cx="25603" cy="25603"/>
          </a:xfrm>
          <a:prstGeom prst="ellipse">
            <a:avLst/>
          </a:prstGeom>
          <a:solidFill>
            <a:srgbClr val="087E8B"/>
          </a:solidFill>
          <a:ln w="12700">
            <a:solidFill>
              <a:srgbClr val="087E8B"/>
            </a:solidFill>
            <a:prstDash val="solid"/>
          </a:ln>
        </p:spPr>
      </p:sp>
      <p:sp>
        <p:nvSpPr>
          <p:cNvPr id="32" name="Text 30"/>
          <p:cNvSpPr txBox="1"/>
          <p:nvPr/>
        </p:nvSpPr>
        <p:spPr>
          <a:xfrm>
            <a:off x="8101584" y="2843784"/>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87E8B"/>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804672" y="4892040"/>
            <a:ext cx="10607040" cy="758952"/>
          </a:xfrm>
          <a:prstGeom prst="roundRect">
            <a:avLst>
              <a:gd name="adj" fmla="val 19277"/>
            </a:avLst>
          </a:prstGeom>
          <a:solidFill>
            <a:srgbClr val="F8E9E9"/>
          </a:solidFill>
          <a:ln w="15240">
            <a:solidFill>
              <a:srgbClr val="A24040"/>
            </a:solidFill>
            <a:prstDash val="solid"/>
          </a:ln>
        </p:spPr>
      </p:sp>
      <p:sp>
        <p:nvSpPr>
          <p:cNvPr id="34" name="Text 32"/>
          <p:cNvSpPr txBox="1"/>
          <p:nvPr/>
        </p:nvSpPr>
        <p:spPr>
          <a:xfrm>
            <a:off x="1024128" y="5074920"/>
            <a:ext cx="10149840" cy="374904"/>
          </a:xfrm>
          <a:prstGeom prst="rect">
            <a:avLst/>
          </a:prstGeom>
          <a:noFill/>
          <a:ln/>
        </p:spPr>
        <p:txBody>
          <a:bodyPr wrap="square" lIns="0" tIns="0" rIns="0" bIns="0" rtlCol="0" anchor="ctr">
            <a:normAutofit/>
          </a:bodyPr>
          <a:lstStyle/>
          <a:p>
            <a:pPr indent="0" marL="0">
              <a:buNone/>
            </a:pPr>
            <a:r>
              <a:rPr lang="en-US" sz="1700" b="1" dirty="0">
                <a:solidFill>
                  <a:srgbClr val="A24040"/>
                </a:solidFill>
                <a:latin typeface="Arial" pitchFamily="34" charset="0"/>
                <a:ea typeface="Arial" pitchFamily="34" charset="-122"/>
                <a:cs typeface="Arial" pitchFamily="34" charset="-120"/>
              </a:rPr>
              <a:t>“Referred” is an internal recorded state. The app does not file an STR with FIU-IND or any regulator.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11 / NAVIGATION MAP</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What each screen is for</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12</a:t>
            </a:r>
            <a:endParaRPr lang="en-US" sz="900" dirty="0"/>
          </a:p>
        </p:txBody>
      </p:sp>
      <p:sp>
        <p:nvSpPr>
          <p:cNvPr id="6" name="Shape 4"/>
          <p:cNvSpPr/>
          <p:nvPr/>
        </p:nvSpPr>
        <p:spPr>
          <a:xfrm>
            <a:off x="640080" y="1389888"/>
            <a:ext cx="3438144" cy="1252728"/>
          </a:xfrm>
          <a:prstGeom prst="roundRect">
            <a:avLst>
              <a:gd name="adj" fmla="val 11679"/>
            </a:avLst>
          </a:prstGeom>
          <a:solidFill>
            <a:srgbClr val="FFFFFF"/>
          </a:solidFill>
          <a:ln w="15240">
            <a:solidFill>
              <a:srgbClr val="C8D6E8"/>
            </a:solidFill>
            <a:prstDash val="solid"/>
          </a:ln>
        </p:spPr>
      </p:sp>
      <p:sp>
        <p:nvSpPr>
          <p:cNvPr id="7" name="Shape 5"/>
          <p:cNvSpPr/>
          <p:nvPr/>
        </p:nvSpPr>
        <p:spPr>
          <a:xfrm>
            <a:off x="804672" y="1572768"/>
            <a:ext cx="420624" cy="420624"/>
          </a:xfrm>
          <a:prstGeom prst="ellipse">
            <a:avLst/>
          </a:prstGeom>
          <a:solidFill>
            <a:srgbClr val="087E8B"/>
          </a:solidFill>
          <a:ln w="12700">
            <a:solidFill>
              <a:srgbClr val="087E8B"/>
            </a:solidFill>
            <a:prstDash val="solid"/>
          </a:ln>
        </p:spPr>
      </p:sp>
      <p:sp>
        <p:nvSpPr>
          <p:cNvPr id="8" name="Text 6"/>
          <p:cNvSpPr txBox="1"/>
          <p:nvPr/>
        </p:nvSpPr>
        <p:spPr>
          <a:xfrm>
            <a:off x="804672" y="15727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344168" y="1545336"/>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Home</a:t>
            </a:r>
            <a:endParaRPr lang="en-US" sz="1700" dirty="0"/>
          </a:p>
        </p:txBody>
      </p:sp>
      <p:sp>
        <p:nvSpPr>
          <p:cNvPr id="10" name="Text 8"/>
          <p:cNvSpPr txBox="1"/>
          <p:nvPr/>
        </p:nvSpPr>
        <p:spPr>
          <a:xfrm>
            <a:off x="822960" y="2112264"/>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Purpose, walkthrough, entry</a:t>
            </a:r>
            <a:endParaRPr lang="en-US" sz="1200" dirty="0"/>
          </a:p>
        </p:txBody>
      </p:sp>
      <p:sp>
        <p:nvSpPr>
          <p:cNvPr id="11" name="Shape 9"/>
          <p:cNvSpPr/>
          <p:nvPr/>
        </p:nvSpPr>
        <p:spPr>
          <a:xfrm>
            <a:off x="4498848" y="1389888"/>
            <a:ext cx="3438144" cy="1252728"/>
          </a:xfrm>
          <a:prstGeom prst="roundRect">
            <a:avLst>
              <a:gd name="adj" fmla="val 11679"/>
            </a:avLst>
          </a:prstGeom>
          <a:solidFill>
            <a:srgbClr val="FFFFFF"/>
          </a:solidFill>
          <a:ln w="15240">
            <a:solidFill>
              <a:srgbClr val="C8D6E8"/>
            </a:solidFill>
            <a:prstDash val="solid"/>
          </a:ln>
        </p:spPr>
      </p:sp>
      <p:sp>
        <p:nvSpPr>
          <p:cNvPr id="12" name="Shape 10"/>
          <p:cNvSpPr/>
          <p:nvPr/>
        </p:nvSpPr>
        <p:spPr>
          <a:xfrm>
            <a:off x="4663440" y="1572768"/>
            <a:ext cx="420624" cy="420624"/>
          </a:xfrm>
          <a:prstGeom prst="ellipse">
            <a:avLst/>
          </a:prstGeom>
          <a:solidFill>
            <a:srgbClr val="087E8B"/>
          </a:solidFill>
          <a:ln w="12700">
            <a:solidFill>
              <a:srgbClr val="087E8B"/>
            </a:solidFill>
            <a:prstDash val="solid"/>
          </a:ln>
        </p:spPr>
      </p:sp>
      <p:sp>
        <p:nvSpPr>
          <p:cNvPr id="13" name="Text 11"/>
          <p:cNvSpPr txBox="1"/>
          <p:nvPr/>
        </p:nvSpPr>
        <p:spPr>
          <a:xfrm>
            <a:off x="4663440" y="15727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txBox="1"/>
          <p:nvPr/>
        </p:nvSpPr>
        <p:spPr>
          <a:xfrm>
            <a:off x="5202936" y="1545336"/>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Case Queue</a:t>
            </a:r>
            <a:endParaRPr lang="en-US" sz="1700" dirty="0"/>
          </a:p>
        </p:txBody>
      </p:sp>
      <p:sp>
        <p:nvSpPr>
          <p:cNvPr id="15" name="Text 13"/>
          <p:cNvSpPr txBox="1"/>
          <p:nvPr/>
        </p:nvSpPr>
        <p:spPr>
          <a:xfrm>
            <a:off x="4681728" y="2112264"/>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Filter and open alerts</a:t>
            </a:r>
            <a:endParaRPr lang="en-US" sz="1200" dirty="0"/>
          </a:p>
        </p:txBody>
      </p:sp>
      <p:sp>
        <p:nvSpPr>
          <p:cNvPr id="16" name="Shape 14"/>
          <p:cNvSpPr/>
          <p:nvPr/>
        </p:nvSpPr>
        <p:spPr>
          <a:xfrm>
            <a:off x="8357616" y="1389888"/>
            <a:ext cx="3438144" cy="1252728"/>
          </a:xfrm>
          <a:prstGeom prst="roundRect">
            <a:avLst>
              <a:gd name="adj" fmla="val 11679"/>
            </a:avLst>
          </a:prstGeom>
          <a:solidFill>
            <a:srgbClr val="FFFFFF"/>
          </a:solidFill>
          <a:ln w="15240">
            <a:solidFill>
              <a:srgbClr val="C8D6E8"/>
            </a:solidFill>
            <a:prstDash val="solid"/>
          </a:ln>
        </p:spPr>
      </p:sp>
      <p:sp>
        <p:nvSpPr>
          <p:cNvPr id="17" name="Shape 15"/>
          <p:cNvSpPr/>
          <p:nvPr/>
        </p:nvSpPr>
        <p:spPr>
          <a:xfrm>
            <a:off x="8522208" y="1572768"/>
            <a:ext cx="420624" cy="420624"/>
          </a:xfrm>
          <a:prstGeom prst="ellipse">
            <a:avLst/>
          </a:prstGeom>
          <a:solidFill>
            <a:srgbClr val="087E8B"/>
          </a:solidFill>
          <a:ln w="12700">
            <a:solidFill>
              <a:srgbClr val="087E8B"/>
            </a:solidFill>
            <a:prstDash val="solid"/>
          </a:ln>
        </p:spPr>
      </p:sp>
      <p:sp>
        <p:nvSpPr>
          <p:cNvPr id="18" name="Text 16"/>
          <p:cNvSpPr txBox="1"/>
          <p:nvPr/>
        </p:nvSpPr>
        <p:spPr>
          <a:xfrm>
            <a:off x="8522208" y="157276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txBox="1"/>
          <p:nvPr/>
        </p:nvSpPr>
        <p:spPr>
          <a:xfrm>
            <a:off x="9061704" y="1545336"/>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Investigation</a:t>
            </a:r>
            <a:endParaRPr lang="en-US" sz="1700" dirty="0"/>
          </a:p>
        </p:txBody>
      </p:sp>
      <p:sp>
        <p:nvSpPr>
          <p:cNvPr id="20" name="Text 18"/>
          <p:cNvSpPr txBox="1"/>
          <p:nvPr/>
        </p:nvSpPr>
        <p:spPr>
          <a:xfrm>
            <a:off x="8540496" y="2112264"/>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Evidence, chat, decision</a:t>
            </a:r>
            <a:endParaRPr lang="en-US" sz="1200" dirty="0"/>
          </a:p>
        </p:txBody>
      </p:sp>
      <p:sp>
        <p:nvSpPr>
          <p:cNvPr id="21" name="Shape 19"/>
          <p:cNvSpPr/>
          <p:nvPr/>
        </p:nvSpPr>
        <p:spPr>
          <a:xfrm>
            <a:off x="640080" y="2862072"/>
            <a:ext cx="3438144" cy="1252728"/>
          </a:xfrm>
          <a:prstGeom prst="roundRect">
            <a:avLst>
              <a:gd name="adj" fmla="val 11679"/>
            </a:avLst>
          </a:prstGeom>
          <a:solidFill>
            <a:srgbClr val="FFFFFF"/>
          </a:solidFill>
          <a:ln w="15240">
            <a:solidFill>
              <a:srgbClr val="C8D6E8"/>
            </a:solidFill>
            <a:prstDash val="solid"/>
          </a:ln>
        </p:spPr>
      </p:sp>
      <p:sp>
        <p:nvSpPr>
          <p:cNvPr id="22" name="Shape 20"/>
          <p:cNvSpPr/>
          <p:nvPr/>
        </p:nvSpPr>
        <p:spPr>
          <a:xfrm>
            <a:off x="804672" y="3044952"/>
            <a:ext cx="420624" cy="420624"/>
          </a:xfrm>
          <a:prstGeom prst="ellipse">
            <a:avLst/>
          </a:prstGeom>
          <a:solidFill>
            <a:srgbClr val="2E67B7"/>
          </a:solidFill>
          <a:ln w="12700">
            <a:solidFill>
              <a:srgbClr val="2E67B7"/>
            </a:solidFill>
            <a:prstDash val="solid"/>
          </a:ln>
        </p:spPr>
      </p:sp>
      <p:sp>
        <p:nvSpPr>
          <p:cNvPr id="23" name="Text 21"/>
          <p:cNvSpPr txBox="1"/>
          <p:nvPr/>
        </p:nvSpPr>
        <p:spPr>
          <a:xfrm>
            <a:off x="804672" y="304495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txBox="1"/>
          <p:nvPr/>
        </p:nvSpPr>
        <p:spPr>
          <a:xfrm>
            <a:off x="1344168" y="3017520"/>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Compliance</a:t>
            </a:r>
            <a:endParaRPr lang="en-US" sz="1700" dirty="0"/>
          </a:p>
        </p:txBody>
      </p:sp>
      <p:sp>
        <p:nvSpPr>
          <p:cNvPr id="25" name="Text 23"/>
          <p:cNvSpPr txBox="1"/>
          <p:nvPr/>
        </p:nvSpPr>
        <p:spPr>
          <a:xfrm>
            <a:off x="822960" y="3584448"/>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Review escalations</a:t>
            </a:r>
            <a:endParaRPr lang="en-US" sz="1200" dirty="0"/>
          </a:p>
        </p:txBody>
      </p:sp>
      <p:sp>
        <p:nvSpPr>
          <p:cNvPr id="26" name="Shape 24"/>
          <p:cNvSpPr/>
          <p:nvPr/>
        </p:nvSpPr>
        <p:spPr>
          <a:xfrm>
            <a:off x="4498848" y="2862072"/>
            <a:ext cx="3438144" cy="1252728"/>
          </a:xfrm>
          <a:prstGeom prst="roundRect">
            <a:avLst>
              <a:gd name="adj" fmla="val 11679"/>
            </a:avLst>
          </a:prstGeom>
          <a:solidFill>
            <a:srgbClr val="FFFFFF"/>
          </a:solidFill>
          <a:ln w="15240">
            <a:solidFill>
              <a:srgbClr val="C8D6E8"/>
            </a:solidFill>
            <a:prstDash val="solid"/>
          </a:ln>
        </p:spPr>
      </p:sp>
      <p:sp>
        <p:nvSpPr>
          <p:cNvPr id="27" name="Shape 25"/>
          <p:cNvSpPr/>
          <p:nvPr/>
        </p:nvSpPr>
        <p:spPr>
          <a:xfrm>
            <a:off x="4663440" y="3044952"/>
            <a:ext cx="420624" cy="420624"/>
          </a:xfrm>
          <a:prstGeom prst="ellipse">
            <a:avLst/>
          </a:prstGeom>
          <a:solidFill>
            <a:srgbClr val="2E67B7"/>
          </a:solidFill>
          <a:ln w="12700">
            <a:solidFill>
              <a:srgbClr val="2E67B7"/>
            </a:solidFill>
            <a:prstDash val="solid"/>
          </a:ln>
        </p:spPr>
      </p:sp>
      <p:sp>
        <p:nvSpPr>
          <p:cNvPr id="28" name="Text 26"/>
          <p:cNvSpPr txBox="1"/>
          <p:nvPr/>
        </p:nvSpPr>
        <p:spPr>
          <a:xfrm>
            <a:off x="4663440" y="304495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9" name="Text 27"/>
          <p:cNvSpPr txBox="1"/>
          <p:nvPr/>
        </p:nvSpPr>
        <p:spPr>
          <a:xfrm>
            <a:off x="5202936" y="3017520"/>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Analytics</a:t>
            </a:r>
            <a:endParaRPr lang="en-US" sz="1700" dirty="0"/>
          </a:p>
        </p:txBody>
      </p:sp>
      <p:sp>
        <p:nvSpPr>
          <p:cNvPr id="30" name="Text 28"/>
          <p:cNvSpPr txBox="1"/>
          <p:nvPr/>
        </p:nvSpPr>
        <p:spPr>
          <a:xfrm>
            <a:off x="4681728" y="3584448"/>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Population trends</a:t>
            </a:r>
            <a:endParaRPr lang="en-US" sz="1200" dirty="0"/>
          </a:p>
        </p:txBody>
      </p:sp>
      <p:sp>
        <p:nvSpPr>
          <p:cNvPr id="31" name="Shape 29"/>
          <p:cNvSpPr/>
          <p:nvPr/>
        </p:nvSpPr>
        <p:spPr>
          <a:xfrm>
            <a:off x="8357616" y="2862072"/>
            <a:ext cx="3438144" cy="1252728"/>
          </a:xfrm>
          <a:prstGeom prst="roundRect">
            <a:avLst>
              <a:gd name="adj" fmla="val 11679"/>
            </a:avLst>
          </a:prstGeom>
          <a:solidFill>
            <a:srgbClr val="FFFFFF"/>
          </a:solidFill>
          <a:ln w="15240">
            <a:solidFill>
              <a:srgbClr val="C8D6E8"/>
            </a:solidFill>
            <a:prstDash val="solid"/>
          </a:ln>
        </p:spPr>
      </p:sp>
      <p:sp>
        <p:nvSpPr>
          <p:cNvPr id="32" name="Shape 30"/>
          <p:cNvSpPr/>
          <p:nvPr/>
        </p:nvSpPr>
        <p:spPr>
          <a:xfrm>
            <a:off x="8522208" y="3044952"/>
            <a:ext cx="420624" cy="420624"/>
          </a:xfrm>
          <a:prstGeom prst="ellipse">
            <a:avLst/>
          </a:prstGeom>
          <a:solidFill>
            <a:srgbClr val="2E67B7"/>
          </a:solidFill>
          <a:ln w="12700">
            <a:solidFill>
              <a:srgbClr val="2E67B7"/>
            </a:solidFill>
            <a:prstDash val="solid"/>
          </a:ln>
        </p:spPr>
      </p:sp>
      <p:sp>
        <p:nvSpPr>
          <p:cNvPr id="33" name="Text 31"/>
          <p:cNvSpPr txBox="1"/>
          <p:nvPr/>
        </p:nvSpPr>
        <p:spPr>
          <a:xfrm>
            <a:off x="8522208" y="3044952"/>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34" name="Text 32"/>
          <p:cNvSpPr txBox="1"/>
          <p:nvPr/>
        </p:nvSpPr>
        <p:spPr>
          <a:xfrm>
            <a:off x="9061704" y="3017520"/>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Global Search</a:t>
            </a:r>
            <a:endParaRPr lang="en-US" sz="1700" dirty="0"/>
          </a:p>
        </p:txBody>
      </p:sp>
      <p:sp>
        <p:nvSpPr>
          <p:cNvPr id="35" name="Text 33"/>
          <p:cNvSpPr txBox="1"/>
          <p:nvPr/>
        </p:nvSpPr>
        <p:spPr>
          <a:xfrm>
            <a:off x="8540496" y="3584448"/>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Find records by ID/name</a:t>
            </a:r>
            <a:endParaRPr lang="en-US" sz="1200" dirty="0"/>
          </a:p>
        </p:txBody>
      </p:sp>
      <p:sp>
        <p:nvSpPr>
          <p:cNvPr id="36" name="Shape 34"/>
          <p:cNvSpPr/>
          <p:nvPr/>
        </p:nvSpPr>
        <p:spPr>
          <a:xfrm>
            <a:off x="640080" y="4334256"/>
            <a:ext cx="3438144" cy="1252728"/>
          </a:xfrm>
          <a:prstGeom prst="roundRect">
            <a:avLst>
              <a:gd name="adj" fmla="val 11679"/>
            </a:avLst>
          </a:prstGeom>
          <a:solidFill>
            <a:srgbClr val="FFFFFF"/>
          </a:solidFill>
          <a:ln w="15240">
            <a:solidFill>
              <a:srgbClr val="C8D6E8"/>
            </a:solidFill>
            <a:prstDash val="solid"/>
          </a:ln>
        </p:spPr>
      </p:sp>
      <p:sp>
        <p:nvSpPr>
          <p:cNvPr id="37" name="Shape 35"/>
          <p:cNvSpPr/>
          <p:nvPr/>
        </p:nvSpPr>
        <p:spPr>
          <a:xfrm>
            <a:off x="804672" y="4517136"/>
            <a:ext cx="420624" cy="420624"/>
          </a:xfrm>
          <a:prstGeom prst="ellipse">
            <a:avLst/>
          </a:prstGeom>
          <a:solidFill>
            <a:srgbClr val="7657A6"/>
          </a:solidFill>
          <a:ln w="12700">
            <a:solidFill>
              <a:srgbClr val="7657A6"/>
            </a:solidFill>
            <a:prstDash val="solid"/>
          </a:ln>
        </p:spPr>
      </p:sp>
      <p:sp>
        <p:nvSpPr>
          <p:cNvPr id="38" name="Text 36"/>
          <p:cNvSpPr txBox="1"/>
          <p:nvPr/>
        </p:nvSpPr>
        <p:spPr>
          <a:xfrm>
            <a:off x="804672" y="4517136"/>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39" name="Text 37"/>
          <p:cNvSpPr txBox="1"/>
          <p:nvPr/>
        </p:nvSpPr>
        <p:spPr>
          <a:xfrm>
            <a:off x="1344168" y="4489704"/>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Evidence &amp; RAG</a:t>
            </a:r>
            <a:endParaRPr lang="en-US" sz="1700" dirty="0"/>
          </a:p>
        </p:txBody>
      </p:sp>
      <p:sp>
        <p:nvSpPr>
          <p:cNvPr id="40" name="Text 38"/>
          <p:cNvSpPr txBox="1"/>
          <p:nvPr/>
        </p:nvSpPr>
        <p:spPr>
          <a:xfrm>
            <a:off x="822960" y="5056632"/>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Source/chunk inspection</a:t>
            </a:r>
            <a:endParaRPr lang="en-US" sz="1200" dirty="0"/>
          </a:p>
        </p:txBody>
      </p:sp>
      <p:sp>
        <p:nvSpPr>
          <p:cNvPr id="41" name="Shape 39"/>
          <p:cNvSpPr/>
          <p:nvPr/>
        </p:nvSpPr>
        <p:spPr>
          <a:xfrm>
            <a:off x="4498848" y="4334256"/>
            <a:ext cx="3438144" cy="1252728"/>
          </a:xfrm>
          <a:prstGeom prst="roundRect">
            <a:avLst>
              <a:gd name="adj" fmla="val 11679"/>
            </a:avLst>
          </a:prstGeom>
          <a:solidFill>
            <a:srgbClr val="FFFFFF"/>
          </a:solidFill>
          <a:ln w="15240">
            <a:solidFill>
              <a:srgbClr val="C8D6E8"/>
            </a:solidFill>
            <a:prstDash val="solid"/>
          </a:ln>
        </p:spPr>
      </p:sp>
      <p:sp>
        <p:nvSpPr>
          <p:cNvPr id="42" name="Shape 40"/>
          <p:cNvSpPr/>
          <p:nvPr/>
        </p:nvSpPr>
        <p:spPr>
          <a:xfrm>
            <a:off x="4663440" y="4517136"/>
            <a:ext cx="420624" cy="420624"/>
          </a:xfrm>
          <a:prstGeom prst="ellipse">
            <a:avLst/>
          </a:prstGeom>
          <a:solidFill>
            <a:srgbClr val="7657A6"/>
          </a:solidFill>
          <a:ln w="12700">
            <a:solidFill>
              <a:srgbClr val="7657A6"/>
            </a:solidFill>
            <a:prstDash val="solid"/>
          </a:ln>
        </p:spPr>
      </p:sp>
      <p:sp>
        <p:nvSpPr>
          <p:cNvPr id="43" name="Text 41"/>
          <p:cNvSpPr txBox="1"/>
          <p:nvPr/>
        </p:nvSpPr>
        <p:spPr>
          <a:xfrm>
            <a:off x="4663440" y="4517136"/>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44" name="Text 42"/>
          <p:cNvSpPr txBox="1"/>
          <p:nvPr/>
        </p:nvSpPr>
        <p:spPr>
          <a:xfrm>
            <a:off x="5202936" y="4489704"/>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Admin: KB</a:t>
            </a:r>
            <a:endParaRPr lang="en-US" sz="1700" dirty="0"/>
          </a:p>
        </p:txBody>
      </p:sp>
      <p:sp>
        <p:nvSpPr>
          <p:cNvPr id="45" name="Text 43"/>
          <p:cNvSpPr txBox="1"/>
          <p:nvPr/>
        </p:nvSpPr>
        <p:spPr>
          <a:xfrm>
            <a:off x="4681728" y="5056632"/>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Inspect indexed guidance</a:t>
            </a:r>
            <a:endParaRPr lang="en-US" sz="1200" dirty="0"/>
          </a:p>
        </p:txBody>
      </p:sp>
      <p:sp>
        <p:nvSpPr>
          <p:cNvPr id="46" name="Shape 44"/>
          <p:cNvSpPr/>
          <p:nvPr/>
        </p:nvSpPr>
        <p:spPr>
          <a:xfrm>
            <a:off x="8357616" y="4334256"/>
            <a:ext cx="3438144" cy="1252728"/>
          </a:xfrm>
          <a:prstGeom prst="roundRect">
            <a:avLst>
              <a:gd name="adj" fmla="val 11679"/>
            </a:avLst>
          </a:prstGeom>
          <a:solidFill>
            <a:srgbClr val="FFFFFF"/>
          </a:solidFill>
          <a:ln w="15240">
            <a:solidFill>
              <a:srgbClr val="C8D6E8"/>
            </a:solidFill>
            <a:prstDash val="solid"/>
          </a:ln>
        </p:spPr>
      </p:sp>
      <p:sp>
        <p:nvSpPr>
          <p:cNvPr id="47" name="Shape 45"/>
          <p:cNvSpPr/>
          <p:nvPr/>
        </p:nvSpPr>
        <p:spPr>
          <a:xfrm>
            <a:off x="8522208" y="4517136"/>
            <a:ext cx="420624" cy="420624"/>
          </a:xfrm>
          <a:prstGeom prst="ellipse">
            <a:avLst/>
          </a:prstGeom>
          <a:solidFill>
            <a:srgbClr val="7657A6"/>
          </a:solidFill>
          <a:ln w="12700">
            <a:solidFill>
              <a:srgbClr val="7657A6"/>
            </a:solidFill>
            <a:prstDash val="solid"/>
          </a:ln>
        </p:spPr>
      </p:sp>
      <p:sp>
        <p:nvSpPr>
          <p:cNvPr id="48" name="Text 46"/>
          <p:cNvSpPr txBox="1"/>
          <p:nvPr/>
        </p:nvSpPr>
        <p:spPr>
          <a:xfrm>
            <a:off x="8522208" y="4517136"/>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49" name="Text 47"/>
          <p:cNvSpPr txBox="1"/>
          <p:nvPr/>
        </p:nvSpPr>
        <p:spPr>
          <a:xfrm>
            <a:off x="9061704" y="4489704"/>
            <a:ext cx="2560320"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Admin: Rules</a:t>
            </a:r>
            <a:endParaRPr lang="en-US" sz="1700" dirty="0"/>
          </a:p>
        </p:txBody>
      </p:sp>
      <p:sp>
        <p:nvSpPr>
          <p:cNvPr id="50" name="Text 48"/>
          <p:cNvSpPr txBox="1"/>
          <p:nvPr/>
        </p:nvSpPr>
        <p:spPr>
          <a:xfrm>
            <a:off x="8540496" y="5056632"/>
            <a:ext cx="3072384" cy="393192"/>
          </a:xfrm>
          <a:prstGeom prst="rect">
            <a:avLst/>
          </a:prstGeom>
          <a:noFill/>
          <a:ln/>
        </p:spPr>
        <p:txBody>
          <a:bodyPr wrap="square" lIns="0" tIns="0" rIns="0" bIns="0" rtlCol="0" anchor="t">
            <a:normAutofit/>
          </a:bodyPr>
          <a:lstStyle/>
          <a:p>
            <a:pPr indent="0" marL="0">
              <a:buNone/>
            </a:pPr>
            <a:r>
              <a:rPr lang="en-US" sz="1200" dirty="0">
                <a:solidFill>
                  <a:srgbClr val="5B6C81"/>
                </a:solidFill>
                <a:latin typeface="Arial" pitchFamily="34" charset="0"/>
                <a:ea typeface="Arial" pitchFamily="34" charset="-122"/>
                <a:cs typeface="Arial" pitchFamily="34" charset="-120"/>
              </a:rPr>
              <a:t>Preview/save thresholds</a:t>
            </a:r>
            <a:endParaRPr lang="en-US" sz="1200" dirty="0"/>
          </a:p>
        </p:txBody>
      </p:sp>
      <p:sp>
        <p:nvSpPr>
          <p:cNvPr id="51" name="Text 49"/>
          <p:cNvSpPr txBox="1"/>
          <p:nvPr/>
        </p:nvSpPr>
        <p:spPr>
          <a:xfrm>
            <a:off x="694944" y="6035040"/>
            <a:ext cx="10789920" cy="274320"/>
          </a:xfrm>
          <a:prstGeom prst="rect">
            <a:avLst/>
          </a:prstGeom>
          <a:noFill/>
          <a:ln/>
        </p:spPr>
        <p:txBody>
          <a:bodyPr wrap="square" lIns="0" tIns="0" rIns="0" bIns="0" rtlCol="0" anchor="ctr">
            <a:normAutofit/>
          </a:bodyPr>
          <a:lstStyle/>
          <a:p>
            <a:pPr indent="0" marL="0">
              <a:buNone/>
            </a:pPr>
            <a:r>
              <a:rPr lang="en-US" sz="1300" dirty="0">
                <a:solidFill>
                  <a:srgbClr val="5B6C81"/>
                </a:solidFill>
                <a:latin typeface="Arial" pitchFamily="34" charset="0"/>
                <a:ea typeface="Arial" pitchFamily="34" charset="-122"/>
                <a:cs typeface="Arial" pitchFamily="34" charset="-120"/>
              </a:rPr>
              <a:t>Project &amp; Team is a separate identity/roster page. Roles listed there are proposals pending team confirmation.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12 / COURSE CONCEPT → CODE</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Why this mix of technologies?</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13</a:t>
            </a:r>
            <a:endParaRPr lang="en-US" sz="900" dirty="0"/>
          </a:p>
        </p:txBody>
      </p:sp>
      <p:sp>
        <p:nvSpPr>
          <p:cNvPr id="6" name="Shape 4"/>
          <p:cNvSpPr/>
          <p:nvPr/>
        </p:nvSpPr>
        <p:spPr>
          <a:xfrm>
            <a:off x="630936" y="1481328"/>
            <a:ext cx="10908792" cy="667512"/>
          </a:xfrm>
          <a:prstGeom prst="roundRect">
            <a:avLst>
              <a:gd name="adj" fmla="val 21918"/>
            </a:avLst>
          </a:prstGeom>
          <a:solidFill>
            <a:srgbClr val="E8F0FA"/>
          </a:solidFill>
          <a:ln w="15240">
            <a:solidFill>
              <a:srgbClr val="C8D6E8"/>
            </a:solidFill>
            <a:prstDash val="solid"/>
          </a:ln>
        </p:spPr>
      </p:sp>
      <p:sp>
        <p:nvSpPr>
          <p:cNvPr id="7" name="Shape 5"/>
          <p:cNvSpPr/>
          <p:nvPr/>
        </p:nvSpPr>
        <p:spPr>
          <a:xfrm>
            <a:off x="804672" y="1618488"/>
            <a:ext cx="356616" cy="356616"/>
          </a:xfrm>
          <a:prstGeom prst="ellipse">
            <a:avLst/>
          </a:prstGeom>
          <a:solidFill>
            <a:srgbClr val="087E8B"/>
          </a:solidFill>
          <a:ln w="12700">
            <a:solidFill>
              <a:srgbClr val="087E8B"/>
            </a:solidFill>
            <a:prstDash val="solid"/>
          </a:ln>
        </p:spPr>
      </p:sp>
      <p:sp>
        <p:nvSpPr>
          <p:cNvPr id="8" name="Text 6"/>
          <p:cNvSpPr txBox="1"/>
          <p:nvPr/>
        </p:nvSpPr>
        <p:spPr>
          <a:xfrm>
            <a:off x="804672" y="1618488"/>
            <a:ext cx="356616" cy="35661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txBox="1"/>
          <p:nvPr/>
        </p:nvSpPr>
        <p:spPr>
          <a:xfrm>
            <a:off x="1344168" y="1591056"/>
            <a:ext cx="2039112" cy="429768"/>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Data foundation</a:t>
            </a:r>
            <a:endParaRPr lang="en-US" sz="1500" dirty="0"/>
          </a:p>
        </p:txBody>
      </p:sp>
      <p:sp>
        <p:nvSpPr>
          <p:cNvPr id="10" name="Text 8"/>
          <p:cNvSpPr txBox="1"/>
          <p:nvPr/>
        </p:nvSpPr>
        <p:spPr>
          <a:xfrm>
            <a:off x="3364992" y="1591056"/>
            <a:ext cx="2203704" cy="429768"/>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Workbook → SQLite</a:t>
            </a:r>
            <a:endParaRPr lang="en-US" sz="1400" dirty="0"/>
          </a:p>
        </p:txBody>
      </p:sp>
      <p:sp>
        <p:nvSpPr>
          <p:cNvPr id="11" name="Text 9"/>
          <p:cNvSpPr txBox="1"/>
          <p:nvPr/>
        </p:nvSpPr>
        <p:spPr>
          <a:xfrm>
            <a:off x="5522976" y="1572768"/>
            <a:ext cx="3493008" cy="457200"/>
          </a:xfrm>
          <a:prstGeom prst="rect">
            <a:avLst/>
          </a:prstGeom>
          <a:noFill/>
          <a:ln/>
        </p:spPr>
        <p:txBody>
          <a:bodyPr wrap="square" lIns="0" tIns="0" rIns="0" bIns="0" rtlCol="0" anchor="ctr">
            <a:normAutofit/>
          </a:bodyPr>
          <a:lstStyle/>
          <a:p>
            <a:pPr indent="0" marL="0">
              <a:buNone/>
            </a:pPr>
            <a:r>
              <a:rPr lang="en-US" sz="1300" dirty="0">
                <a:solidFill>
                  <a:srgbClr val="172840"/>
                </a:solidFill>
                <a:latin typeface="Arial" pitchFamily="34" charset="0"/>
                <a:ea typeface="Arial" pitchFamily="34" charset="-122"/>
                <a:cs typeface="Arial" pitchFamily="34" charset="-120"/>
              </a:rPr>
              <a:t>Repeatable rows, IDs and calculated test alerts</a:t>
            </a:r>
            <a:endParaRPr lang="en-US" sz="1300" dirty="0"/>
          </a:p>
        </p:txBody>
      </p:sp>
      <p:sp>
        <p:nvSpPr>
          <p:cNvPr id="12" name="Text 10"/>
          <p:cNvSpPr txBox="1"/>
          <p:nvPr/>
        </p:nvSpPr>
        <p:spPr>
          <a:xfrm>
            <a:off x="9162288" y="1600200"/>
            <a:ext cx="2139696" cy="393192"/>
          </a:xfrm>
          <a:prstGeom prst="rect">
            <a:avLst/>
          </a:prstGeom>
          <a:noFill/>
          <a:ln/>
        </p:spPr>
        <p:txBody>
          <a:bodyPr wrap="square" lIns="0" tIns="0" rIns="0" bIns="0" rtlCol="0" anchor="ctr">
            <a:normAutofit/>
          </a:bodyPr>
          <a:lstStyle/>
          <a:p>
            <a:pPr indent="0" marL="0">
              <a:buNone/>
            </a:pPr>
            <a:r>
              <a:rPr lang="en-US" sz="1000" dirty="0">
                <a:solidFill>
                  <a:srgbClr val="5B6C81"/>
                </a:solidFill>
                <a:latin typeface="Arial" pitchFamily="34" charset="0"/>
                <a:ea typeface="Arial" pitchFamily="34" charset="-122"/>
                <a:cs typeface="Arial" pitchFamily="34" charset="-120"/>
              </a:rPr>
              <a:t>data/build_database.py</a:t>
            </a:r>
            <a:endParaRPr lang="en-US" sz="1000" dirty="0"/>
          </a:p>
        </p:txBody>
      </p:sp>
      <p:sp>
        <p:nvSpPr>
          <p:cNvPr id="13" name="Shape 11"/>
          <p:cNvSpPr/>
          <p:nvPr/>
        </p:nvSpPr>
        <p:spPr>
          <a:xfrm>
            <a:off x="630936" y="2340864"/>
            <a:ext cx="10908792" cy="667512"/>
          </a:xfrm>
          <a:prstGeom prst="roundRect">
            <a:avLst>
              <a:gd name="adj" fmla="val 21918"/>
            </a:avLst>
          </a:prstGeom>
          <a:solidFill>
            <a:srgbClr val="FFFFFF"/>
          </a:solidFill>
          <a:ln w="15240">
            <a:solidFill>
              <a:srgbClr val="C8D6E8"/>
            </a:solidFill>
            <a:prstDash val="solid"/>
          </a:ln>
        </p:spPr>
      </p:sp>
      <p:sp>
        <p:nvSpPr>
          <p:cNvPr id="14" name="Shape 12"/>
          <p:cNvSpPr/>
          <p:nvPr/>
        </p:nvSpPr>
        <p:spPr>
          <a:xfrm>
            <a:off x="804672" y="2478024"/>
            <a:ext cx="356616" cy="356616"/>
          </a:xfrm>
          <a:prstGeom prst="ellipse">
            <a:avLst/>
          </a:prstGeom>
          <a:solidFill>
            <a:srgbClr val="2E67B7"/>
          </a:solidFill>
          <a:ln w="12700">
            <a:solidFill>
              <a:srgbClr val="2E67B7"/>
            </a:solidFill>
            <a:prstDash val="solid"/>
          </a:ln>
        </p:spPr>
      </p:sp>
      <p:sp>
        <p:nvSpPr>
          <p:cNvPr id="15" name="Text 13"/>
          <p:cNvSpPr txBox="1"/>
          <p:nvPr/>
        </p:nvSpPr>
        <p:spPr>
          <a:xfrm>
            <a:off x="804672" y="2478024"/>
            <a:ext cx="356616" cy="35661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6" name="Text 14"/>
          <p:cNvSpPr txBox="1"/>
          <p:nvPr/>
        </p:nvSpPr>
        <p:spPr>
          <a:xfrm>
            <a:off x="1344168" y="2450592"/>
            <a:ext cx="2039112" cy="429768"/>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Hybrid AI</a:t>
            </a:r>
            <a:endParaRPr lang="en-US" sz="1500" dirty="0"/>
          </a:p>
        </p:txBody>
      </p:sp>
      <p:sp>
        <p:nvSpPr>
          <p:cNvPr id="17" name="Text 15"/>
          <p:cNvSpPr txBox="1"/>
          <p:nvPr/>
        </p:nvSpPr>
        <p:spPr>
          <a:xfrm>
            <a:off x="3364992" y="2450592"/>
            <a:ext cx="2203704" cy="429768"/>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Rules + search + Gemini</a:t>
            </a:r>
            <a:endParaRPr lang="en-US" sz="1400" dirty="0"/>
          </a:p>
        </p:txBody>
      </p:sp>
      <p:sp>
        <p:nvSpPr>
          <p:cNvPr id="18" name="Text 16"/>
          <p:cNvSpPr txBox="1"/>
          <p:nvPr/>
        </p:nvSpPr>
        <p:spPr>
          <a:xfrm>
            <a:off x="5522976" y="2432304"/>
            <a:ext cx="3493008" cy="457200"/>
          </a:xfrm>
          <a:prstGeom prst="rect">
            <a:avLst/>
          </a:prstGeom>
          <a:noFill/>
          <a:ln/>
        </p:spPr>
        <p:txBody>
          <a:bodyPr wrap="square" lIns="0" tIns="0" rIns="0" bIns="0" rtlCol="0" anchor="ctr">
            <a:normAutofit/>
          </a:bodyPr>
          <a:lstStyle/>
          <a:p>
            <a:pPr indent="0" marL="0">
              <a:buNone/>
            </a:pPr>
            <a:r>
              <a:rPr lang="en-US" sz="1300" dirty="0">
                <a:solidFill>
                  <a:srgbClr val="172840"/>
                </a:solidFill>
                <a:latin typeface="Arial" pitchFamily="34" charset="0"/>
                <a:ea typeface="Arial" pitchFamily="34" charset="-122"/>
                <a:cs typeface="Arial" pitchFamily="34" charset="-120"/>
              </a:rPr>
              <a:t>Deterministic facts before optional drafting</a:t>
            </a:r>
            <a:endParaRPr lang="en-US" sz="1300" dirty="0"/>
          </a:p>
        </p:txBody>
      </p:sp>
      <p:sp>
        <p:nvSpPr>
          <p:cNvPr id="19" name="Text 17"/>
          <p:cNvSpPr txBox="1"/>
          <p:nvPr/>
        </p:nvSpPr>
        <p:spPr>
          <a:xfrm>
            <a:off x="9162288" y="2459736"/>
            <a:ext cx="2139696" cy="393192"/>
          </a:xfrm>
          <a:prstGeom prst="rect">
            <a:avLst/>
          </a:prstGeom>
          <a:noFill/>
          <a:ln/>
        </p:spPr>
        <p:txBody>
          <a:bodyPr wrap="square" lIns="0" tIns="0" rIns="0" bIns="0" rtlCol="0" anchor="ctr">
            <a:normAutofit/>
          </a:bodyPr>
          <a:lstStyle/>
          <a:p>
            <a:pPr indent="0" marL="0">
              <a:buNone/>
            </a:pPr>
            <a:r>
              <a:rPr lang="en-US" sz="1000" dirty="0">
                <a:solidFill>
                  <a:srgbClr val="5B6C81"/>
                </a:solidFill>
                <a:latin typeface="Arial" pitchFamily="34" charset="0"/>
                <a:ea typeface="Arial" pitchFamily="34" charset="-122"/>
                <a:cs typeface="Arial" pitchFamily="34" charset="-120"/>
              </a:rPr>
              <a:t>agents/orchestrator.py</a:t>
            </a:r>
            <a:endParaRPr lang="en-US" sz="1000" dirty="0"/>
          </a:p>
        </p:txBody>
      </p:sp>
      <p:sp>
        <p:nvSpPr>
          <p:cNvPr id="20" name="Shape 18"/>
          <p:cNvSpPr/>
          <p:nvPr/>
        </p:nvSpPr>
        <p:spPr>
          <a:xfrm>
            <a:off x="630936" y="3200400"/>
            <a:ext cx="10908792" cy="667512"/>
          </a:xfrm>
          <a:prstGeom prst="roundRect">
            <a:avLst>
              <a:gd name="adj" fmla="val 21918"/>
            </a:avLst>
          </a:prstGeom>
          <a:solidFill>
            <a:srgbClr val="E8F0FA"/>
          </a:solidFill>
          <a:ln w="15240">
            <a:solidFill>
              <a:srgbClr val="C8D6E8"/>
            </a:solidFill>
            <a:prstDash val="solid"/>
          </a:ln>
        </p:spPr>
      </p:sp>
      <p:sp>
        <p:nvSpPr>
          <p:cNvPr id="21" name="Shape 19"/>
          <p:cNvSpPr/>
          <p:nvPr/>
        </p:nvSpPr>
        <p:spPr>
          <a:xfrm>
            <a:off x="804672" y="3337560"/>
            <a:ext cx="356616" cy="356616"/>
          </a:xfrm>
          <a:prstGeom prst="ellipse">
            <a:avLst/>
          </a:prstGeom>
          <a:solidFill>
            <a:srgbClr val="087E8B"/>
          </a:solidFill>
          <a:ln w="12700">
            <a:solidFill>
              <a:srgbClr val="087E8B"/>
            </a:solidFill>
            <a:prstDash val="solid"/>
          </a:ln>
        </p:spPr>
      </p:sp>
      <p:sp>
        <p:nvSpPr>
          <p:cNvPr id="22" name="Text 20"/>
          <p:cNvSpPr txBox="1"/>
          <p:nvPr/>
        </p:nvSpPr>
        <p:spPr>
          <a:xfrm>
            <a:off x="804672" y="3337560"/>
            <a:ext cx="356616" cy="35661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3" name="Text 21"/>
          <p:cNvSpPr txBox="1"/>
          <p:nvPr/>
        </p:nvSpPr>
        <p:spPr>
          <a:xfrm>
            <a:off x="1344168" y="3310128"/>
            <a:ext cx="2039112" cy="429768"/>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RAG</a:t>
            </a:r>
            <a:endParaRPr lang="en-US" sz="1500" dirty="0"/>
          </a:p>
        </p:txBody>
      </p:sp>
      <p:sp>
        <p:nvSpPr>
          <p:cNvPr id="24" name="Text 22"/>
          <p:cNvSpPr txBox="1"/>
          <p:nvPr/>
        </p:nvSpPr>
        <p:spPr>
          <a:xfrm>
            <a:off x="3364992" y="3310128"/>
            <a:ext cx="2203704" cy="429768"/>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Scoped chunk retrieval</a:t>
            </a:r>
            <a:endParaRPr lang="en-US" sz="1400" dirty="0"/>
          </a:p>
        </p:txBody>
      </p:sp>
      <p:sp>
        <p:nvSpPr>
          <p:cNvPr id="25" name="Text 23"/>
          <p:cNvSpPr txBox="1"/>
          <p:nvPr/>
        </p:nvSpPr>
        <p:spPr>
          <a:xfrm>
            <a:off x="5522976" y="3291840"/>
            <a:ext cx="3493008" cy="457200"/>
          </a:xfrm>
          <a:prstGeom prst="rect">
            <a:avLst/>
          </a:prstGeom>
          <a:noFill/>
          <a:ln/>
        </p:spPr>
        <p:txBody>
          <a:bodyPr wrap="square" lIns="0" tIns="0" rIns="0" bIns="0" rtlCol="0" anchor="ctr">
            <a:normAutofit/>
          </a:bodyPr>
          <a:lstStyle/>
          <a:p>
            <a:pPr indent="0" marL="0">
              <a:buNone/>
            </a:pPr>
            <a:r>
              <a:rPr lang="en-US" sz="1300" dirty="0">
                <a:solidFill>
                  <a:srgbClr val="172840"/>
                </a:solidFill>
                <a:latin typeface="Arial" pitchFamily="34" charset="0"/>
                <a:ea typeface="Arial" pitchFamily="34" charset="-122"/>
                <a:cs typeface="Arial" pitchFamily="34" charset="-120"/>
              </a:rPr>
              <a:t>Case and guidance text inspectable on-site</a:t>
            </a:r>
            <a:endParaRPr lang="en-US" sz="1300" dirty="0"/>
          </a:p>
        </p:txBody>
      </p:sp>
      <p:sp>
        <p:nvSpPr>
          <p:cNvPr id="26" name="Text 24"/>
          <p:cNvSpPr txBox="1"/>
          <p:nvPr/>
        </p:nvSpPr>
        <p:spPr>
          <a:xfrm>
            <a:off x="9162288" y="3319272"/>
            <a:ext cx="2139696" cy="393192"/>
          </a:xfrm>
          <a:prstGeom prst="rect">
            <a:avLst/>
          </a:prstGeom>
          <a:noFill/>
          <a:ln/>
        </p:spPr>
        <p:txBody>
          <a:bodyPr wrap="square" lIns="0" tIns="0" rIns="0" bIns="0" rtlCol="0" anchor="ctr">
            <a:normAutofit/>
          </a:bodyPr>
          <a:lstStyle/>
          <a:p>
            <a:pPr indent="0" marL="0">
              <a:buNone/>
            </a:pPr>
            <a:r>
              <a:rPr lang="en-US" sz="1000" dirty="0">
                <a:solidFill>
                  <a:srgbClr val="5B6C81"/>
                </a:solidFill>
                <a:latin typeface="Arial" pitchFamily="34" charset="0"/>
                <a:ea typeface="Arial" pitchFamily="34" charset="-122"/>
                <a:cs typeface="Arial" pitchFamily="34" charset="-120"/>
              </a:rPr>
              <a:t>data/case_evidence.py</a:t>
            </a:r>
            <a:endParaRPr lang="en-US" sz="1000" dirty="0"/>
          </a:p>
        </p:txBody>
      </p:sp>
      <p:sp>
        <p:nvSpPr>
          <p:cNvPr id="27" name="Shape 25"/>
          <p:cNvSpPr/>
          <p:nvPr/>
        </p:nvSpPr>
        <p:spPr>
          <a:xfrm>
            <a:off x="630936" y="4059936"/>
            <a:ext cx="10908792" cy="667512"/>
          </a:xfrm>
          <a:prstGeom prst="roundRect">
            <a:avLst>
              <a:gd name="adj" fmla="val 21918"/>
            </a:avLst>
          </a:prstGeom>
          <a:solidFill>
            <a:srgbClr val="FFFFFF"/>
          </a:solidFill>
          <a:ln w="15240">
            <a:solidFill>
              <a:srgbClr val="C8D6E8"/>
            </a:solidFill>
            <a:prstDash val="solid"/>
          </a:ln>
        </p:spPr>
      </p:sp>
      <p:sp>
        <p:nvSpPr>
          <p:cNvPr id="28" name="Shape 26"/>
          <p:cNvSpPr/>
          <p:nvPr/>
        </p:nvSpPr>
        <p:spPr>
          <a:xfrm>
            <a:off x="804672" y="4197096"/>
            <a:ext cx="356616" cy="356616"/>
          </a:xfrm>
          <a:prstGeom prst="ellipse">
            <a:avLst/>
          </a:prstGeom>
          <a:solidFill>
            <a:srgbClr val="2E67B7"/>
          </a:solidFill>
          <a:ln w="12700">
            <a:solidFill>
              <a:srgbClr val="2E67B7"/>
            </a:solidFill>
            <a:prstDash val="solid"/>
          </a:ln>
        </p:spPr>
      </p:sp>
      <p:sp>
        <p:nvSpPr>
          <p:cNvPr id="29" name="Text 27"/>
          <p:cNvSpPr txBox="1"/>
          <p:nvPr/>
        </p:nvSpPr>
        <p:spPr>
          <a:xfrm>
            <a:off x="804672" y="4197096"/>
            <a:ext cx="356616" cy="35661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0" name="Text 28"/>
          <p:cNvSpPr txBox="1"/>
          <p:nvPr/>
        </p:nvSpPr>
        <p:spPr>
          <a:xfrm>
            <a:off x="1344168" y="4169664"/>
            <a:ext cx="2039112" cy="429768"/>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Responsible AI</a:t>
            </a:r>
            <a:endParaRPr lang="en-US" sz="1500" dirty="0"/>
          </a:p>
        </p:txBody>
      </p:sp>
      <p:sp>
        <p:nvSpPr>
          <p:cNvPr id="31" name="Text 29"/>
          <p:cNvSpPr txBox="1"/>
          <p:nvPr/>
        </p:nvSpPr>
        <p:spPr>
          <a:xfrm>
            <a:off x="3364992" y="4169664"/>
            <a:ext cx="2203704" cy="429768"/>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Validator + human gate</a:t>
            </a:r>
            <a:endParaRPr lang="en-US" sz="1400" dirty="0"/>
          </a:p>
        </p:txBody>
      </p:sp>
      <p:sp>
        <p:nvSpPr>
          <p:cNvPr id="32" name="Text 30"/>
          <p:cNvSpPr txBox="1"/>
          <p:nvPr/>
        </p:nvSpPr>
        <p:spPr>
          <a:xfrm>
            <a:off x="5522976" y="4151376"/>
            <a:ext cx="3493008" cy="457200"/>
          </a:xfrm>
          <a:prstGeom prst="rect">
            <a:avLst/>
          </a:prstGeom>
          <a:noFill/>
          <a:ln/>
        </p:spPr>
        <p:txBody>
          <a:bodyPr wrap="square" lIns="0" tIns="0" rIns="0" bIns="0" rtlCol="0" anchor="ctr">
            <a:normAutofit/>
          </a:bodyPr>
          <a:lstStyle/>
          <a:p>
            <a:pPr indent="0" marL="0">
              <a:buNone/>
            </a:pPr>
            <a:r>
              <a:rPr lang="en-US" sz="1300" dirty="0">
                <a:solidFill>
                  <a:srgbClr val="172840"/>
                </a:solidFill>
                <a:latin typeface="Arial" pitchFamily="34" charset="0"/>
                <a:ea typeface="Arial" pitchFamily="34" charset="-122"/>
                <a:cs typeface="Arial" pitchFamily="34" charset="-120"/>
              </a:rPr>
              <a:t>Drafts are reviewable, not final decisions</a:t>
            </a:r>
            <a:endParaRPr lang="en-US" sz="1300" dirty="0"/>
          </a:p>
        </p:txBody>
      </p:sp>
      <p:sp>
        <p:nvSpPr>
          <p:cNvPr id="33" name="Text 31"/>
          <p:cNvSpPr txBox="1"/>
          <p:nvPr/>
        </p:nvSpPr>
        <p:spPr>
          <a:xfrm>
            <a:off x="9162288" y="4178808"/>
            <a:ext cx="2139696" cy="393192"/>
          </a:xfrm>
          <a:prstGeom prst="rect">
            <a:avLst/>
          </a:prstGeom>
          <a:noFill/>
          <a:ln/>
        </p:spPr>
        <p:txBody>
          <a:bodyPr wrap="square" lIns="0" tIns="0" rIns="0" bIns="0" rtlCol="0" anchor="ctr">
            <a:normAutofit/>
          </a:bodyPr>
          <a:lstStyle/>
          <a:p>
            <a:pPr indent="0" marL="0">
              <a:buNone/>
            </a:pPr>
            <a:r>
              <a:rPr lang="en-US" sz="1000" dirty="0">
                <a:solidFill>
                  <a:srgbClr val="5B6C81"/>
                </a:solidFill>
                <a:latin typeface="Arial" pitchFamily="34" charset="0"/>
                <a:ea typeface="Arial" pitchFamily="34" charset="-122"/>
                <a:cs typeface="Arial" pitchFamily="34" charset="-120"/>
              </a:rPr>
              <a:t>agents/grounding_validator.py</a:t>
            </a:r>
            <a:endParaRPr lang="en-US" sz="1000" dirty="0"/>
          </a:p>
        </p:txBody>
      </p:sp>
      <p:sp>
        <p:nvSpPr>
          <p:cNvPr id="34" name="Shape 32"/>
          <p:cNvSpPr/>
          <p:nvPr/>
        </p:nvSpPr>
        <p:spPr>
          <a:xfrm>
            <a:off x="630936" y="4919472"/>
            <a:ext cx="10908792" cy="667512"/>
          </a:xfrm>
          <a:prstGeom prst="roundRect">
            <a:avLst>
              <a:gd name="adj" fmla="val 21918"/>
            </a:avLst>
          </a:prstGeom>
          <a:solidFill>
            <a:srgbClr val="E8F0FA"/>
          </a:solidFill>
          <a:ln w="15240">
            <a:solidFill>
              <a:srgbClr val="C8D6E8"/>
            </a:solidFill>
            <a:prstDash val="solid"/>
          </a:ln>
        </p:spPr>
      </p:sp>
      <p:sp>
        <p:nvSpPr>
          <p:cNvPr id="35" name="Shape 33"/>
          <p:cNvSpPr/>
          <p:nvPr/>
        </p:nvSpPr>
        <p:spPr>
          <a:xfrm>
            <a:off x="804672" y="5056632"/>
            <a:ext cx="356616" cy="356616"/>
          </a:xfrm>
          <a:prstGeom prst="ellipse">
            <a:avLst/>
          </a:prstGeom>
          <a:solidFill>
            <a:srgbClr val="087E8B"/>
          </a:solidFill>
          <a:ln w="12700">
            <a:solidFill>
              <a:srgbClr val="087E8B"/>
            </a:solidFill>
            <a:prstDash val="solid"/>
          </a:ln>
        </p:spPr>
      </p:sp>
      <p:sp>
        <p:nvSpPr>
          <p:cNvPr id="36" name="Text 34"/>
          <p:cNvSpPr txBox="1"/>
          <p:nvPr/>
        </p:nvSpPr>
        <p:spPr>
          <a:xfrm>
            <a:off x="804672" y="5056632"/>
            <a:ext cx="356616" cy="35661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37" name="Text 35"/>
          <p:cNvSpPr txBox="1"/>
          <p:nvPr/>
        </p:nvSpPr>
        <p:spPr>
          <a:xfrm>
            <a:off x="1344168" y="5029200"/>
            <a:ext cx="2039112" cy="429768"/>
          </a:xfrm>
          <a:prstGeom prst="rect">
            <a:avLst/>
          </a:prstGeom>
          <a:noFill/>
          <a:ln/>
        </p:spPr>
        <p:txBody>
          <a:bodyPr wrap="square" lIns="0" tIns="0" rIns="0" bIns="0" rtlCol="0" anchor="ctr">
            <a:normAutofit/>
          </a:bodyPr>
          <a:lstStyle/>
          <a:p>
            <a:pPr indent="0" marL="0">
              <a:buNone/>
            </a:pPr>
            <a:r>
              <a:rPr lang="en-US" sz="1500" b="1" dirty="0">
                <a:solidFill>
                  <a:srgbClr val="172840"/>
                </a:solidFill>
                <a:latin typeface="Arial" pitchFamily="34" charset="0"/>
                <a:ea typeface="Arial" pitchFamily="34" charset="-122"/>
                <a:cs typeface="Arial" pitchFamily="34" charset="-120"/>
              </a:rPr>
              <a:t>Governance</a:t>
            </a:r>
            <a:endParaRPr lang="en-US" sz="1500" dirty="0"/>
          </a:p>
        </p:txBody>
      </p:sp>
      <p:sp>
        <p:nvSpPr>
          <p:cNvPr id="38" name="Text 36"/>
          <p:cNvSpPr txBox="1"/>
          <p:nvPr/>
        </p:nvSpPr>
        <p:spPr>
          <a:xfrm>
            <a:off x="3364992" y="5029200"/>
            <a:ext cx="2203704" cy="429768"/>
          </a:xfrm>
          <a:prstGeom prst="rect">
            <a:avLst/>
          </a:prstGeom>
          <a:noFill/>
          <a:ln/>
        </p:spPr>
        <p:txBody>
          <a:bodyPr wrap="square" lIns="0" tIns="0" rIns="0" bIns="0" rtlCol="0" anchor="ctr">
            <a:normAutofit/>
          </a:bodyPr>
          <a:lstStyle/>
          <a:p>
            <a:pPr indent="0" marL="0">
              <a:buNone/>
            </a:pPr>
            <a:r>
              <a:rPr lang="en-US" sz="1400" dirty="0">
                <a:solidFill>
                  <a:srgbClr val="2E67B7"/>
                </a:solidFill>
                <a:latin typeface="Arial" pitchFamily="34" charset="0"/>
                <a:ea typeface="Arial" pitchFamily="34" charset="-122"/>
                <a:cs typeface="Arial" pitchFamily="34" charset="-120"/>
              </a:rPr>
              <a:t>Audit and Compliance</a:t>
            </a:r>
            <a:endParaRPr lang="en-US" sz="1400" dirty="0"/>
          </a:p>
        </p:txBody>
      </p:sp>
      <p:sp>
        <p:nvSpPr>
          <p:cNvPr id="39" name="Text 37"/>
          <p:cNvSpPr txBox="1"/>
          <p:nvPr/>
        </p:nvSpPr>
        <p:spPr>
          <a:xfrm>
            <a:off x="5522976" y="5010912"/>
            <a:ext cx="3493008" cy="457200"/>
          </a:xfrm>
          <a:prstGeom prst="rect">
            <a:avLst/>
          </a:prstGeom>
          <a:noFill/>
          <a:ln/>
        </p:spPr>
        <p:txBody>
          <a:bodyPr wrap="square" lIns="0" tIns="0" rIns="0" bIns="0" rtlCol="0" anchor="ctr">
            <a:normAutofit/>
          </a:bodyPr>
          <a:lstStyle/>
          <a:p>
            <a:pPr indent="0" marL="0">
              <a:buNone/>
            </a:pPr>
            <a:r>
              <a:rPr lang="en-US" sz="1300" dirty="0">
                <a:solidFill>
                  <a:srgbClr val="172840"/>
                </a:solidFill>
                <a:latin typeface="Arial" pitchFamily="34" charset="0"/>
                <a:ea typeface="Arial" pitchFamily="34" charset="-122"/>
                <a:cs typeface="Arial" pitchFamily="34" charset="-120"/>
              </a:rPr>
              <a:t>Actions have names, reasons and sequence</a:t>
            </a:r>
            <a:endParaRPr lang="en-US" sz="1300" dirty="0"/>
          </a:p>
        </p:txBody>
      </p:sp>
      <p:sp>
        <p:nvSpPr>
          <p:cNvPr id="40" name="Text 38"/>
          <p:cNvSpPr txBox="1"/>
          <p:nvPr/>
        </p:nvSpPr>
        <p:spPr>
          <a:xfrm>
            <a:off x="9162288" y="5038344"/>
            <a:ext cx="2139696" cy="393192"/>
          </a:xfrm>
          <a:prstGeom prst="rect">
            <a:avLst/>
          </a:prstGeom>
          <a:noFill/>
          <a:ln/>
        </p:spPr>
        <p:txBody>
          <a:bodyPr wrap="square" lIns="0" tIns="0" rIns="0" bIns="0" rtlCol="0" anchor="ctr">
            <a:normAutofit/>
          </a:bodyPr>
          <a:lstStyle/>
          <a:p>
            <a:pPr indent="0" marL="0">
              <a:buNone/>
            </a:pPr>
            <a:r>
              <a:rPr lang="en-US" sz="1000" dirty="0">
                <a:solidFill>
                  <a:srgbClr val="5B6C81"/>
                </a:solidFill>
                <a:latin typeface="Arial" pitchFamily="34" charset="0"/>
                <a:ea typeface="Arial" pitchFamily="34" charset="-122"/>
                <a:cs typeface="Arial" pitchFamily="34" charset="-120"/>
              </a:rPr>
              <a:t>data/runtime_db.py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13 / RESULTS + GAPS</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What we can show—and what remains open</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14</a:t>
            </a:r>
            <a:endParaRPr lang="en-US" sz="900" dirty="0"/>
          </a:p>
        </p:txBody>
      </p:sp>
      <p:sp>
        <p:nvSpPr>
          <p:cNvPr id="6" name="Shape 4"/>
          <p:cNvSpPr/>
          <p:nvPr/>
        </p:nvSpPr>
        <p:spPr>
          <a:xfrm>
            <a:off x="640080" y="1481328"/>
            <a:ext cx="5193792" cy="4069080"/>
          </a:xfrm>
          <a:prstGeom prst="roundRect">
            <a:avLst>
              <a:gd name="adj" fmla="val 3596"/>
            </a:avLst>
          </a:prstGeom>
          <a:solidFill>
            <a:srgbClr val="E1F4EB"/>
          </a:solidFill>
          <a:ln w="15240">
            <a:solidFill>
              <a:srgbClr val="C8D6E8"/>
            </a:solidFill>
            <a:prstDash val="solid"/>
          </a:ln>
        </p:spPr>
      </p:sp>
      <p:sp>
        <p:nvSpPr>
          <p:cNvPr id="7" name="Shape 5"/>
          <p:cNvSpPr/>
          <p:nvPr/>
        </p:nvSpPr>
        <p:spPr>
          <a:xfrm>
            <a:off x="804672" y="1664208"/>
            <a:ext cx="420624" cy="420624"/>
          </a:xfrm>
          <a:prstGeom prst="ellipse">
            <a:avLst/>
          </a:prstGeom>
          <a:solidFill>
            <a:srgbClr val="247352"/>
          </a:solidFill>
          <a:ln w="12700">
            <a:solidFill>
              <a:srgbClr val="247352"/>
            </a:solidFill>
            <a:prstDash val="solid"/>
          </a:ln>
        </p:spPr>
      </p:sp>
      <p:sp>
        <p:nvSpPr>
          <p:cNvPr id="8" name="Text 6"/>
          <p:cNvSpPr txBox="1"/>
          <p:nvPr/>
        </p:nvSpPr>
        <p:spPr>
          <a:xfrm>
            <a:off x="804672" y="166420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9" name="Text 7"/>
          <p:cNvSpPr txBox="1"/>
          <p:nvPr/>
        </p:nvSpPr>
        <p:spPr>
          <a:xfrm>
            <a:off x="1344168" y="1636776"/>
            <a:ext cx="4315968"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Verified locally</a:t>
            </a:r>
            <a:endParaRPr lang="en-US" sz="1700" dirty="0"/>
          </a:p>
        </p:txBody>
      </p:sp>
      <p:sp>
        <p:nvSpPr>
          <p:cNvPr id="10" name="Text 8"/>
          <p:cNvSpPr txBox="1"/>
          <p:nvPr/>
        </p:nvSpPr>
        <p:spPr>
          <a:xfrm>
            <a:off x="822960" y="2203704"/>
            <a:ext cx="4828032" cy="3209544"/>
          </a:xfrm>
          <a:prstGeom prst="rect">
            <a:avLst/>
          </a:prstGeom>
          <a:noFill/>
          <a:ln/>
        </p:spPr>
        <p:txBody>
          <a:bodyPr wrap="square" lIns="0" tIns="0" rIns="0" bIns="0" rtlCol="0" anchor="t">
            <a:normAutofit/>
          </a:bodyPr>
          <a:lstStyle/>
          <a:p>
            <a:pPr indent="0" marL="0">
              <a:buNone/>
            </a:pPr>
            <a:r>
              <a:rPr lang="en-US" sz="1600" dirty="0">
                <a:solidFill>
                  <a:srgbClr val="5B6C81"/>
                </a:solidFill>
                <a:latin typeface="Arial" pitchFamily="34" charset="0"/>
                <a:ea typeface="Arial" pitchFamily="34" charset="-122"/>
                <a:cs typeface="Arial" pitchFamily="34" charset="-120"/>
              </a:rPr>
              <a:t>76 automated tests pass.</a:t>
            </a:r>
            <a:endParaRPr lang="en-US" sz="1600" dirty="0"/>
          </a:p>
          <a:p>
            <a:pPr indent="0" marL="0">
              <a:buNone/>
            </a:pPr>
            <a:r>
              <a:rPr lang="en-US" sz="1600" dirty="0">
                <a:solidFill>
                  <a:srgbClr val="5B6C81"/>
                </a:solidFill>
                <a:latin typeface="Arial" pitchFamily="34" charset="0"/>
                <a:ea typeface="Arial" pitchFamily="34" charset="-122"/>
                <a:cs typeface="Arial" pitchFamily="34" charset="-120"/>
              </a:rPr>
              <a:t>44 fictional alerts; two calculated from matched activity.</a:t>
            </a:r>
            <a:endParaRPr lang="en-US" sz="1600" dirty="0"/>
          </a:p>
          <a:p>
            <a:pPr indent="0" marL="0">
              <a:buNone/>
            </a:pPr>
            <a:r>
              <a:rPr lang="en-US" sz="1600" dirty="0">
                <a:solidFill>
                  <a:srgbClr val="5B6C81"/>
                </a:solidFill>
                <a:latin typeface="Arial" pitchFamily="34" charset="0"/>
                <a:ea typeface="Arial" pitchFamily="34" charset="-122"/>
                <a:cs typeface="Arial" pitchFamily="34" charset="-120"/>
              </a:rPr>
              <a:t>1,770 inspectable case records, 4,282 case chunks; 24 guidance sources and 57 guidance chunks.</a:t>
            </a:r>
            <a:endParaRPr lang="en-US" sz="1600" dirty="0"/>
          </a:p>
        </p:txBody>
      </p:sp>
      <p:sp>
        <p:nvSpPr>
          <p:cNvPr id="11" name="Shape 9"/>
          <p:cNvSpPr/>
          <p:nvPr/>
        </p:nvSpPr>
        <p:spPr>
          <a:xfrm>
            <a:off x="6327648" y="1481328"/>
            <a:ext cx="5193792" cy="4069080"/>
          </a:xfrm>
          <a:prstGeom prst="roundRect">
            <a:avLst>
              <a:gd name="adj" fmla="val 3596"/>
            </a:avLst>
          </a:prstGeom>
          <a:solidFill>
            <a:srgbClr val="F8E7BF"/>
          </a:solidFill>
          <a:ln w="15240">
            <a:solidFill>
              <a:srgbClr val="C8D6E8"/>
            </a:solidFill>
            <a:prstDash val="solid"/>
          </a:ln>
        </p:spPr>
      </p:sp>
      <p:sp>
        <p:nvSpPr>
          <p:cNvPr id="12" name="Shape 10"/>
          <p:cNvSpPr/>
          <p:nvPr/>
        </p:nvSpPr>
        <p:spPr>
          <a:xfrm>
            <a:off x="6492240" y="1664208"/>
            <a:ext cx="420624" cy="420624"/>
          </a:xfrm>
          <a:prstGeom prst="ellipse">
            <a:avLst/>
          </a:prstGeom>
          <a:solidFill>
            <a:srgbClr val="B06A14"/>
          </a:solidFill>
          <a:ln w="12700">
            <a:solidFill>
              <a:srgbClr val="B06A14"/>
            </a:solidFill>
            <a:prstDash val="solid"/>
          </a:ln>
        </p:spPr>
      </p:sp>
      <p:sp>
        <p:nvSpPr>
          <p:cNvPr id="13" name="Text 11"/>
          <p:cNvSpPr txBox="1"/>
          <p:nvPr/>
        </p:nvSpPr>
        <p:spPr>
          <a:xfrm>
            <a:off x="6492240" y="1664208"/>
            <a:ext cx="420624" cy="420624"/>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4" name="Text 12"/>
          <p:cNvSpPr txBox="1"/>
          <p:nvPr/>
        </p:nvSpPr>
        <p:spPr>
          <a:xfrm>
            <a:off x="7031736" y="1636776"/>
            <a:ext cx="4315968" cy="438912"/>
          </a:xfrm>
          <a:prstGeom prst="rect">
            <a:avLst/>
          </a:prstGeom>
          <a:noFill/>
          <a:ln/>
        </p:spPr>
        <p:txBody>
          <a:bodyPr wrap="square" lIns="0" tIns="0" rIns="0" bIns="0" rtlCol="0" anchor="ctr">
            <a:normAutofit/>
          </a:bodyPr>
          <a:lstStyle/>
          <a:p>
            <a:pPr indent="0" marL="0">
              <a:buNone/>
            </a:pPr>
            <a:r>
              <a:rPr lang="en-US" sz="1700" b="1" dirty="0">
                <a:solidFill>
                  <a:srgbClr val="10203B"/>
                </a:solidFill>
                <a:latin typeface="Arial" pitchFamily="34" charset="0"/>
                <a:ea typeface="Arial" pitchFamily="34" charset="-122"/>
                <a:cs typeface="Arial" pitchFamily="34" charset="-120"/>
              </a:rPr>
              <a:t>Before real bank use</a:t>
            </a:r>
            <a:endParaRPr lang="en-US" sz="1700" dirty="0"/>
          </a:p>
        </p:txBody>
      </p:sp>
      <p:sp>
        <p:nvSpPr>
          <p:cNvPr id="15" name="Text 13"/>
          <p:cNvSpPr txBox="1"/>
          <p:nvPr/>
        </p:nvSpPr>
        <p:spPr>
          <a:xfrm>
            <a:off x="6510528" y="2203704"/>
            <a:ext cx="4828032" cy="3209544"/>
          </a:xfrm>
          <a:prstGeom prst="rect">
            <a:avLst/>
          </a:prstGeom>
          <a:noFill/>
          <a:ln/>
        </p:spPr>
        <p:txBody>
          <a:bodyPr wrap="square" lIns="0" tIns="0" rIns="0" bIns="0" rtlCol="0" anchor="t">
            <a:normAutofit/>
          </a:bodyPr>
          <a:lstStyle/>
          <a:p>
            <a:pPr indent="0" marL="0">
              <a:buNone/>
            </a:pPr>
            <a:r>
              <a:rPr lang="en-US" sz="1600" dirty="0">
                <a:solidFill>
                  <a:srgbClr val="5B6C81"/>
                </a:solidFill>
                <a:latin typeface="Arial" pitchFamily="34" charset="0"/>
                <a:ea typeface="Arial" pitchFamily="34" charset="-122"/>
                <a:cs typeface="Arial" pitchFamily="34" charset="-120"/>
              </a:rPr>
              <a:t>No authenticated bank feed or real identity files yet.</a:t>
            </a:r>
            <a:endParaRPr lang="en-US" sz="1600" dirty="0"/>
          </a:p>
          <a:p>
            <a:pPr indent="0" marL="0">
              <a:buNone/>
            </a:pPr>
            <a:r>
              <a:rPr lang="en-US" sz="1600" dirty="0">
                <a:solidFill>
                  <a:srgbClr val="5B6C81"/>
                </a:solidFill>
                <a:latin typeface="Arial" pitchFamily="34" charset="0"/>
                <a:ea typeface="Arial" pitchFamily="34" charset="-122"/>
                <a:cs typeface="Arial" pitchFamily="34" charset="-120"/>
              </a:rPr>
              <a:t>Resolve the ACC-1004 double-owner source error.</a:t>
            </a:r>
            <a:endParaRPr lang="en-US" sz="1600" dirty="0"/>
          </a:p>
          <a:p>
            <a:pPr indent="0" marL="0">
              <a:buNone/>
            </a:pPr>
            <a:r>
              <a:rPr lang="en-US" sz="1600" dirty="0">
                <a:solidFill>
                  <a:srgbClr val="5B6C81"/>
                </a:solidFill>
                <a:latin typeface="Arial" pitchFamily="34" charset="0"/>
                <a:ea typeface="Arial" pitchFamily="34" charset="-122"/>
                <a:cs typeface="Arial" pitchFamily="34" charset="-120"/>
              </a:rPr>
              <a:t>Obtain independent counterparty records, security review and official Indian compliance validation.</a:t>
            </a:r>
            <a:endParaRPr lang="en-US" sz="1600" dirty="0"/>
          </a:p>
        </p:txBody>
      </p:sp>
      <p:sp>
        <p:nvSpPr>
          <p:cNvPr id="16" name="Text 14"/>
          <p:cNvSpPr txBox="1"/>
          <p:nvPr/>
        </p:nvSpPr>
        <p:spPr>
          <a:xfrm>
            <a:off x="722376" y="5907024"/>
            <a:ext cx="10771632" cy="347472"/>
          </a:xfrm>
          <a:prstGeom prst="rect">
            <a:avLst/>
          </a:prstGeom>
          <a:noFill/>
          <a:ln/>
        </p:spPr>
        <p:txBody>
          <a:bodyPr wrap="square" lIns="0" tIns="0" rIns="0" bIns="0" rtlCol="0" anchor="ctr">
            <a:normAutofit/>
          </a:bodyPr>
          <a:lstStyle/>
          <a:p>
            <a:pPr indent="0" marL="0">
              <a:buNone/>
            </a:pPr>
            <a:r>
              <a:rPr lang="en-US" sz="1500" b="1" dirty="0">
                <a:solidFill>
                  <a:srgbClr val="A24040"/>
                </a:solidFill>
                <a:latin typeface="Arial" pitchFamily="34" charset="0"/>
                <a:ea typeface="Arial" pitchFamily="34" charset="-122"/>
                <a:cs typeface="Arial" pitchFamily="34" charset="-120"/>
              </a:rPr>
              <a:t>No measured fraud accuracy, time savings or ROI; no automated regulatory filing.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D"/>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087E8B"/>
                </a:solidFill>
                <a:latin typeface="Arial" pitchFamily="34" charset="0"/>
                <a:ea typeface="Arial" pitchFamily="34" charset="-122"/>
                <a:cs typeface="Arial" pitchFamily="34" charset="-120"/>
              </a:rPr>
              <a:t>14 / GROUP DISCUSSION</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10203B"/>
                </a:solidFill>
                <a:latin typeface="Arial" pitchFamily="34" charset="0"/>
                <a:ea typeface="Arial" pitchFamily="34" charset="-122"/>
                <a:cs typeface="Arial" pitchFamily="34" charset="-120"/>
              </a:rPr>
              <a:t>Proposed team responsibilities</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5B6C81"/>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5B6C81"/>
                </a:solidFill>
                <a:latin typeface="Arial" pitchFamily="34" charset="0"/>
                <a:ea typeface="Arial" pitchFamily="34" charset="-122"/>
                <a:cs typeface="Arial" pitchFamily="34" charset="-120"/>
              </a:rPr>
              <a:t>15</a:t>
            </a:r>
            <a:endParaRPr lang="en-US" sz="900" dirty="0"/>
          </a:p>
        </p:txBody>
      </p:sp>
      <p:sp>
        <p:nvSpPr>
          <p:cNvPr id="6" name="Shape 4"/>
          <p:cNvSpPr/>
          <p:nvPr/>
        </p:nvSpPr>
        <p:spPr>
          <a:xfrm>
            <a:off x="658368" y="1572768"/>
            <a:ext cx="3410712" cy="1417320"/>
          </a:xfrm>
          <a:prstGeom prst="roundRect">
            <a:avLst>
              <a:gd name="adj" fmla="val 10323"/>
            </a:avLst>
          </a:prstGeom>
          <a:solidFill>
            <a:srgbClr val="FFFFFF"/>
          </a:solidFill>
          <a:ln w="15240">
            <a:solidFill>
              <a:srgbClr val="C8D6E8"/>
            </a:solidFill>
            <a:prstDash val="solid"/>
          </a:ln>
        </p:spPr>
      </p:sp>
      <p:sp>
        <p:nvSpPr>
          <p:cNvPr id="7" name="Shape 5"/>
          <p:cNvSpPr/>
          <p:nvPr/>
        </p:nvSpPr>
        <p:spPr>
          <a:xfrm>
            <a:off x="832104" y="1828800"/>
            <a:ext cx="502920" cy="502920"/>
          </a:xfrm>
          <a:prstGeom prst="ellipse">
            <a:avLst/>
          </a:prstGeom>
          <a:solidFill>
            <a:srgbClr val="2E67B7"/>
          </a:solidFill>
          <a:ln w="12700">
            <a:solidFill>
              <a:srgbClr val="2E67B7"/>
            </a:solidFill>
            <a:prstDash val="solid"/>
          </a:ln>
        </p:spPr>
      </p:sp>
      <p:sp>
        <p:nvSpPr>
          <p:cNvPr id="8" name="Text 6"/>
          <p:cNvSpPr txBox="1"/>
          <p:nvPr/>
        </p:nvSpPr>
        <p:spPr>
          <a:xfrm>
            <a:off x="832104" y="1828800"/>
            <a:ext cx="502920" cy="5029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RC</a:t>
            </a:r>
            <a:endParaRPr lang="en-US" sz="1700" dirty="0"/>
          </a:p>
        </p:txBody>
      </p:sp>
      <p:sp>
        <p:nvSpPr>
          <p:cNvPr id="9" name="Text 7"/>
          <p:cNvSpPr txBox="1"/>
          <p:nvPr/>
        </p:nvSpPr>
        <p:spPr>
          <a:xfrm>
            <a:off x="1463040" y="1755648"/>
            <a:ext cx="2395728" cy="420624"/>
          </a:xfrm>
          <a:prstGeom prst="rect">
            <a:avLst/>
          </a:prstGeom>
          <a:noFill/>
          <a:ln/>
        </p:spPr>
        <p:txBody>
          <a:bodyPr wrap="square" lIns="0" tIns="0" rIns="0" bIns="0" rtlCol="0" anchor="ctr">
            <a:normAutofit/>
          </a:bodyPr>
          <a:lstStyle/>
          <a:p>
            <a:pPr indent="0" marL="0">
              <a:buNone/>
            </a:pPr>
            <a:r>
              <a:rPr lang="en-US" sz="1700" b="1" dirty="0">
                <a:solidFill>
                  <a:srgbClr val="172840"/>
                </a:solidFill>
                <a:latin typeface="Arial" pitchFamily="34" charset="0"/>
                <a:ea typeface="Arial" pitchFamily="34" charset="-122"/>
                <a:cs typeface="Arial" pitchFamily="34" charset="-120"/>
              </a:rPr>
              <a:t>Rahul Chainani</a:t>
            </a:r>
            <a:endParaRPr lang="en-US" sz="1700" dirty="0"/>
          </a:p>
        </p:txBody>
      </p:sp>
      <p:sp>
        <p:nvSpPr>
          <p:cNvPr id="10" name="Text 8"/>
          <p:cNvSpPr txBox="1"/>
          <p:nvPr/>
        </p:nvSpPr>
        <p:spPr>
          <a:xfrm>
            <a:off x="1472184" y="2249424"/>
            <a:ext cx="2359152" cy="548640"/>
          </a:xfrm>
          <a:prstGeom prst="rect">
            <a:avLst/>
          </a:prstGeom>
          <a:noFill/>
          <a:ln/>
        </p:spPr>
        <p:txBody>
          <a:bodyPr wrap="square" lIns="0" tIns="0" rIns="0" bIns="0" rtlCol="0" anchor="ctr">
            <a:normAutofit/>
          </a:bodyPr>
          <a:lstStyle/>
          <a:p>
            <a:pPr indent="0" marL="0">
              <a:buNone/>
            </a:pPr>
            <a:r>
              <a:rPr lang="en-US" sz="1300" dirty="0">
                <a:solidFill>
                  <a:srgbClr val="5B6C81"/>
                </a:solidFill>
                <a:latin typeface="Arial" pitchFamily="34" charset="0"/>
                <a:ea typeface="Arial" pitchFamily="34" charset="-122"/>
                <a:cs typeface="Arial" pitchFamily="34" charset="-120"/>
              </a:rPr>
              <a:t>Application development &amp; integration</a:t>
            </a:r>
            <a:endParaRPr lang="en-US" sz="1300" dirty="0"/>
          </a:p>
        </p:txBody>
      </p:sp>
      <p:sp>
        <p:nvSpPr>
          <p:cNvPr id="11" name="Shape 9"/>
          <p:cNvSpPr/>
          <p:nvPr/>
        </p:nvSpPr>
        <p:spPr>
          <a:xfrm>
            <a:off x="4507992" y="1572768"/>
            <a:ext cx="3410712" cy="1417320"/>
          </a:xfrm>
          <a:prstGeom prst="roundRect">
            <a:avLst>
              <a:gd name="adj" fmla="val 10323"/>
            </a:avLst>
          </a:prstGeom>
          <a:solidFill>
            <a:srgbClr val="FFFFFF"/>
          </a:solidFill>
          <a:ln w="15240">
            <a:solidFill>
              <a:srgbClr val="C8D6E8"/>
            </a:solidFill>
            <a:prstDash val="solid"/>
          </a:ln>
        </p:spPr>
      </p:sp>
      <p:sp>
        <p:nvSpPr>
          <p:cNvPr id="12" name="Shape 10"/>
          <p:cNvSpPr/>
          <p:nvPr/>
        </p:nvSpPr>
        <p:spPr>
          <a:xfrm>
            <a:off x="4681728" y="1828800"/>
            <a:ext cx="502920" cy="502920"/>
          </a:xfrm>
          <a:prstGeom prst="ellipse">
            <a:avLst/>
          </a:prstGeom>
          <a:solidFill>
            <a:srgbClr val="2E67B7"/>
          </a:solidFill>
          <a:ln w="12700">
            <a:solidFill>
              <a:srgbClr val="2E67B7"/>
            </a:solidFill>
            <a:prstDash val="solid"/>
          </a:ln>
        </p:spPr>
      </p:sp>
      <p:sp>
        <p:nvSpPr>
          <p:cNvPr id="13" name="Text 11"/>
          <p:cNvSpPr txBox="1"/>
          <p:nvPr/>
        </p:nvSpPr>
        <p:spPr>
          <a:xfrm>
            <a:off x="4681728" y="1828800"/>
            <a:ext cx="502920" cy="5029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L</a:t>
            </a:r>
            <a:endParaRPr lang="en-US" sz="1700" dirty="0"/>
          </a:p>
        </p:txBody>
      </p:sp>
      <p:sp>
        <p:nvSpPr>
          <p:cNvPr id="14" name="Text 12"/>
          <p:cNvSpPr txBox="1"/>
          <p:nvPr/>
        </p:nvSpPr>
        <p:spPr>
          <a:xfrm>
            <a:off x="5312664" y="1755648"/>
            <a:ext cx="2395728" cy="420624"/>
          </a:xfrm>
          <a:prstGeom prst="rect">
            <a:avLst/>
          </a:prstGeom>
          <a:noFill/>
          <a:ln/>
        </p:spPr>
        <p:txBody>
          <a:bodyPr wrap="square" lIns="0" tIns="0" rIns="0" bIns="0" rtlCol="0" anchor="ctr">
            <a:normAutofit/>
          </a:bodyPr>
          <a:lstStyle/>
          <a:p>
            <a:pPr indent="0" marL="0">
              <a:buNone/>
            </a:pPr>
            <a:r>
              <a:rPr lang="en-US" sz="1700" b="1" dirty="0">
                <a:solidFill>
                  <a:srgbClr val="172840"/>
                </a:solidFill>
                <a:latin typeface="Arial" pitchFamily="34" charset="0"/>
                <a:ea typeface="Arial" pitchFamily="34" charset="-122"/>
                <a:cs typeface="Arial" pitchFamily="34" charset="-120"/>
              </a:rPr>
              <a:t>Lakshmi</a:t>
            </a:r>
            <a:endParaRPr lang="en-US" sz="1700" dirty="0"/>
          </a:p>
        </p:txBody>
      </p:sp>
      <p:sp>
        <p:nvSpPr>
          <p:cNvPr id="15" name="Text 13"/>
          <p:cNvSpPr txBox="1"/>
          <p:nvPr/>
        </p:nvSpPr>
        <p:spPr>
          <a:xfrm>
            <a:off x="5321808" y="2249424"/>
            <a:ext cx="2359152" cy="548640"/>
          </a:xfrm>
          <a:prstGeom prst="rect">
            <a:avLst/>
          </a:prstGeom>
          <a:noFill/>
          <a:ln/>
        </p:spPr>
        <p:txBody>
          <a:bodyPr wrap="square" lIns="0" tIns="0" rIns="0" bIns="0" rtlCol="0" anchor="ctr">
            <a:normAutofit/>
          </a:bodyPr>
          <a:lstStyle/>
          <a:p>
            <a:pPr indent="0" marL="0">
              <a:buNone/>
            </a:pPr>
            <a:r>
              <a:rPr lang="en-US" sz="1300" dirty="0">
                <a:solidFill>
                  <a:srgbClr val="5B6C81"/>
                </a:solidFill>
                <a:latin typeface="Arial" pitchFamily="34" charset="0"/>
                <a:ea typeface="Arial" pitchFamily="34" charset="-122"/>
                <a:cs typeface="Arial" pitchFamily="34" charset="-120"/>
              </a:rPr>
              <a:t>Requirements &amp; case-study mapping</a:t>
            </a:r>
            <a:endParaRPr lang="en-US" sz="1300" dirty="0"/>
          </a:p>
        </p:txBody>
      </p:sp>
      <p:sp>
        <p:nvSpPr>
          <p:cNvPr id="16" name="Shape 14"/>
          <p:cNvSpPr/>
          <p:nvPr/>
        </p:nvSpPr>
        <p:spPr>
          <a:xfrm>
            <a:off x="8357616" y="1572768"/>
            <a:ext cx="3410712" cy="1417320"/>
          </a:xfrm>
          <a:prstGeom prst="roundRect">
            <a:avLst>
              <a:gd name="adj" fmla="val 10323"/>
            </a:avLst>
          </a:prstGeom>
          <a:solidFill>
            <a:srgbClr val="FFFFFF"/>
          </a:solidFill>
          <a:ln w="15240">
            <a:solidFill>
              <a:srgbClr val="C8D6E8"/>
            </a:solidFill>
            <a:prstDash val="solid"/>
          </a:ln>
        </p:spPr>
      </p:sp>
      <p:sp>
        <p:nvSpPr>
          <p:cNvPr id="17" name="Shape 15"/>
          <p:cNvSpPr/>
          <p:nvPr/>
        </p:nvSpPr>
        <p:spPr>
          <a:xfrm>
            <a:off x="8531352" y="1828800"/>
            <a:ext cx="502920" cy="502920"/>
          </a:xfrm>
          <a:prstGeom prst="ellipse">
            <a:avLst/>
          </a:prstGeom>
          <a:solidFill>
            <a:srgbClr val="2E67B7"/>
          </a:solidFill>
          <a:ln w="12700">
            <a:solidFill>
              <a:srgbClr val="2E67B7"/>
            </a:solidFill>
            <a:prstDash val="solid"/>
          </a:ln>
        </p:spPr>
      </p:sp>
      <p:sp>
        <p:nvSpPr>
          <p:cNvPr id="18" name="Text 16"/>
          <p:cNvSpPr txBox="1"/>
          <p:nvPr/>
        </p:nvSpPr>
        <p:spPr>
          <a:xfrm>
            <a:off x="8531352" y="1828800"/>
            <a:ext cx="502920" cy="5029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LS</a:t>
            </a:r>
            <a:endParaRPr lang="en-US" sz="1700" dirty="0"/>
          </a:p>
        </p:txBody>
      </p:sp>
      <p:sp>
        <p:nvSpPr>
          <p:cNvPr id="19" name="Text 17"/>
          <p:cNvSpPr txBox="1"/>
          <p:nvPr/>
        </p:nvSpPr>
        <p:spPr>
          <a:xfrm>
            <a:off x="9162288" y="1755648"/>
            <a:ext cx="2395728" cy="420624"/>
          </a:xfrm>
          <a:prstGeom prst="rect">
            <a:avLst/>
          </a:prstGeom>
          <a:noFill/>
          <a:ln/>
        </p:spPr>
        <p:txBody>
          <a:bodyPr wrap="square" lIns="0" tIns="0" rIns="0" bIns="0" rtlCol="0" anchor="ctr">
            <a:normAutofit/>
          </a:bodyPr>
          <a:lstStyle/>
          <a:p>
            <a:pPr indent="0" marL="0">
              <a:buNone/>
            </a:pPr>
            <a:r>
              <a:rPr lang="en-US" sz="1700" b="1" dirty="0">
                <a:solidFill>
                  <a:srgbClr val="172840"/>
                </a:solidFill>
                <a:latin typeface="Arial" pitchFamily="34" charset="0"/>
                <a:ea typeface="Arial" pitchFamily="34" charset="-122"/>
                <a:cs typeface="Arial" pitchFamily="34" charset="-120"/>
              </a:rPr>
              <a:t>Laxman Singh</a:t>
            </a:r>
            <a:endParaRPr lang="en-US" sz="1700" dirty="0"/>
          </a:p>
        </p:txBody>
      </p:sp>
      <p:sp>
        <p:nvSpPr>
          <p:cNvPr id="20" name="Text 18"/>
          <p:cNvSpPr txBox="1"/>
          <p:nvPr/>
        </p:nvSpPr>
        <p:spPr>
          <a:xfrm>
            <a:off x="9171432" y="2249424"/>
            <a:ext cx="2359152" cy="548640"/>
          </a:xfrm>
          <a:prstGeom prst="rect">
            <a:avLst/>
          </a:prstGeom>
          <a:noFill/>
          <a:ln/>
        </p:spPr>
        <p:txBody>
          <a:bodyPr wrap="square" lIns="0" tIns="0" rIns="0" bIns="0" rtlCol="0" anchor="ctr">
            <a:normAutofit/>
          </a:bodyPr>
          <a:lstStyle/>
          <a:p>
            <a:pPr indent="0" marL="0">
              <a:buNone/>
            </a:pPr>
            <a:r>
              <a:rPr lang="en-US" sz="1300" dirty="0">
                <a:solidFill>
                  <a:srgbClr val="5B6C81"/>
                </a:solidFill>
                <a:latin typeface="Arial" pitchFamily="34" charset="0"/>
                <a:ea typeface="Arial" pitchFamily="34" charset="-122"/>
                <a:cs typeface="Arial" pitchFamily="34" charset="-120"/>
              </a:rPr>
              <a:t>User experience &amp; walkthrough</a:t>
            </a:r>
            <a:endParaRPr lang="en-US" sz="1300" dirty="0"/>
          </a:p>
        </p:txBody>
      </p:sp>
      <p:sp>
        <p:nvSpPr>
          <p:cNvPr id="21" name="Shape 19"/>
          <p:cNvSpPr/>
          <p:nvPr/>
        </p:nvSpPr>
        <p:spPr>
          <a:xfrm>
            <a:off x="658368" y="3401568"/>
            <a:ext cx="3410712" cy="1417320"/>
          </a:xfrm>
          <a:prstGeom prst="roundRect">
            <a:avLst>
              <a:gd name="adj" fmla="val 10323"/>
            </a:avLst>
          </a:prstGeom>
          <a:solidFill>
            <a:srgbClr val="FFFFFF"/>
          </a:solidFill>
          <a:ln w="15240">
            <a:solidFill>
              <a:srgbClr val="C8D6E8"/>
            </a:solidFill>
            <a:prstDash val="solid"/>
          </a:ln>
        </p:spPr>
      </p:sp>
      <p:sp>
        <p:nvSpPr>
          <p:cNvPr id="22" name="Shape 20"/>
          <p:cNvSpPr/>
          <p:nvPr/>
        </p:nvSpPr>
        <p:spPr>
          <a:xfrm>
            <a:off x="832104" y="3657600"/>
            <a:ext cx="502920" cy="502920"/>
          </a:xfrm>
          <a:prstGeom prst="ellipse">
            <a:avLst/>
          </a:prstGeom>
          <a:solidFill>
            <a:srgbClr val="2E67B7"/>
          </a:solidFill>
          <a:ln w="12700">
            <a:solidFill>
              <a:srgbClr val="2E67B7"/>
            </a:solidFill>
            <a:prstDash val="solid"/>
          </a:ln>
        </p:spPr>
      </p:sp>
      <p:sp>
        <p:nvSpPr>
          <p:cNvPr id="23" name="Text 21"/>
          <p:cNvSpPr txBox="1"/>
          <p:nvPr/>
        </p:nvSpPr>
        <p:spPr>
          <a:xfrm>
            <a:off x="832104" y="3657600"/>
            <a:ext cx="502920" cy="5029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P</a:t>
            </a:r>
            <a:endParaRPr lang="en-US" sz="1700" dirty="0"/>
          </a:p>
        </p:txBody>
      </p:sp>
      <p:sp>
        <p:nvSpPr>
          <p:cNvPr id="24" name="Text 22"/>
          <p:cNvSpPr txBox="1"/>
          <p:nvPr/>
        </p:nvSpPr>
        <p:spPr>
          <a:xfrm>
            <a:off x="1463040" y="3584448"/>
            <a:ext cx="2395728" cy="420624"/>
          </a:xfrm>
          <a:prstGeom prst="rect">
            <a:avLst/>
          </a:prstGeom>
          <a:noFill/>
          <a:ln/>
        </p:spPr>
        <p:txBody>
          <a:bodyPr wrap="square" lIns="0" tIns="0" rIns="0" bIns="0" rtlCol="0" anchor="ctr">
            <a:normAutofit/>
          </a:bodyPr>
          <a:lstStyle/>
          <a:p>
            <a:pPr indent="0" marL="0">
              <a:buNone/>
            </a:pPr>
            <a:r>
              <a:rPr lang="en-US" sz="1700" b="1" dirty="0">
                <a:solidFill>
                  <a:srgbClr val="172840"/>
                </a:solidFill>
                <a:latin typeface="Arial" pitchFamily="34" charset="0"/>
                <a:ea typeface="Arial" pitchFamily="34" charset="-122"/>
                <a:cs typeface="Arial" pitchFamily="34" charset="-120"/>
              </a:rPr>
              <a:t>Pankaj</a:t>
            </a:r>
            <a:endParaRPr lang="en-US" sz="1700" dirty="0"/>
          </a:p>
        </p:txBody>
      </p:sp>
      <p:sp>
        <p:nvSpPr>
          <p:cNvPr id="25" name="Text 23"/>
          <p:cNvSpPr txBox="1"/>
          <p:nvPr/>
        </p:nvSpPr>
        <p:spPr>
          <a:xfrm>
            <a:off x="1472184" y="4078224"/>
            <a:ext cx="2359152" cy="548640"/>
          </a:xfrm>
          <a:prstGeom prst="rect">
            <a:avLst/>
          </a:prstGeom>
          <a:noFill/>
          <a:ln/>
        </p:spPr>
        <p:txBody>
          <a:bodyPr wrap="square" lIns="0" tIns="0" rIns="0" bIns="0" rtlCol="0" anchor="ctr">
            <a:normAutofit/>
          </a:bodyPr>
          <a:lstStyle/>
          <a:p>
            <a:pPr indent="0" marL="0">
              <a:buNone/>
            </a:pPr>
            <a:r>
              <a:rPr lang="en-US" sz="1300" dirty="0">
                <a:solidFill>
                  <a:srgbClr val="5B6C81"/>
                </a:solidFill>
                <a:latin typeface="Arial" pitchFamily="34" charset="0"/>
                <a:ea typeface="Arial" pitchFamily="34" charset="-122"/>
                <a:cs typeface="Arial" pitchFamily="34" charset="-120"/>
              </a:rPr>
              <a:t>AI workflow &amp; evidence review</a:t>
            </a:r>
            <a:endParaRPr lang="en-US" sz="1300" dirty="0"/>
          </a:p>
        </p:txBody>
      </p:sp>
      <p:sp>
        <p:nvSpPr>
          <p:cNvPr id="26" name="Shape 24"/>
          <p:cNvSpPr/>
          <p:nvPr/>
        </p:nvSpPr>
        <p:spPr>
          <a:xfrm>
            <a:off x="4507992" y="3401568"/>
            <a:ext cx="3410712" cy="1417320"/>
          </a:xfrm>
          <a:prstGeom prst="roundRect">
            <a:avLst>
              <a:gd name="adj" fmla="val 10323"/>
            </a:avLst>
          </a:prstGeom>
          <a:solidFill>
            <a:srgbClr val="FFFFFF"/>
          </a:solidFill>
          <a:ln w="15240">
            <a:solidFill>
              <a:srgbClr val="C8D6E8"/>
            </a:solidFill>
            <a:prstDash val="solid"/>
          </a:ln>
        </p:spPr>
      </p:sp>
      <p:sp>
        <p:nvSpPr>
          <p:cNvPr id="27" name="Shape 25"/>
          <p:cNvSpPr/>
          <p:nvPr/>
        </p:nvSpPr>
        <p:spPr>
          <a:xfrm>
            <a:off x="4681728" y="3657600"/>
            <a:ext cx="502920" cy="502920"/>
          </a:xfrm>
          <a:prstGeom prst="ellipse">
            <a:avLst/>
          </a:prstGeom>
          <a:solidFill>
            <a:srgbClr val="2E67B7"/>
          </a:solidFill>
          <a:ln w="12700">
            <a:solidFill>
              <a:srgbClr val="2E67B7"/>
            </a:solidFill>
            <a:prstDash val="solid"/>
          </a:ln>
        </p:spPr>
      </p:sp>
      <p:sp>
        <p:nvSpPr>
          <p:cNvPr id="28" name="Text 26"/>
          <p:cNvSpPr txBox="1"/>
          <p:nvPr/>
        </p:nvSpPr>
        <p:spPr>
          <a:xfrm>
            <a:off x="4681728" y="3657600"/>
            <a:ext cx="502920" cy="5029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R</a:t>
            </a:r>
            <a:endParaRPr lang="en-US" sz="1700" dirty="0"/>
          </a:p>
        </p:txBody>
      </p:sp>
      <p:sp>
        <p:nvSpPr>
          <p:cNvPr id="29" name="Text 27"/>
          <p:cNvSpPr txBox="1"/>
          <p:nvPr/>
        </p:nvSpPr>
        <p:spPr>
          <a:xfrm>
            <a:off x="5312664" y="3584448"/>
            <a:ext cx="2395728" cy="420624"/>
          </a:xfrm>
          <a:prstGeom prst="rect">
            <a:avLst/>
          </a:prstGeom>
          <a:noFill/>
          <a:ln/>
        </p:spPr>
        <p:txBody>
          <a:bodyPr wrap="square" lIns="0" tIns="0" rIns="0" bIns="0" rtlCol="0" anchor="ctr">
            <a:normAutofit/>
          </a:bodyPr>
          <a:lstStyle/>
          <a:p>
            <a:pPr indent="0" marL="0">
              <a:buNone/>
            </a:pPr>
            <a:r>
              <a:rPr lang="en-US" sz="1700" b="1" dirty="0">
                <a:solidFill>
                  <a:srgbClr val="172840"/>
                </a:solidFill>
                <a:latin typeface="Arial" pitchFamily="34" charset="0"/>
                <a:ea typeface="Arial" pitchFamily="34" charset="-122"/>
                <a:cs typeface="Arial" pitchFamily="34" charset="-120"/>
              </a:rPr>
              <a:t>RS</a:t>
            </a:r>
            <a:endParaRPr lang="en-US" sz="1700" dirty="0"/>
          </a:p>
        </p:txBody>
      </p:sp>
      <p:sp>
        <p:nvSpPr>
          <p:cNvPr id="30" name="Text 28"/>
          <p:cNvSpPr txBox="1"/>
          <p:nvPr/>
        </p:nvSpPr>
        <p:spPr>
          <a:xfrm>
            <a:off x="5321808" y="4078224"/>
            <a:ext cx="2359152" cy="548640"/>
          </a:xfrm>
          <a:prstGeom prst="rect">
            <a:avLst/>
          </a:prstGeom>
          <a:noFill/>
          <a:ln/>
        </p:spPr>
        <p:txBody>
          <a:bodyPr wrap="square" lIns="0" tIns="0" rIns="0" bIns="0" rtlCol="0" anchor="ctr">
            <a:normAutofit/>
          </a:bodyPr>
          <a:lstStyle/>
          <a:p>
            <a:pPr indent="0" marL="0">
              <a:buNone/>
            </a:pPr>
            <a:r>
              <a:rPr lang="en-US" sz="1300" dirty="0">
                <a:solidFill>
                  <a:srgbClr val="5B6C81"/>
                </a:solidFill>
                <a:latin typeface="Arial" pitchFamily="34" charset="0"/>
                <a:ea typeface="Arial" pitchFamily="34" charset="-122"/>
                <a:cs typeface="Arial" pitchFamily="34" charset="-120"/>
              </a:rPr>
              <a:t>QA &amp; edge-case review</a:t>
            </a:r>
            <a:endParaRPr lang="en-US" sz="1300" dirty="0"/>
          </a:p>
        </p:txBody>
      </p:sp>
      <p:sp>
        <p:nvSpPr>
          <p:cNvPr id="31" name="Shape 29"/>
          <p:cNvSpPr/>
          <p:nvPr/>
        </p:nvSpPr>
        <p:spPr>
          <a:xfrm>
            <a:off x="8357616" y="3401568"/>
            <a:ext cx="3410712" cy="1417320"/>
          </a:xfrm>
          <a:prstGeom prst="roundRect">
            <a:avLst>
              <a:gd name="adj" fmla="val 10323"/>
            </a:avLst>
          </a:prstGeom>
          <a:solidFill>
            <a:srgbClr val="FFFFFF"/>
          </a:solidFill>
          <a:ln w="15240">
            <a:solidFill>
              <a:srgbClr val="C8D6E8"/>
            </a:solidFill>
            <a:prstDash val="solid"/>
          </a:ln>
        </p:spPr>
      </p:sp>
      <p:sp>
        <p:nvSpPr>
          <p:cNvPr id="32" name="Shape 30"/>
          <p:cNvSpPr/>
          <p:nvPr/>
        </p:nvSpPr>
        <p:spPr>
          <a:xfrm>
            <a:off x="8531352" y="3657600"/>
            <a:ext cx="502920" cy="502920"/>
          </a:xfrm>
          <a:prstGeom prst="ellipse">
            <a:avLst/>
          </a:prstGeom>
          <a:solidFill>
            <a:srgbClr val="7657A6"/>
          </a:solidFill>
          <a:ln w="12700">
            <a:solidFill>
              <a:srgbClr val="7657A6"/>
            </a:solidFill>
            <a:prstDash val="solid"/>
          </a:ln>
        </p:spPr>
      </p:sp>
      <p:sp>
        <p:nvSpPr>
          <p:cNvPr id="33" name="Text 31"/>
          <p:cNvSpPr txBox="1"/>
          <p:nvPr/>
        </p:nvSpPr>
        <p:spPr>
          <a:xfrm>
            <a:off x="8531352" y="3657600"/>
            <a:ext cx="502920" cy="50292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SS</a:t>
            </a:r>
            <a:endParaRPr lang="en-US" sz="1700" dirty="0"/>
          </a:p>
        </p:txBody>
      </p:sp>
      <p:sp>
        <p:nvSpPr>
          <p:cNvPr id="34" name="Text 32"/>
          <p:cNvSpPr txBox="1"/>
          <p:nvPr/>
        </p:nvSpPr>
        <p:spPr>
          <a:xfrm>
            <a:off x="9162288" y="3584448"/>
            <a:ext cx="2395728" cy="420624"/>
          </a:xfrm>
          <a:prstGeom prst="rect">
            <a:avLst/>
          </a:prstGeom>
          <a:noFill/>
          <a:ln/>
        </p:spPr>
        <p:txBody>
          <a:bodyPr wrap="square" lIns="0" tIns="0" rIns="0" bIns="0" rtlCol="0" anchor="ctr">
            <a:normAutofit/>
          </a:bodyPr>
          <a:lstStyle/>
          <a:p>
            <a:pPr indent="0" marL="0">
              <a:buNone/>
            </a:pPr>
            <a:r>
              <a:rPr lang="en-US" sz="1700" b="1" dirty="0">
                <a:solidFill>
                  <a:srgbClr val="172840"/>
                </a:solidFill>
                <a:latin typeface="Arial" pitchFamily="34" charset="0"/>
                <a:ea typeface="Arial" pitchFamily="34" charset="-122"/>
                <a:cs typeface="Arial" pitchFamily="34" charset="-120"/>
              </a:rPr>
              <a:t>Sweta Singh</a:t>
            </a:r>
            <a:endParaRPr lang="en-US" sz="1700" dirty="0"/>
          </a:p>
        </p:txBody>
      </p:sp>
      <p:sp>
        <p:nvSpPr>
          <p:cNvPr id="35" name="Text 33"/>
          <p:cNvSpPr txBox="1"/>
          <p:nvPr/>
        </p:nvSpPr>
        <p:spPr>
          <a:xfrm>
            <a:off x="9171432" y="4078224"/>
            <a:ext cx="2359152" cy="548640"/>
          </a:xfrm>
          <a:prstGeom prst="rect">
            <a:avLst/>
          </a:prstGeom>
          <a:noFill/>
          <a:ln/>
        </p:spPr>
        <p:txBody>
          <a:bodyPr wrap="square" lIns="0" tIns="0" rIns="0" bIns="0" rtlCol="0" anchor="ctr">
            <a:normAutofit/>
          </a:bodyPr>
          <a:lstStyle/>
          <a:p>
            <a:pPr indent="0" marL="0">
              <a:buNone/>
            </a:pPr>
            <a:r>
              <a:rPr lang="en-US" sz="1300" dirty="0">
                <a:solidFill>
                  <a:srgbClr val="5B6C81"/>
                </a:solidFill>
                <a:latin typeface="Arial" pitchFamily="34" charset="0"/>
                <a:ea typeface="Arial" pitchFamily="34" charset="-122"/>
                <a:cs typeface="Arial" pitchFamily="34" charset="-120"/>
              </a:rPr>
              <a:t>Course linkage &amp; explanation</a:t>
            </a:r>
            <a:endParaRPr lang="en-US" sz="1300" dirty="0"/>
          </a:p>
        </p:txBody>
      </p:sp>
      <p:sp>
        <p:nvSpPr>
          <p:cNvPr id="36" name="Shape 34"/>
          <p:cNvSpPr/>
          <p:nvPr/>
        </p:nvSpPr>
        <p:spPr>
          <a:xfrm>
            <a:off x="713232" y="5541264"/>
            <a:ext cx="10762488" cy="484632"/>
          </a:xfrm>
          <a:prstGeom prst="roundRect">
            <a:avLst>
              <a:gd name="adj" fmla="val 30189"/>
            </a:avLst>
          </a:prstGeom>
          <a:solidFill>
            <a:srgbClr val="F8E7BF"/>
          </a:solidFill>
          <a:ln w="15240">
            <a:solidFill>
              <a:srgbClr val="B06A14"/>
            </a:solidFill>
            <a:prstDash val="solid"/>
          </a:ln>
        </p:spPr>
      </p:sp>
      <p:sp>
        <p:nvSpPr>
          <p:cNvPr id="37" name="Text 35"/>
          <p:cNvSpPr txBox="1"/>
          <p:nvPr/>
        </p:nvSpPr>
        <p:spPr>
          <a:xfrm>
            <a:off x="905256" y="5641848"/>
            <a:ext cx="10332720" cy="256032"/>
          </a:xfrm>
          <a:prstGeom prst="rect">
            <a:avLst/>
          </a:prstGeom>
          <a:noFill/>
          <a:ln/>
        </p:spPr>
        <p:txBody>
          <a:bodyPr wrap="square" lIns="0" tIns="0" rIns="0" bIns="0" rtlCol="0" anchor="ctr">
            <a:normAutofit/>
          </a:bodyPr>
          <a:lstStyle/>
          <a:p>
            <a:pPr indent="0" marL="0">
              <a:buNone/>
            </a:pPr>
            <a:r>
              <a:rPr lang="en-US" sz="1200" b="1" dirty="0">
                <a:solidFill>
                  <a:srgbClr val="B06A14"/>
                </a:solidFill>
                <a:latin typeface="Arial" pitchFamily="34" charset="0"/>
                <a:ea typeface="Arial" pitchFamily="34" charset="-122"/>
                <a:cs typeface="Arial" pitchFamily="34" charset="-120"/>
              </a:rPr>
              <a:t>Proposed ownership for discussion—not a record of completed coding. Confirm names and actual work before submission.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203B"/>
        </a:solidFill>
      </p:bgPr>
    </p:bg>
    <p:spTree>
      <p:nvGrpSpPr>
        <p:cNvPr id="1" name=""/>
        <p:cNvGrpSpPr/>
        <p:nvPr/>
      </p:nvGrpSpPr>
      <p:grpSpPr>
        <a:xfrm>
          <a:off x="0" y="0"/>
          <a:ext cx="0" cy="0"/>
          <a:chOff x="0" y="0"/>
          <a:chExt cx="0" cy="0"/>
        </a:xfrm>
      </p:grpSpPr>
      <p:sp>
        <p:nvSpPr>
          <p:cNvPr id="2" name="Text 0"/>
          <p:cNvSpPr txBox="1"/>
          <p:nvPr/>
        </p:nvSpPr>
        <p:spPr>
          <a:xfrm>
            <a:off x="530352" y="347472"/>
            <a:ext cx="10058400" cy="228600"/>
          </a:xfrm>
          <a:prstGeom prst="rect">
            <a:avLst/>
          </a:prstGeom>
          <a:noFill/>
          <a:ln/>
        </p:spPr>
        <p:txBody>
          <a:bodyPr wrap="square" lIns="0" tIns="0" rIns="0" bIns="0" rtlCol="0" anchor="ctr">
            <a:normAutofit/>
          </a:bodyPr>
          <a:lstStyle/>
          <a:p>
            <a:pPr indent="0" marL="0">
              <a:buNone/>
            </a:pPr>
            <a:r>
              <a:rPr lang="en-US" sz="1000" b="1" spc="130" kern="0" dirty="0">
                <a:solidFill>
                  <a:srgbClr val="9CCFE5"/>
                </a:solidFill>
                <a:latin typeface="Arial" pitchFamily="34" charset="0"/>
                <a:ea typeface="Arial" pitchFamily="34" charset="-122"/>
                <a:cs typeface="Arial" pitchFamily="34" charset="-120"/>
              </a:rPr>
              <a:t>15 / PRESENTER MEMORY CUES</a:t>
            </a:r>
            <a:endParaRPr lang="en-US" sz="1000" dirty="0"/>
          </a:p>
        </p:txBody>
      </p:sp>
      <p:sp>
        <p:nvSpPr>
          <p:cNvPr id="3" name="Text 1"/>
          <p:cNvSpPr txBox="1"/>
          <p:nvPr/>
        </p:nvSpPr>
        <p:spPr>
          <a:xfrm>
            <a:off x="530352" y="685800"/>
            <a:ext cx="11109960" cy="566928"/>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Arial" pitchFamily="34" charset="0"/>
                <a:ea typeface="Arial" pitchFamily="34" charset="-122"/>
                <a:cs typeface="Arial" pitchFamily="34" charset="-120"/>
              </a:rPr>
              <a:t>The seven code locations to remember</a:t>
            </a:r>
            <a:endParaRPr lang="en-US" sz="3100" dirty="0"/>
          </a:p>
        </p:txBody>
      </p:sp>
      <p:sp>
        <p:nvSpPr>
          <p:cNvPr id="4" name="Text 2"/>
          <p:cNvSpPr txBox="1"/>
          <p:nvPr/>
        </p:nvSpPr>
        <p:spPr>
          <a:xfrm>
            <a:off x="530352" y="6510528"/>
            <a:ext cx="6400800" cy="164592"/>
          </a:xfrm>
          <a:prstGeom prst="rect">
            <a:avLst/>
          </a:prstGeom>
          <a:noFill/>
          <a:ln/>
        </p:spPr>
        <p:txBody>
          <a:bodyPr wrap="square" lIns="0" tIns="0" rIns="0" bIns="0" rtlCol="0" anchor="ctr">
            <a:normAutofit/>
          </a:bodyPr>
          <a:lstStyle/>
          <a:p>
            <a:pPr indent="0" marL="0">
              <a:buNone/>
            </a:pPr>
            <a:r>
              <a:rPr lang="en-US" sz="900" dirty="0">
                <a:solidFill>
                  <a:srgbClr val="A9BDD7"/>
                </a:solidFill>
                <a:latin typeface="Arial" pitchFamily="34" charset="0"/>
                <a:ea typeface="Arial" pitchFamily="34" charset="-122"/>
                <a:cs typeface="Arial" pitchFamily="34" charset="-120"/>
              </a:rPr>
              <a:t>InvestigateIQ  /  Capstone Group 7</a:t>
            </a:r>
            <a:endParaRPr lang="en-US" sz="900" dirty="0"/>
          </a:p>
        </p:txBody>
      </p:sp>
      <p:sp>
        <p:nvSpPr>
          <p:cNvPr id="5" name="Text 3"/>
          <p:cNvSpPr txBox="1"/>
          <p:nvPr/>
        </p:nvSpPr>
        <p:spPr>
          <a:xfrm>
            <a:off x="11064240" y="6492240"/>
            <a:ext cx="548640" cy="164592"/>
          </a:xfrm>
          <a:prstGeom prst="rect">
            <a:avLst/>
          </a:prstGeom>
          <a:noFill/>
          <a:ln/>
        </p:spPr>
        <p:txBody>
          <a:bodyPr wrap="square" lIns="0" tIns="0" rIns="0" bIns="0" rtlCol="0" anchor="ctr">
            <a:normAutofit/>
          </a:bodyPr>
          <a:lstStyle/>
          <a:p>
            <a:pPr algn="r" indent="0" marL="0">
              <a:buNone/>
            </a:pPr>
            <a:r>
              <a:rPr lang="en-US" sz="900" dirty="0">
                <a:solidFill>
                  <a:srgbClr val="A9BDD7"/>
                </a:solidFill>
                <a:latin typeface="Arial" pitchFamily="34" charset="0"/>
                <a:ea typeface="Arial" pitchFamily="34" charset="-122"/>
                <a:cs typeface="Arial" pitchFamily="34" charset="-120"/>
              </a:rPr>
              <a:t>16</a:t>
            </a:r>
            <a:endParaRPr lang="en-US" sz="900" dirty="0"/>
          </a:p>
        </p:txBody>
      </p:sp>
      <p:sp>
        <p:nvSpPr>
          <p:cNvPr id="6" name="Shape 4"/>
          <p:cNvSpPr/>
          <p:nvPr/>
        </p:nvSpPr>
        <p:spPr>
          <a:xfrm>
            <a:off x="685800" y="1435608"/>
            <a:ext cx="384048" cy="384048"/>
          </a:xfrm>
          <a:prstGeom prst="ellipse">
            <a:avLst/>
          </a:prstGeom>
          <a:solidFill>
            <a:srgbClr val="087E8B"/>
          </a:solidFill>
          <a:ln w="12700">
            <a:solidFill>
              <a:srgbClr val="087E8B"/>
            </a:solidFill>
            <a:prstDash val="solid"/>
          </a:ln>
        </p:spPr>
      </p:sp>
      <p:sp>
        <p:nvSpPr>
          <p:cNvPr id="7" name="Text 5"/>
          <p:cNvSpPr txBox="1"/>
          <p:nvPr/>
        </p:nvSpPr>
        <p:spPr>
          <a:xfrm>
            <a:off x="685800" y="1435608"/>
            <a:ext cx="384048" cy="38404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txBox="1"/>
          <p:nvPr/>
        </p:nvSpPr>
        <p:spPr>
          <a:xfrm>
            <a:off x="1261872" y="1371600"/>
            <a:ext cx="1216152" cy="457200"/>
          </a:xfrm>
          <a:prstGeom prst="rect">
            <a:avLst/>
          </a:prstGeom>
          <a:noFill/>
          <a:ln/>
        </p:spPr>
        <p:txBody>
          <a:bodyPr wrap="square" lIns="0" tIns="0" rIns="0" bIns="0" rtlCol="0" anchor="ctr">
            <a:normAutofit/>
          </a:bodyPr>
          <a:lstStyle/>
          <a:p>
            <a:pPr indent="0" marL="0">
              <a:buNone/>
            </a:pPr>
            <a:r>
              <a:rPr lang="en-US" sz="1400" b="1" dirty="0">
                <a:solidFill>
                  <a:srgbClr val="9FE4E5"/>
                </a:solidFill>
                <a:latin typeface="Arial" pitchFamily="34" charset="0"/>
                <a:ea typeface="Arial" pitchFamily="34" charset="-122"/>
                <a:cs typeface="Arial" pitchFamily="34" charset="-120"/>
              </a:rPr>
              <a:t>INPUT</a:t>
            </a:r>
            <a:endParaRPr lang="en-US" sz="1400" dirty="0"/>
          </a:p>
        </p:txBody>
      </p:sp>
      <p:sp>
        <p:nvSpPr>
          <p:cNvPr id="9" name="Text 7"/>
          <p:cNvSpPr txBox="1"/>
          <p:nvPr/>
        </p:nvSpPr>
        <p:spPr>
          <a:xfrm>
            <a:off x="2532888" y="1371600"/>
            <a:ext cx="4078224"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data/build_database.py</a:t>
            </a:r>
            <a:endParaRPr lang="en-US" sz="1400" dirty="0"/>
          </a:p>
        </p:txBody>
      </p:sp>
      <p:sp>
        <p:nvSpPr>
          <p:cNvPr id="10" name="Text 8"/>
          <p:cNvSpPr txBox="1"/>
          <p:nvPr/>
        </p:nvSpPr>
        <p:spPr>
          <a:xfrm>
            <a:off x="6647688" y="1371600"/>
            <a:ext cx="4846320" cy="457200"/>
          </a:xfrm>
          <a:prstGeom prst="rect">
            <a:avLst/>
          </a:prstGeom>
          <a:noFill/>
          <a:ln/>
        </p:spPr>
        <p:txBody>
          <a:bodyPr wrap="square" lIns="0" tIns="0" rIns="0" bIns="0" rtlCol="0" anchor="ctr">
            <a:normAutofit/>
          </a:bodyPr>
          <a:lstStyle/>
          <a:p>
            <a:pPr indent="0" marL="0">
              <a:buNone/>
            </a:pPr>
            <a:r>
              <a:rPr lang="en-US" sz="1300" dirty="0">
                <a:solidFill>
                  <a:srgbClr val="C4D6E9"/>
                </a:solidFill>
                <a:latin typeface="Arial" pitchFamily="34" charset="0"/>
                <a:ea typeface="Arial" pitchFamily="34" charset="-122"/>
                <a:cs typeface="Arial" pitchFamily="34" charset="-120"/>
              </a:rPr>
              <a:t>Builds fictional source rows</a:t>
            </a:r>
            <a:endParaRPr lang="en-US" sz="1300" dirty="0"/>
          </a:p>
        </p:txBody>
      </p:sp>
      <p:sp>
        <p:nvSpPr>
          <p:cNvPr id="11" name="Shape 9"/>
          <p:cNvSpPr/>
          <p:nvPr/>
        </p:nvSpPr>
        <p:spPr>
          <a:xfrm>
            <a:off x="685800" y="2066544"/>
            <a:ext cx="384048" cy="384048"/>
          </a:xfrm>
          <a:prstGeom prst="ellipse">
            <a:avLst/>
          </a:prstGeom>
          <a:solidFill>
            <a:srgbClr val="2E67B7"/>
          </a:solidFill>
          <a:ln w="12700">
            <a:solidFill>
              <a:srgbClr val="2E67B7"/>
            </a:solidFill>
            <a:prstDash val="solid"/>
          </a:ln>
        </p:spPr>
      </p:sp>
      <p:sp>
        <p:nvSpPr>
          <p:cNvPr id="12" name="Text 10"/>
          <p:cNvSpPr txBox="1"/>
          <p:nvPr/>
        </p:nvSpPr>
        <p:spPr>
          <a:xfrm>
            <a:off x="685800" y="2066544"/>
            <a:ext cx="384048" cy="38404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txBox="1"/>
          <p:nvPr/>
        </p:nvSpPr>
        <p:spPr>
          <a:xfrm>
            <a:off x="1261872" y="2002536"/>
            <a:ext cx="1216152" cy="457200"/>
          </a:xfrm>
          <a:prstGeom prst="rect">
            <a:avLst/>
          </a:prstGeom>
          <a:noFill/>
          <a:ln/>
        </p:spPr>
        <p:txBody>
          <a:bodyPr wrap="square" lIns="0" tIns="0" rIns="0" bIns="0" rtlCol="0" anchor="ctr">
            <a:normAutofit/>
          </a:bodyPr>
          <a:lstStyle/>
          <a:p>
            <a:pPr indent="0" marL="0">
              <a:buNone/>
            </a:pPr>
            <a:r>
              <a:rPr lang="en-US" sz="1400" b="1" dirty="0">
                <a:solidFill>
                  <a:srgbClr val="9FE4E5"/>
                </a:solidFill>
                <a:latin typeface="Arial" pitchFamily="34" charset="0"/>
                <a:ea typeface="Arial" pitchFamily="34" charset="-122"/>
                <a:cs typeface="Arial" pitchFamily="34" charset="-120"/>
              </a:rPr>
              <a:t>ALERT</a:t>
            </a:r>
            <a:endParaRPr lang="en-US" sz="1400" dirty="0"/>
          </a:p>
        </p:txBody>
      </p:sp>
      <p:sp>
        <p:nvSpPr>
          <p:cNvPr id="14" name="Text 12"/>
          <p:cNvSpPr txBox="1"/>
          <p:nvPr/>
        </p:nvSpPr>
        <p:spPr>
          <a:xfrm>
            <a:off x="2532888" y="2002536"/>
            <a:ext cx="4078224"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data/incoming_monitor.py</a:t>
            </a:r>
            <a:endParaRPr lang="en-US" sz="1400" dirty="0"/>
          </a:p>
        </p:txBody>
      </p:sp>
      <p:sp>
        <p:nvSpPr>
          <p:cNvPr id="15" name="Text 13"/>
          <p:cNvSpPr txBox="1"/>
          <p:nvPr/>
        </p:nvSpPr>
        <p:spPr>
          <a:xfrm>
            <a:off x="6647688" y="2002536"/>
            <a:ext cx="4846320" cy="457200"/>
          </a:xfrm>
          <a:prstGeom prst="rect">
            <a:avLst/>
          </a:prstGeom>
          <a:noFill/>
          <a:ln/>
        </p:spPr>
        <p:txBody>
          <a:bodyPr wrap="square" lIns="0" tIns="0" rIns="0" bIns="0" rtlCol="0" anchor="ctr">
            <a:normAutofit/>
          </a:bodyPr>
          <a:lstStyle/>
          <a:p>
            <a:pPr indent="0" marL="0">
              <a:buNone/>
            </a:pPr>
            <a:r>
              <a:rPr lang="en-US" sz="1300" dirty="0">
                <a:solidFill>
                  <a:srgbClr val="C4D6E9"/>
                </a:solidFill>
                <a:latin typeface="Arial" pitchFamily="34" charset="0"/>
                <a:ea typeface="Arial" pitchFamily="34" charset="-122"/>
                <a:cs typeface="Arial" pitchFamily="34" charset="-120"/>
              </a:rPr>
              <a:t>Calculates 24-hour review signal</a:t>
            </a:r>
            <a:endParaRPr lang="en-US" sz="1300" dirty="0"/>
          </a:p>
        </p:txBody>
      </p:sp>
      <p:sp>
        <p:nvSpPr>
          <p:cNvPr id="16" name="Shape 14"/>
          <p:cNvSpPr/>
          <p:nvPr/>
        </p:nvSpPr>
        <p:spPr>
          <a:xfrm>
            <a:off x="685800" y="2697480"/>
            <a:ext cx="384048" cy="384048"/>
          </a:xfrm>
          <a:prstGeom prst="ellipse">
            <a:avLst/>
          </a:prstGeom>
          <a:solidFill>
            <a:srgbClr val="087E8B"/>
          </a:solidFill>
          <a:ln w="12700">
            <a:solidFill>
              <a:srgbClr val="087E8B"/>
            </a:solidFill>
            <a:prstDash val="solid"/>
          </a:ln>
        </p:spPr>
      </p:sp>
      <p:sp>
        <p:nvSpPr>
          <p:cNvPr id="17" name="Text 15"/>
          <p:cNvSpPr txBox="1"/>
          <p:nvPr/>
        </p:nvSpPr>
        <p:spPr>
          <a:xfrm>
            <a:off x="685800" y="2697480"/>
            <a:ext cx="384048" cy="38404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8" name="Text 16"/>
          <p:cNvSpPr txBox="1"/>
          <p:nvPr/>
        </p:nvSpPr>
        <p:spPr>
          <a:xfrm>
            <a:off x="1261872" y="2633472"/>
            <a:ext cx="1216152" cy="457200"/>
          </a:xfrm>
          <a:prstGeom prst="rect">
            <a:avLst/>
          </a:prstGeom>
          <a:noFill/>
          <a:ln/>
        </p:spPr>
        <p:txBody>
          <a:bodyPr wrap="square" lIns="0" tIns="0" rIns="0" bIns="0" rtlCol="0" anchor="ctr">
            <a:normAutofit/>
          </a:bodyPr>
          <a:lstStyle/>
          <a:p>
            <a:pPr indent="0" marL="0">
              <a:buNone/>
            </a:pPr>
            <a:r>
              <a:rPr lang="en-US" sz="1400" b="1" dirty="0">
                <a:solidFill>
                  <a:srgbClr val="9FE4E5"/>
                </a:solidFill>
                <a:latin typeface="Arial" pitchFamily="34" charset="0"/>
                <a:ea typeface="Arial" pitchFamily="34" charset="-122"/>
                <a:cs typeface="Arial" pitchFamily="34" charset="-120"/>
              </a:rPr>
              <a:t>FLOW</a:t>
            </a:r>
            <a:endParaRPr lang="en-US" sz="1400" dirty="0"/>
          </a:p>
        </p:txBody>
      </p:sp>
      <p:sp>
        <p:nvSpPr>
          <p:cNvPr id="19" name="Text 17"/>
          <p:cNvSpPr txBox="1"/>
          <p:nvPr/>
        </p:nvSpPr>
        <p:spPr>
          <a:xfrm>
            <a:off x="2532888" y="2633472"/>
            <a:ext cx="4078224"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agents/orchestrator.py</a:t>
            </a:r>
            <a:endParaRPr lang="en-US" sz="1400" dirty="0"/>
          </a:p>
        </p:txBody>
      </p:sp>
      <p:sp>
        <p:nvSpPr>
          <p:cNvPr id="20" name="Text 18"/>
          <p:cNvSpPr txBox="1"/>
          <p:nvPr/>
        </p:nvSpPr>
        <p:spPr>
          <a:xfrm>
            <a:off x="6647688" y="2633472"/>
            <a:ext cx="4846320" cy="457200"/>
          </a:xfrm>
          <a:prstGeom prst="rect">
            <a:avLst/>
          </a:prstGeom>
          <a:noFill/>
          <a:ln/>
        </p:spPr>
        <p:txBody>
          <a:bodyPr wrap="square" lIns="0" tIns="0" rIns="0" bIns="0" rtlCol="0" anchor="ctr">
            <a:normAutofit/>
          </a:bodyPr>
          <a:lstStyle/>
          <a:p>
            <a:pPr indent="0" marL="0">
              <a:buNone/>
            </a:pPr>
            <a:r>
              <a:rPr lang="en-US" sz="1300" dirty="0">
                <a:solidFill>
                  <a:srgbClr val="C4D6E9"/>
                </a:solidFill>
                <a:latin typeface="Arial" pitchFamily="34" charset="0"/>
                <a:ea typeface="Arial" pitchFamily="34" charset="-122"/>
                <a:cs typeface="Arial" pitchFamily="34" charset="-120"/>
              </a:rPr>
              <a:t>Runs six fixed stages</a:t>
            </a:r>
            <a:endParaRPr lang="en-US" sz="1300" dirty="0"/>
          </a:p>
        </p:txBody>
      </p:sp>
      <p:sp>
        <p:nvSpPr>
          <p:cNvPr id="21" name="Shape 19"/>
          <p:cNvSpPr/>
          <p:nvPr/>
        </p:nvSpPr>
        <p:spPr>
          <a:xfrm>
            <a:off x="685800" y="3328416"/>
            <a:ext cx="384048" cy="384048"/>
          </a:xfrm>
          <a:prstGeom prst="ellipse">
            <a:avLst/>
          </a:prstGeom>
          <a:solidFill>
            <a:srgbClr val="2E67B7"/>
          </a:solidFill>
          <a:ln w="12700">
            <a:solidFill>
              <a:srgbClr val="2E67B7"/>
            </a:solidFill>
            <a:prstDash val="solid"/>
          </a:ln>
        </p:spPr>
      </p:sp>
      <p:sp>
        <p:nvSpPr>
          <p:cNvPr id="22" name="Text 20"/>
          <p:cNvSpPr txBox="1"/>
          <p:nvPr/>
        </p:nvSpPr>
        <p:spPr>
          <a:xfrm>
            <a:off x="685800" y="3328416"/>
            <a:ext cx="384048" cy="38404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3" name="Text 21"/>
          <p:cNvSpPr txBox="1"/>
          <p:nvPr/>
        </p:nvSpPr>
        <p:spPr>
          <a:xfrm>
            <a:off x="1261872" y="3264408"/>
            <a:ext cx="1216152" cy="457200"/>
          </a:xfrm>
          <a:prstGeom prst="rect">
            <a:avLst/>
          </a:prstGeom>
          <a:noFill/>
          <a:ln/>
        </p:spPr>
        <p:txBody>
          <a:bodyPr wrap="square" lIns="0" tIns="0" rIns="0" bIns="0" rtlCol="0" anchor="ctr">
            <a:normAutofit/>
          </a:bodyPr>
          <a:lstStyle/>
          <a:p>
            <a:pPr indent="0" marL="0">
              <a:buNone/>
            </a:pPr>
            <a:r>
              <a:rPr lang="en-US" sz="1400" b="1" dirty="0">
                <a:solidFill>
                  <a:srgbClr val="9FE4E5"/>
                </a:solidFill>
                <a:latin typeface="Arial" pitchFamily="34" charset="0"/>
                <a:ea typeface="Arial" pitchFamily="34" charset="-122"/>
                <a:cs typeface="Arial" pitchFamily="34" charset="-120"/>
              </a:rPr>
              <a:t>RAG</a:t>
            </a:r>
            <a:endParaRPr lang="en-US" sz="1400" dirty="0"/>
          </a:p>
        </p:txBody>
      </p:sp>
      <p:sp>
        <p:nvSpPr>
          <p:cNvPr id="24" name="Text 22"/>
          <p:cNvSpPr txBox="1"/>
          <p:nvPr/>
        </p:nvSpPr>
        <p:spPr>
          <a:xfrm>
            <a:off x="2532888" y="3264408"/>
            <a:ext cx="4078224"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data/case_evidence.py</a:t>
            </a:r>
            <a:endParaRPr lang="en-US" sz="1400" dirty="0"/>
          </a:p>
        </p:txBody>
      </p:sp>
      <p:sp>
        <p:nvSpPr>
          <p:cNvPr id="25" name="Text 23"/>
          <p:cNvSpPr txBox="1"/>
          <p:nvPr/>
        </p:nvSpPr>
        <p:spPr>
          <a:xfrm>
            <a:off x="6647688" y="3264408"/>
            <a:ext cx="4846320" cy="457200"/>
          </a:xfrm>
          <a:prstGeom prst="rect">
            <a:avLst/>
          </a:prstGeom>
          <a:noFill/>
          <a:ln/>
        </p:spPr>
        <p:txBody>
          <a:bodyPr wrap="square" lIns="0" tIns="0" rIns="0" bIns="0" rtlCol="0" anchor="ctr">
            <a:normAutofit/>
          </a:bodyPr>
          <a:lstStyle/>
          <a:p>
            <a:pPr indent="0" marL="0">
              <a:buNone/>
            </a:pPr>
            <a:r>
              <a:rPr lang="en-US" sz="1300" dirty="0">
                <a:solidFill>
                  <a:srgbClr val="C4D6E9"/>
                </a:solidFill>
                <a:latin typeface="Arial" pitchFamily="34" charset="0"/>
                <a:ea typeface="Arial" pitchFamily="34" charset="-122"/>
                <a:cs typeface="Arial" pitchFamily="34" charset="-120"/>
              </a:rPr>
              <a:t>Makes case sources and chunks</a:t>
            </a:r>
            <a:endParaRPr lang="en-US" sz="1300" dirty="0"/>
          </a:p>
        </p:txBody>
      </p:sp>
      <p:sp>
        <p:nvSpPr>
          <p:cNvPr id="26" name="Shape 24"/>
          <p:cNvSpPr/>
          <p:nvPr/>
        </p:nvSpPr>
        <p:spPr>
          <a:xfrm>
            <a:off x="685800" y="3959352"/>
            <a:ext cx="384048" cy="384048"/>
          </a:xfrm>
          <a:prstGeom prst="ellipse">
            <a:avLst/>
          </a:prstGeom>
          <a:solidFill>
            <a:srgbClr val="087E8B"/>
          </a:solidFill>
          <a:ln w="12700">
            <a:solidFill>
              <a:srgbClr val="087E8B"/>
            </a:solidFill>
            <a:prstDash val="solid"/>
          </a:ln>
        </p:spPr>
      </p:sp>
      <p:sp>
        <p:nvSpPr>
          <p:cNvPr id="27" name="Text 25"/>
          <p:cNvSpPr txBox="1"/>
          <p:nvPr/>
        </p:nvSpPr>
        <p:spPr>
          <a:xfrm>
            <a:off x="685800" y="3959352"/>
            <a:ext cx="384048" cy="38404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8" name="Text 26"/>
          <p:cNvSpPr txBox="1"/>
          <p:nvPr/>
        </p:nvSpPr>
        <p:spPr>
          <a:xfrm>
            <a:off x="1261872" y="3895344"/>
            <a:ext cx="1216152" cy="457200"/>
          </a:xfrm>
          <a:prstGeom prst="rect">
            <a:avLst/>
          </a:prstGeom>
          <a:noFill/>
          <a:ln/>
        </p:spPr>
        <p:txBody>
          <a:bodyPr wrap="square" lIns="0" tIns="0" rIns="0" bIns="0" rtlCol="0" anchor="ctr">
            <a:normAutofit/>
          </a:bodyPr>
          <a:lstStyle/>
          <a:p>
            <a:pPr indent="0" marL="0">
              <a:buNone/>
            </a:pPr>
            <a:r>
              <a:rPr lang="en-US" sz="1400" b="1" dirty="0">
                <a:solidFill>
                  <a:srgbClr val="9FE4E5"/>
                </a:solidFill>
                <a:latin typeface="Arial" pitchFamily="34" charset="0"/>
                <a:ea typeface="Arial" pitchFamily="34" charset="-122"/>
                <a:cs typeface="Arial" pitchFamily="34" charset="-120"/>
              </a:rPr>
              <a:t>DRAFT</a:t>
            </a:r>
            <a:endParaRPr lang="en-US" sz="1400" dirty="0"/>
          </a:p>
        </p:txBody>
      </p:sp>
      <p:sp>
        <p:nvSpPr>
          <p:cNvPr id="29" name="Text 27"/>
          <p:cNvSpPr txBox="1"/>
          <p:nvPr/>
        </p:nvSpPr>
        <p:spPr>
          <a:xfrm>
            <a:off x="2532888" y="3895344"/>
            <a:ext cx="4078224"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agents/calculated_summary.py</a:t>
            </a:r>
            <a:endParaRPr lang="en-US" sz="1400" dirty="0"/>
          </a:p>
        </p:txBody>
      </p:sp>
      <p:sp>
        <p:nvSpPr>
          <p:cNvPr id="30" name="Text 28"/>
          <p:cNvSpPr txBox="1"/>
          <p:nvPr/>
        </p:nvSpPr>
        <p:spPr>
          <a:xfrm>
            <a:off x="6647688" y="3895344"/>
            <a:ext cx="4846320" cy="457200"/>
          </a:xfrm>
          <a:prstGeom prst="rect">
            <a:avLst/>
          </a:prstGeom>
          <a:noFill/>
          <a:ln/>
        </p:spPr>
        <p:txBody>
          <a:bodyPr wrap="square" lIns="0" tIns="0" rIns="0" bIns="0" rtlCol="0" anchor="ctr">
            <a:normAutofit/>
          </a:bodyPr>
          <a:lstStyle/>
          <a:p>
            <a:pPr indent="0" marL="0">
              <a:buNone/>
            </a:pPr>
            <a:r>
              <a:rPr lang="en-US" sz="1300" dirty="0">
                <a:solidFill>
                  <a:srgbClr val="C4D6E9"/>
                </a:solidFill>
                <a:latin typeface="Arial" pitchFamily="34" charset="0"/>
                <a:ea typeface="Arial" pitchFamily="34" charset="-122"/>
                <a:cs typeface="Arial" pitchFamily="34" charset="-120"/>
              </a:rPr>
              <a:t>Builds model-free source draft</a:t>
            </a:r>
            <a:endParaRPr lang="en-US" sz="1300" dirty="0"/>
          </a:p>
        </p:txBody>
      </p:sp>
      <p:sp>
        <p:nvSpPr>
          <p:cNvPr id="31" name="Shape 29"/>
          <p:cNvSpPr/>
          <p:nvPr/>
        </p:nvSpPr>
        <p:spPr>
          <a:xfrm>
            <a:off x="685800" y="4590288"/>
            <a:ext cx="384048" cy="384048"/>
          </a:xfrm>
          <a:prstGeom prst="ellipse">
            <a:avLst/>
          </a:prstGeom>
          <a:solidFill>
            <a:srgbClr val="2E67B7"/>
          </a:solidFill>
          <a:ln w="12700">
            <a:solidFill>
              <a:srgbClr val="2E67B7"/>
            </a:solidFill>
            <a:prstDash val="solid"/>
          </a:ln>
        </p:spPr>
      </p:sp>
      <p:sp>
        <p:nvSpPr>
          <p:cNvPr id="32" name="Text 30"/>
          <p:cNvSpPr txBox="1"/>
          <p:nvPr/>
        </p:nvSpPr>
        <p:spPr>
          <a:xfrm>
            <a:off x="685800" y="4590288"/>
            <a:ext cx="384048" cy="38404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33" name="Text 31"/>
          <p:cNvSpPr txBox="1"/>
          <p:nvPr/>
        </p:nvSpPr>
        <p:spPr>
          <a:xfrm>
            <a:off x="1261872" y="4526280"/>
            <a:ext cx="1216152" cy="457200"/>
          </a:xfrm>
          <a:prstGeom prst="rect">
            <a:avLst/>
          </a:prstGeom>
          <a:noFill/>
          <a:ln/>
        </p:spPr>
        <p:txBody>
          <a:bodyPr wrap="square" lIns="0" tIns="0" rIns="0" bIns="0" rtlCol="0" anchor="ctr">
            <a:normAutofit/>
          </a:bodyPr>
          <a:lstStyle/>
          <a:p>
            <a:pPr indent="0" marL="0">
              <a:buNone/>
            </a:pPr>
            <a:r>
              <a:rPr lang="en-US" sz="1400" b="1" dirty="0">
                <a:solidFill>
                  <a:srgbClr val="9FE4E5"/>
                </a:solidFill>
                <a:latin typeface="Arial" pitchFamily="34" charset="0"/>
                <a:ea typeface="Arial" pitchFamily="34" charset="-122"/>
                <a:cs typeface="Arial" pitchFamily="34" charset="-120"/>
              </a:rPr>
              <a:t>CHECK</a:t>
            </a:r>
            <a:endParaRPr lang="en-US" sz="1400" dirty="0"/>
          </a:p>
        </p:txBody>
      </p:sp>
      <p:sp>
        <p:nvSpPr>
          <p:cNvPr id="34" name="Text 32"/>
          <p:cNvSpPr txBox="1"/>
          <p:nvPr/>
        </p:nvSpPr>
        <p:spPr>
          <a:xfrm>
            <a:off x="2532888" y="4526280"/>
            <a:ext cx="4078224"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agents/grounding_validator.py</a:t>
            </a:r>
            <a:endParaRPr lang="en-US" sz="1400" dirty="0"/>
          </a:p>
        </p:txBody>
      </p:sp>
      <p:sp>
        <p:nvSpPr>
          <p:cNvPr id="35" name="Text 33"/>
          <p:cNvSpPr txBox="1"/>
          <p:nvPr/>
        </p:nvSpPr>
        <p:spPr>
          <a:xfrm>
            <a:off x="6647688" y="4526280"/>
            <a:ext cx="4846320" cy="457200"/>
          </a:xfrm>
          <a:prstGeom prst="rect">
            <a:avLst/>
          </a:prstGeom>
          <a:noFill/>
          <a:ln/>
        </p:spPr>
        <p:txBody>
          <a:bodyPr wrap="square" lIns="0" tIns="0" rIns="0" bIns="0" rtlCol="0" anchor="ctr">
            <a:normAutofit/>
          </a:bodyPr>
          <a:lstStyle/>
          <a:p>
            <a:pPr indent="0" marL="0">
              <a:buNone/>
            </a:pPr>
            <a:r>
              <a:rPr lang="en-US" sz="1300" dirty="0">
                <a:solidFill>
                  <a:srgbClr val="C4D6E9"/>
                </a:solidFill>
                <a:latin typeface="Arial" pitchFamily="34" charset="0"/>
                <a:ea typeface="Arial" pitchFamily="34" charset="-122"/>
                <a:cs typeface="Arial" pitchFamily="34" charset="-120"/>
              </a:rPr>
              <a:t>Checks selected claims and IDs</a:t>
            </a:r>
            <a:endParaRPr lang="en-US" sz="1300" dirty="0"/>
          </a:p>
        </p:txBody>
      </p:sp>
      <p:sp>
        <p:nvSpPr>
          <p:cNvPr id="36" name="Shape 34"/>
          <p:cNvSpPr/>
          <p:nvPr/>
        </p:nvSpPr>
        <p:spPr>
          <a:xfrm>
            <a:off x="685800" y="5221224"/>
            <a:ext cx="384048" cy="384048"/>
          </a:xfrm>
          <a:prstGeom prst="ellipse">
            <a:avLst/>
          </a:prstGeom>
          <a:solidFill>
            <a:srgbClr val="087E8B"/>
          </a:solidFill>
          <a:ln w="12700">
            <a:solidFill>
              <a:srgbClr val="087E8B"/>
            </a:solidFill>
            <a:prstDash val="solid"/>
          </a:ln>
        </p:spPr>
      </p:sp>
      <p:sp>
        <p:nvSpPr>
          <p:cNvPr id="37" name="Text 35"/>
          <p:cNvSpPr txBox="1"/>
          <p:nvPr/>
        </p:nvSpPr>
        <p:spPr>
          <a:xfrm>
            <a:off x="685800" y="5221224"/>
            <a:ext cx="384048" cy="38404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38" name="Text 36"/>
          <p:cNvSpPr txBox="1"/>
          <p:nvPr/>
        </p:nvSpPr>
        <p:spPr>
          <a:xfrm>
            <a:off x="1261872" y="5157216"/>
            <a:ext cx="1216152" cy="457200"/>
          </a:xfrm>
          <a:prstGeom prst="rect">
            <a:avLst/>
          </a:prstGeom>
          <a:noFill/>
          <a:ln/>
        </p:spPr>
        <p:txBody>
          <a:bodyPr wrap="square" lIns="0" tIns="0" rIns="0" bIns="0" rtlCol="0" anchor="ctr">
            <a:normAutofit/>
          </a:bodyPr>
          <a:lstStyle/>
          <a:p>
            <a:pPr indent="0" marL="0">
              <a:buNone/>
            </a:pPr>
            <a:r>
              <a:rPr lang="en-US" sz="1400" b="1" dirty="0">
                <a:solidFill>
                  <a:srgbClr val="9FE4E5"/>
                </a:solidFill>
                <a:latin typeface="Arial" pitchFamily="34" charset="0"/>
                <a:ea typeface="Arial" pitchFamily="34" charset="-122"/>
                <a:cs typeface="Arial" pitchFamily="34" charset="-120"/>
              </a:rPr>
              <a:t>DECIDE</a:t>
            </a:r>
            <a:endParaRPr lang="en-US" sz="1400" dirty="0"/>
          </a:p>
        </p:txBody>
      </p:sp>
      <p:sp>
        <p:nvSpPr>
          <p:cNvPr id="39" name="Text 37"/>
          <p:cNvSpPr txBox="1"/>
          <p:nvPr/>
        </p:nvSpPr>
        <p:spPr>
          <a:xfrm>
            <a:off x="2532888" y="5157216"/>
            <a:ext cx="4078224" cy="457200"/>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Arial" pitchFamily="34" charset="0"/>
                <a:ea typeface="Arial" pitchFamily="34" charset="-122"/>
                <a:cs typeface="Arial" pitchFamily="34" charset="-120"/>
              </a:rPr>
              <a:t>data/runtime_db.py</a:t>
            </a:r>
            <a:endParaRPr lang="en-US" sz="1400" dirty="0"/>
          </a:p>
        </p:txBody>
      </p:sp>
      <p:sp>
        <p:nvSpPr>
          <p:cNvPr id="40" name="Text 38"/>
          <p:cNvSpPr txBox="1"/>
          <p:nvPr/>
        </p:nvSpPr>
        <p:spPr>
          <a:xfrm>
            <a:off x="6647688" y="5157216"/>
            <a:ext cx="4846320" cy="457200"/>
          </a:xfrm>
          <a:prstGeom prst="rect">
            <a:avLst/>
          </a:prstGeom>
          <a:noFill/>
          <a:ln/>
        </p:spPr>
        <p:txBody>
          <a:bodyPr wrap="square" lIns="0" tIns="0" rIns="0" bIns="0" rtlCol="0" anchor="ctr">
            <a:normAutofit/>
          </a:bodyPr>
          <a:lstStyle/>
          <a:p>
            <a:pPr indent="0" marL="0">
              <a:buNone/>
            </a:pPr>
            <a:r>
              <a:rPr lang="en-US" sz="1300" dirty="0">
                <a:solidFill>
                  <a:srgbClr val="C4D6E9"/>
                </a:solidFill>
                <a:latin typeface="Arial" pitchFamily="34" charset="0"/>
                <a:ea typeface="Arial" pitchFamily="34" charset="-122"/>
                <a:cs typeface="Arial" pitchFamily="34" charset="-120"/>
              </a:rPr>
              <a:t>Persists human action and audit</a:t>
            </a:r>
            <a:endParaRPr lang="en-US" sz="1300" dirty="0"/>
          </a:p>
        </p:txBody>
      </p:sp>
      <p:sp>
        <p:nvSpPr>
          <p:cNvPr id="41" name="Text 39"/>
          <p:cNvSpPr txBox="1"/>
          <p:nvPr/>
        </p:nvSpPr>
        <p:spPr>
          <a:xfrm>
            <a:off x="749808" y="5980176"/>
            <a:ext cx="10744200" cy="347472"/>
          </a:xfrm>
          <a:prstGeom prst="rect">
            <a:avLst/>
          </a:prstGeom>
          <a:noFill/>
          <a:ln/>
        </p:spPr>
        <p:txBody>
          <a:bodyPr wrap="square" lIns="0" tIns="0" rIns="0" bIns="0" rtlCol="0" anchor="ctr">
            <a:normAutofit/>
          </a:bodyPr>
          <a:lstStyle/>
          <a:p>
            <a:pPr algn="ctr" indent="0" marL="0">
              <a:buNone/>
            </a:pPr>
            <a:r>
              <a:rPr lang="en-US" sz="2000" b="1" dirty="0">
                <a:solidFill>
                  <a:srgbClr val="F7D991"/>
                </a:solidFill>
                <a:latin typeface="Arial" pitchFamily="34" charset="0"/>
                <a:ea typeface="Arial" pitchFamily="34" charset="-122"/>
                <a:cs typeface="Arial" pitchFamily="34" charset="-120"/>
              </a:rPr>
              <a:t>“The rules flag. The evidence informs. The human decides.”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Capstone Group 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InvestigateIQ | Technical Flow and Code Walkthrough</dc:title>
  <dc:subject>Verified technical flow of the InvestigateIQ course prototype</dc:subject>
  <dc:creator>InvestigateIQ</dc:creator>
  <cp:lastModifiedBy>InvestigateIQ</cp:lastModifiedBy>
  <cp:revision>1</cp:revision>
  <dcterms:created xsi:type="dcterms:W3CDTF">2026-10-02T01:51:47Z</dcterms:created>
  <dcterms:modified xsi:type="dcterms:W3CDTF">2026-10-02T01:51:47Z</dcterms:modified>
</cp:coreProperties>
</file>