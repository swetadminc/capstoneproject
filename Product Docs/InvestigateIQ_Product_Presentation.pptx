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opens in 25 seconds. State that this is a fictional AML learning product. The deck uses 5 minutes 35 seconds, then the demo and questions share the remainder of the 15-minute session; FAQ slides are appendix material only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35 seconds. Read the statement, selected track, and non-goals. Introduce the team in the displayed order and say that Soumya presents while Laxman is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30 seconds. Move left to right through the flow. Emphasize human decision ownership and separate Compliance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40 seconds. Define evidence confidence as deterministic support coverage. It is not a risk score, probability of crime, legality assessment, or recommended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55 seconds. OKF is Open Knowledge Format: a source record with stable metadata and body text. Explain C0 metadata and two-sentence chunks, then local SQLite FTS5 keyword search and BM25 ranking. Say retrieval finds text; it does not prove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55 seconds. Point to the upper row first: a selected case loads stored fictional evidence, the specialist components build structured inputs, the Summary Agent optionally drafts, the validator checks selected claims, and a human records the action. Then point to the lower row: OKF guidance is chunked, FTS5/BM25 retrieves lexical matches, and exact cited chunks return to the report. Say clearly that retrieval is not proof, the validator reduces selected risks but cannot guarantee truth, and no action is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45 seconds to explain the demo plan, then performs it. Start with a documented closed case to show evidence access, then use the open/escalated case for the investigation. Do not submit an investigator or Compliance action, create intake data, reset decisions, or reveal an Admin passcode. Speak only about what is under the 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50 seconds. Say this is an ROI measurement framework, not an invented financial result. Name the four value levers and future sequence. A real ROI needs a baseline, approved costs, and verified pilot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after the live demo. Soumya closes in 15 seconds and uses the FAQ appendix only if a relevant question is asked. Questions, demo, and slides all fit within the 15-minute session; no separate Q&amp;A allocation is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only—do not present unless asked. Soumya can state: the data is fictional; retrieval is lexical FTS5/BM25 over scoped local text; citations are review pointers,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only—do not present unless asked. Do not say the validator eliminates hallucination. Say it reduces specific risks and cannot guarantee factual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only—do not present unless asked. State clearly that the Admin passcode is not disclosed, the demo is not RBAC, and ROI is a pilot measurement framework rather than a financial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C:\D\IIT Mumbai\Capstone Blueprint\assets\walkthrough_screens\2026_home_guest.png">    </p:cNvPr>
          <p:cNvPicPr>
            <a:picLocks noChangeAspect="1"/>
          </p:cNvPicPr>
          <p:nvPr/>
        </p:nvPicPr>
        <p:blipFill>
          <a:blip r:embed="rId1">
            <a:alphaModFix amt="79000"/>
          </a:blip>
          <a:stretch>
            <a:fillRect/>
          </a:stretch>
        </p:blipFill>
        <p:spPr>
          <a:xfrm>
            <a:off x="6492240" y="0"/>
            <a:ext cx="5696712" cy="6858000"/>
          </a:xfrm>
          <a:prstGeom prst="rect">
            <a:avLst/>
          </a:prstGeom>
        </p:spPr>
      </p:pic>
      <p:sp>
        <p:nvSpPr>
          <p:cNvPr id="3" name="Shape 0"/>
          <p:cNvSpPr/>
          <p:nvPr/>
        </p:nvSpPr>
        <p:spPr>
          <a:xfrm>
            <a:off x="0" y="0"/>
            <a:ext cx="7132320" cy="6858000"/>
          </a:xfrm>
          <a:prstGeom prst="rect">
            <a:avLst/>
          </a:prstGeom>
          <a:solidFill>
            <a:srgbClr val="0B1F3A">
              <a:alpha val="99000"/>
            </a:srgbClr>
          </a:solidFill>
          <a:ln w="12700">
            <a:solidFill>
              <a:srgbClr val="0B1F3A">
                <a:alpha val="0"/>
              </a:srgbClr>
            </a:solidFill>
            <a:prstDash val="solid"/>
          </a:ln>
        </p:spPr>
      </p:sp>
      <p:sp>
        <p:nvSpPr>
          <p:cNvPr id="4" name="Shape 1"/>
          <p:cNvSpPr/>
          <p:nvPr/>
        </p:nvSpPr>
        <p:spPr>
          <a:xfrm>
            <a:off x="676656" y="694944"/>
            <a:ext cx="1737360" cy="292608"/>
          </a:xfrm>
          <a:prstGeom prst="roundRect">
            <a:avLst>
              <a:gd name="adj" fmla="val 37500"/>
            </a:avLst>
          </a:prstGeom>
          <a:solidFill>
            <a:srgbClr val="00A79D"/>
          </a:solidFill>
          <a:ln w="12700">
            <a:solidFill>
              <a:srgbClr val="00A79D">
                <a:alpha val="0"/>
              </a:srgbClr>
            </a:solidFill>
            <a:prstDash val="solid"/>
          </a:ln>
        </p:spPr>
      </p:sp>
      <p:sp>
        <p:nvSpPr>
          <p:cNvPr id="5" name="Text 2"/>
          <p:cNvSpPr txBox="1"/>
          <p:nvPr/>
        </p:nvSpPr>
        <p:spPr>
          <a:xfrm>
            <a:off x="768096" y="740664"/>
            <a:ext cx="1554480" cy="13716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CAPSTONE GROUP 7</a:t>
            </a:r>
            <a:endParaRPr lang="en-US" sz="1000" dirty="0"/>
          </a:p>
        </p:txBody>
      </p:sp>
      <p:sp>
        <p:nvSpPr>
          <p:cNvPr id="6" name="Text 3"/>
          <p:cNvSpPr txBox="1"/>
          <p:nvPr/>
        </p:nvSpPr>
        <p:spPr>
          <a:xfrm>
            <a:off x="676656" y="1298448"/>
            <a:ext cx="5120640" cy="566928"/>
          </a:xfrm>
          <a:prstGeom prst="rect">
            <a:avLst/>
          </a:prstGeom>
          <a:noFill/>
          <a:ln/>
        </p:spPr>
        <p:txBody>
          <a:bodyPr wrap="square" lIns="0" tIns="0" rIns="0" bIns="0" rtlCol="0" anchor="ctr">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InvestigateIQ</a:t>
            </a:r>
            <a:endParaRPr lang="en-US" sz="4200" dirty="0"/>
          </a:p>
        </p:txBody>
      </p:sp>
      <p:sp>
        <p:nvSpPr>
          <p:cNvPr id="7" name="Text 4"/>
          <p:cNvSpPr txBox="1"/>
          <p:nvPr/>
        </p:nvSpPr>
        <p:spPr>
          <a:xfrm>
            <a:off x="704088" y="2084832"/>
            <a:ext cx="4937760" cy="320040"/>
          </a:xfrm>
          <a:prstGeom prst="rect">
            <a:avLst/>
          </a:prstGeom>
          <a:noFill/>
          <a:ln/>
        </p:spPr>
        <p:txBody>
          <a:bodyPr wrap="square" lIns="0" tIns="0" rIns="0" bIns="0" rtlCol="0" anchor="ctr">
            <a:normAutofit/>
          </a:bodyPr>
          <a:lstStyle/>
          <a:p>
            <a:pPr algn="l" indent="0" marL="0">
              <a:buNone/>
            </a:pPr>
            <a:r>
              <a:rPr lang="en-US" sz="2200" b="1" dirty="0">
                <a:solidFill>
                  <a:srgbClr val="78DCD4"/>
                </a:solidFill>
                <a:latin typeface="Arial" pitchFamily="34" charset="0"/>
                <a:ea typeface="Arial" pitchFamily="34" charset="-122"/>
                <a:cs typeface="Arial" pitchFamily="34" charset="-120"/>
              </a:rPr>
              <a:t>Trace the evidence. Own the decision.</a:t>
            </a:r>
            <a:endParaRPr lang="en-US" sz="2200" dirty="0"/>
          </a:p>
        </p:txBody>
      </p:sp>
      <p:sp>
        <p:nvSpPr>
          <p:cNvPr id="8" name="Text 5"/>
          <p:cNvSpPr txBox="1"/>
          <p:nvPr/>
        </p:nvSpPr>
        <p:spPr>
          <a:xfrm>
            <a:off x="704088" y="2670048"/>
            <a:ext cx="4937760" cy="566928"/>
          </a:xfrm>
          <a:prstGeom prst="rect">
            <a:avLst/>
          </a:prstGeom>
          <a:noFill/>
          <a:ln/>
        </p:spPr>
        <p:txBody>
          <a:bodyPr wrap="square" lIns="0" tIns="0" rIns="0" bIns="0" rtlCol="0" anchor="t">
            <a:normAutofit/>
          </a:bodyPr>
          <a:lstStyle/>
          <a:p>
            <a:pPr algn="l" indent="0" marL="0">
              <a:buNone/>
            </a:pPr>
            <a:r>
              <a:rPr lang="en-US" sz="1800" dirty="0">
                <a:solidFill>
                  <a:srgbClr val="DDEBFF"/>
                </a:solidFill>
                <a:latin typeface="Arial" pitchFamily="34" charset="0"/>
                <a:ea typeface="Arial" pitchFamily="34" charset="-122"/>
                <a:cs typeface="Arial" pitchFamily="34" charset="-120"/>
              </a:rPr>
              <a:t>A transparent, AI-assisted workflow for fictional AML case investigations.</a:t>
            </a:r>
            <a:endParaRPr lang="en-US" sz="1800" dirty="0"/>
          </a:p>
        </p:txBody>
      </p:sp>
      <p:sp>
        <p:nvSpPr>
          <p:cNvPr id="9" name="Text 6"/>
          <p:cNvSpPr txBox="1"/>
          <p:nvPr/>
        </p:nvSpPr>
        <p:spPr>
          <a:xfrm>
            <a:off x="704088" y="5321808"/>
            <a:ext cx="43891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Soumya — presenter  |  Laxman — backup</a:t>
            </a:r>
            <a:endParaRPr lang="en-US" sz="1300" dirty="0"/>
          </a:p>
        </p:txBody>
      </p:sp>
      <p:sp>
        <p:nvSpPr>
          <p:cNvPr id="10" name="Text 7"/>
          <p:cNvSpPr txBox="1"/>
          <p:nvPr/>
        </p:nvSpPr>
        <p:spPr>
          <a:xfrm>
            <a:off x="704088" y="5715000"/>
            <a:ext cx="5303520" cy="182880"/>
          </a:xfrm>
          <a:prstGeom prst="rect">
            <a:avLst/>
          </a:prstGeom>
          <a:noFill/>
          <a:ln/>
        </p:spPr>
        <p:txBody>
          <a:bodyPr wrap="square" lIns="0" tIns="0" rIns="0" bIns="0" rtlCol="0" anchor="ctr">
            <a:normAutofit/>
          </a:bodyPr>
          <a:lstStyle/>
          <a:p>
            <a:pPr algn="l" indent="0" marL="0">
              <a:buNone/>
            </a:pPr>
            <a:r>
              <a:rPr lang="en-US" sz="1250" dirty="0">
                <a:solidFill>
                  <a:srgbClr val="AFC9EC"/>
                </a:solidFill>
                <a:latin typeface="Arial" pitchFamily="34" charset="0"/>
                <a:ea typeface="Arial" pitchFamily="34" charset="-122"/>
                <a:cs typeface="Arial" pitchFamily="34" charset="-120"/>
              </a:rPr>
              <a:t>5:35 core slides  •  live demo and questions within the 15-minute session</a:t>
            </a:r>
            <a:endParaRPr lang="en-US" sz="1250" dirty="0"/>
          </a:p>
        </p:txBody>
      </p:sp>
      <p:sp>
        <p:nvSpPr>
          <p:cNvPr id="11" name="Text 8"/>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AFC9EC"/>
                </a:solidFill>
                <a:latin typeface="Arial" pitchFamily="34" charset="0"/>
                <a:ea typeface="Arial" pitchFamily="34" charset="-122"/>
                <a:cs typeface="Arial" pitchFamily="34" charset="-120"/>
              </a:rPr>
              <a:t>InvestigateIQ  |  Capstone Group 7  |  1 of 12</a:t>
            </a:r>
            <a:endParaRPr lang="en-US" sz="850" dirty="0"/>
          </a:p>
        </p:txBody>
      </p:sp>
      <p:sp>
        <p:nvSpPr>
          <p:cNvPr id="12" name="Text 9"/>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E"/>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00A79D"/>
                </a:solidFill>
                <a:latin typeface="Arial" pitchFamily="34" charset="0"/>
                <a:ea typeface="Arial" pitchFamily="34" charset="-122"/>
                <a:cs typeface="Arial" pitchFamily="34" charset="-120"/>
              </a:rPr>
              <a:t>PROGRAM STATEMENT</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0B1F3A"/>
                </a:solidFill>
                <a:latin typeface="Arial" pitchFamily="34" charset="0"/>
                <a:ea typeface="Arial" pitchFamily="34" charset="-122"/>
                <a:cs typeface="Arial" pitchFamily="34" charset="-120"/>
              </a:rPr>
              <a:t>What this capstone will deliver—and what it will not</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2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658368" y="1298448"/>
            <a:ext cx="10881360" cy="941832"/>
          </a:xfrm>
          <a:prstGeom prst="roundRect">
            <a:avLst>
              <a:gd name="adj" fmla="val 11650"/>
            </a:avLst>
          </a:prstGeom>
          <a:solidFill>
            <a:srgbClr val="173C78"/>
          </a:solidFill>
          <a:ln w="12700">
            <a:solidFill>
              <a:srgbClr val="173C78">
                <a:alpha val="0"/>
              </a:srgbClr>
            </a:solidFill>
            <a:prstDash val="solid"/>
          </a:ln>
        </p:spPr>
      </p:sp>
      <p:sp>
        <p:nvSpPr>
          <p:cNvPr id="7" name="Text 5"/>
          <p:cNvSpPr txBox="1"/>
          <p:nvPr/>
        </p:nvSpPr>
        <p:spPr>
          <a:xfrm>
            <a:off x="914400" y="1554480"/>
            <a:ext cx="10378440" cy="42062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Design and demonstrate a fictional AML review workflow where every report claim is traceable to supplied material, limitations stay visible, and workflow actions remain named human decisions.</a:t>
            </a:r>
            <a:endParaRPr lang="en-US" sz="1800" dirty="0"/>
          </a:p>
        </p:txBody>
      </p:sp>
      <p:sp>
        <p:nvSpPr>
          <p:cNvPr id="8" name="Shape 6"/>
          <p:cNvSpPr/>
          <p:nvPr/>
        </p:nvSpPr>
        <p:spPr>
          <a:xfrm>
            <a:off x="749808" y="2615184"/>
            <a:ext cx="3401568" cy="960120"/>
          </a:xfrm>
          <a:prstGeom prst="roundRect">
            <a:avLst>
              <a:gd name="adj" fmla="val 11429"/>
            </a:avLst>
          </a:prstGeom>
          <a:solidFill>
            <a:srgbClr val="FFFFFF"/>
          </a:solidFill>
          <a:ln w="12700">
            <a:solidFill>
              <a:srgbClr val="FFFFFF">
                <a:alpha val="0"/>
              </a:srgbClr>
            </a:solidFill>
            <a:prstDash val="solid"/>
          </a:ln>
        </p:spPr>
      </p:sp>
      <p:sp>
        <p:nvSpPr>
          <p:cNvPr id="9" name="Text 7"/>
          <p:cNvSpPr txBox="1"/>
          <p:nvPr/>
        </p:nvSpPr>
        <p:spPr>
          <a:xfrm>
            <a:off x="950976" y="2816352"/>
            <a:ext cx="2926080" cy="164592"/>
          </a:xfrm>
          <a:prstGeom prst="rect">
            <a:avLst/>
          </a:prstGeom>
          <a:noFill/>
          <a:ln/>
        </p:spPr>
        <p:txBody>
          <a:bodyPr wrap="square" lIns="0" tIns="0" rIns="0" bIns="0" rtlCol="0" anchor="ctr">
            <a:normAutofit/>
          </a:bodyPr>
          <a:lstStyle/>
          <a:p>
            <a:pPr algn="l" indent="0" marL="0">
              <a:buNone/>
            </a:pPr>
            <a:r>
              <a:rPr lang="en-US" sz="1300" b="1" dirty="0">
                <a:solidFill>
                  <a:srgbClr val="2E65C5"/>
                </a:solidFill>
                <a:latin typeface="Arial" pitchFamily="34" charset="0"/>
                <a:ea typeface="Arial" pitchFamily="34" charset="-122"/>
                <a:cs typeface="Arial" pitchFamily="34" charset="-120"/>
              </a:rPr>
              <a:t>Track</a:t>
            </a:r>
            <a:endParaRPr lang="en-US" sz="1300" dirty="0"/>
          </a:p>
        </p:txBody>
      </p:sp>
      <p:sp>
        <p:nvSpPr>
          <p:cNvPr id="10" name="Text 8"/>
          <p:cNvSpPr txBox="1"/>
          <p:nvPr/>
        </p:nvSpPr>
        <p:spPr>
          <a:xfrm>
            <a:off x="950976" y="3108960"/>
            <a:ext cx="292608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Blueprint + Prototype + Detailed code + Final results</a:t>
            </a:r>
            <a:endParaRPr lang="en-US" sz="1050" dirty="0"/>
          </a:p>
        </p:txBody>
      </p:sp>
      <p:sp>
        <p:nvSpPr>
          <p:cNvPr id="11" name="Shape 9"/>
          <p:cNvSpPr/>
          <p:nvPr/>
        </p:nvSpPr>
        <p:spPr>
          <a:xfrm>
            <a:off x="4498848" y="2615184"/>
            <a:ext cx="3401568" cy="960120"/>
          </a:xfrm>
          <a:prstGeom prst="roundRect">
            <a:avLst>
              <a:gd name="adj" fmla="val 11429"/>
            </a:avLst>
          </a:prstGeom>
          <a:solidFill>
            <a:srgbClr val="E6F8F6"/>
          </a:solidFill>
          <a:ln w="12700">
            <a:solidFill>
              <a:srgbClr val="E6F8F6">
                <a:alpha val="0"/>
              </a:srgbClr>
            </a:solidFill>
            <a:prstDash val="solid"/>
          </a:ln>
        </p:spPr>
      </p:sp>
      <p:sp>
        <p:nvSpPr>
          <p:cNvPr id="12" name="Text 10"/>
          <p:cNvSpPr txBox="1"/>
          <p:nvPr/>
        </p:nvSpPr>
        <p:spPr>
          <a:xfrm>
            <a:off x="4700016" y="2816352"/>
            <a:ext cx="2926080" cy="164592"/>
          </a:xfrm>
          <a:prstGeom prst="rect">
            <a:avLst/>
          </a:prstGeom>
          <a:noFill/>
          <a:ln/>
        </p:spPr>
        <p:txBody>
          <a:bodyPr wrap="square" lIns="0" tIns="0" rIns="0" bIns="0" rtlCol="0" anchor="ctr">
            <a:normAutofit/>
          </a:bodyPr>
          <a:lstStyle/>
          <a:p>
            <a:pPr algn="l" indent="0" marL="0">
              <a:buNone/>
            </a:pPr>
            <a:r>
              <a:rPr lang="en-US" sz="1300" b="1" dirty="0">
                <a:solidFill>
                  <a:srgbClr val="00A79D"/>
                </a:solidFill>
                <a:latin typeface="Arial" pitchFamily="34" charset="0"/>
                <a:ea typeface="Arial" pitchFamily="34" charset="-122"/>
                <a:cs typeface="Arial" pitchFamily="34" charset="-120"/>
              </a:rPr>
              <a:t>Measures</a:t>
            </a:r>
            <a:endParaRPr lang="en-US" sz="1300" dirty="0"/>
          </a:p>
        </p:txBody>
      </p:sp>
      <p:sp>
        <p:nvSpPr>
          <p:cNvPr id="13" name="Text 11"/>
          <p:cNvSpPr txBox="1"/>
          <p:nvPr/>
        </p:nvSpPr>
        <p:spPr>
          <a:xfrm>
            <a:off x="4700016" y="3108960"/>
            <a:ext cx="292608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Traceability, visible gaps, clear states, and required rationale</a:t>
            </a:r>
            <a:endParaRPr lang="en-US" sz="1050" dirty="0"/>
          </a:p>
        </p:txBody>
      </p:sp>
      <p:sp>
        <p:nvSpPr>
          <p:cNvPr id="14" name="Shape 12"/>
          <p:cNvSpPr/>
          <p:nvPr/>
        </p:nvSpPr>
        <p:spPr>
          <a:xfrm>
            <a:off x="8247888" y="2615184"/>
            <a:ext cx="3401568" cy="960120"/>
          </a:xfrm>
          <a:prstGeom prst="roundRect">
            <a:avLst>
              <a:gd name="adj" fmla="val 11429"/>
            </a:avLst>
          </a:prstGeom>
          <a:solidFill>
            <a:srgbClr val="FFFFFF"/>
          </a:solidFill>
          <a:ln w="12700">
            <a:solidFill>
              <a:srgbClr val="FFFFFF">
                <a:alpha val="0"/>
              </a:srgbClr>
            </a:solidFill>
            <a:prstDash val="solid"/>
          </a:ln>
        </p:spPr>
      </p:sp>
      <p:sp>
        <p:nvSpPr>
          <p:cNvPr id="15" name="Text 13"/>
          <p:cNvSpPr txBox="1"/>
          <p:nvPr/>
        </p:nvSpPr>
        <p:spPr>
          <a:xfrm>
            <a:off x="8449056" y="2816352"/>
            <a:ext cx="2926080" cy="164592"/>
          </a:xfrm>
          <a:prstGeom prst="rect">
            <a:avLst/>
          </a:prstGeom>
          <a:noFill/>
          <a:ln/>
        </p:spPr>
        <p:txBody>
          <a:bodyPr wrap="square" lIns="0" tIns="0" rIns="0" bIns="0" rtlCol="0" anchor="ctr">
            <a:normAutofit/>
          </a:bodyPr>
          <a:lstStyle/>
          <a:p>
            <a:pPr algn="l" indent="0" marL="0">
              <a:buNone/>
            </a:pPr>
            <a:r>
              <a:rPr lang="en-US" sz="1300" b="1" dirty="0">
                <a:solidFill>
                  <a:srgbClr val="2E65C5"/>
                </a:solidFill>
                <a:latin typeface="Arial" pitchFamily="34" charset="0"/>
                <a:ea typeface="Arial" pitchFamily="34" charset="-122"/>
                <a:cs typeface="Arial" pitchFamily="34" charset="-120"/>
              </a:rPr>
              <a:t>Non-goals</a:t>
            </a:r>
            <a:endParaRPr lang="en-US" sz="1300" dirty="0"/>
          </a:p>
        </p:txBody>
      </p:sp>
      <p:sp>
        <p:nvSpPr>
          <p:cNvPr id="16" name="Text 14"/>
          <p:cNvSpPr txBox="1"/>
          <p:nvPr/>
        </p:nvSpPr>
        <p:spPr>
          <a:xfrm>
            <a:off x="8449056" y="3108960"/>
            <a:ext cx="292608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No real data, autonomous decision, legal conclusion, or external filing</a:t>
            </a:r>
            <a:endParaRPr lang="en-US" sz="1050" dirty="0"/>
          </a:p>
        </p:txBody>
      </p:sp>
      <p:sp>
        <p:nvSpPr>
          <p:cNvPr id="17" name="Text 15"/>
          <p:cNvSpPr txBox="1"/>
          <p:nvPr/>
        </p:nvSpPr>
        <p:spPr>
          <a:xfrm>
            <a:off x="786384" y="4261104"/>
            <a:ext cx="10469880" cy="201168"/>
          </a:xfrm>
          <a:prstGeom prst="rect">
            <a:avLst/>
          </a:prstGeom>
          <a:noFill/>
          <a:ln/>
        </p:spPr>
        <p:txBody>
          <a:bodyPr wrap="square" lIns="0" tIns="0" rIns="0" bIns="0" rtlCol="0" anchor="ctr">
            <a:normAutofit/>
          </a:bodyPr>
          <a:lstStyle/>
          <a:p>
            <a:pPr algn="ctr" indent="0" marL="0">
              <a:buNone/>
            </a:pPr>
            <a:r>
              <a:rPr lang="en-US" sz="1300" b="1" dirty="0">
                <a:solidFill>
                  <a:srgbClr val="0B1F3A"/>
                </a:solidFill>
                <a:latin typeface="Arial" pitchFamily="34" charset="0"/>
                <a:ea typeface="Arial" pitchFamily="34" charset="-122"/>
                <a:cs typeface="Arial" pitchFamily="34" charset="-120"/>
              </a:rPr>
              <a:t>Team: Rahul Chainani · Pankaj Bharsakale · Lakshmi Dudgikar · Rahul Sharma · Laxman Singh · Soumya · Sweta Singh</a:t>
            </a:r>
            <a:endParaRPr lang="en-US" sz="1300" dirty="0"/>
          </a:p>
        </p:txBody>
      </p:sp>
      <p:sp>
        <p:nvSpPr>
          <p:cNvPr id="18" name="Text 16"/>
          <p:cNvSpPr txBox="1"/>
          <p:nvPr/>
        </p:nvSpPr>
        <p:spPr>
          <a:xfrm>
            <a:off x="786384" y="4690872"/>
            <a:ext cx="10469880" cy="182880"/>
          </a:xfrm>
          <a:prstGeom prst="rect">
            <a:avLst/>
          </a:prstGeom>
          <a:noFill/>
          <a:ln/>
        </p:spPr>
        <p:txBody>
          <a:bodyPr wrap="square" lIns="0" tIns="0" rIns="0" bIns="0" rtlCol="0" anchor="ctr">
            <a:normAutofit/>
          </a:bodyPr>
          <a:lstStyle/>
          <a:p>
            <a:pPr algn="ctr" indent="0" marL="0">
              <a:buNone/>
            </a:pPr>
            <a:r>
              <a:rPr lang="en-US" sz="1200" i="1" dirty="0">
                <a:solidFill>
                  <a:srgbClr val="63738D"/>
                </a:solidFill>
                <a:latin typeface="Arial" pitchFamily="34" charset="0"/>
                <a:ea typeface="Arial" pitchFamily="34" charset="-122"/>
                <a:cs typeface="Arial" pitchFamily="34" charset="-120"/>
              </a:rPr>
              <a:t>Soumya presents the session; Laxman is the backup presenter.</a:t>
            </a:r>
            <a:endParaRPr lang="en-US" sz="1200" dirty="0"/>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E"/>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00A79D"/>
                </a:solidFill>
                <a:latin typeface="Arial" pitchFamily="34" charset="0"/>
                <a:ea typeface="Arial" pitchFamily="34" charset="-122"/>
                <a:cs typeface="Arial" pitchFamily="34" charset="-120"/>
              </a:rPr>
              <a:t>THE PRODUCT</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0B1F3A"/>
                </a:solidFill>
                <a:latin typeface="Arial" pitchFamily="34" charset="0"/>
                <a:ea typeface="Arial" pitchFamily="34" charset="-122"/>
                <a:cs typeface="Arial" pitchFamily="34" charset="-120"/>
              </a:rPr>
              <a:t>From a stored alert to an accountable human action</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3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512064" y="1920240"/>
            <a:ext cx="1993392" cy="1572768"/>
          </a:xfrm>
          <a:prstGeom prst="roundRect">
            <a:avLst>
              <a:gd name="adj" fmla="val 6977"/>
            </a:avLst>
          </a:prstGeom>
          <a:solidFill>
            <a:srgbClr val="FFFFFF"/>
          </a:solidFill>
          <a:ln w="12700">
            <a:solidFill>
              <a:srgbClr val="FFFFFF">
                <a:alpha val="0"/>
              </a:srgbClr>
            </a:solidFill>
            <a:prstDash val="solid"/>
          </a:ln>
        </p:spPr>
      </p:sp>
      <p:sp>
        <p:nvSpPr>
          <p:cNvPr id="7" name="Shape 5"/>
          <p:cNvSpPr/>
          <p:nvPr/>
        </p:nvSpPr>
        <p:spPr>
          <a:xfrm>
            <a:off x="676656" y="2148840"/>
            <a:ext cx="402336" cy="402336"/>
          </a:xfrm>
          <a:prstGeom prst="ellipse">
            <a:avLst/>
          </a:prstGeom>
          <a:solidFill>
            <a:srgbClr val="2E65C5"/>
          </a:solidFill>
          <a:ln w="12700">
            <a:solidFill>
              <a:srgbClr val="FFFFFF">
                <a:alpha val="0"/>
              </a:srgbClr>
            </a:solidFill>
            <a:prstDash val="solid"/>
          </a:ln>
        </p:spPr>
      </p:sp>
      <p:sp>
        <p:nvSpPr>
          <p:cNvPr id="8" name="Text 6"/>
          <p:cNvSpPr txBox="1"/>
          <p:nvPr/>
        </p:nvSpPr>
        <p:spPr>
          <a:xfrm>
            <a:off x="676656" y="2249424"/>
            <a:ext cx="402336"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9" name="Text 7"/>
          <p:cNvSpPr txBox="1"/>
          <p:nvPr/>
        </p:nvSpPr>
        <p:spPr>
          <a:xfrm>
            <a:off x="713232" y="2743200"/>
            <a:ext cx="1463040" cy="201168"/>
          </a:xfrm>
          <a:prstGeom prst="rect">
            <a:avLst/>
          </a:prstGeom>
          <a:noFill/>
          <a:ln/>
        </p:spPr>
        <p:txBody>
          <a:bodyPr wrap="square" lIns="0" tIns="0" rIns="0" bIns="0" rtlCol="0" anchor="ctr">
            <a:normAutofit/>
          </a:bodyPr>
          <a:lstStyle/>
          <a:p>
            <a:pPr algn="l" indent="0" marL="0">
              <a:buNone/>
            </a:pPr>
            <a:r>
              <a:rPr lang="en-US" sz="1600" b="1" dirty="0">
                <a:solidFill>
                  <a:srgbClr val="12233F"/>
                </a:solidFill>
                <a:latin typeface="Arial" pitchFamily="34" charset="0"/>
                <a:ea typeface="Arial" pitchFamily="34" charset="-122"/>
                <a:cs typeface="Arial" pitchFamily="34" charset="-120"/>
              </a:rPr>
              <a:t>Queue</a:t>
            </a:r>
            <a:endParaRPr lang="en-US" sz="1600" dirty="0"/>
          </a:p>
        </p:txBody>
      </p:sp>
      <p:sp>
        <p:nvSpPr>
          <p:cNvPr id="10" name="Text 8"/>
          <p:cNvSpPr txBox="1"/>
          <p:nvPr/>
        </p:nvSpPr>
        <p:spPr>
          <a:xfrm>
            <a:off x="713232" y="3099816"/>
            <a:ext cx="1554480" cy="292608"/>
          </a:xfrm>
          <a:prstGeom prst="rect">
            <a:avLst/>
          </a:prstGeom>
          <a:noFill/>
          <a:ln/>
        </p:spPr>
        <p:txBody>
          <a:bodyPr wrap="square" lIns="0" tIns="0" rIns="0" bIns="0" rtlCol="0" anchor="t">
            <a:normAutofit/>
          </a:bodyPr>
          <a:lstStyle/>
          <a:p>
            <a:pPr algn="l" indent="0" marL="0">
              <a:buNone/>
            </a:pPr>
            <a:r>
              <a:rPr lang="en-US" sz="1060" dirty="0">
                <a:solidFill>
                  <a:srgbClr val="63738D"/>
                </a:solidFill>
                <a:latin typeface="Arial" pitchFamily="34" charset="0"/>
                <a:ea typeface="Arial" pitchFamily="34" charset="-122"/>
                <a:cs typeface="Arial" pitchFamily="34" charset="-120"/>
              </a:rPr>
              <a:t>Find and filter the fictional alert</a:t>
            </a:r>
            <a:endParaRPr lang="en-US" sz="1060" dirty="0"/>
          </a:p>
        </p:txBody>
      </p:sp>
      <p:sp>
        <p:nvSpPr>
          <p:cNvPr id="11" name="Shape 9"/>
          <p:cNvSpPr/>
          <p:nvPr/>
        </p:nvSpPr>
        <p:spPr>
          <a:xfrm>
            <a:off x="2523744" y="2706624"/>
            <a:ext cx="246888" cy="0"/>
          </a:xfrm>
          <a:prstGeom prst="line">
            <a:avLst/>
          </a:prstGeom>
          <a:noFill/>
          <a:ln w="25400">
            <a:solidFill>
              <a:srgbClr val="00A79D"/>
            </a:solidFill>
            <a:prstDash val="solid"/>
            <a:tailEnd type="triangle"/>
          </a:ln>
        </p:spPr>
      </p:sp>
      <p:sp>
        <p:nvSpPr>
          <p:cNvPr id="12" name="Shape 10"/>
          <p:cNvSpPr/>
          <p:nvPr/>
        </p:nvSpPr>
        <p:spPr>
          <a:xfrm>
            <a:off x="2852928" y="1920240"/>
            <a:ext cx="1993392" cy="1572768"/>
          </a:xfrm>
          <a:prstGeom prst="roundRect">
            <a:avLst>
              <a:gd name="adj" fmla="val 6977"/>
            </a:avLst>
          </a:prstGeom>
          <a:solidFill>
            <a:srgbClr val="FFFFFF"/>
          </a:solidFill>
          <a:ln w="12700">
            <a:solidFill>
              <a:srgbClr val="FFFFFF">
                <a:alpha val="0"/>
              </a:srgbClr>
            </a:solidFill>
            <a:prstDash val="solid"/>
          </a:ln>
        </p:spPr>
      </p:sp>
      <p:sp>
        <p:nvSpPr>
          <p:cNvPr id="13" name="Shape 11"/>
          <p:cNvSpPr/>
          <p:nvPr/>
        </p:nvSpPr>
        <p:spPr>
          <a:xfrm>
            <a:off x="3017520" y="2148840"/>
            <a:ext cx="402336" cy="402336"/>
          </a:xfrm>
          <a:prstGeom prst="ellipse">
            <a:avLst/>
          </a:prstGeom>
          <a:solidFill>
            <a:srgbClr val="2E65C5"/>
          </a:solidFill>
          <a:ln w="12700">
            <a:solidFill>
              <a:srgbClr val="FFFFFF">
                <a:alpha val="0"/>
              </a:srgbClr>
            </a:solidFill>
            <a:prstDash val="solid"/>
          </a:ln>
        </p:spPr>
      </p:sp>
      <p:sp>
        <p:nvSpPr>
          <p:cNvPr id="14" name="Text 12"/>
          <p:cNvSpPr txBox="1"/>
          <p:nvPr/>
        </p:nvSpPr>
        <p:spPr>
          <a:xfrm>
            <a:off x="3017520" y="2249424"/>
            <a:ext cx="402336"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15" name="Text 13"/>
          <p:cNvSpPr txBox="1"/>
          <p:nvPr/>
        </p:nvSpPr>
        <p:spPr>
          <a:xfrm>
            <a:off x="3054096" y="2743200"/>
            <a:ext cx="1463040" cy="201168"/>
          </a:xfrm>
          <a:prstGeom prst="rect">
            <a:avLst/>
          </a:prstGeom>
          <a:noFill/>
          <a:ln/>
        </p:spPr>
        <p:txBody>
          <a:bodyPr wrap="square" lIns="0" tIns="0" rIns="0" bIns="0" rtlCol="0" anchor="ctr">
            <a:normAutofit/>
          </a:bodyPr>
          <a:lstStyle/>
          <a:p>
            <a:pPr algn="l" indent="0" marL="0">
              <a:buNone/>
            </a:pPr>
            <a:r>
              <a:rPr lang="en-US" sz="1600" b="1" dirty="0">
                <a:solidFill>
                  <a:srgbClr val="12233F"/>
                </a:solidFill>
                <a:latin typeface="Arial" pitchFamily="34" charset="0"/>
                <a:ea typeface="Arial" pitchFamily="34" charset="-122"/>
                <a:cs typeface="Arial" pitchFamily="34" charset="-120"/>
              </a:rPr>
              <a:t>Workspace</a:t>
            </a:r>
            <a:endParaRPr lang="en-US" sz="1600" dirty="0"/>
          </a:p>
        </p:txBody>
      </p:sp>
      <p:sp>
        <p:nvSpPr>
          <p:cNvPr id="16" name="Text 14"/>
          <p:cNvSpPr txBox="1"/>
          <p:nvPr/>
        </p:nvSpPr>
        <p:spPr>
          <a:xfrm>
            <a:off x="3054096" y="3099816"/>
            <a:ext cx="1554480" cy="292608"/>
          </a:xfrm>
          <a:prstGeom prst="rect">
            <a:avLst/>
          </a:prstGeom>
          <a:noFill/>
          <a:ln/>
        </p:spPr>
        <p:txBody>
          <a:bodyPr wrap="square" lIns="0" tIns="0" rIns="0" bIns="0" rtlCol="0" anchor="t">
            <a:normAutofit/>
          </a:bodyPr>
          <a:lstStyle/>
          <a:p>
            <a:pPr algn="l" indent="0" marL="0">
              <a:buNone/>
            </a:pPr>
            <a:r>
              <a:rPr lang="en-US" sz="1060" dirty="0">
                <a:solidFill>
                  <a:srgbClr val="63738D"/>
                </a:solidFill>
                <a:latin typeface="Arial" pitchFamily="34" charset="0"/>
                <a:ea typeface="Arial" pitchFamily="34" charset="-122"/>
                <a:cs typeface="Arial" pitchFamily="34" charset="-120"/>
              </a:rPr>
              <a:t>Build or replay the review</a:t>
            </a:r>
            <a:endParaRPr lang="en-US" sz="1060" dirty="0"/>
          </a:p>
        </p:txBody>
      </p:sp>
      <p:sp>
        <p:nvSpPr>
          <p:cNvPr id="17" name="Shape 15"/>
          <p:cNvSpPr/>
          <p:nvPr/>
        </p:nvSpPr>
        <p:spPr>
          <a:xfrm>
            <a:off x="4864608" y="2706624"/>
            <a:ext cx="246888" cy="0"/>
          </a:xfrm>
          <a:prstGeom prst="line">
            <a:avLst/>
          </a:prstGeom>
          <a:noFill/>
          <a:ln w="25400">
            <a:solidFill>
              <a:srgbClr val="00A79D"/>
            </a:solidFill>
            <a:prstDash val="solid"/>
            <a:tailEnd type="triangle"/>
          </a:ln>
        </p:spPr>
      </p:sp>
      <p:sp>
        <p:nvSpPr>
          <p:cNvPr id="18" name="Shape 16"/>
          <p:cNvSpPr/>
          <p:nvPr/>
        </p:nvSpPr>
        <p:spPr>
          <a:xfrm>
            <a:off x="5193792" y="1920240"/>
            <a:ext cx="1993392" cy="1572768"/>
          </a:xfrm>
          <a:prstGeom prst="roundRect">
            <a:avLst>
              <a:gd name="adj" fmla="val 6977"/>
            </a:avLst>
          </a:prstGeom>
          <a:solidFill>
            <a:srgbClr val="E6F8F6"/>
          </a:solidFill>
          <a:ln w="12700">
            <a:solidFill>
              <a:srgbClr val="E6F8F6">
                <a:alpha val="0"/>
              </a:srgbClr>
            </a:solidFill>
            <a:prstDash val="solid"/>
          </a:ln>
        </p:spPr>
      </p:sp>
      <p:sp>
        <p:nvSpPr>
          <p:cNvPr id="19" name="Shape 17"/>
          <p:cNvSpPr/>
          <p:nvPr/>
        </p:nvSpPr>
        <p:spPr>
          <a:xfrm>
            <a:off x="5358384" y="2148840"/>
            <a:ext cx="402336" cy="402336"/>
          </a:xfrm>
          <a:prstGeom prst="ellipse">
            <a:avLst/>
          </a:prstGeom>
          <a:solidFill>
            <a:srgbClr val="00A79D"/>
          </a:solidFill>
          <a:ln w="12700">
            <a:solidFill>
              <a:srgbClr val="FFFFFF">
                <a:alpha val="0"/>
              </a:srgbClr>
            </a:solidFill>
            <a:prstDash val="solid"/>
          </a:ln>
        </p:spPr>
      </p:sp>
      <p:sp>
        <p:nvSpPr>
          <p:cNvPr id="20" name="Text 18"/>
          <p:cNvSpPr txBox="1"/>
          <p:nvPr/>
        </p:nvSpPr>
        <p:spPr>
          <a:xfrm>
            <a:off x="5358384" y="2249424"/>
            <a:ext cx="402336"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21" name="Text 19"/>
          <p:cNvSpPr txBox="1"/>
          <p:nvPr/>
        </p:nvSpPr>
        <p:spPr>
          <a:xfrm>
            <a:off x="5394960" y="2743200"/>
            <a:ext cx="1463040" cy="201168"/>
          </a:xfrm>
          <a:prstGeom prst="rect">
            <a:avLst/>
          </a:prstGeom>
          <a:noFill/>
          <a:ln/>
        </p:spPr>
        <p:txBody>
          <a:bodyPr wrap="square" lIns="0" tIns="0" rIns="0" bIns="0" rtlCol="0" anchor="ctr">
            <a:normAutofit/>
          </a:bodyPr>
          <a:lstStyle/>
          <a:p>
            <a:pPr algn="l" indent="0" marL="0">
              <a:buNone/>
            </a:pPr>
            <a:r>
              <a:rPr lang="en-US" sz="1600" b="1" dirty="0">
                <a:solidFill>
                  <a:srgbClr val="12233F"/>
                </a:solidFill>
                <a:latin typeface="Arial" pitchFamily="34" charset="0"/>
                <a:ea typeface="Arial" pitchFamily="34" charset="-122"/>
                <a:cs typeface="Arial" pitchFamily="34" charset="-120"/>
              </a:rPr>
              <a:t>Evidence</a:t>
            </a:r>
            <a:endParaRPr lang="en-US" sz="1600" dirty="0"/>
          </a:p>
        </p:txBody>
      </p:sp>
      <p:sp>
        <p:nvSpPr>
          <p:cNvPr id="22" name="Text 20"/>
          <p:cNvSpPr txBox="1"/>
          <p:nvPr/>
        </p:nvSpPr>
        <p:spPr>
          <a:xfrm>
            <a:off x="5394960" y="3099816"/>
            <a:ext cx="1554480" cy="292608"/>
          </a:xfrm>
          <a:prstGeom prst="rect">
            <a:avLst/>
          </a:prstGeom>
          <a:noFill/>
          <a:ln/>
        </p:spPr>
        <p:txBody>
          <a:bodyPr wrap="square" lIns="0" tIns="0" rIns="0" bIns="0" rtlCol="0" anchor="t">
            <a:normAutofit/>
          </a:bodyPr>
          <a:lstStyle/>
          <a:p>
            <a:pPr algn="l" indent="0" marL="0">
              <a:buNone/>
            </a:pPr>
            <a:r>
              <a:rPr lang="en-US" sz="1060" dirty="0">
                <a:solidFill>
                  <a:srgbClr val="63738D"/>
                </a:solidFill>
                <a:latin typeface="Arial" pitchFamily="34" charset="0"/>
                <a:ea typeface="Arial" pitchFamily="34" charset="-122"/>
                <a:cs typeface="Arial" pitchFamily="34" charset="-120"/>
              </a:rPr>
              <a:t>Read exact records and chunks</a:t>
            </a:r>
            <a:endParaRPr lang="en-US" sz="1060" dirty="0"/>
          </a:p>
        </p:txBody>
      </p:sp>
      <p:sp>
        <p:nvSpPr>
          <p:cNvPr id="23" name="Shape 21"/>
          <p:cNvSpPr/>
          <p:nvPr/>
        </p:nvSpPr>
        <p:spPr>
          <a:xfrm>
            <a:off x="7205472" y="2706624"/>
            <a:ext cx="246888" cy="0"/>
          </a:xfrm>
          <a:prstGeom prst="line">
            <a:avLst/>
          </a:prstGeom>
          <a:noFill/>
          <a:ln w="25400">
            <a:solidFill>
              <a:srgbClr val="00A79D"/>
            </a:solidFill>
            <a:prstDash val="solid"/>
            <a:tailEnd type="triangle"/>
          </a:ln>
        </p:spPr>
      </p:sp>
      <p:sp>
        <p:nvSpPr>
          <p:cNvPr id="24" name="Shape 22"/>
          <p:cNvSpPr/>
          <p:nvPr/>
        </p:nvSpPr>
        <p:spPr>
          <a:xfrm>
            <a:off x="7534656" y="1920240"/>
            <a:ext cx="1993392" cy="1572768"/>
          </a:xfrm>
          <a:prstGeom prst="roundRect">
            <a:avLst>
              <a:gd name="adj" fmla="val 6977"/>
            </a:avLst>
          </a:prstGeom>
          <a:solidFill>
            <a:srgbClr val="FFFFFF"/>
          </a:solidFill>
          <a:ln w="12700">
            <a:solidFill>
              <a:srgbClr val="FFFFFF">
                <a:alpha val="0"/>
              </a:srgbClr>
            </a:solidFill>
            <a:prstDash val="solid"/>
          </a:ln>
        </p:spPr>
      </p:sp>
      <p:sp>
        <p:nvSpPr>
          <p:cNvPr id="25" name="Shape 23"/>
          <p:cNvSpPr/>
          <p:nvPr/>
        </p:nvSpPr>
        <p:spPr>
          <a:xfrm>
            <a:off x="7699248" y="2148840"/>
            <a:ext cx="402336" cy="402336"/>
          </a:xfrm>
          <a:prstGeom prst="ellipse">
            <a:avLst/>
          </a:prstGeom>
          <a:solidFill>
            <a:srgbClr val="2E65C5"/>
          </a:solidFill>
          <a:ln w="12700">
            <a:solidFill>
              <a:srgbClr val="FFFFFF">
                <a:alpha val="0"/>
              </a:srgbClr>
            </a:solidFill>
            <a:prstDash val="solid"/>
          </a:ln>
        </p:spPr>
      </p:sp>
      <p:sp>
        <p:nvSpPr>
          <p:cNvPr id="26" name="Text 24"/>
          <p:cNvSpPr txBox="1"/>
          <p:nvPr/>
        </p:nvSpPr>
        <p:spPr>
          <a:xfrm>
            <a:off x="7699248" y="2249424"/>
            <a:ext cx="402336"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27" name="Text 25"/>
          <p:cNvSpPr txBox="1"/>
          <p:nvPr/>
        </p:nvSpPr>
        <p:spPr>
          <a:xfrm>
            <a:off x="7735824" y="2743200"/>
            <a:ext cx="1463040" cy="201168"/>
          </a:xfrm>
          <a:prstGeom prst="rect">
            <a:avLst/>
          </a:prstGeom>
          <a:noFill/>
          <a:ln/>
        </p:spPr>
        <p:txBody>
          <a:bodyPr wrap="square" lIns="0" tIns="0" rIns="0" bIns="0" rtlCol="0" anchor="ctr">
            <a:normAutofit/>
          </a:bodyPr>
          <a:lstStyle/>
          <a:p>
            <a:pPr algn="l" indent="0" marL="0">
              <a:buNone/>
            </a:pPr>
            <a:r>
              <a:rPr lang="en-US" sz="1600" b="1" dirty="0">
                <a:solidFill>
                  <a:srgbClr val="12233F"/>
                </a:solidFill>
                <a:latin typeface="Arial" pitchFamily="34" charset="0"/>
                <a:ea typeface="Arial" pitchFamily="34" charset="-122"/>
                <a:cs typeface="Arial" pitchFamily="34" charset="-120"/>
              </a:rPr>
              <a:t>Decision</a:t>
            </a:r>
            <a:endParaRPr lang="en-US" sz="1600" dirty="0"/>
          </a:p>
        </p:txBody>
      </p:sp>
      <p:sp>
        <p:nvSpPr>
          <p:cNvPr id="28" name="Text 26"/>
          <p:cNvSpPr txBox="1"/>
          <p:nvPr/>
        </p:nvSpPr>
        <p:spPr>
          <a:xfrm>
            <a:off x="7735824" y="3099816"/>
            <a:ext cx="1554480" cy="292608"/>
          </a:xfrm>
          <a:prstGeom prst="rect">
            <a:avLst/>
          </a:prstGeom>
          <a:noFill/>
          <a:ln/>
        </p:spPr>
        <p:txBody>
          <a:bodyPr wrap="square" lIns="0" tIns="0" rIns="0" bIns="0" rtlCol="0" anchor="t">
            <a:normAutofit/>
          </a:bodyPr>
          <a:lstStyle/>
          <a:p>
            <a:pPr algn="l" indent="0" marL="0">
              <a:buNone/>
            </a:pPr>
            <a:r>
              <a:rPr lang="en-US" sz="1060" dirty="0">
                <a:solidFill>
                  <a:srgbClr val="63738D"/>
                </a:solidFill>
                <a:latin typeface="Arial" pitchFamily="34" charset="0"/>
                <a:ea typeface="Arial" pitchFamily="34" charset="-122"/>
                <a:cs typeface="Arial" pitchFamily="34" charset="-120"/>
              </a:rPr>
              <a:t>Record a required rationale</a:t>
            </a:r>
            <a:endParaRPr lang="en-US" sz="1060" dirty="0"/>
          </a:p>
        </p:txBody>
      </p:sp>
      <p:sp>
        <p:nvSpPr>
          <p:cNvPr id="29" name="Shape 27"/>
          <p:cNvSpPr/>
          <p:nvPr/>
        </p:nvSpPr>
        <p:spPr>
          <a:xfrm>
            <a:off x="9546336" y="2706624"/>
            <a:ext cx="246888" cy="0"/>
          </a:xfrm>
          <a:prstGeom prst="line">
            <a:avLst/>
          </a:prstGeom>
          <a:noFill/>
          <a:ln w="25400">
            <a:solidFill>
              <a:srgbClr val="00A79D"/>
            </a:solidFill>
            <a:prstDash val="solid"/>
            <a:tailEnd type="triangle"/>
          </a:ln>
        </p:spPr>
      </p:sp>
      <p:sp>
        <p:nvSpPr>
          <p:cNvPr id="30" name="Shape 28"/>
          <p:cNvSpPr/>
          <p:nvPr/>
        </p:nvSpPr>
        <p:spPr>
          <a:xfrm>
            <a:off x="9875520" y="1920240"/>
            <a:ext cx="1993392" cy="1572768"/>
          </a:xfrm>
          <a:prstGeom prst="roundRect">
            <a:avLst>
              <a:gd name="adj" fmla="val 6977"/>
            </a:avLst>
          </a:prstGeom>
          <a:solidFill>
            <a:srgbClr val="FFFFFF"/>
          </a:solidFill>
          <a:ln w="12700">
            <a:solidFill>
              <a:srgbClr val="FFFFFF">
                <a:alpha val="0"/>
              </a:srgbClr>
            </a:solidFill>
            <a:prstDash val="solid"/>
          </a:ln>
        </p:spPr>
      </p:sp>
      <p:sp>
        <p:nvSpPr>
          <p:cNvPr id="31" name="Shape 29"/>
          <p:cNvSpPr/>
          <p:nvPr/>
        </p:nvSpPr>
        <p:spPr>
          <a:xfrm>
            <a:off x="10040112" y="2148840"/>
            <a:ext cx="402336" cy="402336"/>
          </a:xfrm>
          <a:prstGeom prst="ellipse">
            <a:avLst/>
          </a:prstGeom>
          <a:solidFill>
            <a:srgbClr val="2E65C5"/>
          </a:solidFill>
          <a:ln w="12700">
            <a:solidFill>
              <a:srgbClr val="FFFFFF">
                <a:alpha val="0"/>
              </a:srgbClr>
            </a:solidFill>
            <a:prstDash val="solid"/>
          </a:ln>
        </p:spPr>
      </p:sp>
      <p:sp>
        <p:nvSpPr>
          <p:cNvPr id="32" name="Text 30"/>
          <p:cNvSpPr txBox="1"/>
          <p:nvPr/>
        </p:nvSpPr>
        <p:spPr>
          <a:xfrm>
            <a:off x="10040112" y="2249424"/>
            <a:ext cx="402336" cy="91440"/>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33" name="Text 31"/>
          <p:cNvSpPr txBox="1"/>
          <p:nvPr/>
        </p:nvSpPr>
        <p:spPr>
          <a:xfrm>
            <a:off x="10076688" y="2743200"/>
            <a:ext cx="1463040" cy="201168"/>
          </a:xfrm>
          <a:prstGeom prst="rect">
            <a:avLst/>
          </a:prstGeom>
          <a:noFill/>
          <a:ln/>
        </p:spPr>
        <p:txBody>
          <a:bodyPr wrap="square" lIns="0" tIns="0" rIns="0" bIns="0" rtlCol="0" anchor="ctr">
            <a:normAutofit/>
          </a:bodyPr>
          <a:lstStyle/>
          <a:p>
            <a:pPr algn="l" indent="0" marL="0">
              <a:buNone/>
            </a:pPr>
            <a:r>
              <a:rPr lang="en-US" sz="1600" b="1" dirty="0">
                <a:solidFill>
                  <a:srgbClr val="12233F"/>
                </a:solidFill>
                <a:latin typeface="Arial" pitchFamily="34" charset="0"/>
                <a:ea typeface="Arial" pitchFamily="34" charset="-122"/>
                <a:cs typeface="Arial" pitchFamily="34" charset="-120"/>
              </a:rPr>
              <a:t>Compliance</a:t>
            </a:r>
            <a:endParaRPr lang="en-US" sz="1600" dirty="0"/>
          </a:p>
        </p:txBody>
      </p:sp>
      <p:sp>
        <p:nvSpPr>
          <p:cNvPr id="34" name="Text 32"/>
          <p:cNvSpPr txBox="1"/>
          <p:nvPr/>
        </p:nvSpPr>
        <p:spPr>
          <a:xfrm>
            <a:off x="10076688" y="3099816"/>
            <a:ext cx="1554480" cy="292608"/>
          </a:xfrm>
          <a:prstGeom prst="rect">
            <a:avLst/>
          </a:prstGeom>
          <a:noFill/>
          <a:ln/>
        </p:spPr>
        <p:txBody>
          <a:bodyPr wrap="square" lIns="0" tIns="0" rIns="0" bIns="0" rtlCol="0" anchor="t">
            <a:normAutofit/>
          </a:bodyPr>
          <a:lstStyle/>
          <a:p>
            <a:pPr algn="l" indent="0" marL="0">
              <a:buNone/>
            </a:pPr>
            <a:r>
              <a:rPr lang="en-US" sz="1060" dirty="0">
                <a:solidFill>
                  <a:srgbClr val="63738D"/>
                </a:solidFill>
                <a:latin typeface="Arial" pitchFamily="34" charset="0"/>
                <a:ea typeface="Arial" pitchFamily="34" charset="-122"/>
                <a:cs typeface="Arial" pitchFamily="34" charset="-120"/>
              </a:rPr>
              <a:t>Perform a second human review</a:t>
            </a:r>
            <a:endParaRPr lang="en-US" sz="1060" dirty="0"/>
          </a:p>
        </p:txBody>
      </p:sp>
      <p:sp>
        <p:nvSpPr>
          <p:cNvPr id="35" name="Text 33"/>
          <p:cNvSpPr txBox="1"/>
          <p:nvPr/>
        </p:nvSpPr>
        <p:spPr>
          <a:xfrm>
            <a:off x="1097280" y="4892040"/>
            <a:ext cx="9966960" cy="274320"/>
          </a:xfrm>
          <a:prstGeom prst="rect">
            <a:avLst/>
          </a:prstGeom>
          <a:noFill/>
          <a:ln/>
        </p:spPr>
        <p:txBody>
          <a:bodyPr wrap="square" lIns="0" tIns="0" rIns="0" bIns="0" rtlCol="0" anchor="ctr">
            <a:normAutofit/>
          </a:bodyPr>
          <a:lstStyle/>
          <a:p>
            <a:pPr algn="ctr" indent="0" marL="0">
              <a:buNone/>
            </a:pPr>
            <a:r>
              <a:rPr lang="en-US" sz="1700" b="1" dirty="0">
                <a:solidFill>
                  <a:srgbClr val="0B1F3A"/>
                </a:solidFill>
                <a:latin typeface="Arial" pitchFamily="34" charset="0"/>
                <a:ea typeface="Arial" pitchFamily="34" charset="-122"/>
                <a:cs typeface="Arial" pitchFamily="34" charset="-120"/>
              </a:rPr>
              <a:t>The application supports investigation. It never closes, escalates, refers, or files an action automatically.</a:t>
            </a:r>
            <a:endParaRPr lang="en-US" sz="1700" dirty="0"/>
          </a:p>
        </p:txBody>
      </p:sp>
    </p:spTree>
  </p:cSld>
  <p:clrMapOvr>
    <a:masterClrMapping/>
  </p:clrMapOvr>
  <p:transition spd="med"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78DCD4"/>
                </a:solidFill>
                <a:latin typeface="Arial" pitchFamily="34" charset="0"/>
                <a:ea typeface="Arial" pitchFamily="34" charset="-122"/>
                <a:cs typeface="Arial" pitchFamily="34" charset="-120"/>
              </a:rPr>
              <a:t>RESPONSIBLE AI</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FFFFFF"/>
                </a:solidFill>
                <a:latin typeface="Arial" pitchFamily="34" charset="0"/>
                <a:ea typeface="Arial" pitchFamily="34" charset="-122"/>
                <a:cs typeface="Arial" pitchFamily="34" charset="-120"/>
              </a:rPr>
              <a:t>Evidence confidence exposes support gaps—it does not predict wrongdoing</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AFC9EC"/>
                </a:solidFill>
                <a:latin typeface="Arial" pitchFamily="34" charset="0"/>
                <a:ea typeface="Arial" pitchFamily="34" charset="-122"/>
                <a:cs typeface="Arial" pitchFamily="34" charset="-120"/>
              </a:rPr>
              <a:t>InvestigateIQ  |  Capstone Group 7  |  4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603504" y="1243584"/>
            <a:ext cx="6428232" cy="3648456"/>
          </a:xfrm>
          <a:prstGeom prst="roundRect">
            <a:avLst>
              <a:gd name="adj" fmla="val 3008"/>
            </a:avLst>
          </a:prstGeom>
          <a:solidFill>
            <a:srgbClr val="D9E7FC"/>
          </a:solidFill>
          <a:ln w="12700">
            <a:solidFill>
              <a:srgbClr val="D9E7FC">
                <a:alpha val="0"/>
              </a:srgbClr>
            </a:solidFill>
            <a:prstDash val="solid"/>
          </a:ln>
        </p:spPr>
      </p:sp>
      <p:pic>
        <p:nvPicPr>
          <p:cNvPr id="7" name="Image 0" descr="C:\D\IIT Mumbai\Capstone Blueprint\assets\walkthrough_screens\2026_workspace_confidence.png">    </p:cNvPr>
          <p:cNvPicPr>
            <a:picLocks noChangeAspect="1"/>
          </p:cNvPicPr>
          <p:nvPr/>
        </p:nvPicPr>
        <p:blipFill>
          <a:blip r:embed="rId1"/>
          <a:stretch>
            <a:fillRect/>
          </a:stretch>
        </p:blipFill>
        <p:spPr>
          <a:xfrm>
            <a:off x="640080" y="1280160"/>
            <a:ext cx="6355080" cy="3575304"/>
          </a:xfrm>
          <a:prstGeom prst="rect">
            <a:avLst/>
          </a:prstGeom>
        </p:spPr>
      </p:pic>
      <p:sp>
        <p:nvSpPr>
          <p:cNvPr id="8" name="Shape 5"/>
          <p:cNvSpPr/>
          <p:nvPr/>
        </p:nvSpPr>
        <p:spPr>
          <a:xfrm>
            <a:off x="7388352" y="1554480"/>
            <a:ext cx="3749040" cy="585216"/>
          </a:xfrm>
          <a:prstGeom prst="roundRect">
            <a:avLst>
              <a:gd name="adj" fmla="val 18750"/>
            </a:avLst>
          </a:prstGeom>
          <a:solidFill>
            <a:srgbClr val="173C78"/>
          </a:solidFill>
          <a:ln w="12700">
            <a:solidFill>
              <a:srgbClr val="173C78">
                <a:alpha val="0"/>
              </a:srgbClr>
            </a:solidFill>
            <a:prstDash val="solid"/>
          </a:ln>
        </p:spPr>
      </p:sp>
      <p:sp>
        <p:nvSpPr>
          <p:cNvPr id="9" name="Text 6"/>
          <p:cNvSpPr txBox="1"/>
          <p:nvPr/>
        </p:nvSpPr>
        <p:spPr>
          <a:xfrm>
            <a:off x="7589520" y="1673352"/>
            <a:ext cx="932688" cy="155448"/>
          </a:xfrm>
          <a:prstGeom prst="rect">
            <a:avLst/>
          </a:prstGeom>
          <a:noFill/>
          <a:ln/>
        </p:spPr>
        <p:txBody>
          <a:bodyPr wrap="square" lIns="0" tIns="0" rIns="0" bIns="0" rtlCol="0" anchor="ctr">
            <a:normAutofit/>
          </a:bodyPr>
          <a:lstStyle/>
          <a:p>
            <a:pPr algn="l" indent="0" marL="0">
              <a:buNone/>
            </a:pPr>
            <a:r>
              <a:rPr lang="en-US" sz="1200" b="1" dirty="0">
                <a:solidFill>
                  <a:srgbClr val="78DCD4"/>
                </a:solidFill>
                <a:latin typeface="Arial" pitchFamily="34" charset="0"/>
                <a:ea typeface="Arial" pitchFamily="34" charset="-122"/>
                <a:cs typeface="Arial" pitchFamily="34" charset="-120"/>
              </a:rPr>
              <a:t>Coverage</a:t>
            </a:r>
            <a:endParaRPr lang="en-US" sz="1200" dirty="0"/>
          </a:p>
        </p:txBody>
      </p:sp>
      <p:sp>
        <p:nvSpPr>
          <p:cNvPr id="10" name="Text 7"/>
          <p:cNvSpPr txBox="1"/>
          <p:nvPr/>
        </p:nvSpPr>
        <p:spPr>
          <a:xfrm>
            <a:off x="8613648" y="1618488"/>
            <a:ext cx="2286000" cy="274320"/>
          </a:xfrm>
          <a:prstGeom prst="rect">
            <a:avLst/>
          </a:prstGeom>
          <a:noFill/>
          <a:ln/>
        </p:spPr>
        <p:txBody>
          <a:bodyPr wrap="square" lIns="0" tIns="0" rIns="0" bIns="0" rtlCol="0" anchor="t">
            <a:normAutofit/>
          </a:bodyPr>
          <a:lstStyle/>
          <a:p>
            <a:pPr algn="l" indent="0" marL="0">
              <a:buNone/>
            </a:pPr>
            <a:r>
              <a:rPr lang="en-US" sz="1050" dirty="0">
                <a:solidFill>
                  <a:srgbClr val="DDEBFF"/>
                </a:solidFill>
                <a:latin typeface="Arial" pitchFamily="34" charset="0"/>
                <a:ea typeface="Arial" pitchFamily="34" charset="-122"/>
                <a:cs typeface="Arial" pitchFamily="34" charset="-120"/>
              </a:rPr>
              <a:t>Supplied records and guidance that support the draft</a:t>
            </a:r>
            <a:endParaRPr lang="en-US" sz="1050" dirty="0"/>
          </a:p>
        </p:txBody>
      </p:sp>
      <p:sp>
        <p:nvSpPr>
          <p:cNvPr id="11" name="Shape 8"/>
          <p:cNvSpPr/>
          <p:nvPr/>
        </p:nvSpPr>
        <p:spPr>
          <a:xfrm>
            <a:off x="7388352" y="2395728"/>
            <a:ext cx="3749040" cy="585216"/>
          </a:xfrm>
          <a:prstGeom prst="roundRect">
            <a:avLst>
              <a:gd name="adj" fmla="val 18750"/>
            </a:avLst>
          </a:prstGeom>
          <a:solidFill>
            <a:srgbClr val="173C78"/>
          </a:solidFill>
          <a:ln w="12700">
            <a:solidFill>
              <a:srgbClr val="173C78">
                <a:alpha val="0"/>
              </a:srgbClr>
            </a:solidFill>
            <a:prstDash val="solid"/>
          </a:ln>
        </p:spPr>
      </p:sp>
      <p:sp>
        <p:nvSpPr>
          <p:cNvPr id="12" name="Text 9"/>
          <p:cNvSpPr txBox="1"/>
          <p:nvPr/>
        </p:nvSpPr>
        <p:spPr>
          <a:xfrm>
            <a:off x="7589520" y="2514600"/>
            <a:ext cx="932688" cy="155448"/>
          </a:xfrm>
          <a:prstGeom prst="rect">
            <a:avLst/>
          </a:prstGeom>
          <a:noFill/>
          <a:ln/>
        </p:spPr>
        <p:txBody>
          <a:bodyPr wrap="square" lIns="0" tIns="0" rIns="0" bIns="0" rtlCol="0" anchor="ctr">
            <a:normAutofit/>
          </a:bodyPr>
          <a:lstStyle/>
          <a:p>
            <a:pPr algn="l" indent="0" marL="0">
              <a:buNone/>
            </a:pPr>
            <a:r>
              <a:rPr lang="en-US" sz="1200" b="1" dirty="0">
                <a:solidFill>
                  <a:srgbClr val="78DCD4"/>
                </a:solidFill>
                <a:latin typeface="Arial" pitchFamily="34" charset="0"/>
                <a:ea typeface="Arial" pitchFamily="34" charset="-122"/>
                <a:cs typeface="Arial" pitchFamily="34" charset="-120"/>
              </a:rPr>
              <a:t>Limitations</a:t>
            </a:r>
            <a:endParaRPr lang="en-US" sz="1200" dirty="0"/>
          </a:p>
        </p:txBody>
      </p:sp>
      <p:sp>
        <p:nvSpPr>
          <p:cNvPr id="13" name="Text 10"/>
          <p:cNvSpPr txBox="1"/>
          <p:nvPr/>
        </p:nvSpPr>
        <p:spPr>
          <a:xfrm>
            <a:off x="8613648" y="2459736"/>
            <a:ext cx="2286000" cy="274320"/>
          </a:xfrm>
          <a:prstGeom prst="rect">
            <a:avLst/>
          </a:prstGeom>
          <a:noFill/>
          <a:ln/>
        </p:spPr>
        <p:txBody>
          <a:bodyPr wrap="square" lIns="0" tIns="0" rIns="0" bIns="0" rtlCol="0" anchor="t">
            <a:normAutofit/>
          </a:bodyPr>
          <a:lstStyle/>
          <a:p>
            <a:pPr algn="l" indent="0" marL="0">
              <a:buNone/>
            </a:pPr>
            <a:r>
              <a:rPr lang="en-US" sz="1050" dirty="0">
                <a:solidFill>
                  <a:srgbClr val="DDEBFF"/>
                </a:solidFill>
                <a:latin typeface="Arial" pitchFamily="34" charset="0"/>
                <a:ea typeface="Arial" pitchFamily="34" charset="-122"/>
                <a:cs typeface="Arial" pitchFamily="34" charset="-120"/>
              </a:rPr>
              <a:t>Known missing or unresolved evidence</a:t>
            </a:r>
            <a:endParaRPr lang="en-US" sz="1050" dirty="0"/>
          </a:p>
        </p:txBody>
      </p:sp>
      <p:sp>
        <p:nvSpPr>
          <p:cNvPr id="14" name="Shape 11"/>
          <p:cNvSpPr/>
          <p:nvPr/>
        </p:nvSpPr>
        <p:spPr>
          <a:xfrm>
            <a:off x="7388352" y="3236976"/>
            <a:ext cx="3749040" cy="585216"/>
          </a:xfrm>
          <a:prstGeom prst="roundRect">
            <a:avLst>
              <a:gd name="adj" fmla="val 18750"/>
            </a:avLst>
          </a:prstGeom>
          <a:solidFill>
            <a:srgbClr val="173C78"/>
          </a:solidFill>
          <a:ln w="12700">
            <a:solidFill>
              <a:srgbClr val="173C78">
                <a:alpha val="0"/>
              </a:srgbClr>
            </a:solidFill>
            <a:prstDash val="solid"/>
          </a:ln>
        </p:spPr>
      </p:sp>
      <p:sp>
        <p:nvSpPr>
          <p:cNvPr id="15" name="Text 12"/>
          <p:cNvSpPr txBox="1"/>
          <p:nvPr/>
        </p:nvSpPr>
        <p:spPr>
          <a:xfrm>
            <a:off x="7589520" y="3355848"/>
            <a:ext cx="932688" cy="155448"/>
          </a:xfrm>
          <a:prstGeom prst="rect">
            <a:avLst/>
          </a:prstGeom>
          <a:noFill/>
          <a:ln/>
        </p:spPr>
        <p:txBody>
          <a:bodyPr wrap="square" lIns="0" tIns="0" rIns="0" bIns="0" rtlCol="0" anchor="ctr">
            <a:normAutofit/>
          </a:bodyPr>
          <a:lstStyle/>
          <a:p>
            <a:pPr algn="l" indent="0" marL="0">
              <a:buNone/>
            </a:pPr>
            <a:r>
              <a:rPr lang="en-US" sz="1200" b="1" dirty="0">
                <a:solidFill>
                  <a:srgbClr val="78DCD4"/>
                </a:solidFill>
                <a:latin typeface="Arial" pitchFamily="34" charset="0"/>
                <a:ea typeface="Arial" pitchFamily="34" charset="-122"/>
                <a:cs typeface="Arial" pitchFamily="34" charset="-120"/>
              </a:rPr>
              <a:t>Boundary</a:t>
            </a:r>
            <a:endParaRPr lang="en-US" sz="1200" dirty="0"/>
          </a:p>
        </p:txBody>
      </p:sp>
      <p:sp>
        <p:nvSpPr>
          <p:cNvPr id="16" name="Text 13"/>
          <p:cNvSpPr txBox="1"/>
          <p:nvPr/>
        </p:nvSpPr>
        <p:spPr>
          <a:xfrm>
            <a:off x="8613648" y="3300984"/>
            <a:ext cx="2286000" cy="274320"/>
          </a:xfrm>
          <a:prstGeom prst="rect">
            <a:avLst/>
          </a:prstGeom>
          <a:noFill/>
          <a:ln/>
        </p:spPr>
        <p:txBody>
          <a:bodyPr wrap="square" lIns="0" tIns="0" rIns="0" bIns="0" rtlCol="0" anchor="t">
            <a:normAutofit/>
          </a:bodyPr>
          <a:lstStyle/>
          <a:p>
            <a:pPr algn="l" indent="0" marL="0">
              <a:buNone/>
            </a:pPr>
            <a:r>
              <a:rPr lang="en-US" sz="1050" dirty="0">
                <a:solidFill>
                  <a:srgbClr val="DDEBFF"/>
                </a:solidFill>
                <a:latin typeface="Arial" pitchFamily="34" charset="0"/>
                <a:ea typeface="Arial" pitchFamily="34" charset="-122"/>
                <a:cs typeface="Arial" pitchFamily="34" charset="-120"/>
              </a:rPr>
              <a:t>Not a crime, legality, or outcome probability</a:t>
            </a:r>
            <a:endParaRPr lang="en-US" sz="1050" dirty="0"/>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E"/>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00A79D"/>
                </a:solidFill>
                <a:latin typeface="Arial" pitchFamily="34" charset="0"/>
                <a:ea typeface="Arial" pitchFamily="34" charset="-122"/>
                <a:cs typeface="Arial" pitchFamily="34" charset="-120"/>
              </a:rPr>
              <a:t>OKF, CHUNKS, AND RAG</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0B1F3A"/>
                </a:solidFill>
                <a:latin typeface="Arial" pitchFamily="34" charset="0"/>
                <a:ea typeface="Arial" pitchFamily="34" charset="-122"/>
                <a:cs typeface="Arial" pitchFamily="34" charset="-120"/>
              </a:rPr>
              <a:t>The coding logic keeps the source trail inspectable</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5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585216" y="1225296"/>
            <a:ext cx="6364224" cy="3611880"/>
          </a:xfrm>
          <a:prstGeom prst="roundRect">
            <a:avLst>
              <a:gd name="adj" fmla="val 3038"/>
            </a:avLst>
          </a:prstGeom>
          <a:solidFill>
            <a:srgbClr val="D9E7FC"/>
          </a:solidFill>
          <a:ln w="12700">
            <a:solidFill>
              <a:srgbClr val="D9E7FC">
                <a:alpha val="0"/>
              </a:srgbClr>
            </a:solidFill>
            <a:prstDash val="solid"/>
          </a:ln>
        </p:spPr>
      </p:sp>
      <p:pic>
        <p:nvPicPr>
          <p:cNvPr id="7" name="Image 0" descr="C:\D\IIT Mumbai\Capstone Blueprint\assets\walkthrough_screens\2026_evidence_source_chunks_detail.png">    </p:cNvPr>
          <p:cNvPicPr>
            <a:picLocks noChangeAspect="1"/>
          </p:cNvPicPr>
          <p:nvPr/>
        </p:nvPicPr>
        <p:blipFill>
          <a:blip r:embed="rId1"/>
          <a:stretch>
            <a:fillRect/>
          </a:stretch>
        </p:blipFill>
        <p:spPr>
          <a:xfrm>
            <a:off x="621792" y="1261872"/>
            <a:ext cx="6291072" cy="3538728"/>
          </a:xfrm>
          <a:prstGeom prst="rect">
            <a:avLst/>
          </a:prstGeom>
        </p:spPr>
      </p:pic>
      <p:sp>
        <p:nvSpPr>
          <p:cNvPr id="8" name="Shape 5"/>
          <p:cNvSpPr/>
          <p:nvPr/>
        </p:nvSpPr>
        <p:spPr>
          <a:xfrm>
            <a:off x="7360920" y="1325880"/>
            <a:ext cx="347472" cy="347472"/>
          </a:xfrm>
          <a:prstGeom prst="ellipse">
            <a:avLst/>
          </a:prstGeom>
          <a:solidFill>
            <a:srgbClr val="2E65C5"/>
          </a:solidFill>
          <a:ln w="12700">
            <a:solidFill>
              <a:srgbClr val="2E65C5">
                <a:alpha val="0"/>
              </a:srgbClr>
            </a:solidFill>
            <a:prstDash val="solid"/>
          </a:ln>
        </p:spPr>
      </p:sp>
      <p:sp>
        <p:nvSpPr>
          <p:cNvPr id="9" name="Text 6"/>
          <p:cNvSpPr txBox="1"/>
          <p:nvPr/>
        </p:nvSpPr>
        <p:spPr>
          <a:xfrm>
            <a:off x="7360920" y="1408176"/>
            <a:ext cx="347472" cy="10058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0" name="Text 7"/>
          <p:cNvSpPr txBox="1"/>
          <p:nvPr/>
        </p:nvSpPr>
        <p:spPr>
          <a:xfrm>
            <a:off x="7872984" y="1325880"/>
            <a:ext cx="1920240" cy="164592"/>
          </a:xfrm>
          <a:prstGeom prst="rect">
            <a:avLst/>
          </a:prstGeom>
          <a:noFill/>
          <a:ln/>
        </p:spPr>
        <p:txBody>
          <a:bodyPr wrap="square" lIns="0" tIns="0" rIns="0" bIns="0" rtlCol="0" anchor="ctr">
            <a:normAutofit/>
          </a:bodyPr>
          <a:lstStyle/>
          <a:p>
            <a:pPr algn="l" indent="0" marL="0">
              <a:buNone/>
            </a:pPr>
            <a:r>
              <a:rPr lang="en-US" sz="1300" b="1" dirty="0">
                <a:solidFill>
                  <a:srgbClr val="12233F"/>
                </a:solidFill>
                <a:latin typeface="Arial" pitchFamily="34" charset="0"/>
                <a:ea typeface="Arial" pitchFamily="34" charset="-122"/>
                <a:cs typeface="Arial" pitchFamily="34" charset="-120"/>
              </a:rPr>
              <a:t>OKF source</a:t>
            </a:r>
            <a:endParaRPr lang="en-US" sz="1300" dirty="0"/>
          </a:p>
        </p:txBody>
      </p:sp>
      <p:sp>
        <p:nvSpPr>
          <p:cNvPr id="11" name="Text 8"/>
          <p:cNvSpPr txBox="1"/>
          <p:nvPr/>
        </p:nvSpPr>
        <p:spPr>
          <a:xfrm>
            <a:off x="7872984" y="1554480"/>
            <a:ext cx="288036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ID, scenario, title, criteria, body</a:t>
            </a:r>
            <a:endParaRPr lang="en-US" sz="1050" dirty="0"/>
          </a:p>
        </p:txBody>
      </p:sp>
      <p:sp>
        <p:nvSpPr>
          <p:cNvPr id="12" name="Shape 9"/>
          <p:cNvSpPr/>
          <p:nvPr/>
        </p:nvSpPr>
        <p:spPr>
          <a:xfrm>
            <a:off x="7360920" y="2093976"/>
            <a:ext cx="347472" cy="347472"/>
          </a:xfrm>
          <a:prstGeom prst="ellipse">
            <a:avLst/>
          </a:prstGeom>
          <a:solidFill>
            <a:srgbClr val="2E65C5"/>
          </a:solidFill>
          <a:ln w="12700">
            <a:solidFill>
              <a:srgbClr val="2E65C5">
                <a:alpha val="0"/>
              </a:srgbClr>
            </a:solidFill>
            <a:prstDash val="solid"/>
          </a:ln>
        </p:spPr>
      </p:sp>
      <p:sp>
        <p:nvSpPr>
          <p:cNvPr id="13" name="Text 10"/>
          <p:cNvSpPr txBox="1"/>
          <p:nvPr/>
        </p:nvSpPr>
        <p:spPr>
          <a:xfrm>
            <a:off x="7360920" y="2176272"/>
            <a:ext cx="347472" cy="10058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4" name="Text 11"/>
          <p:cNvSpPr txBox="1"/>
          <p:nvPr/>
        </p:nvSpPr>
        <p:spPr>
          <a:xfrm>
            <a:off x="7872984" y="2093976"/>
            <a:ext cx="1920240" cy="164592"/>
          </a:xfrm>
          <a:prstGeom prst="rect">
            <a:avLst/>
          </a:prstGeom>
          <a:noFill/>
          <a:ln/>
        </p:spPr>
        <p:txBody>
          <a:bodyPr wrap="square" lIns="0" tIns="0" rIns="0" bIns="0" rtlCol="0" anchor="ctr">
            <a:normAutofit/>
          </a:bodyPr>
          <a:lstStyle/>
          <a:p>
            <a:pPr algn="l" indent="0" marL="0">
              <a:buNone/>
            </a:pPr>
            <a:r>
              <a:rPr lang="en-US" sz="1300" b="1" dirty="0">
                <a:solidFill>
                  <a:srgbClr val="12233F"/>
                </a:solidFill>
                <a:latin typeface="Arial" pitchFamily="34" charset="0"/>
                <a:ea typeface="Arial" pitchFamily="34" charset="-122"/>
                <a:cs typeface="Arial" pitchFamily="34" charset="-120"/>
              </a:rPr>
              <a:t>Chunk builder</a:t>
            </a:r>
            <a:endParaRPr lang="en-US" sz="1300" dirty="0"/>
          </a:p>
        </p:txBody>
      </p:sp>
      <p:sp>
        <p:nvSpPr>
          <p:cNvPr id="15" name="Text 12"/>
          <p:cNvSpPr txBox="1"/>
          <p:nvPr/>
        </p:nvSpPr>
        <p:spPr>
          <a:xfrm>
            <a:off x="7872984" y="2322576"/>
            <a:ext cx="288036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C0 metadata + two-sentence body chunks</a:t>
            </a:r>
            <a:endParaRPr lang="en-US" sz="1050" dirty="0"/>
          </a:p>
        </p:txBody>
      </p:sp>
      <p:sp>
        <p:nvSpPr>
          <p:cNvPr id="16" name="Shape 13"/>
          <p:cNvSpPr/>
          <p:nvPr/>
        </p:nvSpPr>
        <p:spPr>
          <a:xfrm>
            <a:off x="7360920" y="2862072"/>
            <a:ext cx="347472" cy="347472"/>
          </a:xfrm>
          <a:prstGeom prst="ellipse">
            <a:avLst/>
          </a:prstGeom>
          <a:solidFill>
            <a:srgbClr val="00A79D"/>
          </a:solidFill>
          <a:ln w="12700">
            <a:solidFill>
              <a:srgbClr val="00A79D">
                <a:alpha val="0"/>
              </a:srgbClr>
            </a:solidFill>
            <a:prstDash val="solid"/>
          </a:ln>
        </p:spPr>
      </p:sp>
      <p:sp>
        <p:nvSpPr>
          <p:cNvPr id="17" name="Text 14"/>
          <p:cNvSpPr txBox="1"/>
          <p:nvPr/>
        </p:nvSpPr>
        <p:spPr>
          <a:xfrm>
            <a:off x="7360920" y="2944368"/>
            <a:ext cx="347472" cy="10058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8" name="Text 15"/>
          <p:cNvSpPr txBox="1"/>
          <p:nvPr/>
        </p:nvSpPr>
        <p:spPr>
          <a:xfrm>
            <a:off x="7872984" y="2862072"/>
            <a:ext cx="1920240" cy="164592"/>
          </a:xfrm>
          <a:prstGeom prst="rect">
            <a:avLst/>
          </a:prstGeom>
          <a:noFill/>
          <a:ln/>
        </p:spPr>
        <p:txBody>
          <a:bodyPr wrap="square" lIns="0" tIns="0" rIns="0" bIns="0" rtlCol="0" anchor="ctr">
            <a:normAutofit/>
          </a:bodyPr>
          <a:lstStyle/>
          <a:p>
            <a:pPr algn="l" indent="0" marL="0">
              <a:buNone/>
            </a:pPr>
            <a:r>
              <a:rPr lang="en-US" sz="1300" b="1" dirty="0">
                <a:solidFill>
                  <a:srgbClr val="12233F"/>
                </a:solidFill>
                <a:latin typeface="Arial" pitchFamily="34" charset="0"/>
                <a:ea typeface="Arial" pitchFamily="34" charset="-122"/>
                <a:cs typeface="Arial" pitchFamily="34" charset="-120"/>
              </a:rPr>
              <a:t>FTS5 + BM25</a:t>
            </a:r>
            <a:endParaRPr lang="en-US" sz="1300" dirty="0"/>
          </a:p>
        </p:txBody>
      </p:sp>
      <p:sp>
        <p:nvSpPr>
          <p:cNvPr id="19" name="Text 16"/>
          <p:cNvSpPr txBox="1"/>
          <p:nvPr/>
        </p:nvSpPr>
        <p:spPr>
          <a:xfrm>
            <a:off x="7872984" y="3090672"/>
            <a:ext cx="288036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Local keyword match and rank</a:t>
            </a:r>
            <a:endParaRPr lang="en-US" sz="1050" dirty="0"/>
          </a:p>
        </p:txBody>
      </p:sp>
      <p:sp>
        <p:nvSpPr>
          <p:cNvPr id="20" name="Shape 17"/>
          <p:cNvSpPr/>
          <p:nvPr/>
        </p:nvSpPr>
        <p:spPr>
          <a:xfrm>
            <a:off x="7360920" y="3630168"/>
            <a:ext cx="347472" cy="347472"/>
          </a:xfrm>
          <a:prstGeom prst="ellipse">
            <a:avLst/>
          </a:prstGeom>
          <a:solidFill>
            <a:srgbClr val="2E65C5"/>
          </a:solidFill>
          <a:ln w="12700">
            <a:solidFill>
              <a:srgbClr val="2E65C5">
                <a:alpha val="0"/>
              </a:srgbClr>
            </a:solidFill>
            <a:prstDash val="solid"/>
          </a:ln>
        </p:spPr>
      </p:sp>
      <p:sp>
        <p:nvSpPr>
          <p:cNvPr id="21" name="Text 18"/>
          <p:cNvSpPr txBox="1"/>
          <p:nvPr/>
        </p:nvSpPr>
        <p:spPr>
          <a:xfrm>
            <a:off x="7360920" y="3712464"/>
            <a:ext cx="347472" cy="10058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2" name="Text 19"/>
          <p:cNvSpPr txBox="1"/>
          <p:nvPr/>
        </p:nvSpPr>
        <p:spPr>
          <a:xfrm>
            <a:off x="7872984" y="3630168"/>
            <a:ext cx="1920240" cy="164592"/>
          </a:xfrm>
          <a:prstGeom prst="rect">
            <a:avLst/>
          </a:prstGeom>
          <a:noFill/>
          <a:ln/>
        </p:spPr>
        <p:txBody>
          <a:bodyPr wrap="square" lIns="0" tIns="0" rIns="0" bIns="0" rtlCol="0" anchor="ctr">
            <a:normAutofit/>
          </a:bodyPr>
          <a:lstStyle/>
          <a:p>
            <a:pPr algn="l" indent="0" marL="0">
              <a:buNone/>
            </a:pPr>
            <a:r>
              <a:rPr lang="en-US" sz="1300" b="1" dirty="0">
                <a:solidFill>
                  <a:srgbClr val="12233F"/>
                </a:solidFill>
                <a:latin typeface="Arial" pitchFamily="34" charset="0"/>
                <a:ea typeface="Arial" pitchFamily="34" charset="-122"/>
                <a:cs typeface="Arial" pitchFamily="34" charset="-120"/>
              </a:rPr>
              <a:t>RAG context</a:t>
            </a:r>
            <a:endParaRPr lang="en-US" sz="1300" dirty="0"/>
          </a:p>
        </p:txBody>
      </p:sp>
      <p:sp>
        <p:nvSpPr>
          <p:cNvPr id="23" name="Text 20"/>
          <p:cNvSpPr txBox="1"/>
          <p:nvPr/>
        </p:nvSpPr>
        <p:spPr>
          <a:xfrm>
            <a:off x="7872984" y="3858768"/>
            <a:ext cx="2880360" cy="256032"/>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Retrieved IDs produce a cited, reviewable answer</a:t>
            </a:r>
            <a:endParaRPr lang="en-US" sz="1050" dirty="0"/>
          </a:p>
        </p:txBody>
      </p:sp>
      <p:sp>
        <p:nvSpPr>
          <p:cNvPr id="24" name="Shape 21"/>
          <p:cNvSpPr/>
          <p:nvPr/>
        </p:nvSpPr>
        <p:spPr>
          <a:xfrm>
            <a:off x="749808" y="5257800"/>
            <a:ext cx="10652760" cy="384048"/>
          </a:xfrm>
          <a:prstGeom prst="roundRect">
            <a:avLst>
              <a:gd name="adj" fmla="val 28571"/>
            </a:avLst>
          </a:prstGeom>
          <a:solidFill>
            <a:srgbClr val="E6F8F6"/>
          </a:solidFill>
          <a:ln w="12700">
            <a:solidFill>
              <a:srgbClr val="E6F8F6">
                <a:alpha val="0"/>
              </a:srgbClr>
            </a:solidFill>
            <a:prstDash val="solid"/>
          </a:ln>
        </p:spPr>
      </p:sp>
      <p:sp>
        <p:nvSpPr>
          <p:cNvPr id="25" name="Text 22"/>
          <p:cNvSpPr txBox="1"/>
          <p:nvPr/>
        </p:nvSpPr>
        <p:spPr>
          <a:xfrm>
            <a:off x="914400" y="5376672"/>
            <a:ext cx="10314432" cy="118872"/>
          </a:xfrm>
          <a:prstGeom prst="rect">
            <a:avLst/>
          </a:prstGeom>
          <a:noFill/>
          <a:ln/>
        </p:spPr>
        <p:txBody>
          <a:bodyPr wrap="square" lIns="0" tIns="0" rIns="0" bIns="0" rtlCol="0" anchor="ctr">
            <a:normAutofit/>
          </a:bodyPr>
          <a:lstStyle/>
          <a:p>
            <a:pPr algn="ctr" indent="0" marL="0">
              <a:buNone/>
            </a:pPr>
            <a:r>
              <a:rPr lang="en-US" sz="1150" b="1" dirty="0">
                <a:solidFill>
                  <a:srgbClr val="00A79D"/>
                </a:solidFill>
                <a:latin typeface="Arial" pitchFamily="34" charset="0"/>
                <a:ea typeface="Arial" pitchFamily="34" charset="-122"/>
                <a:cs typeface="Arial" pitchFamily="34" charset="-120"/>
              </a:rPr>
              <a:t>OKF source  →  chunk builder  →  FTS5/BM25  →  retrieved IDs  →  cited response</a:t>
            </a:r>
            <a:endParaRPr lang="en-US" sz="1150" dirty="0"/>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E"/>
        </a:solidFill>
      </p:bgPr>
    </p:bg>
    <p:spTree>
      <p:nvGrpSpPr>
        <p:cNvPr id="1" name=""/>
        <p:cNvGrpSpPr/>
        <p:nvPr/>
      </p:nvGrpSpPr>
      <p:grpSpPr>
        <a:xfrm>
          <a:off x="0" y="0"/>
          <a:ext cx="0" cy="0"/>
          <a:chOff x="0" y="0"/>
          <a:chExt cx="0" cy="0"/>
        </a:xfrm>
      </p:grpSpPr>
      <p:pic>
        <p:nvPicPr>
          <p:cNvPr id="2" name="Image 0" descr="C:\D\IIT Mumbai\Capstone Blueprint\assets\walkthrough_screens\2026_data_flow_diagram_v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30352" y="219456"/>
            <a:ext cx="11128248" cy="6263640"/>
          </a:xfrm>
          <a:prstGeom prst="rect">
            <a:avLst/>
          </a:prstGeom>
        </p:spPr>
      </p:pic>
      <p:sp>
        <p:nvSpPr>
          <p:cNvPr id="3" name="Text 0"/>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6 of 12</a:t>
            </a:r>
            <a:endParaRPr lang="en-US" sz="850" dirty="0"/>
          </a:p>
        </p:txBody>
      </p:sp>
      <p:sp>
        <p:nvSpPr>
          <p:cNvPr id="4" name="Text 1"/>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78DCD4"/>
                </a:solidFill>
                <a:latin typeface="Arial" pitchFamily="34" charset="0"/>
                <a:ea typeface="Arial" pitchFamily="34" charset="-122"/>
                <a:cs typeface="Arial" pitchFamily="34" charset="-120"/>
              </a:rPr>
              <a:t>LIVE DEMONSTRATION FLOW</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FFFFFF"/>
                </a:solidFill>
                <a:latin typeface="Arial" pitchFamily="34" charset="0"/>
                <a:ea typeface="Arial" pitchFamily="34" charset="-122"/>
                <a:cs typeface="Arial" pitchFamily="34" charset="-120"/>
              </a:rPr>
              <a:t>Two cases: documented closure, then an open/escalated investigation</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AFC9EC"/>
                </a:solidFill>
                <a:latin typeface="Arial" pitchFamily="34" charset="0"/>
                <a:ea typeface="Arial" pitchFamily="34" charset="-122"/>
                <a:cs typeface="Arial" pitchFamily="34" charset="-120"/>
              </a:rPr>
              <a:t>InvestigateIQ  |  Capstone Group 7  |  7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31520" y="1307592"/>
            <a:ext cx="10716768" cy="512064"/>
          </a:xfrm>
          <a:prstGeom prst="roundRect">
            <a:avLst>
              <a:gd name="adj" fmla="val 21429"/>
            </a:avLst>
          </a:prstGeom>
          <a:solidFill>
            <a:srgbClr val="102B51"/>
          </a:solidFill>
          <a:ln w="12700">
            <a:solidFill>
              <a:srgbClr val="102B51">
                <a:alpha val="0"/>
              </a:srgbClr>
            </a:solidFill>
            <a:prstDash val="solid"/>
          </a:ln>
        </p:spPr>
      </p:sp>
      <p:sp>
        <p:nvSpPr>
          <p:cNvPr id="7" name="Text 5"/>
          <p:cNvSpPr txBox="1"/>
          <p:nvPr/>
        </p:nvSpPr>
        <p:spPr>
          <a:xfrm>
            <a:off x="941832" y="1472184"/>
            <a:ext cx="1005840" cy="146304"/>
          </a:xfrm>
          <a:prstGeom prst="rect">
            <a:avLst/>
          </a:prstGeom>
          <a:noFill/>
          <a:ln/>
        </p:spPr>
        <p:txBody>
          <a:bodyPr wrap="square" lIns="0" tIns="0" rIns="0" bIns="0" rtlCol="0" anchor="ctr">
            <a:normAutofit/>
          </a:bodyPr>
          <a:lstStyle/>
          <a:p>
            <a:pPr algn="l" indent="0" marL="0">
              <a:buNone/>
            </a:pPr>
            <a:r>
              <a:rPr lang="en-US" sz="1150" b="1" dirty="0">
                <a:solidFill>
                  <a:srgbClr val="78DCD4"/>
                </a:solidFill>
                <a:latin typeface="Arial" pitchFamily="34" charset="0"/>
                <a:ea typeface="Arial" pitchFamily="34" charset="-122"/>
                <a:cs typeface="Arial" pitchFamily="34" charset="-120"/>
              </a:rPr>
              <a:t>0:00–0:35</a:t>
            </a:r>
            <a:endParaRPr lang="en-US" sz="1150" dirty="0"/>
          </a:p>
        </p:txBody>
      </p:sp>
      <p:sp>
        <p:nvSpPr>
          <p:cNvPr id="8" name="Text 6"/>
          <p:cNvSpPr txBox="1"/>
          <p:nvPr/>
        </p:nvSpPr>
        <p:spPr>
          <a:xfrm>
            <a:off x="2148840" y="1472184"/>
            <a:ext cx="1874520" cy="14630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Case A — documented closure</a:t>
            </a:r>
            <a:endParaRPr lang="en-US" sz="1250" dirty="0"/>
          </a:p>
        </p:txBody>
      </p:sp>
      <p:sp>
        <p:nvSpPr>
          <p:cNvPr id="9" name="Text 7"/>
          <p:cNvSpPr txBox="1"/>
          <p:nvPr/>
        </p:nvSpPr>
        <p:spPr>
          <a:xfrm>
            <a:off x="4023360" y="1426464"/>
            <a:ext cx="7095744" cy="237744"/>
          </a:xfrm>
          <a:prstGeom prst="rect">
            <a:avLst/>
          </a:prstGeom>
          <a:noFill/>
          <a:ln/>
        </p:spPr>
        <p:txBody>
          <a:bodyPr wrap="square" lIns="0" tIns="0" rIns="0" bIns="0" rtlCol="0" anchor="t">
            <a:normAutofit/>
          </a:bodyPr>
          <a:lstStyle/>
          <a:p>
            <a:pPr algn="l" indent="0" marL="0">
              <a:buNone/>
            </a:pPr>
            <a:r>
              <a:rPr lang="en-US" sz="1060" dirty="0">
                <a:solidFill>
                  <a:srgbClr val="DDEBFF"/>
                </a:solidFill>
                <a:latin typeface="Arial" pitchFamily="34" charset="0"/>
                <a:ea typeface="Arial" pitchFamily="34" charset="-122"/>
                <a:cs typeface="Arial" pitchFamily="34" charset="-120"/>
              </a:rPr>
              <a:t>From Queue, open Evidence only. Show why the closed outcome has recorded support; do not alter it.</a:t>
            </a:r>
            <a:endParaRPr lang="en-US" sz="1060" dirty="0"/>
          </a:p>
        </p:txBody>
      </p:sp>
      <p:sp>
        <p:nvSpPr>
          <p:cNvPr id="10" name="Shape 8"/>
          <p:cNvSpPr/>
          <p:nvPr/>
        </p:nvSpPr>
        <p:spPr>
          <a:xfrm>
            <a:off x="731520" y="2020824"/>
            <a:ext cx="10716768" cy="512064"/>
          </a:xfrm>
          <a:prstGeom prst="roundRect">
            <a:avLst>
              <a:gd name="adj" fmla="val 21429"/>
            </a:avLst>
          </a:prstGeom>
          <a:solidFill>
            <a:srgbClr val="102B51"/>
          </a:solidFill>
          <a:ln w="12700">
            <a:solidFill>
              <a:srgbClr val="102B51">
                <a:alpha val="0"/>
              </a:srgbClr>
            </a:solidFill>
            <a:prstDash val="solid"/>
          </a:ln>
        </p:spPr>
      </p:sp>
      <p:sp>
        <p:nvSpPr>
          <p:cNvPr id="11" name="Text 9"/>
          <p:cNvSpPr txBox="1"/>
          <p:nvPr/>
        </p:nvSpPr>
        <p:spPr>
          <a:xfrm>
            <a:off x="941832" y="2185416"/>
            <a:ext cx="1005840" cy="146304"/>
          </a:xfrm>
          <a:prstGeom prst="rect">
            <a:avLst/>
          </a:prstGeom>
          <a:noFill/>
          <a:ln/>
        </p:spPr>
        <p:txBody>
          <a:bodyPr wrap="square" lIns="0" tIns="0" rIns="0" bIns="0" rtlCol="0" anchor="ctr">
            <a:normAutofit/>
          </a:bodyPr>
          <a:lstStyle/>
          <a:p>
            <a:pPr algn="l" indent="0" marL="0">
              <a:buNone/>
            </a:pPr>
            <a:r>
              <a:rPr lang="en-US" sz="1150" b="1" dirty="0">
                <a:solidFill>
                  <a:srgbClr val="78DCD4"/>
                </a:solidFill>
                <a:latin typeface="Arial" pitchFamily="34" charset="0"/>
                <a:ea typeface="Arial" pitchFamily="34" charset="-122"/>
                <a:cs typeface="Arial" pitchFamily="34" charset="-120"/>
              </a:rPr>
              <a:t>0:35–1:15</a:t>
            </a:r>
            <a:endParaRPr lang="en-US" sz="1150" dirty="0"/>
          </a:p>
        </p:txBody>
      </p:sp>
      <p:sp>
        <p:nvSpPr>
          <p:cNvPr id="12" name="Text 10"/>
          <p:cNvSpPr txBox="1"/>
          <p:nvPr/>
        </p:nvSpPr>
        <p:spPr>
          <a:xfrm>
            <a:off x="2148840" y="2185416"/>
            <a:ext cx="1874520" cy="14630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Case B — open/escalated</a:t>
            </a:r>
            <a:endParaRPr lang="en-US" sz="1250" dirty="0"/>
          </a:p>
        </p:txBody>
      </p:sp>
      <p:sp>
        <p:nvSpPr>
          <p:cNvPr id="13" name="Text 11"/>
          <p:cNvSpPr txBox="1"/>
          <p:nvPr/>
        </p:nvSpPr>
        <p:spPr>
          <a:xfrm>
            <a:off x="4023360" y="2139696"/>
            <a:ext cx="7095744" cy="237744"/>
          </a:xfrm>
          <a:prstGeom prst="rect">
            <a:avLst/>
          </a:prstGeom>
          <a:noFill/>
          <a:ln/>
        </p:spPr>
        <p:txBody>
          <a:bodyPr wrap="square" lIns="0" tIns="0" rIns="0" bIns="0" rtlCol="0" anchor="t">
            <a:normAutofit/>
          </a:bodyPr>
          <a:lstStyle/>
          <a:p>
            <a:pPr algn="l" indent="0" marL="0">
              <a:buNone/>
            </a:pPr>
            <a:r>
              <a:rPr lang="en-US" sz="1060" dirty="0">
                <a:solidFill>
                  <a:srgbClr val="DDEBFF"/>
                </a:solidFill>
                <a:latin typeface="Arial" pitchFamily="34" charset="0"/>
                <a:ea typeface="Arial" pitchFamily="34" charset="-122"/>
                <a:cs typeface="Arial" pitchFamily="34" charset="-120"/>
              </a:rPr>
              <a:t>Open the default review case; distinguish Status, Rule(s), and Action.</a:t>
            </a:r>
            <a:endParaRPr lang="en-US" sz="1060" dirty="0"/>
          </a:p>
        </p:txBody>
      </p:sp>
      <p:sp>
        <p:nvSpPr>
          <p:cNvPr id="14" name="Shape 12"/>
          <p:cNvSpPr/>
          <p:nvPr/>
        </p:nvSpPr>
        <p:spPr>
          <a:xfrm>
            <a:off x="731520" y="2734056"/>
            <a:ext cx="10716768" cy="512064"/>
          </a:xfrm>
          <a:prstGeom prst="roundRect">
            <a:avLst>
              <a:gd name="adj" fmla="val 21429"/>
            </a:avLst>
          </a:prstGeom>
          <a:solidFill>
            <a:srgbClr val="173C78"/>
          </a:solidFill>
          <a:ln w="12700">
            <a:solidFill>
              <a:srgbClr val="173C78">
                <a:alpha val="0"/>
              </a:srgbClr>
            </a:solidFill>
            <a:prstDash val="solid"/>
          </a:ln>
        </p:spPr>
      </p:sp>
      <p:sp>
        <p:nvSpPr>
          <p:cNvPr id="15" name="Text 13"/>
          <p:cNvSpPr txBox="1"/>
          <p:nvPr/>
        </p:nvSpPr>
        <p:spPr>
          <a:xfrm>
            <a:off x="941832" y="2898648"/>
            <a:ext cx="1005840" cy="146304"/>
          </a:xfrm>
          <a:prstGeom prst="rect">
            <a:avLst/>
          </a:prstGeom>
          <a:noFill/>
          <a:ln/>
        </p:spPr>
        <p:txBody>
          <a:bodyPr wrap="square" lIns="0" tIns="0" rIns="0" bIns="0" rtlCol="0" anchor="ctr">
            <a:normAutofit/>
          </a:bodyPr>
          <a:lstStyle/>
          <a:p>
            <a:pPr algn="l" indent="0" marL="0">
              <a:buNone/>
            </a:pPr>
            <a:r>
              <a:rPr lang="en-US" sz="1150" b="1" dirty="0">
                <a:solidFill>
                  <a:srgbClr val="78DCD4"/>
                </a:solidFill>
                <a:latin typeface="Arial" pitchFamily="34" charset="0"/>
                <a:ea typeface="Arial" pitchFamily="34" charset="-122"/>
                <a:cs typeface="Arial" pitchFamily="34" charset="-120"/>
              </a:rPr>
              <a:t>1:15–2:05</a:t>
            </a:r>
            <a:endParaRPr lang="en-US" sz="1150" dirty="0"/>
          </a:p>
        </p:txBody>
      </p:sp>
      <p:sp>
        <p:nvSpPr>
          <p:cNvPr id="16" name="Text 14"/>
          <p:cNvSpPr txBox="1"/>
          <p:nvPr/>
        </p:nvSpPr>
        <p:spPr>
          <a:xfrm>
            <a:off x="2148840" y="2898648"/>
            <a:ext cx="1874520" cy="14630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Workspace</a:t>
            </a:r>
            <a:endParaRPr lang="en-US" sz="1250" dirty="0"/>
          </a:p>
        </p:txBody>
      </p:sp>
      <p:sp>
        <p:nvSpPr>
          <p:cNvPr id="17" name="Text 15"/>
          <p:cNvSpPr txBox="1"/>
          <p:nvPr/>
        </p:nvSpPr>
        <p:spPr>
          <a:xfrm>
            <a:off x="4023360" y="2852928"/>
            <a:ext cx="7095744" cy="237744"/>
          </a:xfrm>
          <a:prstGeom prst="rect">
            <a:avLst/>
          </a:prstGeom>
          <a:noFill/>
          <a:ln/>
        </p:spPr>
        <p:txBody>
          <a:bodyPr wrap="square" lIns="0" tIns="0" rIns="0" bIns="0" rtlCol="0" anchor="t">
            <a:normAutofit/>
          </a:bodyPr>
          <a:lstStyle/>
          <a:p>
            <a:pPr algn="l" indent="0" marL="0">
              <a:buNone/>
            </a:pPr>
            <a:r>
              <a:rPr lang="en-US" sz="1060" dirty="0">
                <a:solidFill>
                  <a:srgbClr val="DDEBFF"/>
                </a:solidFill>
                <a:latin typeface="Arial" pitchFamily="34" charset="0"/>
                <a:ea typeface="Arial" pitchFamily="34" charset="-122"/>
                <a:cs typeface="Arial" pitchFamily="34" charset="-120"/>
              </a:rPr>
              <a:t>Run saved/calculated review; show validator and evidence-confidence limitations.</a:t>
            </a:r>
            <a:endParaRPr lang="en-US" sz="1060" dirty="0"/>
          </a:p>
        </p:txBody>
      </p:sp>
      <p:sp>
        <p:nvSpPr>
          <p:cNvPr id="18" name="Shape 16"/>
          <p:cNvSpPr/>
          <p:nvPr/>
        </p:nvSpPr>
        <p:spPr>
          <a:xfrm>
            <a:off x="731520" y="3447288"/>
            <a:ext cx="10716768" cy="512064"/>
          </a:xfrm>
          <a:prstGeom prst="roundRect">
            <a:avLst>
              <a:gd name="adj" fmla="val 21429"/>
            </a:avLst>
          </a:prstGeom>
          <a:solidFill>
            <a:srgbClr val="102B51"/>
          </a:solidFill>
          <a:ln w="12700">
            <a:solidFill>
              <a:srgbClr val="102B51">
                <a:alpha val="0"/>
              </a:srgbClr>
            </a:solidFill>
            <a:prstDash val="solid"/>
          </a:ln>
        </p:spPr>
      </p:sp>
      <p:sp>
        <p:nvSpPr>
          <p:cNvPr id="19" name="Text 17"/>
          <p:cNvSpPr txBox="1"/>
          <p:nvPr/>
        </p:nvSpPr>
        <p:spPr>
          <a:xfrm>
            <a:off x="941832" y="3611880"/>
            <a:ext cx="1005840" cy="146304"/>
          </a:xfrm>
          <a:prstGeom prst="rect">
            <a:avLst/>
          </a:prstGeom>
          <a:noFill/>
          <a:ln/>
        </p:spPr>
        <p:txBody>
          <a:bodyPr wrap="square" lIns="0" tIns="0" rIns="0" bIns="0" rtlCol="0" anchor="ctr">
            <a:normAutofit/>
          </a:bodyPr>
          <a:lstStyle/>
          <a:p>
            <a:pPr algn="l" indent="0" marL="0">
              <a:buNone/>
            </a:pPr>
            <a:r>
              <a:rPr lang="en-US" sz="1150" b="1" dirty="0">
                <a:solidFill>
                  <a:srgbClr val="78DCD4"/>
                </a:solidFill>
                <a:latin typeface="Arial" pitchFamily="34" charset="0"/>
                <a:ea typeface="Arial" pitchFamily="34" charset="-122"/>
                <a:cs typeface="Arial" pitchFamily="34" charset="-120"/>
              </a:rPr>
              <a:t>2:05–2:55</a:t>
            </a:r>
            <a:endParaRPr lang="en-US" sz="1150" dirty="0"/>
          </a:p>
        </p:txBody>
      </p:sp>
      <p:sp>
        <p:nvSpPr>
          <p:cNvPr id="20" name="Text 18"/>
          <p:cNvSpPr txBox="1"/>
          <p:nvPr/>
        </p:nvSpPr>
        <p:spPr>
          <a:xfrm>
            <a:off x="2148840" y="3611880"/>
            <a:ext cx="1874520" cy="14630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Evidence &amp; RAG</a:t>
            </a:r>
            <a:endParaRPr lang="en-US" sz="1250" dirty="0"/>
          </a:p>
        </p:txBody>
      </p:sp>
      <p:sp>
        <p:nvSpPr>
          <p:cNvPr id="21" name="Text 19"/>
          <p:cNvSpPr txBox="1"/>
          <p:nvPr/>
        </p:nvSpPr>
        <p:spPr>
          <a:xfrm>
            <a:off x="4023360" y="3566160"/>
            <a:ext cx="7095744" cy="237744"/>
          </a:xfrm>
          <a:prstGeom prst="rect">
            <a:avLst/>
          </a:prstGeom>
          <a:noFill/>
          <a:ln/>
        </p:spPr>
        <p:txBody>
          <a:bodyPr wrap="square" lIns="0" tIns="0" rIns="0" bIns="0" rtlCol="0" anchor="t">
            <a:normAutofit/>
          </a:bodyPr>
          <a:lstStyle/>
          <a:p>
            <a:pPr algn="l" indent="0" marL="0">
              <a:buNone/>
            </a:pPr>
            <a:r>
              <a:rPr lang="en-US" sz="1060" dirty="0">
                <a:solidFill>
                  <a:srgbClr val="DDEBFF"/>
                </a:solidFill>
                <a:latin typeface="Arial" pitchFamily="34" charset="0"/>
                <a:ea typeface="Arial" pitchFamily="34" charset="-122"/>
                <a:cs typeface="Arial" pitchFamily="34" charset="-120"/>
              </a:rPr>
              <a:t>Open Source &amp; chunks; explain FTS5/BM25 lexical retrieval—not vectors. Admin view is optional if already unlocked; never show the passcode.</a:t>
            </a:r>
            <a:endParaRPr lang="en-US" sz="1060" dirty="0"/>
          </a:p>
        </p:txBody>
      </p:sp>
      <p:sp>
        <p:nvSpPr>
          <p:cNvPr id="22" name="Shape 20"/>
          <p:cNvSpPr/>
          <p:nvPr/>
        </p:nvSpPr>
        <p:spPr>
          <a:xfrm>
            <a:off x="731520" y="4160520"/>
            <a:ext cx="10716768" cy="512064"/>
          </a:xfrm>
          <a:prstGeom prst="roundRect">
            <a:avLst>
              <a:gd name="adj" fmla="val 21429"/>
            </a:avLst>
          </a:prstGeom>
          <a:solidFill>
            <a:srgbClr val="102B51"/>
          </a:solidFill>
          <a:ln w="12700">
            <a:solidFill>
              <a:srgbClr val="102B51">
                <a:alpha val="0"/>
              </a:srgbClr>
            </a:solidFill>
            <a:prstDash val="solid"/>
          </a:ln>
        </p:spPr>
      </p:sp>
      <p:sp>
        <p:nvSpPr>
          <p:cNvPr id="23" name="Text 21"/>
          <p:cNvSpPr txBox="1"/>
          <p:nvPr/>
        </p:nvSpPr>
        <p:spPr>
          <a:xfrm>
            <a:off x="941832" y="4325112"/>
            <a:ext cx="1005840" cy="146304"/>
          </a:xfrm>
          <a:prstGeom prst="rect">
            <a:avLst/>
          </a:prstGeom>
          <a:noFill/>
          <a:ln/>
        </p:spPr>
        <p:txBody>
          <a:bodyPr wrap="square" lIns="0" tIns="0" rIns="0" bIns="0" rtlCol="0" anchor="ctr">
            <a:normAutofit/>
          </a:bodyPr>
          <a:lstStyle/>
          <a:p>
            <a:pPr algn="l" indent="0" marL="0">
              <a:buNone/>
            </a:pPr>
            <a:r>
              <a:rPr lang="en-US" sz="1150" b="1" dirty="0">
                <a:solidFill>
                  <a:srgbClr val="78DCD4"/>
                </a:solidFill>
                <a:latin typeface="Arial" pitchFamily="34" charset="0"/>
                <a:ea typeface="Arial" pitchFamily="34" charset="-122"/>
                <a:cs typeface="Arial" pitchFamily="34" charset="-120"/>
              </a:rPr>
              <a:t>2:55–3:40</a:t>
            </a:r>
            <a:endParaRPr lang="en-US" sz="1150" dirty="0"/>
          </a:p>
        </p:txBody>
      </p:sp>
      <p:sp>
        <p:nvSpPr>
          <p:cNvPr id="24" name="Text 22"/>
          <p:cNvSpPr txBox="1"/>
          <p:nvPr/>
        </p:nvSpPr>
        <p:spPr>
          <a:xfrm>
            <a:off x="2148840" y="4325112"/>
            <a:ext cx="1874520" cy="14630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Ask InvestigateIQ</a:t>
            </a:r>
            <a:endParaRPr lang="en-US" sz="1250" dirty="0"/>
          </a:p>
        </p:txBody>
      </p:sp>
      <p:sp>
        <p:nvSpPr>
          <p:cNvPr id="25" name="Text 23"/>
          <p:cNvSpPr txBox="1"/>
          <p:nvPr/>
        </p:nvSpPr>
        <p:spPr>
          <a:xfrm>
            <a:off x="4023360" y="4279392"/>
            <a:ext cx="7095744" cy="237744"/>
          </a:xfrm>
          <a:prstGeom prst="rect">
            <a:avLst/>
          </a:prstGeom>
          <a:noFill/>
          <a:ln/>
        </p:spPr>
        <p:txBody>
          <a:bodyPr wrap="square" lIns="0" tIns="0" rIns="0" bIns="0" rtlCol="0" anchor="t">
            <a:normAutofit/>
          </a:bodyPr>
          <a:lstStyle/>
          <a:p>
            <a:pPr algn="l" indent="0" marL="0">
              <a:buNone/>
            </a:pPr>
            <a:r>
              <a:rPr lang="en-US" sz="1060" dirty="0">
                <a:solidFill>
                  <a:srgbClr val="DDEBFF"/>
                </a:solidFill>
                <a:latin typeface="Arial" pitchFamily="34" charset="0"/>
                <a:ea typeface="Arial" pitchFamily="34" charset="-122"/>
                <a:cs typeface="Arial" pitchFamily="34" charset="-120"/>
              </a:rPr>
              <a:t>Ask one bounded case question; show the response, citations, and limits.</a:t>
            </a:r>
            <a:endParaRPr lang="en-US" sz="1060" dirty="0"/>
          </a:p>
        </p:txBody>
      </p:sp>
      <p:sp>
        <p:nvSpPr>
          <p:cNvPr id="26" name="Shape 24"/>
          <p:cNvSpPr/>
          <p:nvPr/>
        </p:nvSpPr>
        <p:spPr>
          <a:xfrm>
            <a:off x="731520" y="4873752"/>
            <a:ext cx="10716768" cy="512064"/>
          </a:xfrm>
          <a:prstGeom prst="roundRect">
            <a:avLst>
              <a:gd name="adj" fmla="val 21429"/>
            </a:avLst>
          </a:prstGeom>
          <a:solidFill>
            <a:srgbClr val="102B51"/>
          </a:solidFill>
          <a:ln w="12700">
            <a:solidFill>
              <a:srgbClr val="102B51">
                <a:alpha val="0"/>
              </a:srgbClr>
            </a:solidFill>
            <a:prstDash val="solid"/>
          </a:ln>
        </p:spPr>
      </p:sp>
      <p:sp>
        <p:nvSpPr>
          <p:cNvPr id="27" name="Text 25"/>
          <p:cNvSpPr txBox="1"/>
          <p:nvPr/>
        </p:nvSpPr>
        <p:spPr>
          <a:xfrm>
            <a:off x="941832" y="5038344"/>
            <a:ext cx="1005840" cy="146304"/>
          </a:xfrm>
          <a:prstGeom prst="rect">
            <a:avLst/>
          </a:prstGeom>
          <a:noFill/>
          <a:ln/>
        </p:spPr>
        <p:txBody>
          <a:bodyPr wrap="square" lIns="0" tIns="0" rIns="0" bIns="0" rtlCol="0" anchor="ctr">
            <a:normAutofit/>
          </a:bodyPr>
          <a:lstStyle/>
          <a:p>
            <a:pPr algn="l" indent="0" marL="0">
              <a:buNone/>
            </a:pPr>
            <a:r>
              <a:rPr lang="en-US" sz="1150" b="1" dirty="0">
                <a:solidFill>
                  <a:srgbClr val="78DCD4"/>
                </a:solidFill>
                <a:latin typeface="Arial" pitchFamily="34" charset="0"/>
                <a:ea typeface="Arial" pitchFamily="34" charset="-122"/>
                <a:cs typeface="Arial" pitchFamily="34" charset="-120"/>
              </a:rPr>
              <a:t>3:40–4:50</a:t>
            </a:r>
            <a:endParaRPr lang="en-US" sz="1150" dirty="0"/>
          </a:p>
        </p:txBody>
      </p:sp>
      <p:sp>
        <p:nvSpPr>
          <p:cNvPr id="28" name="Text 26"/>
          <p:cNvSpPr txBox="1"/>
          <p:nvPr/>
        </p:nvSpPr>
        <p:spPr>
          <a:xfrm>
            <a:off x="2148840" y="5038344"/>
            <a:ext cx="1874520" cy="14630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Human decision / audit</a:t>
            </a:r>
            <a:endParaRPr lang="en-US" sz="1250" dirty="0"/>
          </a:p>
        </p:txBody>
      </p:sp>
      <p:sp>
        <p:nvSpPr>
          <p:cNvPr id="29" name="Text 27"/>
          <p:cNvSpPr txBox="1"/>
          <p:nvPr/>
        </p:nvSpPr>
        <p:spPr>
          <a:xfrm>
            <a:off x="4023360" y="4992624"/>
            <a:ext cx="7095744" cy="237744"/>
          </a:xfrm>
          <a:prstGeom prst="rect">
            <a:avLst/>
          </a:prstGeom>
          <a:noFill/>
          <a:ln/>
        </p:spPr>
        <p:txBody>
          <a:bodyPr wrap="square" lIns="0" tIns="0" rIns="0" bIns="0" rtlCol="0" anchor="t">
            <a:normAutofit/>
          </a:bodyPr>
          <a:lstStyle/>
          <a:p>
            <a:pPr algn="l" indent="0" marL="0">
              <a:buNone/>
            </a:pPr>
            <a:r>
              <a:rPr lang="en-US" sz="1060" dirty="0">
                <a:solidFill>
                  <a:srgbClr val="DDEBFF"/>
                </a:solidFill>
                <a:latin typeface="Arial" pitchFamily="34" charset="0"/>
                <a:ea typeface="Arial" pitchFamily="34" charset="-122"/>
                <a:cs typeface="Arial" pitchFamily="34" charset="-120"/>
              </a:rPr>
              <a:t>Show Close, Request more information, and Escalate options plus required rationale; do not submit or close any case.</a:t>
            </a:r>
            <a:endParaRPr lang="en-US" sz="1060" dirty="0"/>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E"/>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00A79D"/>
                </a:solidFill>
                <a:latin typeface="Arial" pitchFamily="34" charset="0"/>
                <a:ea typeface="Arial" pitchFamily="34" charset="-122"/>
                <a:cs typeface="Arial" pitchFamily="34" charset="-120"/>
              </a:rPr>
              <a:t>VALUE REALIZATION AND ROADMAP</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0B1F3A"/>
                </a:solidFill>
                <a:latin typeface="Arial" pitchFamily="34" charset="0"/>
                <a:ea typeface="Arial" pitchFamily="34" charset="-122"/>
                <a:cs typeface="Arial" pitchFamily="34" charset="-120"/>
              </a:rPr>
              <a:t>Measure the benefit before claiming ROI</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8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417320"/>
            <a:ext cx="5001768" cy="749808"/>
          </a:xfrm>
          <a:prstGeom prst="roundRect">
            <a:avLst>
              <a:gd name="adj" fmla="val 14634"/>
            </a:avLst>
          </a:prstGeom>
          <a:solidFill>
            <a:srgbClr val="FFFFFF"/>
          </a:solidFill>
          <a:ln w="12700">
            <a:solidFill>
              <a:srgbClr val="FFFFFF">
                <a:alpha val="0"/>
              </a:srgbClr>
            </a:solidFill>
            <a:prstDash val="solid"/>
          </a:ln>
        </p:spPr>
      </p:sp>
      <p:sp>
        <p:nvSpPr>
          <p:cNvPr id="7" name="Text 5"/>
          <p:cNvSpPr txBox="1"/>
          <p:nvPr/>
        </p:nvSpPr>
        <p:spPr>
          <a:xfrm>
            <a:off x="950976" y="1581912"/>
            <a:ext cx="1188720" cy="164592"/>
          </a:xfrm>
          <a:prstGeom prst="rect">
            <a:avLst/>
          </a:prstGeom>
          <a:noFill/>
          <a:ln/>
        </p:spPr>
        <p:txBody>
          <a:bodyPr wrap="square" lIns="0" tIns="0" rIns="0" bIns="0" rtlCol="0" anchor="ctr">
            <a:normAutofit/>
          </a:bodyPr>
          <a:lstStyle/>
          <a:p>
            <a:pPr algn="l" indent="0" marL="0">
              <a:buNone/>
            </a:pPr>
            <a:r>
              <a:rPr lang="en-US" sz="1300" b="1" dirty="0">
                <a:solidFill>
                  <a:srgbClr val="2E65C5"/>
                </a:solidFill>
                <a:latin typeface="Arial" pitchFamily="34" charset="0"/>
                <a:ea typeface="Arial" pitchFamily="34" charset="-122"/>
                <a:cs typeface="Arial" pitchFamily="34" charset="-120"/>
              </a:rPr>
              <a:t>Efficiency</a:t>
            </a:r>
            <a:endParaRPr lang="en-US" sz="1300" dirty="0"/>
          </a:p>
        </p:txBody>
      </p:sp>
      <p:sp>
        <p:nvSpPr>
          <p:cNvPr id="8" name="Text 6"/>
          <p:cNvSpPr txBox="1"/>
          <p:nvPr/>
        </p:nvSpPr>
        <p:spPr>
          <a:xfrm>
            <a:off x="2139696" y="1545336"/>
            <a:ext cx="3337560" cy="274320"/>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Verified minutes saved locating case records and source passages</a:t>
            </a:r>
            <a:endParaRPr lang="en-US" sz="1050" dirty="0"/>
          </a:p>
        </p:txBody>
      </p:sp>
      <p:sp>
        <p:nvSpPr>
          <p:cNvPr id="9" name="Shape 7"/>
          <p:cNvSpPr/>
          <p:nvPr/>
        </p:nvSpPr>
        <p:spPr>
          <a:xfrm>
            <a:off x="6254496" y="1417320"/>
            <a:ext cx="5001768" cy="749808"/>
          </a:xfrm>
          <a:prstGeom prst="roundRect">
            <a:avLst>
              <a:gd name="adj" fmla="val 14634"/>
            </a:avLst>
          </a:prstGeom>
          <a:solidFill>
            <a:srgbClr val="FFFFFF"/>
          </a:solidFill>
          <a:ln w="12700">
            <a:solidFill>
              <a:srgbClr val="FFFFFF">
                <a:alpha val="0"/>
              </a:srgbClr>
            </a:solidFill>
            <a:prstDash val="solid"/>
          </a:ln>
        </p:spPr>
      </p:sp>
      <p:sp>
        <p:nvSpPr>
          <p:cNvPr id="10" name="Text 8"/>
          <p:cNvSpPr txBox="1"/>
          <p:nvPr/>
        </p:nvSpPr>
        <p:spPr>
          <a:xfrm>
            <a:off x="6455664" y="1581912"/>
            <a:ext cx="1188720" cy="164592"/>
          </a:xfrm>
          <a:prstGeom prst="rect">
            <a:avLst/>
          </a:prstGeom>
          <a:noFill/>
          <a:ln/>
        </p:spPr>
        <p:txBody>
          <a:bodyPr wrap="square" lIns="0" tIns="0" rIns="0" bIns="0" rtlCol="0" anchor="ctr">
            <a:normAutofit/>
          </a:bodyPr>
          <a:lstStyle/>
          <a:p>
            <a:pPr algn="l" indent="0" marL="0">
              <a:buNone/>
            </a:pPr>
            <a:r>
              <a:rPr lang="en-US" sz="1300" b="1" dirty="0">
                <a:solidFill>
                  <a:srgbClr val="2E65C5"/>
                </a:solidFill>
                <a:latin typeface="Arial" pitchFamily="34" charset="0"/>
                <a:ea typeface="Arial" pitchFamily="34" charset="-122"/>
                <a:cs typeface="Arial" pitchFamily="34" charset="-120"/>
              </a:rPr>
              <a:t>Rework</a:t>
            </a:r>
            <a:endParaRPr lang="en-US" sz="1300" dirty="0"/>
          </a:p>
        </p:txBody>
      </p:sp>
      <p:sp>
        <p:nvSpPr>
          <p:cNvPr id="11" name="Text 9"/>
          <p:cNvSpPr txBox="1"/>
          <p:nvPr/>
        </p:nvSpPr>
        <p:spPr>
          <a:xfrm>
            <a:off x="7644384" y="1545336"/>
            <a:ext cx="3337560" cy="274320"/>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Avoided evidence requests and Compliance returns</a:t>
            </a:r>
            <a:endParaRPr lang="en-US" sz="1050" dirty="0"/>
          </a:p>
        </p:txBody>
      </p:sp>
      <p:sp>
        <p:nvSpPr>
          <p:cNvPr id="12" name="Shape 10"/>
          <p:cNvSpPr/>
          <p:nvPr/>
        </p:nvSpPr>
        <p:spPr>
          <a:xfrm>
            <a:off x="749808" y="2423160"/>
            <a:ext cx="5001768" cy="749808"/>
          </a:xfrm>
          <a:prstGeom prst="roundRect">
            <a:avLst>
              <a:gd name="adj" fmla="val 14634"/>
            </a:avLst>
          </a:prstGeom>
          <a:solidFill>
            <a:srgbClr val="FFFFFF"/>
          </a:solidFill>
          <a:ln w="12700">
            <a:solidFill>
              <a:srgbClr val="FFFFFF">
                <a:alpha val="0"/>
              </a:srgbClr>
            </a:solidFill>
            <a:prstDash val="solid"/>
          </a:ln>
        </p:spPr>
      </p:sp>
      <p:sp>
        <p:nvSpPr>
          <p:cNvPr id="13" name="Text 11"/>
          <p:cNvSpPr txBox="1"/>
          <p:nvPr/>
        </p:nvSpPr>
        <p:spPr>
          <a:xfrm>
            <a:off x="950976" y="2587752"/>
            <a:ext cx="1188720" cy="164592"/>
          </a:xfrm>
          <a:prstGeom prst="rect">
            <a:avLst/>
          </a:prstGeom>
          <a:noFill/>
          <a:ln/>
        </p:spPr>
        <p:txBody>
          <a:bodyPr wrap="square" lIns="0" tIns="0" rIns="0" bIns="0" rtlCol="0" anchor="ctr">
            <a:normAutofit/>
          </a:bodyPr>
          <a:lstStyle/>
          <a:p>
            <a:pPr algn="l" indent="0" marL="0">
              <a:buNone/>
            </a:pPr>
            <a:r>
              <a:rPr lang="en-US" sz="1300" b="1" dirty="0">
                <a:solidFill>
                  <a:srgbClr val="2E65C5"/>
                </a:solidFill>
                <a:latin typeface="Arial" pitchFamily="34" charset="0"/>
                <a:ea typeface="Arial" pitchFamily="34" charset="-122"/>
                <a:cs typeface="Arial" pitchFamily="34" charset="-120"/>
              </a:rPr>
              <a:t>Audit readiness</a:t>
            </a:r>
            <a:endParaRPr lang="en-US" sz="1300" dirty="0"/>
          </a:p>
        </p:txBody>
      </p:sp>
      <p:sp>
        <p:nvSpPr>
          <p:cNvPr id="14" name="Text 12"/>
          <p:cNvSpPr txBox="1"/>
          <p:nvPr/>
        </p:nvSpPr>
        <p:spPr>
          <a:xfrm>
            <a:off x="2139696" y="2551176"/>
            <a:ext cx="3337560" cy="274320"/>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Time to reconstruct evidence, rationale, and outcome</a:t>
            </a:r>
            <a:endParaRPr lang="en-US" sz="1050" dirty="0"/>
          </a:p>
        </p:txBody>
      </p:sp>
      <p:sp>
        <p:nvSpPr>
          <p:cNvPr id="15" name="Shape 13"/>
          <p:cNvSpPr/>
          <p:nvPr/>
        </p:nvSpPr>
        <p:spPr>
          <a:xfrm>
            <a:off x="6254496" y="2423160"/>
            <a:ext cx="5001768" cy="749808"/>
          </a:xfrm>
          <a:prstGeom prst="roundRect">
            <a:avLst>
              <a:gd name="adj" fmla="val 14634"/>
            </a:avLst>
          </a:prstGeom>
          <a:solidFill>
            <a:srgbClr val="E6F8F6"/>
          </a:solidFill>
          <a:ln w="12700">
            <a:solidFill>
              <a:srgbClr val="E6F8F6">
                <a:alpha val="0"/>
              </a:srgbClr>
            </a:solidFill>
            <a:prstDash val="solid"/>
          </a:ln>
        </p:spPr>
      </p:sp>
      <p:sp>
        <p:nvSpPr>
          <p:cNvPr id="16" name="Text 14"/>
          <p:cNvSpPr txBox="1"/>
          <p:nvPr/>
        </p:nvSpPr>
        <p:spPr>
          <a:xfrm>
            <a:off x="6455664" y="2587752"/>
            <a:ext cx="1188720" cy="164592"/>
          </a:xfrm>
          <a:prstGeom prst="rect">
            <a:avLst/>
          </a:prstGeom>
          <a:noFill/>
          <a:ln/>
        </p:spPr>
        <p:txBody>
          <a:bodyPr wrap="square" lIns="0" tIns="0" rIns="0" bIns="0" rtlCol="0" anchor="ctr">
            <a:normAutofit/>
          </a:bodyPr>
          <a:lstStyle/>
          <a:p>
            <a:pPr algn="l" indent="0" marL="0">
              <a:buNone/>
            </a:pPr>
            <a:r>
              <a:rPr lang="en-US" sz="1300" b="1" dirty="0">
                <a:solidFill>
                  <a:srgbClr val="00A79D"/>
                </a:solidFill>
                <a:latin typeface="Arial" pitchFamily="34" charset="0"/>
                <a:ea typeface="Arial" pitchFamily="34" charset="-122"/>
                <a:cs typeface="Arial" pitchFamily="34" charset="-120"/>
              </a:rPr>
              <a:t>Safety</a:t>
            </a:r>
            <a:endParaRPr lang="en-US" sz="1300" dirty="0"/>
          </a:p>
        </p:txBody>
      </p:sp>
      <p:sp>
        <p:nvSpPr>
          <p:cNvPr id="17" name="Text 15"/>
          <p:cNvSpPr txBox="1"/>
          <p:nvPr/>
        </p:nvSpPr>
        <p:spPr>
          <a:xfrm>
            <a:off x="7644384" y="2551176"/>
            <a:ext cx="3337560" cy="274320"/>
          </a:xfrm>
          <a:prstGeom prst="rect">
            <a:avLst/>
          </a:prstGeom>
          <a:noFill/>
          <a:ln/>
        </p:spPr>
        <p:txBody>
          <a:bodyPr wrap="square" lIns="0" tIns="0" rIns="0" bIns="0" rtlCol="0" anchor="t">
            <a:normAutofit/>
          </a:bodyPr>
          <a:lstStyle/>
          <a:p>
            <a:pPr algn="l" indent="0" marL="0">
              <a:buNone/>
            </a:pPr>
            <a:r>
              <a:rPr lang="en-US" sz="1050" dirty="0">
                <a:solidFill>
                  <a:srgbClr val="63738D"/>
                </a:solidFill>
                <a:latin typeface="Arial" pitchFamily="34" charset="0"/>
                <a:ea typeface="Arial" pitchFamily="34" charset="-122"/>
                <a:cs typeface="Arial" pitchFamily="34" charset="-120"/>
              </a:rPr>
              <a:t>Unsupported claims, broken citations, unclear states found in review</a:t>
            </a:r>
            <a:endParaRPr lang="en-US" sz="1050" dirty="0"/>
          </a:p>
        </p:txBody>
      </p:sp>
      <p:sp>
        <p:nvSpPr>
          <p:cNvPr id="18" name="Shape 16"/>
          <p:cNvSpPr/>
          <p:nvPr/>
        </p:nvSpPr>
        <p:spPr>
          <a:xfrm>
            <a:off x="749808" y="3904488"/>
            <a:ext cx="10497312" cy="493776"/>
          </a:xfrm>
          <a:prstGeom prst="roundRect">
            <a:avLst>
              <a:gd name="adj" fmla="val 22222"/>
            </a:avLst>
          </a:prstGeom>
          <a:solidFill>
            <a:srgbClr val="173C78"/>
          </a:solidFill>
          <a:ln w="12700">
            <a:solidFill>
              <a:srgbClr val="173C78">
                <a:alpha val="0"/>
              </a:srgbClr>
            </a:solidFill>
            <a:prstDash val="solid"/>
          </a:ln>
        </p:spPr>
      </p:sp>
      <p:sp>
        <p:nvSpPr>
          <p:cNvPr id="19" name="Text 17"/>
          <p:cNvSpPr txBox="1"/>
          <p:nvPr/>
        </p:nvSpPr>
        <p:spPr>
          <a:xfrm>
            <a:off x="950976" y="4078224"/>
            <a:ext cx="10104120" cy="14630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ROI % = (verified annual benefit − implementation and run cost) ÷ implementation and run cost × 100</a:t>
            </a:r>
            <a:endParaRPr lang="en-US" sz="1250" dirty="0"/>
          </a:p>
        </p:txBody>
      </p:sp>
      <p:sp>
        <p:nvSpPr>
          <p:cNvPr id="20" name="Text 18"/>
          <p:cNvSpPr txBox="1"/>
          <p:nvPr/>
        </p:nvSpPr>
        <p:spPr>
          <a:xfrm>
            <a:off x="841248" y="4892040"/>
            <a:ext cx="10405872" cy="329184"/>
          </a:xfrm>
          <a:prstGeom prst="rect">
            <a:avLst/>
          </a:prstGeom>
          <a:noFill/>
          <a:ln/>
        </p:spPr>
        <p:txBody>
          <a:bodyPr wrap="square" lIns="0" tIns="0" rIns="0" bIns="0" rtlCol="0" anchor="ctr">
            <a:normAutofit/>
          </a:bodyPr>
          <a:lstStyle/>
          <a:p>
            <a:pPr algn="ctr" indent="0" marL="0">
              <a:buNone/>
            </a:pPr>
            <a:r>
              <a:rPr lang="en-US" sz="1500" b="1" dirty="0">
                <a:solidFill>
                  <a:srgbClr val="0B1F3A"/>
                </a:solidFill>
                <a:latin typeface="Arial" pitchFamily="34" charset="0"/>
                <a:ea typeface="Arial" pitchFamily="34" charset="-122"/>
                <a:cs typeface="Arial" pitchFamily="34" charset="-120"/>
              </a:rPr>
              <a:t>Roadmap: test fixtures + citation evaluation  →  authentication + lineage versioning  →  governed ingestion + approved integrations</a:t>
            </a:r>
            <a:endParaRPr lang="en-US" sz="1500" dirty="0"/>
          </a:p>
        </p:txBody>
      </p:sp>
      <p:sp>
        <p:nvSpPr>
          <p:cNvPr id="21" name="Text 19"/>
          <p:cNvSpPr txBox="1"/>
          <p:nvPr/>
        </p:nvSpPr>
        <p:spPr>
          <a:xfrm>
            <a:off x="841248" y="5367528"/>
            <a:ext cx="10405872" cy="164592"/>
          </a:xfrm>
          <a:prstGeom prst="rect">
            <a:avLst/>
          </a:prstGeom>
          <a:noFill/>
          <a:ln/>
        </p:spPr>
        <p:txBody>
          <a:bodyPr wrap="square" lIns="0" tIns="0" rIns="0" bIns="0" rtlCol="0" anchor="ctr">
            <a:normAutofit/>
          </a:bodyPr>
          <a:lstStyle/>
          <a:p>
            <a:pPr algn="ctr" indent="0" marL="0">
              <a:buNone/>
            </a:pPr>
            <a:r>
              <a:rPr lang="en-US" sz="1100" i="1" dirty="0">
                <a:solidFill>
                  <a:srgbClr val="63738D"/>
                </a:solidFill>
                <a:latin typeface="Arial" pitchFamily="34" charset="0"/>
                <a:ea typeface="Arial" pitchFamily="34" charset="-122"/>
                <a:cs typeface="Arial" pitchFamily="34" charset="-120"/>
              </a:rPr>
              <a:t>Planning model only: calculate ROI only after a baseline, approved cost boundary, and verified pilot outcomes.</a:t>
            </a:r>
            <a:endParaRPr lang="en-US" sz="1100" dirty="0"/>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78DCD4"/>
                </a:solidFill>
                <a:latin typeface="Arial" pitchFamily="34" charset="0"/>
                <a:ea typeface="Arial" pitchFamily="34" charset="-122"/>
                <a:cs typeface="Arial" pitchFamily="34" charset="-120"/>
              </a:rPr>
              <a:t>THANK YOU</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FFFFFF"/>
                </a:solidFill>
                <a:latin typeface="Arial" pitchFamily="34" charset="0"/>
                <a:ea typeface="Arial" pitchFamily="34" charset="-122"/>
                <a:cs typeface="Arial" pitchFamily="34" charset="-120"/>
              </a:rPr>
              <a:t>Trace the evidence. Own the decision.</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AFC9EC"/>
                </a:solidFill>
                <a:latin typeface="Arial" pitchFamily="34" charset="0"/>
                <a:ea typeface="Arial" pitchFamily="34" charset="-122"/>
                <a:cs typeface="Arial" pitchFamily="34" charset="-120"/>
              </a:rPr>
              <a:t>InvestigateIQ  |  Capstone Group 7  |  9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6409944" y="1133856"/>
            <a:ext cx="5193792" cy="2953512"/>
          </a:xfrm>
          <a:prstGeom prst="roundRect">
            <a:avLst>
              <a:gd name="adj" fmla="val 3715"/>
            </a:avLst>
          </a:prstGeom>
          <a:solidFill>
            <a:srgbClr val="D9E7FC"/>
          </a:solidFill>
          <a:ln w="12700">
            <a:solidFill>
              <a:srgbClr val="D9E7FC">
                <a:alpha val="0"/>
              </a:srgbClr>
            </a:solidFill>
            <a:prstDash val="solid"/>
          </a:ln>
        </p:spPr>
      </p:sp>
      <p:pic>
        <p:nvPicPr>
          <p:cNvPr id="7" name="Image 0" descr="C:\D\IIT Mumbai\Capstone Blueprint\assets\walkthrough_screens\2026_workspace_current_report.png">    </p:cNvPr>
          <p:cNvPicPr>
            <a:picLocks noChangeAspect="1"/>
          </p:cNvPicPr>
          <p:nvPr/>
        </p:nvPicPr>
        <p:blipFill>
          <a:blip r:embed="rId1"/>
          <a:stretch>
            <a:fillRect/>
          </a:stretch>
        </p:blipFill>
        <p:spPr>
          <a:xfrm>
            <a:off x="6446520" y="1170432"/>
            <a:ext cx="5120640" cy="2880360"/>
          </a:xfrm>
          <a:prstGeom prst="rect">
            <a:avLst/>
          </a:prstGeom>
        </p:spPr>
      </p:pic>
      <p:sp>
        <p:nvSpPr>
          <p:cNvPr id="8" name="Text 5"/>
          <p:cNvSpPr txBox="1"/>
          <p:nvPr/>
        </p:nvSpPr>
        <p:spPr>
          <a:xfrm>
            <a:off x="777240" y="1572768"/>
            <a:ext cx="3657600" cy="192024"/>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rial" pitchFamily="34" charset="0"/>
                <a:ea typeface="Arial" pitchFamily="34" charset="-122"/>
                <a:cs typeface="Arial" pitchFamily="34" charset="-120"/>
              </a:rPr>
              <a:t>Traceable evidence</a:t>
            </a:r>
            <a:endParaRPr lang="en-US" sz="1600" dirty="0"/>
          </a:p>
        </p:txBody>
      </p:sp>
      <p:sp>
        <p:nvSpPr>
          <p:cNvPr id="9" name="Text 6"/>
          <p:cNvSpPr txBox="1"/>
          <p:nvPr/>
        </p:nvSpPr>
        <p:spPr>
          <a:xfrm>
            <a:off x="777240" y="1901952"/>
            <a:ext cx="4434840" cy="228600"/>
          </a:xfrm>
          <a:prstGeom prst="rect">
            <a:avLst/>
          </a:prstGeom>
          <a:noFill/>
          <a:ln/>
        </p:spPr>
        <p:txBody>
          <a:bodyPr wrap="square" lIns="0" tIns="0" rIns="0" bIns="0" rtlCol="0" anchor="ctr">
            <a:normAutofit/>
          </a:bodyPr>
          <a:lstStyle/>
          <a:p>
            <a:pPr algn="l" indent="0" marL="0">
              <a:buNone/>
            </a:pPr>
            <a:r>
              <a:rPr lang="en-US" sz="1150" dirty="0">
                <a:solidFill>
                  <a:srgbClr val="DDEBFF"/>
                </a:solidFill>
                <a:latin typeface="Arial" pitchFamily="34" charset="0"/>
                <a:ea typeface="Arial" pitchFamily="34" charset="-122"/>
                <a:cs typeface="Arial" pitchFamily="34" charset="-120"/>
              </a:rPr>
              <a:t>Records, chunks, citations, and visible gaps</a:t>
            </a:r>
            <a:endParaRPr lang="en-US" sz="1150" dirty="0"/>
          </a:p>
        </p:txBody>
      </p:sp>
      <p:sp>
        <p:nvSpPr>
          <p:cNvPr id="10" name="Text 7"/>
          <p:cNvSpPr txBox="1"/>
          <p:nvPr/>
        </p:nvSpPr>
        <p:spPr>
          <a:xfrm>
            <a:off x="777240" y="2441448"/>
            <a:ext cx="3657600" cy="192024"/>
          </a:xfrm>
          <a:prstGeom prst="rect">
            <a:avLst/>
          </a:prstGeom>
          <a:noFill/>
          <a:ln/>
        </p:spPr>
        <p:txBody>
          <a:bodyPr wrap="square" lIns="0" tIns="0" rIns="0" bIns="0" rtlCol="0" anchor="ctr">
            <a:normAutofit/>
          </a:bodyPr>
          <a:lstStyle/>
          <a:p>
            <a:pPr algn="l" indent="0" marL="0">
              <a:buNone/>
            </a:pPr>
            <a:r>
              <a:rPr lang="en-US" sz="1600" b="1" dirty="0">
                <a:solidFill>
                  <a:srgbClr val="78DCD4"/>
                </a:solidFill>
                <a:latin typeface="Arial" pitchFamily="34" charset="0"/>
                <a:ea typeface="Arial" pitchFamily="34" charset="-122"/>
                <a:cs typeface="Arial" pitchFamily="34" charset="-120"/>
              </a:rPr>
              <a:t>Responsible AI</a:t>
            </a:r>
            <a:endParaRPr lang="en-US" sz="1600" dirty="0"/>
          </a:p>
        </p:txBody>
      </p:sp>
      <p:sp>
        <p:nvSpPr>
          <p:cNvPr id="11" name="Text 8"/>
          <p:cNvSpPr txBox="1"/>
          <p:nvPr/>
        </p:nvSpPr>
        <p:spPr>
          <a:xfrm>
            <a:off x="777240" y="2770632"/>
            <a:ext cx="4434840" cy="228600"/>
          </a:xfrm>
          <a:prstGeom prst="rect">
            <a:avLst/>
          </a:prstGeom>
          <a:noFill/>
          <a:ln/>
        </p:spPr>
        <p:txBody>
          <a:bodyPr wrap="square" lIns="0" tIns="0" rIns="0" bIns="0" rtlCol="0" anchor="ctr">
            <a:normAutofit/>
          </a:bodyPr>
          <a:lstStyle/>
          <a:p>
            <a:pPr algn="l" indent="0" marL="0">
              <a:buNone/>
            </a:pPr>
            <a:r>
              <a:rPr lang="en-US" sz="1150" dirty="0">
                <a:solidFill>
                  <a:srgbClr val="DDEBFF"/>
                </a:solidFill>
                <a:latin typeface="Arial" pitchFamily="34" charset="0"/>
                <a:ea typeface="Arial" pitchFamily="34" charset="-122"/>
                <a:cs typeface="Arial" pitchFamily="34" charset="-120"/>
              </a:rPr>
              <a:t>Confidence limitations, not automated judgement</a:t>
            </a:r>
            <a:endParaRPr lang="en-US" sz="1150" dirty="0"/>
          </a:p>
        </p:txBody>
      </p:sp>
      <p:sp>
        <p:nvSpPr>
          <p:cNvPr id="12" name="Text 9"/>
          <p:cNvSpPr txBox="1"/>
          <p:nvPr/>
        </p:nvSpPr>
        <p:spPr>
          <a:xfrm>
            <a:off x="777240" y="3310128"/>
            <a:ext cx="3657600" cy="192024"/>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rial" pitchFamily="34" charset="0"/>
                <a:ea typeface="Arial" pitchFamily="34" charset="-122"/>
                <a:cs typeface="Arial" pitchFamily="34" charset="-120"/>
              </a:rPr>
              <a:t>Human accountability</a:t>
            </a:r>
            <a:endParaRPr lang="en-US" sz="1600" dirty="0"/>
          </a:p>
        </p:txBody>
      </p:sp>
      <p:sp>
        <p:nvSpPr>
          <p:cNvPr id="13" name="Text 10"/>
          <p:cNvSpPr txBox="1"/>
          <p:nvPr/>
        </p:nvSpPr>
        <p:spPr>
          <a:xfrm>
            <a:off x="777240" y="3639312"/>
            <a:ext cx="4434840" cy="228600"/>
          </a:xfrm>
          <a:prstGeom prst="rect">
            <a:avLst/>
          </a:prstGeom>
          <a:noFill/>
          <a:ln/>
        </p:spPr>
        <p:txBody>
          <a:bodyPr wrap="square" lIns="0" tIns="0" rIns="0" bIns="0" rtlCol="0" anchor="ctr">
            <a:normAutofit/>
          </a:bodyPr>
          <a:lstStyle/>
          <a:p>
            <a:pPr algn="l" indent="0" marL="0">
              <a:buNone/>
            </a:pPr>
            <a:r>
              <a:rPr lang="en-US" sz="1150" dirty="0">
                <a:solidFill>
                  <a:srgbClr val="DDEBFF"/>
                </a:solidFill>
                <a:latin typeface="Arial" pitchFamily="34" charset="0"/>
                <a:ea typeface="Arial" pitchFamily="34" charset="-122"/>
                <a:cs typeface="Arial" pitchFamily="34" charset="-120"/>
              </a:rPr>
              <a:t>Named rationale and separate Compliance review</a:t>
            </a:r>
            <a:endParaRPr lang="en-US" sz="1150" dirty="0"/>
          </a:p>
        </p:txBody>
      </p:sp>
      <p:sp>
        <p:nvSpPr>
          <p:cNvPr id="14" name="Text 11"/>
          <p:cNvSpPr txBox="1"/>
          <p:nvPr/>
        </p:nvSpPr>
        <p:spPr>
          <a:xfrm>
            <a:off x="777240" y="5074920"/>
            <a:ext cx="5257800" cy="320040"/>
          </a:xfrm>
          <a:prstGeom prst="rect">
            <a:avLst/>
          </a:prstGeom>
          <a:noFill/>
          <a:ln/>
        </p:spPr>
        <p:txBody>
          <a:bodyPr wrap="square" lIns="0" tIns="0" rIns="0" bIns="0" rtlCol="0" anchor="t">
            <a:normAutofit/>
          </a:bodyPr>
          <a:lstStyle/>
          <a:p>
            <a:pPr algn="l" indent="0" marL="0">
              <a:buNone/>
            </a:pPr>
            <a:r>
              <a:rPr lang="en-US" sz="1700" b="1" dirty="0">
                <a:solidFill>
                  <a:srgbClr val="78DCD4"/>
                </a:solidFill>
                <a:latin typeface="Arial" pitchFamily="34" charset="0"/>
                <a:ea typeface="Arial" pitchFamily="34" charset="-122"/>
                <a:cs typeface="Arial" pitchFamily="34" charset="-120"/>
              </a:rPr>
              <a:t>Thank you. The FAQ appendix is available for any follow-up question.</a:t>
            </a:r>
            <a:endParaRPr lang="en-US" sz="1700" dirty="0"/>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E"/>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00A79D"/>
                </a:solidFill>
                <a:latin typeface="Arial" pitchFamily="34" charset="0"/>
                <a:ea typeface="Arial" pitchFamily="34" charset="-122"/>
                <a:cs typeface="Arial" pitchFamily="34" charset="-120"/>
              </a:rPr>
              <a:t>FAQ APPENDIX 1</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0B1F3A"/>
                </a:solidFill>
                <a:latin typeface="Arial" pitchFamily="34" charset="0"/>
                <a:ea typeface="Arial" pitchFamily="34" charset="-122"/>
                <a:cs typeface="Arial" pitchFamily="34" charset="-120"/>
              </a:rPr>
              <a:t>Where does the data come from, and how is it relevant?</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10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353312"/>
            <a:ext cx="10652760" cy="941832"/>
          </a:xfrm>
          <a:prstGeom prst="roundRect">
            <a:avLst>
              <a:gd name="adj" fmla="val 11650"/>
            </a:avLst>
          </a:prstGeom>
          <a:solidFill>
            <a:srgbClr val="FFFFFF"/>
          </a:solidFill>
          <a:ln w="12700">
            <a:solidFill>
              <a:srgbClr val="FFFFFF">
                <a:alpha val="0"/>
              </a:srgbClr>
            </a:solidFill>
            <a:prstDash val="solid"/>
          </a:ln>
        </p:spPr>
      </p:sp>
      <p:sp>
        <p:nvSpPr>
          <p:cNvPr id="7" name="Text 5"/>
          <p:cNvSpPr txBox="1"/>
          <p:nvPr/>
        </p:nvSpPr>
        <p:spPr>
          <a:xfrm>
            <a:off x="987552" y="1517904"/>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2E65C5"/>
                </a:solidFill>
                <a:latin typeface="Arial" pitchFamily="34" charset="0"/>
                <a:ea typeface="Arial" pitchFamily="34" charset="-122"/>
                <a:cs typeface="Arial" pitchFamily="34" charset="-120"/>
              </a:rPr>
              <a:t>What is the data source?</a:t>
            </a:r>
            <a:endParaRPr lang="en-US" sz="1400" dirty="0"/>
          </a:p>
        </p:txBody>
      </p:sp>
      <p:sp>
        <p:nvSpPr>
          <p:cNvPr id="8" name="Text 6"/>
          <p:cNvSpPr txBox="1"/>
          <p:nvPr/>
        </p:nvSpPr>
        <p:spPr>
          <a:xfrm>
            <a:off x="4169664" y="1499616"/>
            <a:ext cx="6830568" cy="429768"/>
          </a:xfrm>
          <a:prstGeom prst="rect">
            <a:avLst/>
          </a:prstGeom>
          <a:noFill/>
          <a:ln/>
        </p:spPr>
        <p:txBody>
          <a:bodyPr wrap="square" lIns="0" tIns="0" rIns="0" bIns="0" rtlCol="0" anchor="t">
            <a:normAutofit/>
          </a:bodyPr>
          <a:lstStyle/>
          <a:p>
            <a:pPr algn="l" indent="0" marL="0">
              <a:buNone/>
            </a:pPr>
            <a:r>
              <a:rPr lang="en-US" sz="1120" dirty="0">
                <a:solidFill>
                  <a:srgbClr val="63738D"/>
                </a:solidFill>
                <a:latin typeface="Arial" pitchFamily="34" charset="0"/>
                <a:ea typeface="Arial" pitchFamily="34" charset="-122"/>
                <a:cs typeface="Arial" pitchFamily="34" charset="-120"/>
              </a:rPr>
              <a:t>All cases, customers, transactions, documents, and guidance are fictional course material stored locally for this demonstration. The product is not connected to a bank feed or real customer records.</a:t>
            </a:r>
            <a:endParaRPr lang="en-US" sz="1120" dirty="0"/>
          </a:p>
        </p:txBody>
      </p:sp>
      <p:sp>
        <p:nvSpPr>
          <p:cNvPr id="9" name="Shape 7"/>
          <p:cNvSpPr/>
          <p:nvPr/>
        </p:nvSpPr>
        <p:spPr>
          <a:xfrm>
            <a:off x="749808" y="2578608"/>
            <a:ext cx="10652760" cy="941832"/>
          </a:xfrm>
          <a:prstGeom prst="roundRect">
            <a:avLst>
              <a:gd name="adj" fmla="val 11650"/>
            </a:avLst>
          </a:prstGeom>
          <a:solidFill>
            <a:srgbClr val="E6F8F6"/>
          </a:solidFill>
          <a:ln w="12700">
            <a:solidFill>
              <a:srgbClr val="E6F8F6">
                <a:alpha val="0"/>
              </a:srgbClr>
            </a:solidFill>
            <a:prstDash val="solid"/>
          </a:ln>
        </p:spPr>
      </p:sp>
      <p:sp>
        <p:nvSpPr>
          <p:cNvPr id="10" name="Text 8"/>
          <p:cNvSpPr txBox="1"/>
          <p:nvPr/>
        </p:nvSpPr>
        <p:spPr>
          <a:xfrm>
            <a:off x="987552" y="2743200"/>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00A79D"/>
                </a:solidFill>
                <a:latin typeface="Arial" pitchFamily="34" charset="0"/>
                <a:ea typeface="Arial" pitchFamily="34" charset="-122"/>
                <a:cs typeface="Arial" pitchFamily="34" charset="-120"/>
              </a:rPr>
              <a:t>How is retrieval relevant to a case?</a:t>
            </a:r>
            <a:endParaRPr lang="en-US" sz="1400" dirty="0"/>
          </a:p>
        </p:txBody>
      </p:sp>
      <p:sp>
        <p:nvSpPr>
          <p:cNvPr id="11" name="Text 9"/>
          <p:cNvSpPr txBox="1"/>
          <p:nvPr/>
        </p:nvSpPr>
        <p:spPr>
          <a:xfrm>
            <a:off x="4169664" y="2724912"/>
            <a:ext cx="6830568" cy="429768"/>
          </a:xfrm>
          <a:prstGeom prst="rect">
            <a:avLst/>
          </a:prstGeom>
          <a:noFill/>
          <a:ln/>
        </p:spPr>
        <p:txBody>
          <a:bodyPr wrap="square" lIns="0" tIns="0" rIns="0" bIns="0" rtlCol="0" anchor="t">
            <a:normAutofit/>
          </a:bodyPr>
          <a:lstStyle/>
          <a:p>
            <a:pPr algn="l" indent="0" marL="0">
              <a:buNone/>
            </a:pPr>
            <a:r>
              <a:rPr lang="en-US" sz="1120" dirty="0">
                <a:solidFill>
                  <a:srgbClr val="63738D"/>
                </a:solidFill>
                <a:latin typeface="Arial" pitchFamily="34" charset="0"/>
                <a:ea typeface="Arial" pitchFamily="34" charset="-122"/>
                <a:cs typeface="Arial" pitchFamily="34" charset="-120"/>
              </a:rPr>
              <a:t>The active case/scenario scopes the available evidence. SQLite FTS5 performs lexical keyword matching and BM25 ranks matching passages. The user can open the exact record or chunk behind a result.</a:t>
            </a:r>
            <a:endParaRPr lang="en-US" sz="1120" dirty="0"/>
          </a:p>
        </p:txBody>
      </p:sp>
      <p:sp>
        <p:nvSpPr>
          <p:cNvPr id="12" name="Shape 10"/>
          <p:cNvSpPr/>
          <p:nvPr/>
        </p:nvSpPr>
        <p:spPr>
          <a:xfrm>
            <a:off x="749808" y="3803904"/>
            <a:ext cx="10652760" cy="941832"/>
          </a:xfrm>
          <a:prstGeom prst="roundRect">
            <a:avLst>
              <a:gd name="adj" fmla="val 11650"/>
            </a:avLst>
          </a:prstGeom>
          <a:solidFill>
            <a:srgbClr val="FFFFFF"/>
          </a:solidFill>
          <a:ln w="12700">
            <a:solidFill>
              <a:srgbClr val="FFFFFF">
                <a:alpha val="0"/>
              </a:srgbClr>
            </a:solidFill>
            <a:prstDash val="solid"/>
          </a:ln>
        </p:spPr>
      </p:sp>
      <p:sp>
        <p:nvSpPr>
          <p:cNvPr id="13" name="Text 11"/>
          <p:cNvSpPr txBox="1"/>
          <p:nvPr/>
        </p:nvSpPr>
        <p:spPr>
          <a:xfrm>
            <a:off x="987552" y="3968496"/>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2E65C5"/>
                </a:solidFill>
                <a:latin typeface="Arial" pitchFamily="34" charset="0"/>
                <a:ea typeface="Arial" pitchFamily="34" charset="-122"/>
                <a:cs typeface="Arial" pitchFamily="34" charset="-120"/>
              </a:rPr>
              <a:t>Does a citation prove a claim?</a:t>
            </a:r>
            <a:endParaRPr lang="en-US" sz="1400" dirty="0"/>
          </a:p>
        </p:txBody>
      </p:sp>
      <p:sp>
        <p:nvSpPr>
          <p:cNvPr id="14" name="Text 12"/>
          <p:cNvSpPr txBox="1"/>
          <p:nvPr/>
        </p:nvSpPr>
        <p:spPr>
          <a:xfrm>
            <a:off x="4169664" y="3950208"/>
            <a:ext cx="6830568" cy="429768"/>
          </a:xfrm>
          <a:prstGeom prst="rect">
            <a:avLst/>
          </a:prstGeom>
          <a:noFill/>
          <a:ln/>
        </p:spPr>
        <p:txBody>
          <a:bodyPr wrap="square" lIns="0" tIns="0" rIns="0" bIns="0" rtlCol="0" anchor="t">
            <a:normAutofit/>
          </a:bodyPr>
          <a:lstStyle/>
          <a:p>
            <a:pPr algn="l" indent="0" marL="0">
              <a:buNone/>
            </a:pPr>
            <a:r>
              <a:rPr lang="en-US" sz="1120" dirty="0">
                <a:solidFill>
                  <a:srgbClr val="63738D"/>
                </a:solidFill>
                <a:latin typeface="Arial" pitchFamily="34" charset="0"/>
                <a:ea typeface="Arial" pitchFamily="34" charset="-122"/>
                <a:cs typeface="Arial" pitchFamily="34" charset="-120"/>
              </a:rPr>
              <a:t>No. It is a pointer to inspect supplied text. The product labels evidence gaps and requires a human to interpret the material and record the next action.</a:t>
            </a:r>
            <a:endParaRPr lang="en-US" sz="1120" dirty="0"/>
          </a:p>
        </p:txBody>
      </p:sp>
    </p:spTree>
  </p:cSld>
  <p:clrMapOvr>
    <a:masterClrMapping/>
  </p:clrMapOvr>
  <p:transition spd="med"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78DCD4"/>
                </a:solidFill>
                <a:latin typeface="Arial" pitchFamily="34" charset="0"/>
                <a:ea typeface="Arial" pitchFamily="34" charset="-122"/>
                <a:cs typeface="Arial" pitchFamily="34" charset="-120"/>
              </a:rPr>
              <a:t>FAQ APPENDIX 2</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FFFFFF"/>
                </a:solidFill>
                <a:latin typeface="Arial" pitchFamily="34" charset="0"/>
                <a:ea typeface="Arial" pitchFamily="34" charset="-122"/>
                <a:cs typeface="Arial" pitchFamily="34" charset="-120"/>
              </a:rPr>
              <a:t>Where is AI used, and how do we reduce hallucination risk?</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AFC9EC"/>
                </a:solidFill>
                <a:latin typeface="Arial" pitchFamily="34" charset="0"/>
                <a:ea typeface="Arial" pitchFamily="34" charset="-122"/>
                <a:cs typeface="Arial" pitchFamily="34" charset="-120"/>
              </a:rPr>
              <a:t>InvestigateIQ  |  Capstone Group 7  |  11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344168"/>
            <a:ext cx="10652760" cy="941832"/>
          </a:xfrm>
          <a:prstGeom prst="roundRect">
            <a:avLst>
              <a:gd name="adj" fmla="val 11650"/>
            </a:avLst>
          </a:prstGeom>
          <a:solidFill>
            <a:srgbClr val="173C78"/>
          </a:solidFill>
          <a:ln w="12700">
            <a:solidFill>
              <a:srgbClr val="173C78">
                <a:alpha val="0"/>
              </a:srgbClr>
            </a:solidFill>
            <a:prstDash val="solid"/>
          </a:ln>
        </p:spPr>
      </p:sp>
      <p:sp>
        <p:nvSpPr>
          <p:cNvPr id="7" name="Text 5"/>
          <p:cNvSpPr txBox="1"/>
          <p:nvPr/>
        </p:nvSpPr>
        <p:spPr>
          <a:xfrm>
            <a:off x="987552" y="1508760"/>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78DCD4"/>
                </a:solidFill>
                <a:latin typeface="Arial" pitchFamily="34" charset="0"/>
                <a:ea typeface="Arial" pitchFamily="34" charset="-122"/>
                <a:cs typeface="Arial" pitchFamily="34" charset="-120"/>
              </a:rPr>
              <a:t>Where is AI used?</a:t>
            </a:r>
            <a:endParaRPr lang="en-US" sz="1400" dirty="0"/>
          </a:p>
        </p:txBody>
      </p:sp>
      <p:sp>
        <p:nvSpPr>
          <p:cNvPr id="8" name="Text 6"/>
          <p:cNvSpPr txBox="1"/>
          <p:nvPr/>
        </p:nvSpPr>
        <p:spPr>
          <a:xfrm>
            <a:off x="4169664" y="1490472"/>
            <a:ext cx="6830568" cy="429768"/>
          </a:xfrm>
          <a:prstGeom prst="rect">
            <a:avLst/>
          </a:prstGeom>
          <a:noFill/>
          <a:ln/>
        </p:spPr>
        <p:txBody>
          <a:bodyPr wrap="square" lIns="0" tIns="0" rIns="0" bIns="0" rtlCol="0" anchor="t">
            <a:normAutofit/>
          </a:bodyPr>
          <a:lstStyle/>
          <a:p>
            <a:pPr algn="l" indent="0" marL="0">
              <a:buNone/>
            </a:pPr>
            <a:r>
              <a:rPr lang="en-US" sz="1120" dirty="0">
                <a:solidFill>
                  <a:srgbClr val="DDEBFF"/>
                </a:solidFill>
                <a:latin typeface="Arial" pitchFamily="34" charset="0"/>
                <a:ea typeface="Arial" pitchFamily="34" charset="-122"/>
                <a:cs typeface="Arial" pitchFamily="34" charset="-120"/>
              </a:rPr>
              <a:t>Five specialist components collect/compute evidence. The Investigation Summary Agent is the only component that makes an optional Gemini model call; calculated mode makes no model call.</a:t>
            </a:r>
            <a:endParaRPr lang="en-US" sz="1120" dirty="0"/>
          </a:p>
        </p:txBody>
      </p:sp>
      <p:sp>
        <p:nvSpPr>
          <p:cNvPr id="9" name="Shape 7"/>
          <p:cNvSpPr/>
          <p:nvPr/>
        </p:nvSpPr>
        <p:spPr>
          <a:xfrm>
            <a:off x="749808" y="2569464"/>
            <a:ext cx="10652760" cy="941832"/>
          </a:xfrm>
          <a:prstGeom prst="roundRect">
            <a:avLst>
              <a:gd name="adj" fmla="val 11650"/>
            </a:avLst>
          </a:prstGeom>
          <a:solidFill>
            <a:srgbClr val="173C78"/>
          </a:solidFill>
          <a:ln w="12700">
            <a:solidFill>
              <a:srgbClr val="173C78">
                <a:alpha val="0"/>
              </a:srgbClr>
            </a:solidFill>
            <a:prstDash val="solid"/>
          </a:ln>
        </p:spPr>
      </p:sp>
      <p:sp>
        <p:nvSpPr>
          <p:cNvPr id="10" name="Text 8"/>
          <p:cNvSpPr txBox="1"/>
          <p:nvPr/>
        </p:nvSpPr>
        <p:spPr>
          <a:xfrm>
            <a:off x="987552" y="2734056"/>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78DCD4"/>
                </a:solidFill>
                <a:latin typeface="Arial" pitchFamily="34" charset="0"/>
                <a:ea typeface="Arial" pitchFamily="34" charset="-122"/>
                <a:cs typeface="Arial" pitchFamily="34" charset="-120"/>
              </a:rPr>
              <a:t>What guardrails exist?</a:t>
            </a:r>
            <a:endParaRPr lang="en-US" sz="1400" dirty="0"/>
          </a:p>
        </p:txBody>
      </p:sp>
      <p:sp>
        <p:nvSpPr>
          <p:cNvPr id="11" name="Text 9"/>
          <p:cNvSpPr txBox="1"/>
          <p:nvPr/>
        </p:nvSpPr>
        <p:spPr>
          <a:xfrm>
            <a:off x="4169664" y="2715768"/>
            <a:ext cx="6830568" cy="429768"/>
          </a:xfrm>
          <a:prstGeom prst="rect">
            <a:avLst/>
          </a:prstGeom>
          <a:noFill/>
          <a:ln/>
        </p:spPr>
        <p:txBody>
          <a:bodyPr wrap="square" lIns="0" tIns="0" rIns="0" bIns="0" rtlCol="0" anchor="t">
            <a:normAutofit/>
          </a:bodyPr>
          <a:lstStyle/>
          <a:p>
            <a:pPr algn="l" indent="0" marL="0">
              <a:buNone/>
            </a:pPr>
            <a:r>
              <a:rPr lang="en-US" sz="1120" dirty="0">
                <a:solidFill>
                  <a:srgbClr val="DDEBFF"/>
                </a:solidFill>
                <a:latin typeface="Arial" pitchFamily="34" charset="0"/>
                <a:ea typeface="Arial" pitchFamily="34" charset="-122"/>
                <a:cs typeface="Arial" pitchFamily="34" charset="-120"/>
              </a:rPr>
              <a:t>Prompt rules require cited source IDs, avoid verdict language, and treat source fields as untrusted. The validator checks selected citations, ratios, and unsupported conclusion wording.</a:t>
            </a:r>
            <a:endParaRPr lang="en-US" sz="1120" dirty="0"/>
          </a:p>
        </p:txBody>
      </p:sp>
      <p:sp>
        <p:nvSpPr>
          <p:cNvPr id="12" name="Shape 10"/>
          <p:cNvSpPr/>
          <p:nvPr/>
        </p:nvSpPr>
        <p:spPr>
          <a:xfrm>
            <a:off x="749808" y="3794760"/>
            <a:ext cx="10652760" cy="941832"/>
          </a:xfrm>
          <a:prstGeom prst="roundRect">
            <a:avLst>
              <a:gd name="adj" fmla="val 11650"/>
            </a:avLst>
          </a:prstGeom>
          <a:solidFill>
            <a:srgbClr val="173C78"/>
          </a:solidFill>
          <a:ln w="12700">
            <a:solidFill>
              <a:srgbClr val="173C78">
                <a:alpha val="0"/>
              </a:srgbClr>
            </a:solidFill>
            <a:prstDash val="solid"/>
          </a:ln>
        </p:spPr>
      </p:sp>
      <p:sp>
        <p:nvSpPr>
          <p:cNvPr id="13" name="Text 11"/>
          <p:cNvSpPr txBox="1"/>
          <p:nvPr/>
        </p:nvSpPr>
        <p:spPr>
          <a:xfrm>
            <a:off x="987552" y="3959352"/>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78DCD4"/>
                </a:solidFill>
                <a:latin typeface="Arial" pitchFamily="34" charset="0"/>
                <a:ea typeface="Arial" pitchFamily="34" charset="-122"/>
                <a:cs typeface="Arial" pitchFamily="34" charset="-120"/>
              </a:rPr>
              <a:t>Can the system guarantee truth?</a:t>
            </a:r>
            <a:endParaRPr lang="en-US" sz="1400" dirty="0"/>
          </a:p>
        </p:txBody>
      </p:sp>
      <p:sp>
        <p:nvSpPr>
          <p:cNvPr id="14" name="Text 12"/>
          <p:cNvSpPr txBox="1"/>
          <p:nvPr/>
        </p:nvSpPr>
        <p:spPr>
          <a:xfrm>
            <a:off x="4169664" y="3941064"/>
            <a:ext cx="6830568" cy="429768"/>
          </a:xfrm>
          <a:prstGeom prst="rect">
            <a:avLst/>
          </a:prstGeom>
          <a:noFill/>
          <a:ln/>
        </p:spPr>
        <p:txBody>
          <a:bodyPr wrap="square" lIns="0" tIns="0" rIns="0" bIns="0" rtlCol="0" anchor="t">
            <a:normAutofit/>
          </a:bodyPr>
          <a:lstStyle/>
          <a:p>
            <a:pPr algn="l" indent="0" marL="0">
              <a:buNone/>
            </a:pPr>
            <a:r>
              <a:rPr lang="en-US" sz="1120" dirty="0">
                <a:solidFill>
                  <a:srgbClr val="DDEBFF"/>
                </a:solidFill>
                <a:latin typeface="Arial" pitchFamily="34" charset="0"/>
                <a:ea typeface="Arial" pitchFamily="34" charset="-122"/>
                <a:cs typeface="Arial" pitchFamily="34" charset="-120"/>
              </a:rPr>
              <a:t>No. These checks reduce specific failure modes only. Evidence confidence exposes limitations, and a named human—not the AI—decides whether to close, request information, or escalate.</a:t>
            </a:r>
            <a:endParaRPr lang="en-US" sz="1120" dirty="0"/>
          </a:p>
        </p:txBody>
      </p:sp>
    </p:spTree>
  </p:cSld>
  <p:clrMapOvr>
    <a:masterClrMapping/>
  </p:clrMapOvr>
  <p:transition spd="med"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E"/>
        </a:solidFill>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algn="l" indent="0" marL="0">
              <a:buNone/>
            </a:pPr>
            <a:r>
              <a:rPr lang="en-US" sz="1000" b="1" dirty="0">
                <a:solidFill>
                  <a:srgbClr val="00A79D"/>
                </a:solidFill>
                <a:latin typeface="Arial" pitchFamily="34" charset="0"/>
                <a:ea typeface="Arial" pitchFamily="34" charset="-122"/>
                <a:cs typeface="Arial" pitchFamily="34" charset="-120"/>
              </a:rPr>
              <a:t>FAQ APPENDIX 3</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a:bodyPr>
          <a:lstStyle/>
          <a:p>
            <a:pPr algn="l" indent="0" marL="0">
              <a:buNone/>
            </a:pPr>
            <a:r>
              <a:rPr lang="en-US" sz="2900" b="1" dirty="0">
                <a:solidFill>
                  <a:srgbClr val="0B1F3A"/>
                </a:solidFill>
                <a:latin typeface="Arial" pitchFamily="34" charset="0"/>
                <a:ea typeface="Arial" pitchFamily="34" charset="-122"/>
                <a:cs typeface="Arial" pitchFamily="34" charset="-120"/>
              </a:rPr>
              <a:t>How are access, audit, and value handled?</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algn="l" indent="0" marL="0">
              <a:buNone/>
            </a:pPr>
            <a:r>
              <a:rPr lang="en-US" sz="850" dirty="0">
                <a:solidFill>
                  <a:srgbClr val="63738D"/>
                </a:solidFill>
                <a:latin typeface="Arial" pitchFamily="34" charset="0"/>
                <a:ea typeface="Arial" pitchFamily="34" charset="-122"/>
                <a:cs typeface="Arial" pitchFamily="34" charset="-120"/>
              </a:rPr>
              <a:t>InvestigateIQ  |  Capstone Group 7  |  12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algn="r" indent="0" marL="0">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353312"/>
            <a:ext cx="10652760" cy="941832"/>
          </a:xfrm>
          <a:prstGeom prst="roundRect">
            <a:avLst>
              <a:gd name="adj" fmla="val 11650"/>
            </a:avLst>
          </a:prstGeom>
          <a:solidFill>
            <a:srgbClr val="FFFFFF"/>
          </a:solidFill>
          <a:ln w="12700">
            <a:solidFill>
              <a:srgbClr val="FFFFFF">
                <a:alpha val="0"/>
              </a:srgbClr>
            </a:solidFill>
            <a:prstDash val="solid"/>
          </a:ln>
        </p:spPr>
      </p:sp>
      <p:sp>
        <p:nvSpPr>
          <p:cNvPr id="7" name="Text 5"/>
          <p:cNvSpPr txBox="1"/>
          <p:nvPr/>
        </p:nvSpPr>
        <p:spPr>
          <a:xfrm>
            <a:off x="987552" y="1517904"/>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2E65C5"/>
                </a:solidFill>
                <a:latin typeface="Arial" pitchFamily="34" charset="0"/>
                <a:ea typeface="Arial" pitchFamily="34" charset="-122"/>
                <a:cs typeface="Arial" pitchFamily="34" charset="-120"/>
              </a:rPr>
              <a:t>Is this role-based access control?</a:t>
            </a:r>
            <a:endParaRPr lang="en-US" sz="1400" dirty="0"/>
          </a:p>
        </p:txBody>
      </p:sp>
      <p:sp>
        <p:nvSpPr>
          <p:cNvPr id="8" name="Text 6"/>
          <p:cNvSpPr txBox="1"/>
          <p:nvPr/>
        </p:nvSpPr>
        <p:spPr>
          <a:xfrm>
            <a:off x="4169664" y="1499616"/>
            <a:ext cx="6830568" cy="429768"/>
          </a:xfrm>
          <a:prstGeom prst="rect">
            <a:avLst/>
          </a:prstGeom>
          <a:noFill/>
          <a:ln/>
        </p:spPr>
        <p:txBody>
          <a:bodyPr wrap="square" lIns="0" tIns="0" rIns="0" bIns="0" rtlCol="0" anchor="t">
            <a:normAutofit/>
          </a:bodyPr>
          <a:lstStyle/>
          <a:p>
            <a:pPr algn="l" indent="0" marL="0">
              <a:buNone/>
            </a:pPr>
            <a:r>
              <a:rPr lang="en-US" sz="1120" dirty="0">
                <a:solidFill>
                  <a:srgbClr val="63738D"/>
                </a:solidFill>
                <a:latin typeface="Arial" pitchFamily="34" charset="0"/>
                <a:ea typeface="Arial" pitchFamily="34" charset="-122"/>
                <a:cs typeface="Arial" pitchFamily="34" charset="-120"/>
              </a:rPr>
              <a:t>No. The visible role selector is a demo display label. Admin pages use a limited passcode gate, which is not production authentication or authorization; the code is not shown in the deck or Blueprint.</a:t>
            </a:r>
            <a:endParaRPr lang="en-US" sz="1120" dirty="0"/>
          </a:p>
        </p:txBody>
      </p:sp>
      <p:sp>
        <p:nvSpPr>
          <p:cNvPr id="9" name="Shape 7"/>
          <p:cNvSpPr/>
          <p:nvPr/>
        </p:nvSpPr>
        <p:spPr>
          <a:xfrm>
            <a:off x="749808" y="2578608"/>
            <a:ext cx="10652760" cy="941832"/>
          </a:xfrm>
          <a:prstGeom prst="roundRect">
            <a:avLst>
              <a:gd name="adj" fmla="val 11650"/>
            </a:avLst>
          </a:prstGeom>
          <a:solidFill>
            <a:srgbClr val="FFFFFF"/>
          </a:solidFill>
          <a:ln w="12700">
            <a:solidFill>
              <a:srgbClr val="FFFFFF">
                <a:alpha val="0"/>
              </a:srgbClr>
            </a:solidFill>
            <a:prstDash val="solid"/>
          </a:ln>
        </p:spPr>
      </p:sp>
      <p:sp>
        <p:nvSpPr>
          <p:cNvPr id="10" name="Text 8"/>
          <p:cNvSpPr txBox="1"/>
          <p:nvPr/>
        </p:nvSpPr>
        <p:spPr>
          <a:xfrm>
            <a:off x="987552" y="2743200"/>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2E65C5"/>
                </a:solidFill>
                <a:latin typeface="Arial" pitchFamily="34" charset="0"/>
                <a:ea typeface="Arial" pitchFamily="34" charset="-122"/>
                <a:cs typeface="Arial" pitchFamily="34" charset="-120"/>
              </a:rPr>
              <a:t>What is in the audit trail?</a:t>
            </a:r>
            <a:endParaRPr lang="en-US" sz="1400" dirty="0"/>
          </a:p>
        </p:txBody>
      </p:sp>
      <p:sp>
        <p:nvSpPr>
          <p:cNvPr id="11" name="Text 9"/>
          <p:cNvSpPr txBox="1"/>
          <p:nvPr/>
        </p:nvSpPr>
        <p:spPr>
          <a:xfrm>
            <a:off x="4169664" y="2724912"/>
            <a:ext cx="6830568" cy="429768"/>
          </a:xfrm>
          <a:prstGeom prst="rect">
            <a:avLst/>
          </a:prstGeom>
          <a:noFill/>
          <a:ln/>
        </p:spPr>
        <p:txBody>
          <a:bodyPr wrap="square" lIns="0" tIns="0" rIns="0" bIns="0" rtlCol="0" anchor="t">
            <a:normAutofit/>
          </a:bodyPr>
          <a:lstStyle/>
          <a:p>
            <a:pPr algn="l" indent="0" marL="0">
              <a:buNone/>
            </a:pPr>
            <a:r>
              <a:rPr lang="en-US" sz="1120" dirty="0">
                <a:solidFill>
                  <a:srgbClr val="63738D"/>
                </a:solidFill>
                <a:latin typeface="Arial" pitchFamily="34" charset="0"/>
                <a:ea typeface="Arial" pitchFamily="34" charset="-122"/>
                <a:cs typeface="Arial" pitchFamily="34" charset="-120"/>
              </a:rPr>
              <a:t>System, AI, and human workflow events are recorded with case context. A human decision requires a name and rationale and becomes a recorded state; a Compliance return creates a new auditable step.</a:t>
            </a:r>
            <a:endParaRPr lang="en-US" sz="1120" dirty="0"/>
          </a:p>
        </p:txBody>
      </p:sp>
      <p:sp>
        <p:nvSpPr>
          <p:cNvPr id="12" name="Shape 10"/>
          <p:cNvSpPr/>
          <p:nvPr/>
        </p:nvSpPr>
        <p:spPr>
          <a:xfrm>
            <a:off x="749808" y="3803904"/>
            <a:ext cx="10652760" cy="941832"/>
          </a:xfrm>
          <a:prstGeom prst="roundRect">
            <a:avLst>
              <a:gd name="adj" fmla="val 11650"/>
            </a:avLst>
          </a:prstGeom>
          <a:solidFill>
            <a:srgbClr val="E6F8F6"/>
          </a:solidFill>
          <a:ln w="12700">
            <a:solidFill>
              <a:srgbClr val="E6F8F6">
                <a:alpha val="0"/>
              </a:srgbClr>
            </a:solidFill>
            <a:prstDash val="solid"/>
          </a:ln>
        </p:spPr>
      </p:sp>
      <p:sp>
        <p:nvSpPr>
          <p:cNvPr id="13" name="Text 11"/>
          <p:cNvSpPr txBox="1"/>
          <p:nvPr/>
        </p:nvSpPr>
        <p:spPr>
          <a:xfrm>
            <a:off x="987552" y="3968496"/>
            <a:ext cx="3063240" cy="173736"/>
          </a:xfrm>
          <a:prstGeom prst="rect">
            <a:avLst/>
          </a:prstGeom>
          <a:noFill/>
          <a:ln/>
        </p:spPr>
        <p:txBody>
          <a:bodyPr wrap="square" lIns="0" tIns="0" rIns="0" bIns="0" rtlCol="0" anchor="ctr">
            <a:normAutofit/>
          </a:bodyPr>
          <a:lstStyle/>
          <a:p>
            <a:pPr algn="l" indent="0" marL="0">
              <a:buNone/>
            </a:pPr>
            <a:r>
              <a:rPr lang="en-US" sz="1400" b="1" dirty="0">
                <a:solidFill>
                  <a:srgbClr val="00A79D"/>
                </a:solidFill>
                <a:latin typeface="Arial" pitchFamily="34" charset="0"/>
                <a:ea typeface="Arial" pitchFamily="34" charset="-122"/>
                <a:cs typeface="Arial" pitchFamily="34" charset="-120"/>
              </a:rPr>
              <a:t>How much money or time does it save?</a:t>
            </a:r>
            <a:endParaRPr lang="en-US" sz="1400" dirty="0"/>
          </a:p>
        </p:txBody>
      </p:sp>
      <p:sp>
        <p:nvSpPr>
          <p:cNvPr id="14" name="Text 12"/>
          <p:cNvSpPr txBox="1"/>
          <p:nvPr/>
        </p:nvSpPr>
        <p:spPr>
          <a:xfrm>
            <a:off x="4169664" y="3950208"/>
            <a:ext cx="6830568" cy="429768"/>
          </a:xfrm>
          <a:prstGeom prst="rect">
            <a:avLst/>
          </a:prstGeom>
          <a:noFill/>
          <a:ln/>
        </p:spPr>
        <p:txBody>
          <a:bodyPr wrap="square" lIns="0" tIns="0" rIns="0" bIns="0" rtlCol="0" anchor="t">
            <a:normAutofit/>
          </a:bodyPr>
          <a:lstStyle/>
          <a:p>
            <a:pPr algn="l" indent="0" marL="0">
              <a:buNone/>
            </a:pPr>
            <a:r>
              <a:rPr lang="en-US" sz="1120" dirty="0">
                <a:solidFill>
                  <a:srgbClr val="63738D"/>
                </a:solidFill>
                <a:latin typeface="Arial" pitchFamily="34" charset="0"/>
                <a:ea typeface="Arial" pitchFamily="34" charset="-122"/>
                <a:cs typeface="Arial" pitchFamily="34" charset="-120"/>
              </a:rPr>
              <a:t>No percentage or financial claim is made from fictional data. A real pilot would measure verified lookup time, rework, audit reconstruction time, and safety issues against an approved cost baseline.</a:t>
            </a:r>
            <a:endParaRPr lang="en-US" sz="1120" dirty="0"/>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IIT Bombay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InvestigateIQ: concise product presentation and live demo</dc:title>
  <dc:subject>InvestigateIQ concise product presentation</dc:subject>
  <dc:creator>Capstone Group 7</dc:creator>
  <cp:lastModifiedBy>Capstone Group 7</cp:lastModifiedBy>
  <cp:revision>1</cp:revision>
  <dcterms:created xsi:type="dcterms:W3CDTF">2026-10-10T14:39:39Z</dcterms:created>
  <dcterms:modified xsi:type="dcterms:W3CDTF">2026-10-10T14:39:39Z</dcterms:modified>
</cp:coreProperties>
</file>