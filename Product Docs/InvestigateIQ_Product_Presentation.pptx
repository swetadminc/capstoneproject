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opens in 25 seconds. State that this is a fictional AML learning product. The deck uses 5 minutes 35 seconds, then the demo and questions share the remainder of the 15-minute session; FAQ slides are appendix material only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35 seconds. Read the statement, selected track, and non-goals. Introduce the team in the displayed order and say that Soumya presents while Laxman is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30 seconds. Move left to right through the flow. Emphasize human decision ownership and separate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40 seconds. Define evidence confidence as deterministic support coverage. It is not a risk score, probability of crime, legality assessment, or recommended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55 seconds. OKF is Open Knowledge Format: a source record with stable metadata and body text. Explain C0 metadata and two-sentence chunks, then local SQLite FTS5 keyword search and BM25 ranking. Say retrieval finds text; it does not prove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55 seconds. Explain the flow left to right. The real implementation contains five evidence-gathering specialists plus an Investigation Summary Agent. Only the Summary Agent calls the optional Gemini model; calculated mode has no model call. The Grounding Validator checks known source IDs, selected ratio wording, forbidden verdict language, and obvious prompt-like source text. It reduces selected hallucination risks but cannot guarantee truth. Do not call these CEO or CFO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45 seconds to explain the demo plan, then performs it. Start with a documented closed case to show evidence access, then use the open/escalated case for the investigation. Do not submit an investigator or Compliance action, create intake data, reset decisions, or reveal an Admin passcode. Speak only about what is under the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50 seconds. Say this is an ROI measurement framework, not an invented financial result. Name the four value levers and future sequence. A real ROI needs a baseline, approved costs, and verified pilot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slide after the live demo. Soumya closes in 15 seconds and uses the FAQ appendix only if a relevant question is asked. Questions, demo, and slides all fit within the 15-minute session; no separate Q&amp;A allocation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Soumya can state: the data is fictional; retrieval is lexical FTS5/BM25 over scoped local text; citations are review pointers,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Do not say the validator eliminates hallucination. Say it reduces specific risks and cannot guarantee factual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State clearly that the Admin passcode is not disclosed, the demo is not RBAC, and ROI is a pilot measurement framework rather than a financial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C:\D\IIT Mumbai\Capstone Blueprint\assets\walkthrough_screens\2026_home_guest.png">    </p:cNvPr>
          <p:cNvPicPr>
            <a:picLocks noChangeAspect="1"/>
          </p:cNvPicPr>
          <p:nvPr/>
        </p:nvPicPr>
        <p:blipFill>
          <a:blip r:embed="rId1">
            <a:alphaModFix amt="79000"/>
          </a:blip>
          <a:stretch>
            <a:fillRect/>
          </a:stretch>
        </p:blipFill>
        <p:spPr>
          <a:xfrm>
            <a:off x="6492240" y="0"/>
            <a:ext cx="5696712" cy="6858000"/>
          </a:xfrm>
          <a:prstGeom prst="rect">
            <a:avLst/>
          </a:prstGeom>
        </p:spPr>
      </p:pic>
      <p:sp>
        <p:nvSpPr>
          <p:cNvPr id="3" name="Shape 0"/>
          <p:cNvSpPr/>
          <p:nvPr/>
        </p:nvSpPr>
        <p:spPr>
          <a:xfrm>
            <a:off x="0" y="0"/>
            <a:ext cx="7132320" cy="6858000"/>
          </a:xfrm>
          <a:prstGeom prst="rect">
            <a:avLst/>
          </a:prstGeom>
          <a:solidFill>
            <a:srgbClr val="0B1F3A">
              <a:alpha val="99000"/>
            </a:srgbClr>
          </a:solidFill>
          <a:ln w="12700">
            <a:solidFill>
              <a:srgbClr val="0B1F3A">
                <a:alpha val="0"/>
              </a:srgbClr>
            </a:solidFill>
            <a:prstDash val="solid"/>
          </a:ln>
        </p:spPr>
      </p:sp>
      <p:sp>
        <p:nvSpPr>
          <p:cNvPr id="4" name="Shape 1"/>
          <p:cNvSpPr/>
          <p:nvPr/>
        </p:nvSpPr>
        <p:spPr>
          <a:xfrm>
            <a:off x="676656" y="694944"/>
            <a:ext cx="1737360" cy="292608"/>
          </a:xfrm>
          <a:prstGeom prst="roundRect">
            <a:avLst>
              <a:gd name="adj" fmla="val 37500"/>
            </a:avLst>
          </a:prstGeom>
          <a:solidFill>
            <a:srgbClr val="00A79D"/>
          </a:solidFill>
          <a:ln w="12700">
            <a:solidFill>
              <a:srgbClr val="00A79D">
                <a:alpha val="0"/>
              </a:srgbClr>
            </a:solidFill>
            <a:prstDash val="solid"/>
          </a:ln>
        </p:spPr>
      </p:sp>
      <p:sp>
        <p:nvSpPr>
          <p:cNvPr id="5" name="Text 2"/>
          <p:cNvSpPr txBox="1"/>
          <p:nvPr/>
        </p:nvSpPr>
        <p:spPr>
          <a:xfrm>
            <a:off x="768096" y="740664"/>
            <a:ext cx="1554480" cy="1371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CAPSTONE GROUP 7</a:t>
            </a:r>
            <a:endParaRPr lang="en-US" sz="1000" dirty="0"/>
          </a:p>
        </p:txBody>
      </p:sp>
      <p:sp>
        <p:nvSpPr>
          <p:cNvPr id="6" name="Text 3"/>
          <p:cNvSpPr txBox="1"/>
          <p:nvPr/>
        </p:nvSpPr>
        <p:spPr>
          <a:xfrm>
            <a:off x="676656" y="1298448"/>
            <a:ext cx="5120640" cy="56692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InvestigateIQ</a:t>
            </a:r>
            <a:endParaRPr lang="en-US" sz="4200" dirty="0"/>
          </a:p>
        </p:txBody>
      </p:sp>
      <p:sp>
        <p:nvSpPr>
          <p:cNvPr id="7" name="Text 4"/>
          <p:cNvSpPr txBox="1"/>
          <p:nvPr/>
        </p:nvSpPr>
        <p:spPr>
          <a:xfrm>
            <a:off x="704088" y="2084832"/>
            <a:ext cx="4937760" cy="320040"/>
          </a:xfrm>
          <a:prstGeom prst="rect">
            <a:avLst/>
          </a:prstGeom>
          <a:noFill/>
          <a:ln/>
        </p:spPr>
        <p:txBody>
          <a:bodyPr wrap="square" lIns="0" tIns="0" rIns="0" bIns="0" rtlCol="0" anchor="ctr">
            <a:normAutofit/>
          </a:bodyPr>
          <a:lstStyle/>
          <a:p>
            <a:pPr algn="l" indent="0" marL="0">
              <a:buNone/>
            </a:pPr>
            <a:r>
              <a:rPr lang="en-US" sz="2200" b="1" dirty="0">
                <a:solidFill>
                  <a:srgbClr val="78DCD4"/>
                </a:solidFill>
                <a:latin typeface="Arial" pitchFamily="34" charset="0"/>
                <a:ea typeface="Arial" pitchFamily="34" charset="-122"/>
                <a:cs typeface="Arial" pitchFamily="34" charset="-120"/>
              </a:rPr>
              <a:t>Trace the evidence. Own the decision.</a:t>
            </a:r>
            <a:endParaRPr lang="en-US" sz="2200" dirty="0"/>
          </a:p>
        </p:txBody>
      </p:sp>
      <p:sp>
        <p:nvSpPr>
          <p:cNvPr id="8" name="Text 5"/>
          <p:cNvSpPr txBox="1"/>
          <p:nvPr/>
        </p:nvSpPr>
        <p:spPr>
          <a:xfrm>
            <a:off x="704088" y="2670048"/>
            <a:ext cx="4937760" cy="566928"/>
          </a:xfrm>
          <a:prstGeom prst="rect">
            <a:avLst/>
          </a:prstGeom>
          <a:noFill/>
          <a:ln/>
        </p:spPr>
        <p:txBody>
          <a:bodyPr wrap="square" lIns="0" tIns="0" rIns="0" bIns="0" rtlCol="0" anchor="t">
            <a:normAutofit/>
          </a:bodyPr>
          <a:lstStyle/>
          <a:p>
            <a:pPr algn="l" indent="0" marL="0">
              <a:buNone/>
            </a:pPr>
            <a:r>
              <a:rPr lang="en-US" sz="1800" dirty="0">
                <a:solidFill>
                  <a:srgbClr val="DDEBFF"/>
                </a:solidFill>
                <a:latin typeface="Arial" pitchFamily="34" charset="0"/>
                <a:ea typeface="Arial" pitchFamily="34" charset="-122"/>
                <a:cs typeface="Arial" pitchFamily="34" charset="-120"/>
              </a:rPr>
              <a:t>A transparent, AI-assisted workflow for fictional AML case investigations.</a:t>
            </a:r>
            <a:endParaRPr lang="en-US" sz="1800" dirty="0"/>
          </a:p>
        </p:txBody>
      </p:sp>
      <p:sp>
        <p:nvSpPr>
          <p:cNvPr id="9" name="Text 6"/>
          <p:cNvSpPr txBox="1"/>
          <p:nvPr/>
        </p:nvSpPr>
        <p:spPr>
          <a:xfrm>
            <a:off x="704088" y="5321808"/>
            <a:ext cx="4389120" cy="182880"/>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Arial" pitchFamily="34" charset="0"/>
                <a:ea typeface="Arial" pitchFamily="34" charset="-122"/>
                <a:cs typeface="Arial" pitchFamily="34" charset="-120"/>
              </a:rPr>
              <a:t>Soumya — presenter  |  Laxman — backup</a:t>
            </a:r>
            <a:endParaRPr lang="en-US" sz="1300" dirty="0"/>
          </a:p>
        </p:txBody>
      </p:sp>
      <p:sp>
        <p:nvSpPr>
          <p:cNvPr id="10" name="Text 7"/>
          <p:cNvSpPr txBox="1"/>
          <p:nvPr/>
        </p:nvSpPr>
        <p:spPr>
          <a:xfrm>
            <a:off x="704088" y="5715000"/>
            <a:ext cx="5303520" cy="182880"/>
          </a:xfrm>
          <a:prstGeom prst="rect">
            <a:avLst/>
          </a:prstGeom>
          <a:noFill/>
          <a:ln/>
        </p:spPr>
        <p:txBody>
          <a:bodyPr wrap="square" lIns="0" tIns="0" rIns="0" bIns="0" rtlCol="0" anchor="ctr">
            <a:normAutofit/>
          </a:bodyPr>
          <a:lstStyle/>
          <a:p>
            <a:pPr algn="l" indent="0" marL="0">
              <a:buNone/>
            </a:pPr>
            <a:r>
              <a:rPr lang="en-US" sz="1250" dirty="0">
                <a:solidFill>
                  <a:srgbClr val="AFC9EC"/>
                </a:solidFill>
                <a:latin typeface="Arial" pitchFamily="34" charset="0"/>
                <a:ea typeface="Arial" pitchFamily="34" charset="-122"/>
                <a:cs typeface="Arial" pitchFamily="34" charset="-120"/>
              </a:rPr>
              <a:t>5:35 core slides  •  live demo and questions within the 15-minute session</a:t>
            </a:r>
            <a:endParaRPr lang="en-US" sz="1250" dirty="0"/>
          </a:p>
        </p:txBody>
      </p:sp>
      <p:sp>
        <p:nvSpPr>
          <p:cNvPr id="11" name="Text 8"/>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 of 12</a:t>
            </a:r>
            <a:endParaRPr lang="en-US" sz="850" dirty="0"/>
          </a:p>
        </p:txBody>
      </p:sp>
      <p:sp>
        <p:nvSpPr>
          <p:cNvPr id="12" name="Text 9"/>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PROGRAM STATEMENT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What this capstone will deliver—and what it will not</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2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58368" y="1298448"/>
            <a:ext cx="10881360" cy="941832"/>
          </a:xfrm>
          <a:prstGeom prst="roundRect">
            <a:avLst>
              <a:gd name="adj" fmla="val 11650"/>
            </a:avLst>
          </a:prstGeom>
          <a:solidFill>
            <a:srgbClr val="173C78"/>
          </a:solidFill>
          <a:ln w="12700">
            <a:solidFill>
              <a:srgbClr val="173C78">
                <a:alpha val="0"/>
              </a:srgbClr>
            </a:solidFill>
            <a:prstDash val="solid"/>
          </a:ln>
        </p:spPr>
      </p:sp>
      <p:sp>
        <p:nvSpPr>
          <p:cNvPr id="7" name="Text 5"/>
          <p:cNvSpPr txBox="1"/>
          <p:nvPr/>
        </p:nvSpPr>
        <p:spPr>
          <a:xfrm>
            <a:off x="914400" y="1554480"/>
            <a:ext cx="10378440" cy="42062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rial" pitchFamily="34" charset="0"/>
                <a:ea typeface="Arial" pitchFamily="34" charset="-122"/>
                <a:cs typeface="Arial" pitchFamily="34" charset="-120"/>
              </a:rPr>
              <a:t>Design and demonstrate a fictional AML review workflow where every report claim is traceable to supplied material, limitations stay visible, and workflow actions remain named human decisions.</a:t>
            </a:r>
            <a:endParaRPr lang="en-US" sz="1800" dirty="0"/>
          </a:p>
        </p:txBody>
      </p:sp>
      <p:sp>
        <p:nvSpPr>
          <p:cNvPr id="8" name="Shape 6"/>
          <p:cNvSpPr/>
          <p:nvPr/>
        </p:nvSpPr>
        <p:spPr>
          <a:xfrm>
            <a:off x="74980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9" name="Text 7"/>
          <p:cNvSpPr txBox="1"/>
          <p:nvPr/>
        </p:nvSpPr>
        <p:spPr>
          <a:xfrm>
            <a:off x="95097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Track</a:t>
            </a:r>
            <a:endParaRPr lang="en-US" sz="1300" dirty="0"/>
          </a:p>
        </p:txBody>
      </p:sp>
      <p:sp>
        <p:nvSpPr>
          <p:cNvPr id="10" name="Text 8"/>
          <p:cNvSpPr txBox="1"/>
          <p:nvPr/>
        </p:nvSpPr>
        <p:spPr>
          <a:xfrm>
            <a:off x="95097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Blueprint + Prototype + Detailed code + Final results</a:t>
            </a:r>
            <a:endParaRPr lang="en-US" sz="1050" dirty="0"/>
          </a:p>
        </p:txBody>
      </p:sp>
      <p:sp>
        <p:nvSpPr>
          <p:cNvPr id="11" name="Shape 9"/>
          <p:cNvSpPr/>
          <p:nvPr/>
        </p:nvSpPr>
        <p:spPr>
          <a:xfrm>
            <a:off x="4498848" y="2615184"/>
            <a:ext cx="3401568" cy="960120"/>
          </a:xfrm>
          <a:prstGeom prst="roundRect">
            <a:avLst>
              <a:gd name="adj" fmla="val 11429"/>
            </a:avLst>
          </a:prstGeom>
          <a:solidFill>
            <a:srgbClr val="E6F8F6"/>
          </a:solidFill>
          <a:ln w="12700">
            <a:solidFill>
              <a:srgbClr val="E6F8F6">
                <a:alpha val="0"/>
              </a:srgbClr>
            </a:solidFill>
            <a:prstDash val="solid"/>
          </a:ln>
        </p:spPr>
      </p:sp>
      <p:sp>
        <p:nvSpPr>
          <p:cNvPr id="12" name="Text 10"/>
          <p:cNvSpPr txBox="1"/>
          <p:nvPr/>
        </p:nvSpPr>
        <p:spPr>
          <a:xfrm>
            <a:off x="470001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Measures</a:t>
            </a:r>
            <a:endParaRPr lang="en-US" sz="1300" dirty="0"/>
          </a:p>
        </p:txBody>
      </p:sp>
      <p:sp>
        <p:nvSpPr>
          <p:cNvPr id="13" name="Text 11"/>
          <p:cNvSpPr txBox="1"/>
          <p:nvPr/>
        </p:nvSpPr>
        <p:spPr>
          <a:xfrm>
            <a:off x="470001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Traceability, visible gaps, clear states, and required rationale</a:t>
            </a:r>
            <a:endParaRPr lang="en-US" sz="1050" dirty="0"/>
          </a:p>
        </p:txBody>
      </p:sp>
      <p:sp>
        <p:nvSpPr>
          <p:cNvPr id="14" name="Shape 12"/>
          <p:cNvSpPr/>
          <p:nvPr/>
        </p:nvSpPr>
        <p:spPr>
          <a:xfrm>
            <a:off x="824788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15" name="Text 13"/>
          <p:cNvSpPr txBox="1"/>
          <p:nvPr/>
        </p:nvSpPr>
        <p:spPr>
          <a:xfrm>
            <a:off x="844905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Non-goals</a:t>
            </a:r>
            <a:endParaRPr lang="en-US" sz="1300" dirty="0"/>
          </a:p>
        </p:txBody>
      </p:sp>
      <p:sp>
        <p:nvSpPr>
          <p:cNvPr id="16" name="Text 14"/>
          <p:cNvSpPr txBox="1"/>
          <p:nvPr/>
        </p:nvSpPr>
        <p:spPr>
          <a:xfrm>
            <a:off x="844905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No real data, autonomous decision, legal conclusion, or external filing</a:t>
            </a:r>
            <a:endParaRPr lang="en-US" sz="1050" dirty="0"/>
          </a:p>
        </p:txBody>
      </p:sp>
      <p:sp>
        <p:nvSpPr>
          <p:cNvPr id="17" name="Text 15"/>
          <p:cNvSpPr txBox="1"/>
          <p:nvPr/>
        </p:nvSpPr>
        <p:spPr>
          <a:xfrm>
            <a:off x="786384" y="4261104"/>
            <a:ext cx="10469880" cy="201168"/>
          </a:xfrm>
          <a:prstGeom prst="rect">
            <a:avLst/>
          </a:prstGeom>
          <a:noFill/>
          <a:ln/>
        </p:spPr>
        <p:txBody>
          <a:bodyPr wrap="square" lIns="0" tIns="0" rIns="0" bIns="0" rtlCol="0" anchor="ctr">
            <a:normAutofit/>
          </a:bodyPr>
          <a:lstStyle/>
          <a:p>
            <a:pPr algn="ctr" indent="0" marL="0">
              <a:buNone/>
            </a:pPr>
            <a:r>
              <a:rPr lang="en-US" sz="1300" b="1" dirty="0">
                <a:solidFill>
                  <a:srgbClr val="0B1F3A"/>
                </a:solidFill>
                <a:latin typeface="Arial" pitchFamily="34" charset="0"/>
                <a:ea typeface="Arial" pitchFamily="34" charset="-122"/>
                <a:cs typeface="Arial" pitchFamily="34" charset="-120"/>
              </a:rPr>
              <a:t>Team: Rahul Chainani · Pankaj Bharsakale · Lakshmi Dudgikar · Rahul Sharma · Laxman Singh · Soumya · Sweta Singh</a:t>
            </a:r>
            <a:endParaRPr lang="en-US" sz="1300" dirty="0"/>
          </a:p>
        </p:txBody>
      </p:sp>
      <p:sp>
        <p:nvSpPr>
          <p:cNvPr id="18" name="Text 16"/>
          <p:cNvSpPr txBox="1"/>
          <p:nvPr/>
        </p:nvSpPr>
        <p:spPr>
          <a:xfrm>
            <a:off x="786384" y="4690872"/>
            <a:ext cx="10469880" cy="182880"/>
          </a:xfrm>
          <a:prstGeom prst="rect">
            <a:avLst/>
          </a:prstGeom>
          <a:noFill/>
          <a:ln/>
        </p:spPr>
        <p:txBody>
          <a:bodyPr wrap="square" lIns="0" tIns="0" rIns="0" bIns="0" rtlCol="0" anchor="ctr">
            <a:normAutofit/>
          </a:bodyPr>
          <a:lstStyle/>
          <a:p>
            <a:pPr algn="ctr" indent="0" marL="0">
              <a:buNone/>
            </a:pPr>
            <a:r>
              <a:rPr lang="en-US" sz="1200" i="1" dirty="0">
                <a:solidFill>
                  <a:srgbClr val="63738D"/>
                </a:solidFill>
                <a:latin typeface="Arial" pitchFamily="34" charset="0"/>
                <a:ea typeface="Arial" pitchFamily="34" charset="-122"/>
                <a:cs typeface="Arial" pitchFamily="34" charset="-120"/>
              </a:rPr>
              <a:t>Soumya presents the session; Laxman is the backup presenter.</a:t>
            </a:r>
            <a:endParaRPr lang="en-US" sz="12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THE PRODUCT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From a stored alert to an accountable human action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3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12064"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7" name="Shape 5"/>
          <p:cNvSpPr/>
          <p:nvPr/>
        </p:nvSpPr>
        <p:spPr>
          <a:xfrm>
            <a:off x="676656" y="2148840"/>
            <a:ext cx="402336" cy="402336"/>
          </a:xfrm>
          <a:prstGeom prst="ellipse">
            <a:avLst/>
          </a:prstGeom>
          <a:solidFill>
            <a:srgbClr val="2E65C5"/>
          </a:solidFill>
          <a:ln w="12700">
            <a:solidFill>
              <a:srgbClr val="FFFFFF">
                <a:alpha val="0"/>
              </a:srgbClr>
            </a:solidFill>
            <a:prstDash val="solid"/>
          </a:ln>
        </p:spPr>
      </p:sp>
      <p:sp>
        <p:nvSpPr>
          <p:cNvPr id="8" name="Text 6"/>
          <p:cNvSpPr txBox="1"/>
          <p:nvPr/>
        </p:nvSpPr>
        <p:spPr>
          <a:xfrm>
            <a:off x="676656"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9" name="Text 7"/>
          <p:cNvSpPr txBox="1"/>
          <p:nvPr/>
        </p:nvSpPr>
        <p:spPr>
          <a:xfrm>
            <a:off x="713232"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Queue</a:t>
            </a:r>
            <a:endParaRPr lang="en-US" sz="1600" dirty="0"/>
          </a:p>
        </p:txBody>
      </p:sp>
      <p:sp>
        <p:nvSpPr>
          <p:cNvPr id="10" name="Text 8"/>
          <p:cNvSpPr txBox="1"/>
          <p:nvPr/>
        </p:nvSpPr>
        <p:spPr>
          <a:xfrm>
            <a:off x="713232"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Find and filter the fictional alert</a:t>
            </a:r>
            <a:endParaRPr lang="en-US" sz="1060" dirty="0"/>
          </a:p>
        </p:txBody>
      </p:sp>
      <p:sp>
        <p:nvSpPr>
          <p:cNvPr id="11" name="Shape 9"/>
          <p:cNvSpPr/>
          <p:nvPr/>
        </p:nvSpPr>
        <p:spPr>
          <a:xfrm>
            <a:off x="2523744" y="2706624"/>
            <a:ext cx="246888" cy="0"/>
          </a:xfrm>
          <a:prstGeom prst="line">
            <a:avLst/>
          </a:prstGeom>
          <a:noFill/>
          <a:ln w="25400">
            <a:solidFill>
              <a:srgbClr val="00A79D"/>
            </a:solidFill>
            <a:prstDash val="solid"/>
            <a:tailEnd type="triangle"/>
          </a:ln>
        </p:spPr>
      </p:sp>
      <p:sp>
        <p:nvSpPr>
          <p:cNvPr id="12" name="Shape 10"/>
          <p:cNvSpPr/>
          <p:nvPr/>
        </p:nvSpPr>
        <p:spPr>
          <a:xfrm>
            <a:off x="2852928"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13" name="Shape 11"/>
          <p:cNvSpPr/>
          <p:nvPr/>
        </p:nvSpPr>
        <p:spPr>
          <a:xfrm>
            <a:off x="3017520" y="2148840"/>
            <a:ext cx="402336" cy="402336"/>
          </a:xfrm>
          <a:prstGeom prst="ellipse">
            <a:avLst/>
          </a:prstGeom>
          <a:solidFill>
            <a:srgbClr val="2E65C5"/>
          </a:solidFill>
          <a:ln w="12700">
            <a:solidFill>
              <a:srgbClr val="FFFFFF">
                <a:alpha val="0"/>
              </a:srgbClr>
            </a:solidFill>
            <a:prstDash val="solid"/>
          </a:ln>
        </p:spPr>
      </p:sp>
      <p:sp>
        <p:nvSpPr>
          <p:cNvPr id="14" name="Text 12"/>
          <p:cNvSpPr txBox="1"/>
          <p:nvPr/>
        </p:nvSpPr>
        <p:spPr>
          <a:xfrm>
            <a:off x="3017520"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15" name="Text 13"/>
          <p:cNvSpPr txBox="1"/>
          <p:nvPr/>
        </p:nvSpPr>
        <p:spPr>
          <a:xfrm>
            <a:off x="3054096"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Workspace</a:t>
            </a:r>
            <a:endParaRPr lang="en-US" sz="1600" dirty="0"/>
          </a:p>
        </p:txBody>
      </p:sp>
      <p:sp>
        <p:nvSpPr>
          <p:cNvPr id="16" name="Text 14"/>
          <p:cNvSpPr txBox="1"/>
          <p:nvPr/>
        </p:nvSpPr>
        <p:spPr>
          <a:xfrm>
            <a:off x="3054096"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Build or replay the review</a:t>
            </a:r>
            <a:endParaRPr lang="en-US" sz="1060" dirty="0"/>
          </a:p>
        </p:txBody>
      </p:sp>
      <p:sp>
        <p:nvSpPr>
          <p:cNvPr id="17" name="Shape 15"/>
          <p:cNvSpPr/>
          <p:nvPr/>
        </p:nvSpPr>
        <p:spPr>
          <a:xfrm>
            <a:off x="4864608" y="2706624"/>
            <a:ext cx="246888" cy="0"/>
          </a:xfrm>
          <a:prstGeom prst="line">
            <a:avLst/>
          </a:prstGeom>
          <a:noFill/>
          <a:ln w="25400">
            <a:solidFill>
              <a:srgbClr val="00A79D"/>
            </a:solidFill>
            <a:prstDash val="solid"/>
            <a:tailEnd type="triangle"/>
          </a:ln>
        </p:spPr>
      </p:sp>
      <p:sp>
        <p:nvSpPr>
          <p:cNvPr id="18" name="Shape 16"/>
          <p:cNvSpPr/>
          <p:nvPr/>
        </p:nvSpPr>
        <p:spPr>
          <a:xfrm>
            <a:off x="5193792" y="1920240"/>
            <a:ext cx="1993392" cy="1572768"/>
          </a:xfrm>
          <a:prstGeom prst="roundRect">
            <a:avLst>
              <a:gd name="adj" fmla="val 6977"/>
            </a:avLst>
          </a:prstGeom>
          <a:solidFill>
            <a:srgbClr val="E6F8F6"/>
          </a:solidFill>
          <a:ln w="12700">
            <a:solidFill>
              <a:srgbClr val="E6F8F6">
                <a:alpha val="0"/>
              </a:srgbClr>
            </a:solidFill>
            <a:prstDash val="solid"/>
          </a:ln>
        </p:spPr>
      </p:sp>
      <p:sp>
        <p:nvSpPr>
          <p:cNvPr id="19" name="Shape 17"/>
          <p:cNvSpPr/>
          <p:nvPr/>
        </p:nvSpPr>
        <p:spPr>
          <a:xfrm>
            <a:off x="5358384" y="2148840"/>
            <a:ext cx="402336" cy="402336"/>
          </a:xfrm>
          <a:prstGeom prst="ellipse">
            <a:avLst/>
          </a:prstGeom>
          <a:solidFill>
            <a:srgbClr val="00A79D"/>
          </a:solidFill>
          <a:ln w="12700">
            <a:solidFill>
              <a:srgbClr val="FFFFFF">
                <a:alpha val="0"/>
              </a:srgbClr>
            </a:solidFill>
            <a:prstDash val="solid"/>
          </a:ln>
        </p:spPr>
      </p:sp>
      <p:sp>
        <p:nvSpPr>
          <p:cNvPr id="20" name="Text 18"/>
          <p:cNvSpPr txBox="1"/>
          <p:nvPr/>
        </p:nvSpPr>
        <p:spPr>
          <a:xfrm>
            <a:off x="5358384"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21" name="Text 19"/>
          <p:cNvSpPr txBox="1"/>
          <p:nvPr/>
        </p:nvSpPr>
        <p:spPr>
          <a:xfrm>
            <a:off x="5394960"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Evidence</a:t>
            </a:r>
            <a:endParaRPr lang="en-US" sz="1600" dirty="0"/>
          </a:p>
        </p:txBody>
      </p:sp>
      <p:sp>
        <p:nvSpPr>
          <p:cNvPr id="22" name="Text 20"/>
          <p:cNvSpPr txBox="1"/>
          <p:nvPr/>
        </p:nvSpPr>
        <p:spPr>
          <a:xfrm>
            <a:off x="5394960"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Read exact records and chunks</a:t>
            </a:r>
            <a:endParaRPr lang="en-US" sz="1060" dirty="0"/>
          </a:p>
        </p:txBody>
      </p:sp>
      <p:sp>
        <p:nvSpPr>
          <p:cNvPr id="23" name="Shape 21"/>
          <p:cNvSpPr/>
          <p:nvPr/>
        </p:nvSpPr>
        <p:spPr>
          <a:xfrm>
            <a:off x="7205472" y="2706624"/>
            <a:ext cx="246888" cy="0"/>
          </a:xfrm>
          <a:prstGeom prst="line">
            <a:avLst/>
          </a:prstGeom>
          <a:noFill/>
          <a:ln w="25400">
            <a:solidFill>
              <a:srgbClr val="00A79D"/>
            </a:solidFill>
            <a:prstDash val="solid"/>
            <a:tailEnd type="triangle"/>
          </a:ln>
        </p:spPr>
      </p:sp>
      <p:sp>
        <p:nvSpPr>
          <p:cNvPr id="24" name="Shape 22"/>
          <p:cNvSpPr/>
          <p:nvPr/>
        </p:nvSpPr>
        <p:spPr>
          <a:xfrm>
            <a:off x="7534656"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25" name="Shape 23"/>
          <p:cNvSpPr/>
          <p:nvPr/>
        </p:nvSpPr>
        <p:spPr>
          <a:xfrm>
            <a:off x="7699248" y="2148840"/>
            <a:ext cx="402336" cy="402336"/>
          </a:xfrm>
          <a:prstGeom prst="ellipse">
            <a:avLst/>
          </a:prstGeom>
          <a:solidFill>
            <a:srgbClr val="2E65C5"/>
          </a:solidFill>
          <a:ln w="12700">
            <a:solidFill>
              <a:srgbClr val="FFFFFF">
                <a:alpha val="0"/>
              </a:srgbClr>
            </a:solidFill>
            <a:prstDash val="solid"/>
          </a:ln>
        </p:spPr>
      </p:sp>
      <p:sp>
        <p:nvSpPr>
          <p:cNvPr id="26" name="Text 24"/>
          <p:cNvSpPr txBox="1"/>
          <p:nvPr/>
        </p:nvSpPr>
        <p:spPr>
          <a:xfrm>
            <a:off x="7699248"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27" name="Text 25"/>
          <p:cNvSpPr txBox="1"/>
          <p:nvPr/>
        </p:nvSpPr>
        <p:spPr>
          <a:xfrm>
            <a:off x="7735824"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Decision</a:t>
            </a:r>
            <a:endParaRPr lang="en-US" sz="1600" dirty="0"/>
          </a:p>
        </p:txBody>
      </p:sp>
      <p:sp>
        <p:nvSpPr>
          <p:cNvPr id="28" name="Text 26"/>
          <p:cNvSpPr txBox="1"/>
          <p:nvPr/>
        </p:nvSpPr>
        <p:spPr>
          <a:xfrm>
            <a:off x="7735824"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Record a required rationale</a:t>
            </a:r>
            <a:endParaRPr lang="en-US" sz="1060" dirty="0"/>
          </a:p>
        </p:txBody>
      </p:sp>
      <p:sp>
        <p:nvSpPr>
          <p:cNvPr id="29" name="Shape 27"/>
          <p:cNvSpPr/>
          <p:nvPr/>
        </p:nvSpPr>
        <p:spPr>
          <a:xfrm>
            <a:off x="9546336" y="2706624"/>
            <a:ext cx="246888" cy="0"/>
          </a:xfrm>
          <a:prstGeom prst="line">
            <a:avLst/>
          </a:prstGeom>
          <a:noFill/>
          <a:ln w="25400">
            <a:solidFill>
              <a:srgbClr val="00A79D"/>
            </a:solidFill>
            <a:prstDash val="solid"/>
            <a:tailEnd type="triangle"/>
          </a:ln>
        </p:spPr>
      </p:sp>
      <p:sp>
        <p:nvSpPr>
          <p:cNvPr id="30" name="Shape 28"/>
          <p:cNvSpPr/>
          <p:nvPr/>
        </p:nvSpPr>
        <p:spPr>
          <a:xfrm>
            <a:off x="9875520"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31" name="Shape 29"/>
          <p:cNvSpPr/>
          <p:nvPr/>
        </p:nvSpPr>
        <p:spPr>
          <a:xfrm>
            <a:off x="10040112" y="2148840"/>
            <a:ext cx="402336" cy="402336"/>
          </a:xfrm>
          <a:prstGeom prst="ellipse">
            <a:avLst/>
          </a:prstGeom>
          <a:solidFill>
            <a:srgbClr val="2E65C5"/>
          </a:solidFill>
          <a:ln w="12700">
            <a:solidFill>
              <a:srgbClr val="FFFFFF">
                <a:alpha val="0"/>
              </a:srgbClr>
            </a:solidFill>
            <a:prstDash val="solid"/>
          </a:ln>
        </p:spPr>
      </p:sp>
      <p:sp>
        <p:nvSpPr>
          <p:cNvPr id="32" name="Text 30"/>
          <p:cNvSpPr txBox="1"/>
          <p:nvPr/>
        </p:nvSpPr>
        <p:spPr>
          <a:xfrm>
            <a:off x="10040112"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5</a:t>
            </a:r>
            <a:endParaRPr lang="en-US" sz="800" dirty="0"/>
          </a:p>
        </p:txBody>
      </p:sp>
      <p:sp>
        <p:nvSpPr>
          <p:cNvPr id="33" name="Text 31"/>
          <p:cNvSpPr txBox="1"/>
          <p:nvPr/>
        </p:nvSpPr>
        <p:spPr>
          <a:xfrm>
            <a:off x="10076688"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Compliance</a:t>
            </a:r>
            <a:endParaRPr lang="en-US" sz="1600" dirty="0"/>
          </a:p>
        </p:txBody>
      </p:sp>
      <p:sp>
        <p:nvSpPr>
          <p:cNvPr id="34" name="Text 32"/>
          <p:cNvSpPr txBox="1"/>
          <p:nvPr/>
        </p:nvSpPr>
        <p:spPr>
          <a:xfrm>
            <a:off x="10076688"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Perform a second human review</a:t>
            </a:r>
            <a:endParaRPr lang="en-US" sz="1060" dirty="0"/>
          </a:p>
        </p:txBody>
      </p:sp>
      <p:sp>
        <p:nvSpPr>
          <p:cNvPr id="35" name="Text 33"/>
          <p:cNvSpPr txBox="1"/>
          <p:nvPr/>
        </p:nvSpPr>
        <p:spPr>
          <a:xfrm>
            <a:off x="1097280" y="4892040"/>
            <a:ext cx="9966960" cy="274320"/>
          </a:xfrm>
          <a:prstGeom prst="rect">
            <a:avLst/>
          </a:prstGeom>
          <a:noFill/>
          <a:ln/>
        </p:spPr>
        <p:txBody>
          <a:bodyPr wrap="square" lIns="0" tIns="0" rIns="0" bIns="0" rtlCol="0" anchor="ctr">
            <a:normAutofit/>
          </a:bodyPr>
          <a:lstStyle/>
          <a:p>
            <a:pPr algn="ctr" indent="0" marL="0">
              <a:buNone/>
            </a:pPr>
            <a:r>
              <a:rPr lang="en-US" sz="1700" b="1" dirty="0">
                <a:solidFill>
                  <a:srgbClr val="0B1F3A"/>
                </a:solidFill>
                <a:latin typeface="Arial" pitchFamily="34" charset="0"/>
                <a:ea typeface="Arial" pitchFamily="34" charset="-122"/>
                <a:cs typeface="Arial" pitchFamily="34" charset="-120"/>
              </a:rPr>
              <a:t>The application supports investigation. It never closes, escalates, refers, or files an action automatically.</a:t>
            </a:r>
            <a:endParaRPr lang="en-US" sz="1700" dirty="0"/>
          </a:p>
        </p:txBody>
      </p:sp>
    </p:spTree>
  </p:cSld>
  <p:clrMapOvr>
    <a:masterClrMapping/>
  </p:clrMapOvr>
  <p:transition spd="med" advClick="1">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RESPONSIBLE AI</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Evidence confidence exposes support gaps—it does not predict wrongdoing</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4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03504" y="1243584"/>
            <a:ext cx="6428232" cy="3648456"/>
          </a:xfrm>
          <a:prstGeom prst="roundRect">
            <a:avLst>
              <a:gd name="adj" fmla="val 3008"/>
            </a:avLst>
          </a:prstGeom>
          <a:solidFill>
            <a:srgbClr val="D9E7FC"/>
          </a:solidFill>
          <a:ln w="12700">
            <a:solidFill>
              <a:srgbClr val="D9E7FC">
                <a:alpha val="0"/>
              </a:srgbClr>
            </a:solidFill>
            <a:prstDash val="solid"/>
          </a:ln>
        </p:spPr>
      </p:sp>
      <p:pic>
        <p:nvPicPr>
          <p:cNvPr id="7" name="Image 0" descr="C:\D\IIT Mumbai\Capstone Blueprint\assets\walkthrough_screens\2026_workspace_confidence.png">    </p:cNvPr>
          <p:cNvPicPr>
            <a:picLocks noChangeAspect="1"/>
          </p:cNvPicPr>
          <p:nvPr/>
        </p:nvPicPr>
        <p:blipFill>
          <a:blip r:embed="rId1"/>
          <a:stretch>
            <a:fillRect/>
          </a:stretch>
        </p:blipFill>
        <p:spPr>
          <a:xfrm>
            <a:off x="640080" y="1280160"/>
            <a:ext cx="6355080" cy="3575304"/>
          </a:xfrm>
          <a:prstGeom prst="rect">
            <a:avLst/>
          </a:prstGeom>
        </p:spPr>
      </p:pic>
      <p:sp>
        <p:nvSpPr>
          <p:cNvPr id="8" name="Shape 5"/>
          <p:cNvSpPr/>
          <p:nvPr/>
        </p:nvSpPr>
        <p:spPr>
          <a:xfrm>
            <a:off x="7388352" y="1554480"/>
            <a:ext cx="3749040" cy="585216"/>
          </a:xfrm>
          <a:prstGeom prst="roundRect">
            <a:avLst>
              <a:gd name="adj" fmla="val 18750"/>
            </a:avLst>
          </a:prstGeom>
          <a:solidFill>
            <a:srgbClr val="173C78"/>
          </a:solidFill>
          <a:ln w="12700">
            <a:solidFill>
              <a:srgbClr val="173C78">
                <a:alpha val="0"/>
              </a:srgbClr>
            </a:solidFill>
            <a:prstDash val="solid"/>
          </a:ln>
        </p:spPr>
      </p:sp>
      <p:sp>
        <p:nvSpPr>
          <p:cNvPr id="9" name="Text 6"/>
          <p:cNvSpPr txBox="1"/>
          <p:nvPr/>
        </p:nvSpPr>
        <p:spPr>
          <a:xfrm>
            <a:off x="7589520" y="1673352"/>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Coverage</a:t>
            </a:r>
            <a:endParaRPr lang="en-US" sz="1200" dirty="0"/>
          </a:p>
        </p:txBody>
      </p:sp>
      <p:sp>
        <p:nvSpPr>
          <p:cNvPr id="10" name="Text 7"/>
          <p:cNvSpPr txBox="1"/>
          <p:nvPr/>
        </p:nvSpPr>
        <p:spPr>
          <a:xfrm>
            <a:off x="8613648" y="1618488"/>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Supplied records and guidance that support the draft</a:t>
            </a:r>
            <a:endParaRPr lang="en-US" sz="1050" dirty="0"/>
          </a:p>
        </p:txBody>
      </p:sp>
      <p:sp>
        <p:nvSpPr>
          <p:cNvPr id="11" name="Shape 8"/>
          <p:cNvSpPr/>
          <p:nvPr/>
        </p:nvSpPr>
        <p:spPr>
          <a:xfrm>
            <a:off x="7388352" y="2395728"/>
            <a:ext cx="3749040" cy="585216"/>
          </a:xfrm>
          <a:prstGeom prst="roundRect">
            <a:avLst>
              <a:gd name="adj" fmla="val 18750"/>
            </a:avLst>
          </a:prstGeom>
          <a:solidFill>
            <a:srgbClr val="173C78"/>
          </a:solidFill>
          <a:ln w="12700">
            <a:solidFill>
              <a:srgbClr val="173C78">
                <a:alpha val="0"/>
              </a:srgbClr>
            </a:solidFill>
            <a:prstDash val="solid"/>
          </a:ln>
        </p:spPr>
      </p:sp>
      <p:sp>
        <p:nvSpPr>
          <p:cNvPr id="12" name="Text 9"/>
          <p:cNvSpPr txBox="1"/>
          <p:nvPr/>
        </p:nvSpPr>
        <p:spPr>
          <a:xfrm>
            <a:off x="7589520" y="2514600"/>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Limitations</a:t>
            </a:r>
            <a:endParaRPr lang="en-US" sz="1200" dirty="0"/>
          </a:p>
        </p:txBody>
      </p:sp>
      <p:sp>
        <p:nvSpPr>
          <p:cNvPr id="13" name="Text 10"/>
          <p:cNvSpPr txBox="1"/>
          <p:nvPr/>
        </p:nvSpPr>
        <p:spPr>
          <a:xfrm>
            <a:off x="8613648" y="2459736"/>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Known missing or unresolved evidence</a:t>
            </a:r>
            <a:endParaRPr lang="en-US" sz="1050" dirty="0"/>
          </a:p>
        </p:txBody>
      </p:sp>
      <p:sp>
        <p:nvSpPr>
          <p:cNvPr id="14" name="Shape 11"/>
          <p:cNvSpPr/>
          <p:nvPr/>
        </p:nvSpPr>
        <p:spPr>
          <a:xfrm>
            <a:off x="7388352" y="3236976"/>
            <a:ext cx="3749040" cy="585216"/>
          </a:xfrm>
          <a:prstGeom prst="roundRect">
            <a:avLst>
              <a:gd name="adj" fmla="val 18750"/>
            </a:avLst>
          </a:prstGeom>
          <a:solidFill>
            <a:srgbClr val="173C78"/>
          </a:solidFill>
          <a:ln w="12700">
            <a:solidFill>
              <a:srgbClr val="173C78">
                <a:alpha val="0"/>
              </a:srgbClr>
            </a:solidFill>
            <a:prstDash val="solid"/>
          </a:ln>
        </p:spPr>
      </p:sp>
      <p:sp>
        <p:nvSpPr>
          <p:cNvPr id="15" name="Text 12"/>
          <p:cNvSpPr txBox="1"/>
          <p:nvPr/>
        </p:nvSpPr>
        <p:spPr>
          <a:xfrm>
            <a:off x="7589520" y="3355848"/>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Boundary</a:t>
            </a:r>
            <a:endParaRPr lang="en-US" sz="1200" dirty="0"/>
          </a:p>
        </p:txBody>
      </p:sp>
      <p:sp>
        <p:nvSpPr>
          <p:cNvPr id="16" name="Text 13"/>
          <p:cNvSpPr txBox="1"/>
          <p:nvPr/>
        </p:nvSpPr>
        <p:spPr>
          <a:xfrm>
            <a:off x="8613648" y="3300984"/>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Not a crime, legality, or outcome probability</a:t>
            </a:r>
            <a:endParaRPr lang="en-US" sz="105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OKF, CHUNKS, AND RAG</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The coding logic keeps the source trail inspectable</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5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85216" y="1225296"/>
            <a:ext cx="6364224" cy="3611880"/>
          </a:xfrm>
          <a:prstGeom prst="roundRect">
            <a:avLst>
              <a:gd name="adj" fmla="val 3038"/>
            </a:avLst>
          </a:prstGeom>
          <a:solidFill>
            <a:srgbClr val="D9E7FC"/>
          </a:solidFill>
          <a:ln w="12700">
            <a:solidFill>
              <a:srgbClr val="D9E7FC">
                <a:alpha val="0"/>
              </a:srgbClr>
            </a:solidFill>
            <a:prstDash val="solid"/>
          </a:ln>
        </p:spPr>
      </p:sp>
      <p:pic>
        <p:nvPicPr>
          <p:cNvPr id="7" name="Image 0" descr="C:\D\IIT Mumbai\Capstone Blueprint\assets\walkthrough_screens\2026_evidence_source_chunks_detail.png">    </p:cNvPr>
          <p:cNvPicPr>
            <a:picLocks noChangeAspect="1"/>
          </p:cNvPicPr>
          <p:nvPr/>
        </p:nvPicPr>
        <p:blipFill>
          <a:blip r:embed="rId1"/>
          <a:stretch>
            <a:fillRect/>
          </a:stretch>
        </p:blipFill>
        <p:spPr>
          <a:xfrm>
            <a:off x="621792" y="1261872"/>
            <a:ext cx="6291072" cy="3538728"/>
          </a:xfrm>
          <a:prstGeom prst="rect">
            <a:avLst/>
          </a:prstGeom>
        </p:spPr>
      </p:pic>
      <p:sp>
        <p:nvSpPr>
          <p:cNvPr id="8" name="Shape 5"/>
          <p:cNvSpPr/>
          <p:nvPr/>
        </p:nvSpPr>
        <p:spPr>
          <a:xfrm>
            <a:off x="7360920" y="1325880"/>
            <a:ext cx="347472" cy="347472"/>
          </a:xfrm>
          <a:prstGeom prst="ellipse">
            <a:avLst/>
          </a:prstGeom>
          <a:solidFill>
            <a:srgbClr val="2E65C5"/>
          </a:solidFill>
          <a:ln w="12700">
            <a:solidFill>
              <a:srgbClr val="2E65C5">
                <a:alpha val="0"/>
              </a:srgbClr>
            </a:solidFill>
            <a:prstDash val="solid"/>
          </a:ln>
        </p:spPr>
      </p:sp>
      <p:sp>
        <p:nvSpPr>
          <p:cNvPr id="9" name="Text 6"/>
          <p:cNvSpPr txBox="1"/>
          <p:nvPr/>
        </p:nvSpPr>
        <p:spPr>
          <a:xfrm>
            <a:off x="7360920" y="1408176"/>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10" name="Text 7"/>
          <p:cNvSpPr txBox="1"/>
          <p:nvPr/>
        </p:nvSpPr>
        <p:spPr>
          <a:xfrm>
            <a:off x="7872984" y="1325880"/>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OKF source</a:t>
            </a:r>
            <a:endParaRPr lang="en-US" sz="1300" dirty="0"/>
          </a:p>
        </p:txBody>
      </p:sp>
      <p:sp>
        <p:nvSpPr>
          <p:cNvPr id="11" name="Text 8"/>
          <p:cNvSpPr txBox="1"/>
          <p:nvPr/>
        </p:nvSpPr>
        <p:spPr>
          <a:xfrm>
            <a:off x="7872984" y="1554480"/>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ID, scenario, title, criteria, body</a:t>
            </a:r>
            <a:endParaRPr lang="en-US" sz="1050" dirty="0"/>
          </a:p>
        </p:txBody>
      </p:sp>
      <p:sp>
        <p:nvSpPr>
          <p:cNvPr id="12" name="Shape 9"/>
          <p:cNvSpPr/>
          <p:nvPr/>
        </p:nvSpPr>
        <p:spPr>
          <a:xfrm>
            <a:off x="7360920" y="2093976"/>
            <a:ext cx="347472" cy="347472"/>
          </a:xfrm>
          <a:prstGeom prst="ellipse">
            <a:avLst/>
          </a:prstGeom>
          <a:solidFill>
            <a:srgbClr val="2E65C5"/>
          </a:solidFill>
          <a:ln w="12700">
            <a:solidFill>
              <a:srgbClr val="2E65C5">
                <a:alpha val="0"/>
              </a:srgbClr>
            </a:solidFill>
            <a:prstDash val="solid"/>
          </a:ln>
        </p:spPr>
      </p:sp>
      <p:sp>
        <p:nvSpPr>
          <p:cNvPr id="13" name="Text 10"/>
          <p:cNvSpPr txBox="1"/>
          <p:nvPr/>
        </p:nvSpPr>
        <p:spPr>
          <a:xfrm>
            <a:off x="7360920" y="2176272"/>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4" name="Text 11"/>
          <p:cNvSpPr txBox="1"/>
          <p:nvPr/>
        </p:nvSpPr>
        <p:spPr>
          <a:xfrm>
            <a:off x="7872984" y="2093976"/>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Chunk builder</a:t>
            </a:r>
            <a:endParaRPr lang="en-US" sz="1300" dirty="0"/>
          </a:p>
        </p:txBody>
      </p:sp>
      <p:sp>
        <p:nvSpPr>
          <p:cNvPr id="15" name="Text 12"/>
          <p:cNvSpPr txBox="1"/>
          <p:nvPr/>
        </p:nvSpPr>
        <p:spPr>
          <a:xfrm>
            <a:off x="7872984" y="2322576"/>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C0 metadata + two-sentence body chunks</a:t>
            </a:r>
            <a:endParaRPr lang="en-US" sz="1050" dirty="0"/>
          </a:p>
        </p:txBody>
      </p:sp>
      <p:sp>
        <p:nvSpPr>
          <p:cNvPr id="16" name="Shape 13"/>
          <p:cNvSpPr/>
          <p:nvPr/>
        </p:nvSpPr>
        <p:spPr>
          <a:xfrm>
            <a:off x="7360920" y="2862072"/>
            <a:ext cx="347472" cy="347472"/>
          </a:xfrm>
          <a:prstGeom prst="ellipse">
            <a:avLst/>
          </a:prstGeom>
          <a:solidFill>
            <a:srgbClr val="00A79D"/>
          </a:solidFill>
          <a:ln w="12700">
            <a:solidFill>
              <a:srgbClr val="00A79D">
                <a:alpha val="0"/>
              </a:srgbClr>
            </a:solidFill>
            <a:prstDash val="solid"/>
          </a:ln>
        </p:spPr>
      </p:sp>
      <p:sp>
        <p:nvSpPr>
          <p:cNvPr id="17" name="Text 14"/>
          <p:cNvSpPr txBox="1"/>
          <p:nvPr/>
        </p:nvSpPr>
        <p:spPr>
          <a:xfrm>
            <a:off x="7360920" y="2944368"/>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18" name="Text 15"/>
          <p:cNvSpPr txBox="1"/>
          <p:nvPr/>
        </p:nvSpPr>
        <p:spPr>
          <a:xfrm>
            <a:off x="7872984" y="2862072"/>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FTS5 + BM25</a:t>
            </a:r>
            <a:endParaRPr lang="en-US" sz="1300" dirty="0"/>
          </a:p>
        </p:txBody>
      </p:sp>
      <p:sp>
        <p:nvSpPr>
          <p:cNvPr id="19" name="Text 16"/>
          <p:cNvSpPr txBox="1"/>
          <p:nvPr/>
        </p:nvSpPr>
        <p:spPr>
          <a:xfrm>
            <a:off x="7872984" y="3090672"/>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Local keyword match and rank</a:t>
            </a:r>
            <a:endParaRPr lang="en-US" sz="1050" dirty="0"/>
          </a:p>
        </p:txBody>
      </p:sp>
      <p:sp>
        <p:nvSpPr>
          <p:cNvPr id="20" name="Shape 17"/>
          <p:cNvSpPr/>
          <p:nvPr/>
        </p:nvSpPr>
        <p:spPr>
          <a:xfrm>
            <a:off x="7360920" y="3630168"/>
            <a:ext cx="347472" cy="347472"/>
          </a:xfrm>
          <a:prstGeom prst="ellipse">
            <a:avLst/>
          </a:prstGeom>
          <a:solidFill>
            <a:srgbClr val="2E65C5"/>
          </a:solidFill>
          <a:ln w="12700">
            <a:solidFill>
              <a:srgbClr val="2E65C5">
                <a:alpha val="0"/>
              </a:srgbClr>
            </a:solidFill>
            <a:prstDash val="solid"/>
          </a:ln>
        </p:spPr>
      </p:sp>
      <p:sp>
        <p:nvSpPr>
          <p:cNvPr id="21" name="Text 18"/>
          <p:cNvSpPr txBox="1"/>
          <p:nvPr/>
        </p:nvSpPr>
        <p:spPr>
          <a:xfrm>
            <a:off x="7360920" y="3712464"/>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22" name="Text 19"/>
          <p:cNvSpPr txBox="1"/>
          <p:nvPr/>
        </p:nvSpPr>
        <p:spPr>
          <a:xfrm>
            <a:off x="7872984" y="3630168"/>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RAG context</a:t>
            </a:r>
            <a:endParaRPr lang="en-US" sz="1300" dirty="0"/>
          </a:p>
        </p:txBody>
      </p:sp>
      <p:sp>
        <p:nvSpPr>
          <p:cNvPr id="23" name="Text 20"/>
          <p:cNvSpPr txBox="1"/>
          <p:nvPr/>
        </p:nvSpPr>
        <p:spPr>
          <a:xfrm>
            <a:off x="7872984" y="3858768"/>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Retrieved IDs produce a cited, reviewable answer</a:t>
            </a:r>
            <a:endParaRPr lang="en-US" sz="1050" dirty="0"/>
          </a:p>
        </p:txBody>
      </p:sp>
      <p:sp>
        <p:nvSpPr>
          <p:cNvPr id="24" name="Shape 21"/>
          <p:cNvSpPr/>
          <p:nvPr/>
        </p:nvSpPr>
        <p:spPr>
          <a:xfrm>
            <a:off x="749808" y="5257800"/>
            <a:ext cx="10652760" cy="384048"/>
          </a:xfrm>
          <a:prstGeom prst="roundRect">
            <a:avLst>
              <a:gd name="adj" fmla="val 28571"/>
            </a:avLst>
          </a:prstGeom>
          <a:solidFill>
            <a:srgbClr val="E6F8F6"/>
          </a:solidFill>
          <a:ln w="12700">
            <a:solidFill>
              <a:srgbClr val="E6F8F6">
                <a:alpha val="0"/>
              </a:srgbClr>
            </a:solidFill>
            <a:prstDash val="solid"/>
          </a:ln>
        </p:spPr>
      </p:sp>
      <p:sp>
        <p:nvSpPr>
          <p:cNvPr id="25" name="Text 22"/>
          <p:cNvSpPr txBox="1"/>
          <p:nvPr/>
        </p:nvSpPr>
        <p:spPr>
          <a:xfrm>
            <a:off x="914400" y="5376672"/>
            <a:ext cx="10314432" cy="118872"/>
          </a:xfrm>
          <a:prstGeom prst="rect">
            <a:avLst/>
          </a:prstGeom>
          <a:noFill/>
          <a:ln/>
        </p:spPr>
        <p:txBody>
          <a:bodyPr wrap="square" lIns="0" tIns="0" rIns="0" bIns="0" rtlCol="0" anchor="ctr">
            <a:normAutofit/>
          </a:bodyPr>
          <a:lstStyle/>
          <a:p>
            <a:pPr algn="ctr" indent="0" marL="0">
              <a:buNone/>
            </a:pPr>
            <a:r>
              <a:rPr lang="en-US" sz="1150" b="1" dirty="0">
                <a:solidFill>
                  <a:srgbClr val="00A79D"/>
                </a:solidFill>
                <a:latin typeface="Arial" pitchFamily="34" charset="0"/>
                <a:ea typeface="Arial" pitchFamily="34" charset="-122"/>
                <a:cs typeface="Arial" pitchFamily="34" charset="-120"/>
              </a:rPr>
              <a:t>OKF source  →  chunk builder  →  FTS5/BM25  →  retrieved IDs  →  cited response</a:t>
            </a:r>
            <a:endParaRPr lang="en-US" sz="115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ARCHITECTURE: TECHNOLOGY, AI, AND GUARDRAILS</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Six specialist components, one optional model draft, and a human decision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6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384048" y="1828800"/>
            <a:ext cx="2011680" cy="1536192"/>
          </a:xfrm>
          <a:prstGeom prst="roundRect">
            <a:avLst>
              <a:gd name="adj" fmla="val 7143"/>
            </a:avLst>
          </a:prstGeom>
          <a:solidFill>
            <a:srgbClr val="FFFFFF"/>
          </a:solidFill>
          <a:ln w="12700">
            <a:solidFill>
              <a:srgbClr val="FFFFFF">
                <a:alpha val="0"/>
              </a:srgbClr>
            </a:solidFill>
            <a:prstDash val="solid"/>
          </a:ln>
        </p:spPr>
      </p:sp>
      <p:sp>
        <p:nvSpPr>
          <p:cNvPr id="7" name="Shape 5"/>
          <p:cNvSpPr/>
          <p:nvPr/>
        </p:nvSpPr>
        <p:spPr>
          <a:xfrm>
            <a:off x="548640" y="2029968"/>
            <a:ext cx="384048" cy="384048"/>
          </a:xfrm>
          <a:prstGeom prst="ellipse">
            <a:avLst/>
          </a:prstGeom>
          <a:solidFill>
            <a:srgbClr val="2E65C5"/>
          </a:solidFill>
          <a:ln w="12700">
            <a:solidFill>
              <a:srgbClr val="FFFFFF">
                <a:alpha val="0"/>
              </a:srgbClr>
            </a:solidFill>
            <a:prstDash val="solid"/>
          </a:ln>
        </p:spPr>
      </p:sp>
      <p:sp>
        <p:nvSpPr>
          <p:cNvPr id="8" name="Text 6"/>
          <p:cNvSpPr txBox="1"/>
          <p:nvPr/>
        </p:nvSpPr>
        <p:spPr>
          <a:xfrm>
            <a:off x="548640" y="2130552"/>
            <a:ext cx="384048"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9" name="Text 7"/>
          <p:cNvSpPr txBox="1"/>
          <p:nvPr/>
        </p:nvSpPr>
        <p:spPr>
          <a:xfrm>
            <a:off x="548640" y="2633472"/>
            <a:ext cx="1627632" cy="292608"/>
          </a:xfrm>
          <a:prstGeom prst="rect">
            <a:avLst/>
          </a:prstGeom>
          <a:noFill/>
          <a:ln/>
        </p:spPr>
        <p:txBody>
          <a:bodyPr wrap="square" lIns="0" tIns="0" rIns="0" bIns="0" rtlCol="0" anchor="t">
            <a:normAutofit/>
          </a:bodyPr>
          <a:lstStyle/>
          <a:p>
            <a:pPr algn="l" indent="0" marL="0">
              <a:buNone/>
            </a:pPr>
            <a:r>
              <a:rPr lang="en-US" sz="1300" b="1" dirty="0">
                <a:solidFill>
                  <a:srgbClr val="0B1F3A"/>
                </a:solidFill>
                <a:latin typeface="Arial" pitchFamily="34" charset="0"/>
                <a:ea typeface="Arial" pitchFamily="34" charset="-122"/>
                <a:cs typeface="Arial" pitchFamily="34" charset="-120"/>
              </a:rPr>
              <a:t>Fictional data + index</a:t>
            </a:r>
            <a:endParaRPr lang="en-US" sz="1300" dirty="0"/>
          </a:p>
        </p:txBody>
      </p:sp>
      <p:sp>
        <p:nvSpPr>
          <p:cNvPr id="10" name="Text 8"/>
          <p:cNvSpPr txBox="1"/>
          <p:nvPr/>
        </p:nvSpPr>
        <p:spPr>
          <a:xfrm>
            <a:off x="548640" y="3017520"/>
            <a:ext cx="1664208" cy="256032"/>
          </a:xfrm>
          <a:prstGeom prst="rect">
            <a:avLst/>
          </a:prstGeom>
          <a:noFill/>
          <a:ln/>
        </p:spPr>
        <p:txBody>
          <a:bodyPr wrap="square" lIns="0" tIns="0" rIns="0" bIns="0" rtlCol="0" anchor="t">
            <a:normAutofit/>
          </a:bodyPr>
          <a:lstStyle/>
          <a:p>
            <a:pPr algn="l" indent="0" marL="0">
              <a:buNone/>
            </a:pPr>
            <a:r>
              <a:rPr lang="en-US" sz="940" dirty="0">
                <a:solidFill>
                  <a:srgbClr val="63738D"/>
                </a:solidFill>
                <a:latin typeface="Arial" pitchFamily="34" charset="0"/>
                <a:ea typeface="Arial" pitchFamily="34" charset="-122"/>
                <a:cs typeface="Arial" pitchFamily="34" charset="-120"/>
              </a:rPr>
              <a:t>SQLite case rows, OKF guidance, exact chunks, FTS5/BM25</a:t>
            </a:r>
            <a:endParaRPr lang="en-US" sz="940" dirty="0"/>
          </a:p>
        </p:txBody>
      </p:sp>
      <p:sp>
        <p:nvSpPr>
          <p:cNvPr id="11" name="Shape 9"/>
          <p:cNvSpPr/>
          <p:nvPr/>
        </p:nvSpPr>
        <p:spPr>
          <a:xfrm>
            <a:off x="2414016" y="2596896"/>
            <a:ext cx="256032" cy="0"/>
          </a:xfrm>
          <a:prstGeom prst="line">
            <a:avLst/>
          </a:prstGeom>
          <a:noFill/>
          <a:ln w="25400">
            <a:solidFill>
              <a:srgbClr val="00A79D"/>
            </a:solidFill>
            <a:prstDash val="solid"/>
            <a:tailEnd type="triangle"/>
          </a:ln>
        </p:spPr>
      </p:sp>
      <p:sp>
        <p:nvSpPr>
          <p:cNvPr id="12" name="Shape 10"/>
          <p:cNvSpPr/>
          <p:nvPr/>
        </p:nvSpPr>
        <p:spPr>
          <a:xfrm>
            <a:off x="2724912" y="1828800"/>
            <a:ext cx="2011680" cy="1536192"/>
          </a:xfrm>
          <a:prstGeom prst="roundRect">
            <a:avLst>
              <a:gd name="adj" fmla="val 7143"/>
            </a:avLst>
          </a:prstGeom>
          <a:solidFill>
            <a:srgbClr val="FFFFFF"/>
          </a:solidFill>
          <a:ln w="12700">
            <a:solidFill>
              <a:srgbClr val="FFFFFF">
                <a:alpha val="0"/>
              </a:srgbClr>
            </a:solidFill>
            <a:prstDash val="solid"/>
          </a:ln>
        </p:spPr>
      </p:sp>
      <p:sp>
        <p:nvSpPr>
          <p:cNvPr id="13" name="Shape 11"/>
          <p:cNvSpPr/>
          <p:nvPr/>
        </p:nvSpPr>
        <p:spPr>
          <a:xfrm>
            <a:off x="2889504" y="2029968"/>
            <a:ext cx="384048" cy="384048"/>
          </a:xfrm>
          <a:prstGeom prst="ellipse">
            <a:avLst/>
          </a:prstGeom>
          <a:solidFill>
            <a:srgbClr val="2E65C5"/>
          </a:solidFill>
          <a:ln w="12700">
            <a:solidFill>
              <a:srgbClr val="FFFFFF">
                <a:alpha val="0"/>
              </a:srgbClr>
            </a:solidFill>
            <a:prstDash val="solid"/>
          </a:ln>
        </p:spPr>
      </p:sp>
      <p:sp>
        <p:nvSpPr>
          <p:cNvPr id="14" name="Text 12"/>
          <p:cNvSpPr txBox="1"/>
          <p:nvPr/>
        </p:nvSpPr>
        <p:spPr>
          <a:xfrm>
            <a:off x="2889504" y="2130552"/>
            <a:ext cx="384048"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5" name="Text 13"/>
          <p:cNvSpPr txBox="1"/>
          <p:nvPr/>
        </p:nvSpPr>
        <p:spPr>
          <a:xfrm>
            <a:off x="2889504" y="2633472"/>
            <a:ext cx="1627632" cy="292608"/>
          </a:xfrm>
          <a:prstGeom prst="rect">
            <a:avLst/>
          </a:prstGeom>
          <a:noFill/>
          <a:ln/>
        </p:spPr>
        <p:txBody>
          <a:bodyPr wrap="square" lIns="0" tIns="0" rIns="0" bIns="0" rtlCol="0" anchor="t">
            <a:normAutofit/>
          </a:bodyPr>
          <a:lstStyle/>
          <a:p>
            <a:pPr algn="l" indent="0" marL="0">
              <a:buNone/>
            </a:pPr>
            <a:r>
              <a:rPr lang="en-US" sz="1300" b="1" dirty="0">
                <a:solidFill>
                  <a:srgbClr val="0B1F3A"/>
                </a:solidFill>
                <a:latin typeface="Arial" pitchFamily="34" charset="0"/>
                <a:ea typeface="Arial" pitchFamily="34" charset="-122"/>
                <a:cs typeface="Arial" pitchFamily="34" charset="-120"/>
              </a:rPr>
              <a:t>Specialist workflow</a:t>
            </a:r>
            <a:endParaRPr lang="en-US" sz="1300" dirty="0"/>
          </a:p>
        </p:txBody>
      </p:sp>
      <p:sp>
        <p:nvSpPr>
          <p:cNvPr id="16" name="Text 14"/>
          <p:cNvSpPr txBox="1"/>
          <p:nvPr/>
        </p:nvSpPr>
        <p:spPr>
          <a:xfrm>
            <a:off x="2889504" y="3017520"/>
            <a:ext cx="1664208" cy="256032"/>
          </a:xfrm>
          <a:prstGeom prst="rect">
            <a:avLst/>
          </a:prstGeom>
          <a:noFill/>
          <a:ln/>
        </p:spPr>
        <p:txBody>
          <a:bodyPr wrap="square" lIns="0" tIns="0" rIns="0" bIns="0" rtlCol="0" anchor="t">
            <a:normAutofit/>
          </a:bodyPr>
          <a:lstStyle/>
          <a:p>
            <a:pPr algn="l" indent="0" marL="0">
              <a:buNone/>
            </a:pPr>
            <a:r>
              <a:rPr lang="en-US" sz="940" dirty="0">
                <a:solidFill>
                  <a:srgbClr val="63738D"/>
                </a:solidFill>
                <a:latin typeface="Arial" pitchFamily="34" charset="0"/>
                <a:ea typeface="Arial" pitchFamily="34" charset="-122"/>
                <a:cs typeface="Arial" pitchFamily="34" charset="-120"/>
              </a:rPr>
              <a:t>Triage · Customer/KYC · Transactions · Relationships · Evidence</a:t>
            </a:r>
            <a:endParaRPr lang="en-US" sz="940" dirty="0"/>
          </a:p>
        </p:txBody>
      </p:sp>
      <p:sp>
        <p:nvSpPr>
          <p:cNvPr id="17" name="Shape 15"/>
          <p:cNvSpPr/>
          <p:nvPr/>
        </p:nvSpPr>
        <p:spPr>
          <a:xfrm>
            <a:off x="4754880" y="2596896"/>
            <a:ext cx="256032" cy="0"/>
          </a:xfrm>
          <a:prstGeom prst="line">
            <a:avLst/>
          </a:prstGeom>
          <a:noFill/>
          <a:ln w="25400">
            <a:solidFill>
              <a:srgbClr val="00A79D"/>
            </a:solidFill>
            <a:prstDash val="solid"/>
            <a:tailEnd type="triangle"/>
          </a:ln>
        </p:spPr>
      </p:sp>
      <p:sp>
        <p:nvSpPr>
          <p:cNvPr id="18" name="Shape 16"/>
          <p:cNvSpPr/>
          <p:nvPr/>
        </p:nvSpPr>
        <p:spPr>
          <a:xfrm>
            <a:off x="5065776" y="1828800"/>
            <a:ext cx="2011680" cy="1536192"/>
          </a:xfrm>
          <a:prstGeom prst="roundRect">
            <a:avLst>
              <a:gd name="adj" fmla="val 7143"/>
            </a:avLst>
          </a:prstGeom>
          <a:solidFill>
            <a:srgbClr val="FFFFFF"/>
          </a:solidFill>
          <a:ln w="12700">
            <a:solidFill>
              <a:srgbClr val="FFFFFF">
                <a:alpha val="0"/>
              </a:srgbClr>
            </a:solidFill>
            <a:prstDash val="solid"/>
          </a:ln>
        </p:spPr>
      </p:sp>
      <p:sp>
        <p:nvSpPr>
          <p:cNvPr id="19" name="Shape 17"/>
          <p:cNvSpPr/>
          <p:nvPr/>
        </p:nvSpPr>
        <p:spPr>
          <a:xfrm>
            <a:off x="5230368" y="2029968"/>
            <a:ext cx="384048" cy="384048"/>
          </a:xfrm>
          <a:prstGeom prst="ellipse">
            <a:avLst/>
          </a:prstGeom>
          <a:solidFill>
            <a:srgbClr val="2E65C5"/>
          </a:solidFill>
          <a:ln w="12700">
            <a:solidFill>
              <a:srgbClr val="FFFFFF">
                <a:alpha val="0"/>
              </a:srgbClr>
            </a:solidFill>
            <a:prstDash val="solid"/>
          </a:ln>
        </p:spPr>
      </p:sp>
      <p:sp>
        <p:nvSpPr>
          <p:cNvPr id="20" name="Text 18"/>
          <p:cNvSpPr txBox="1"/>
          <p:nvPr/>
        </p:nvSpPr>
        <p:spPr>
          <a:xfrm>
            <a:off x="5230368" y="2130552"/>
            <a:ext cx="384048"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21" name="Text 19"/>
          <p:cNvSpPr txBox="1"/>
          <p:nvPr/>
        </p:nvSpPr>
        <p:spPr>
          <a:xfrm>
            <a:off x="5230368" y="2633472"/>
            <a:ext cx="1627632" cy="292608"/>
          </a:xfrm>
          <a:prstGeom prst="rect">
            <a:avLst/>
          </a:prstGeom>
          <a:noFill/>
          <a:ln/>
        </p:spPr>
        <p:txBody>
          <a:bodyPr wrap="square" lIns="0" tIns="0" rIns="0" bIns="0" rtlCol="0" anchor="t">
            <a:normAutofit/>
          </a:bodyPr>
          <a:lstStyle/>
          <a:p>
            <a:pPr algn="l" indent="0" marL="0">
              <a:buNone/>
            </a:pPr>
            <a:r>
              <a:rPr lang="en-US" sz="1300" b="1" dirty="0">
                <a:solidFill>
                  <a:srgbClr val="0B1F3A"/>
                </a:solidFill>
                <a:latin typeface="Arial" pitchFamily="34" charset="0"/>
                <a:ea typeface="Arial" pitchFamily="34" charset="-122"/>
                <a:cs typeface="Arial" pitchFamily="34" charset="-120"/>
              </a:rPr>
              <a:t>Summary draft</a:t>
            </a:r>
            <a:endParaRPr lang="en-US" sz="1300" dirty="0"/>
          </a:p>
        </p:txBody>
      </p:sp>
      <p:sp>
        <p:nvSpPr>
          <p:cNvPr id="22" name="Text 20"/>
          <p:cNvSpPr txBox="1"/>
          <p:nvPr/>
        </p:nvSpPr>
        <p:spPr>
          <a:xfrm>
            <a:off x="5230368" y="3017520"/>
            <a:ext cx="1664208" cy="256032"/>
          </a:xfrm>
          <a:prstGeom prst="rect">
            <a:avLst/>
          </a:prstGeom>
          <a:noFill/>
          <a:ln/>
        </p:spPr>
        <p:txBody>
          <a:bodyPr wrap="square" lIns="0" tIns="0" rIns="0" bIns="0" rtlCol="0" anchor="t">
            <a:normAutofit/>
          </a:bodyPr>
          <a:lstStyle/>
          <a:p>
            <a:pPr algn="l" indent="0" marL="0">
              <a:buNone/>
            </a:pPr>
            <a:r>
              <a:rPr lang="en-US" sz="940" dirty="0">
                <a:solidFill>
                  <a:srgbClr val="63738D"/>
                </a:solidFill>
                <a:latin typeface="Arial" pitchFamily="34" charset="0"/>
                <a:ea typeface="Arial" pitchFamily="34" charset="-122"/>
                <a:cs typeface="Arial" pitchFamily="34" charset="-120"/>
              </a:rPr>
              <a:t>Investigation Summary Agent; optional Gemini call or calculated mode</a:t>
            </a:r>
            <a:endParaRPr lang="en-US" sz="940" dirty="0"/>
          </a:p>
        </p:txBody>
      </p:sp>
      <p:sp>
        <p:nvSpPr>
          <p:cNvPr id="23" name="Shape 21"/>
          <p:cNvSpPr/>
          <p:nvPr/>
        </p:nvSpPr>
        <p:spPr>
          <a:xfrm>
            <a:off x="7095744" y="2596896"/>
            <a:ext cx="256032" cy="0"/>
          </a:xfrm>
          <a:prstGeom prst="line">
            <a:avLst/>
          </a:prstGeom>
          <a:noFill/>
          <a:ln w="25400">
            <a:solidFill>
              <a:srgbClr val="00A79D"/>
            </a:solidFill>
            <a:prstDash val="solid"/>
            <a:tailEnd type="triangle"/>
          </a:ln>
        </p:spPr>
      </p:sp>
      <p:sp>
        <p:nvSpPr>
          <p:cNvPr id="24" name="Shape 22"/>
          <p:cNvSpPr/>
          <p:nvPr/>
        </p:nvSpPr>
        <p:spPr>
          <a:xfrm>
            <a:off x="7406640" y="1828800"/>
            <a:ext cx="2011680" cy="1536192"/>
          </a:xfrm>
          <a:prstGeom prst="roundRect">
            <a:avLst>
              <a:gd name="adj" fmla="val 7143"/>
            </a:avLst>
          </a:prstGeom>
          <a:solidFill>
            <a:srgbClr val="E6F8F6"/>
          </a:solidFill>
          <a:ln w="12700">
            <a:solidFill>
              <a:srgbClr val="E6F8F6">
                <a:alpha val="0"/>
              </a:srgbClr>
            </a:solidFill>
            <a:prstDash val="solid"/>
          </a:ln>
        </p:spPr>
      </p:sp>
      <p:sp>
        <p:nvSpPr>
          <p:cNvPr id="25" name="Shape 23"/>
          <p:cNvSpPr/>
          <p:nvPr/>
        </p:nvSpPr>
        <p:spPr>
          <a:xfrm>
            <a:off x="7571232" y="2029968"/>
            <a:ext cx="384048" cy="384048"/>
          </a:xfrm>
          <a:prstGeom prst="ellipse">
            <a:avLst/>
          </a:prstGeom>
          <a:solidFill>
            <a:srgbClr val="00A79D"/>
          </a:solidFill>
          <a:ln w="12700">
            <a:solidFill>
              <a:srgbClr val="FFFFFF">
                <a:alpha val="0"/>
              </a:srgbClr>
            </a:solidFill>
            <a:prstDash val="solid"/>
          </a:ln>
        </p:spPr>
      </p:sp>
      <p:sp>
        <p:nvSpPr>
          <p:cNvPr id="26" name="Text 24"/>
          <p:cNvSpPr txBox="1"/>
          <p:nvPr/>
        </p:nvSpPr>
        <p:spPr>
          <a:xfrm>
            <a:off x="7571232" y="2130552"/>
            <a:ext cx="384048"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27" name="Text 25"/>
          <p:cNvSpPr txBox="1"/>
          <p:nvPr/>
        </p:nvSpPr>
        <p:spPr>
          <a:xfrm>
            <a:off x="7571232" y="2633472"/>
            <a:ext cx="1627632" cy="292608"/>
          </a:xfrm>
          <a:prstGeom prst="rect">
            <a:avLst/>
          </a:prstGeom>
          <a:noFill/>
          <a:ln/>
        </p:spPr>
        <p:txBody>
          <a:bodyPr wrap="square" lIns="0" tIns="0" rIns="0" bIns="0" rtlCol="0" anchor="t">
            <a:normAutofit/>
          </a:bodyPr>
          <a:lstStyle/>
          <a:p>
            <a:pPr algn="l" indent="0" marL="0">
              <a:buNone/>
            </a:pPr>
            <a:r>
              <a:rPr lang="en-US" sz="1300" b="1" dirty="0">
                <a:solidFill>
                  <a:srgbClr val="0B1F3A"/>
                </a:solidFill>
                <a:latin typeface="Arial" pitchFamily="34" charset="0"/>
                <a:ea typeface="Arial" pitchFamily="34" charset="-122"/>
                <a:cs typeface="Arial" pitchFamily="34" charset="-120"/>
              </a:rPr>
              <a:t>Grounding Validator</a:t>
            </a:r>
            <a:endParaRPr lang="en-US" sz="1300" dirty="0"/>
          </a:p>
        </p:txBody>
      </p:sp>
      <p:sp>
        <p:nvSpPr>
          <p:cNvPr id="28" name="Text 26"/>
          <p:cNvSpPr txBox="1"/>
          <p:nvPr/>
        </p:nvSpPr>
        <p:spPr>
          <a:xfrm>
            <a:off x="7571232" y="3017520"/>
            <a:ext cx="1664208" cy="256032"/>
          </a:xfrm>
          <a:prstGeom prst="rect">
            <a:avLst/>
          </a:prstGeom>
          <a:noFill/>
          <a:ln/>
        </p:spPr>
        <p:txBody>
          <a:bodyPr wrap="square" lIns="0" tIns="0" rIns="0" bIns="0" rtlCol="0" anchor="t">
            <a:normAutofit/>
          </a:bodyPr>
          <a:lstStyle/>
          <a:p>
            <a:pPr algn="l" indent="0" marL="0">
              <a:buNone/>
            </a:pPr>
            <a:r>
              <a:rPr lang="en-US" sz="940" dirty="0">
                <a:solidFill>
                  <a:srgbClr val="63738D"/>
                </a:solidFill>
                <a:latin typeface="Arial" pitchFamily="34" charset="0"/>
                <a:ea typeface="Arial" pitchFamily="34" charset="-122"/>
                <a:cs typeface="Arial" pitchFamily="34" charset="-120"/>
              </a:rPr>
              <a:t>Checks cited IDs, selected ratios, forbidden verdict wording, prompt-like text</a:t>
            </a:r>
            <a:endParaRPr lang="en-US" sz="940" dirty="0"/>
          </a:p>
        </p:txBody>
      </p:sp>
      <p:sp>
        <p:nvSpPr>
          <p:cNvPr id="29" name="Shape 27"/>
          <p:cNvSpPr/>
          <p:nvPr/>
        </p:nvSpPr>
        <p:spPr>
          <a:xfrm>
            <a:off x="9436608" y="2596896"/>
            <a:ext cx="256032" cy="0"/>
          </a:xfrm>
          <a:prstGeom prst="line">
            <a:avLst/>
          </a:prstGeom>
          <a:noFill/>
          <a:ln w="25400">
            <a:solidFill>
              <a:srgbClr val="00A79D"/>
            </a:solidFill>
            <a:prstDash val="solid"/>
            <a:tailEnd type="triangle"/>
          </a:ln>
        </p:spPr>
      </p:sp>
      <p:sp>
        <p:nvSpPr>
          <p:cNvPr id="30" name="Shape 28"/>
          <p:cNvSpPr/>
          <p:nvPr/>
        </p:nvSpPr>
        <p:spPr>
          <a:xfrm>
            <a:off x="9747504" y="1828800"/>
            <a:ext cx="2011680" cy="1536192"/>
          </a:xfrm>
          <a:prstGeom prst="roundRect">
            <a:avLst>
              <a:gd name="adj" fmla="val 7143"/>
            </a:avLst>
          </a:prstGeom>
          <a:solidFill>
            <a:srgbClr val="FFFFFF"/>
          </a:solidFill>
          <a:ln w="12700">
            <a:solidFill>
              <a:srgbClr val="FFFFFF">
                <a:alpha val="0"/>
              </a:srgbClr>
            </a:solidFill>
            <a:prstDash val="solid"/>
          </a:ln>
        </p:spPr>
      </p:sp>
      <p:sp>
        <p:nvSpPr>
          <p:cNvPr id="31" name="Shape 29"/>
          <p:cNvSpPr/>
          <p:nvPr/>
        </p:nvSpPr>
        <p:spPr>
          <a:xfrm>
            <a:off x="9912096" y="2029968"/>
            <a:ext cx="384048" cy="384048"/>
          </a:xfrm>
          <a:prstGeom prst="ellipse">
            <a:avLst/>
          </a:prstGeom>
          <a:solidFill>
            <a:srgbClr val="2E65C5"/>
          </a:solidFill>
          <a:ln w="12700">
            <a:solidFill>
              <a:srgbClr val="FFFFFF">
                <a:alpha val="0"/>
              </a:srgbClr>
            </a:solidFill>
            <a:prstDash val="solid"/>
          </a:ln>
        </p:spPr>
      </p:sp>
      <p:sp>
        <p:nvSpPr>
          <p:cNvPr id="32" name="Text 30"/>
          <p:cNvSpPr txBox="1"/>
          <p:nvPr/>
        </p:nvSpPr>
        <p:spPr>
          <a:xfrm>
            <a:off x="9912096" y="2130552"/>
            <a:ext cx="384048"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5</a:t>
            </a:r>
            <a:endParaRPr lang="en-US" sz="850" dirty="0"/>
          </a:p>
        </p:txBody>
      </p:sp>
      <p:sp>
        <p:nvSpPr>
          <p:cNvPr id="33" name="Text 31"/>
          <p:cNvSpPr txBox="1"/>
          <p:nvPr/>
        </p:nvSpPr>
        <p:spPr>
          <a:xfrm>
            <a:off x="9912096" y="2633472"/>
            <a:ext cx="1627632" cy="292608"/>
          </a:xfrm>
          <a:prstGeom prst="rect">
            <a:avLst/>
          </a:prstGeom>
          <a:noFill/>
          <a:ln/>
        </p:spPr>
        <p:txBody>
          <a:bodyPr wrap="square" lIns="0" tIns="0" rIns="0" bIns="0" rtlCol="0" anchor="t">
            <a:normAutofit/>
          </a:bodyPr>
          <a:lstStyle/>
          <a:p>
            <a:pPr algn="l" indent="0" marL="0">
              <a:buNone/>
            </a:pPr>
            <a:r>
              <a:rPr lang="en-US" sz="1300" b="1" dirty="0">
                <a:solidFill>
                  <a:srgbClr val="0B1F3A"/>
                </a:solidFill>
                <a:latin typeface="Arial" pitchFamily="34" charset="0"/>
                <a:ea typeface="Arial" pitchFamily="34" charset="-122"/>
                <a:cs typeface="Arial" pitchFamily="34" charset="-120"/>
              </a:rPr>
              <a:t>Human + audit</a:t>
            </a:r>
            <a:endParaRPr lang="en-US" sz="1300" dirty="0"/>
          </a:p>
        </p:txBody>
      </p:sp>
      <p:sp>
        <p:nvSpPr>
          <p:cNvPr id="34" name="Text 32"/>
          <p:cNvSpPr txBox="1"/>
          <p:nvPr/>
        </p:nvSpPr>
        <p:spPr>
          <a:xfrm>
            <a:off x="9912096" y="3017520"/>
            <a:ext cx="1664208" cy="256032"/>
          </a:xfrm>
          <a:prstGeom prst="rect">
            <a:avLst/>
          </a:prstGeom>
          <a:noFill/>
          <a:ln/>
        </p:spPr>
        <p:txBody>
          <a:bodyPr wrap="square" lIns="0" tIns="0" rIns="0" bIns="0" rtlCol="0" anchor="t">
            <a:normAutofit/>
          </a:bodyPr>
          <a:lstStyle/>
          <a:p>
            <a:pPr algn="l" indent="0" marL="0">
              <a:buNone/>
            </a:pPr>
            <a:r>
              <a:rPr lang="en-US" sz="940" dirty="0">
                <a:solidFill>
                  <a:srgbClr val="63738D"/>
                </a:solidFill>
                <a:latin typeface="Arial" pitchFamily="34" charset="0"/>
                <a:ea typeface="Arial" pitchFamily="34" charset="-122"/>
                <a:cs typeface="Arial" pitchFamily="34" charset="-120"/>
              </a:rPr>
              <a:t>Named rationale; append-only audit event; separate Compliance review</a:t>
            </a:r>
            <a:endParaRPr lang="en-US" sz="940" dirty="0"/>
          </a:p>
        </p:txBody>
      </p:sp>
      <p:sp>
        <p:nvSpPr>
          <p:cNvPr id="35" name="Shape 33"/>
          <p:cNvSpPr/>
          <p:nvPr/>
        </p:nvSpPr>
        <p:spPr>
          <a:xfrm>
            <a:off x="685800" y="4069080"/>
            <a:ext cx="10817352" cy="777240"/>
          </a:xfrm>
          <a:prstGeom prst="roundRect">
            <a:avLst>
              <a:gd name="adj" fmla="val 14118"/>
            </a:avLst>
          </a:prstGeom>
          <a:solidFill>
            <a:srgbClr val="173C78"/>
          </a:solidFill>
          <a:ln w="12700">
            <a:solidFill>
              <a:srgbClr val="173C78">
                <a:alpha val="0"/>
              </a:srgbClr>
            </a:solidFill>
            <a:prstDash val="solid"/>
          </a:ln>
        </p:spPr>
      </p:sp>
      <p:sp>
        <p:nvSpPr>
          <p:cNvPr id="36" name="Text 34"/>
          <p:cNvSpPr txBox="1"/>
          <p:nvPr/>
        </p:nvSpPr>
        <p:spPr>
          <a:xfrm>
            <a:off x="914400" y="4279392"/>
            <a:ext cx="10360152" cy="329184"/>
          </a:xfrm>
          <a:prstGeom prst="rect">
            <a:avLst/>
          </a:prstGeom>
          <a:noFill/>
          <a:ln/>
        </p:spPr>
        <p:txBody>
          <a:bodyPr wrap="square" lIns="0" tIns="0" rIns="0" bIns="0" rtlCol="0" anchor="t">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Where AI is used: the Investigation Summary Agent drafts a structured report only after the deterministic specialist components retrieve and calculate evidence. The Grounding Validator then checks selected claims before a human can act.</a:t>
            </a:r>
            <a:endParaRPr lang="en-US" sz="1300" dirty="0"/>
          </a:p>
        </p:txBody>
      </p:sp>
      <p:sp>
        <p:nvSpPr>
          <p:cNvPr id="37" name="Text 35"/>
          <p:cNvSpPr txBox="1"/>
          <p:nvPr/>
        </p:nvSpPr>
        <p:spPr>
          <a:xfrm>
            <a:off x="777240" y="5166360"/>
            <a:ext cx="10607040" cy="219456"/>
          </a:xfrm>
          <a:prstGeom prst="rect">
            <a:avLst/>
          </a:prstGeom>
          <a:noFill/>
          <a:ln/>
        </p:spPr>
        <p:txBody>
          <a:bodyPr wrap="square" lIns="0" tIns="0" rIns="0" bIns="0" rtlCol="0" anchor="ctr">
            <a:normAutofit/>
          </a:bodyPr>
          <a:lstStyle/>
          <a:p>
            <a:pPr algn="ctr" indent="0" marL="0">
              <a:buNone/>
            </a:pPr>
            <a:r>
              <a:rPr lang="en-US" sz="1150" i="1" dirty="0">
                <a:solidFill>
                  <a:srgbClr val="63738D"/>
                </a:solidFill>
                <a:latin typeface="Arial" pitchFamily="34" charset="0"/>
                <a:ea typeface="Arial" pitchFamily="34" charset="-122"/>
                <a:cs typeface="Arial" pitchFamily="34" charset="-120"/>
              </a:rPr>
              <a:t>Important: these are investigation-specialist components—not CEO/CFO persona agents. The validator reduces specific errors; it cannot guarantee factual truth.</a:t>
            </a:r>
            <a:endParaRPr lang="en-US" sz="115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LIVE DEMONSTRATION FLOW</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Two cases: documented closure, then an open/escalated investigation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7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31520" y="1307592"/>
            <a:ext cx="10716768" cy="512064"/>
          </a:xfrm>
          <a:prstGeom prst="roundRect">
            <a:avLst>
              <a:gd name="adj" fmla="val 21429"/>
            </a:avLst>
          </a:prstGeom>
          <a:solidFill>
            <a:srgbClr val="102B51"/>
          </a:solidFill>
          <a:ln w="12700">
            <a:solidFill>
              <a:srgbClr val="102B51">
                <a:alpha val="0"/>
              </a:srgbClr>
            </a:solidFill>
            <a:prstDash val="solid"/>
          </a:ln>
        </p:spPr>
      </p:sp>
      <p:sp>
        <p:nvSpPr>
          <p:cNvPr id="7" name="Text 5"/>
          <p:cNvSpPr txBox="1"/>
          <p:nvPr/>
        </p:nvSpPr>
        <p:spPr>
          <a:xfrm>
            <a:off x="941832" y="147218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0:00–0:35</a:t>
            </a:r>
            <a:endParaRPr lang="en-US" sz="1150" dirty="0"/>
          </a:p>
        </p:txBody>
      </p:sp>
      <p:sp>
        <p:nvSpPr>
          <p:cNvPr id="8" name="Text 6"/>
          <p:cNvSpPr txBox="1"/>
          <p:nvPr/>
        </p:nvSpPr>
        <p:spPr>
          <a:xfrm>
            <a:off x="2148840" y="147218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Case A — documented closure</a:t>
            </a:r>
            <a:endParaRPr lang="en-US" sz="1250" dirty="0"/>
          </a:p>
        </p:txBody>
      </p:sp>
      <p:sp>
        <p:nvSpPr>
          <p:cNvPr id="9" name="Text 7"/>
          <p:cNvSpPr txBox="1"/>
          <p:nvPr/>
        </p:nvSpPr>
        <p:spPr>
          <a:xfrm>
            <a:off x="4023360" y="142646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From Queue, open Evidence only. Show why the closed outcome has recorded support; do not alter it.</a:t>
            </a:r>
            <a:endParaRPr lang="en-US" sz="1060" dirty="0"/>
          </a:p>
        </p:txBody>
      </p:sp>
      <p:sp>
        <p:nvSpPr>
          <p:cNvPr id="10" name="Shape 8"/>
          <p:cNvSpPr/>
          <p:nvPr/>
        </p:nvSpPr>
        <p:spPr>
          <a:xfrm>
            <a:off x="731520" y="2020824"/>
            <a:ext cx="10716768" cy="512064"/>
          </a:xfrm>
          <a:prstGeom prst="roundRect">
            <a:avLst>
              <a:gd name="adj" fmla="val 21429"/>
            </a:avLst>
          </a:prstGeom>
          <a:solidFill>
            <a:srgbClr val="102B51"/>
          </a:solidFill>
          <a:ln w="12700">
            <a:solidFill>
              <a:srgbClr val="102B51">
                <a:alpha val="0"/>
              </a:srgbClr>
            </a:solidFill>
            <a:prstDash val="solid"/>
          </a:ln>
        </p:spPr>
      </p:sp>
      <p:sp>
        <p:nvSpPr>
          <p:cNvPr id="11" name="Text 9"/>
          <p:cNvSpPr txBox="1"/>
          <p:nvPr/>
        </p:nvSpPr>
        <p:spPr>
          <a:xfrm>
            <a:off x="941832" y="2185416"/>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0:35–1:15</a:t>
            </a:r>
            <a:endParaRPr lang="en-US" sz="1150" dirty="0"/>
          </a:p>
        </p:txBody>
      </p:sp>
      <p:sp>
        <p:nvSpPr>
          <p:cNvPr id="12" name="Text 10"/>
          <p:cNvSpPr txBox="1"/>
          <p:nvPr/>
        </p:nvSpPr>
        <p:spPr>
          <a:xfrm>
            <a:off x="2148840" y="2185416"/>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Case B — open/escalated</a:t>
            </a:r>
            <a:endParaRPr lang="en-US" sz="1250" dirty="0"/>
          </a:p>
        </p:txBody>
      </p:sp>
      <p:sp>
        <p:nvSpPr>
          <p:cNvPr id="13" name="Text 11"/>
          <p:cNvSpPr txBox="1"/>
          <p:nvPr/>
        </p:nvSpPr>
        <p:spPr>
          <a:xfrm>
            <a:off x="4023360" y="2139696"/>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the default review case; distinguish Status, Rule(s), and Action.</a:t>
            </a:r>
            <a:endParaRPr lang="en-US" sz="1060" dirty="0"/>
          </a:p>
        </p:txBody>
      </p:sp>
      <p:sp>
        <p:nvSpPr>
          <p:cNvPr id="14" name="Shape 12"/>
          <p:cNvSpPr/>
          <p:nvPr/>
        </p:nvSpPr>
        <p:spPr>
          <a:xfrm>
            <a:off x="731520" y="2734056"/>
            <a:ext cx="10716768" cy="512064"/>
          </a:xfrm>
          <a:prstGeom prst="roundRect">
            <a:avLst>
              <a:gd name="adj" fmla="val 21429"/>
            </a:avLst>
          </a:prstGeom>
          <a:solidFill>
            <a:srgbClr val="173C78"/>
          </a:solidFill>
          <a:ln w="12700">
            <a:solidFill>
              <a:srgbClr val="173C78">
                <a:alpha val="0"/>
              </a:srgbClr>
            </a:solidFill>
            <a:prstDash val="solid"/>
          </a:ln>
        </p:spPr>
      </p:sp>
      <p:sp>
        <p:nvSpPr>
          <p:cNvPr id="15" name="Text 13"/>
          <p:cNvSpPr txBox="1"/>
          <p:nvPr/>
        </p:nvSpPr>
        <p:spPr>
          <a:xfrm>
            <a:off x="941832" y="2898648"/>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1:15–2:05</a:t>
            </a:r>
            <a:endParaRPr lang="en-US" sz="1150" dirty="0"/>
          </a:p>
        </p:txBody>
      </p:sp>
      <p:sp>
        <p:nvSpPr>
          <p:cNvPr id="16" name="Text 14"/>
          <p:cNvSpPr txBox="1"/>
          <p:nvPr/>
        </p:nvSpPr>
        <p:spPr>
          <a:xfrm>
            <a:off x="2148840" y="2898648"/>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Workspace</a:t>
            </a:r>
            <a:endParaRPr lang="en-US" sz="1250" dirty="0"/>
          </a:p>
        </p:txBody>
      </p:sp>
      <p:sp>
        <p:nvSpPr>
          <p:cNvPr id="17" name="Text 15"/>
          <p:cNvSpPr txBox="1"/>
          <p:nvPr/>
        </p:nvSpPr>
        <p:spPr>
          <a:xfrm>
            <a:off x="4023360" y="2852928"/>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Run saved/calculated review; show validator and evidence-confidence limitations.</a:t>
            </a:r>
            <a:endParaRPr lang="en-US" sz="1060" dirty="0"/>
          </a:p>
        </p:txBody>
      </p:sp>
      <p:sp>
        <p:nvSpPr>
          <p:cNvPr id="18" name="Shape 16"/>
          <p:cNvSpPr/>
          <p:nvPr/>
        </p:nvSpPr>
        <p:spPr>
          <a:xfrm>
            <a:off x="731520" y="3447288"/>
            <a:ext cx="10716768" cy="512064"/>
          </a:xfrm>
          <a:prstGeom prst="roundRect">
            <a:avLst>
              <a:gd name="adj" fmla="val 21429"/>
            </a:avLst>
          </a:prstGeom>
          <a:solidFill>
            <a:srgbClr val="102B51"/>
          </a:solidFill>
          <a:ln w="12700">
            <a:solidFill>
              <a:srgbClr val="102B51">
                <a:alpha val="0"/>
              </a:srgbClr>
            </a:solidFill>
            <a:prstDash val="solid"/>
          </a:ln>
        </p:spPr>
      </p:sp>
      <p:sp>
        <p:nvSpPr>
          <p:cNvPr id="19" name="Text 17"/>
          <p:cNvSpPr txBox="1"/>
          <p:nvPr/>
        </p:nvSpPr>
        <p:spPr>
          <a:xfrm>
            <a:off x="941832" y="3611880"/>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2:05–2:55</a:t>
            </a:r>
            <a:endParaRPr lang="en-US" sz="1150" dirty="0"/>
          </a:p>
        </p:txBody>
      </p:sp>
      <p:sp>
        <p:nvSpPr>
          <p:cNvPr id="20" name="Text 18"/>
          <p:cNvSpPr txBox="1"/>
          <p:nvPr/>
        </p:nvSpPr>
        <p:spPr>
          <a:xfrm>
            <a:off x="2148840" y="3611880"/>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Evidence &amp; RAG</a:t>
            </a:r>
            <a:endParaRPr lang="en-US" sz="1250" dirty="0"/>
          </a:p>
        </p:txBody>
      </p:sp>
      <p:sp>
        <p:nvSpPr>
          <p:cNvPr id="21" name="Text 19"/>
          <p:cNvSpPr txBox="1"/>
          <p:nvPr/>
        </p:nvSpPr>
        <p:spPr>
          <a:xfrm>
            <a:off x="4023360" y="3566160"/>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Source &amp; chunks; explain FTS5/BM25 lexical retrieval—not vectors. Admin view is optional if already unlocked; never show the passcode.</a:t>
            </a:r>
            <a:endParaRPr lang="en-US" sz="1060" dirty="0"/>
          </a:p>
        </p:txBody>
      </p:sp>
      <p:sp>
        <p:nvSpPr>
          <p:cNvPr id="22" name="Shape 20"/>
          <p:cNvSpPr/>
          <p:nvPr/>
        </p:nvSpPr>
        <p:spPr>
          <a:xfrm>
            <a:off x="731520" y="4160520"/>
            <a:ext cx="10716768" cy="512064"/>
          </a:xfrm>
          <a:prstGeom prst="roundRect">
            <a:avLst>
              <a:gd name="adj" fmla="val 21429"/>
            </a:avLst>
          </a:prstGeom>
          <a:solidFill>
            <a:srgbClr val="102B51"/>
          </a:solidFill>
          <a:ln w="12700">
            <a:solidFill>
              <a:srgbClr val="102B51">
                <a:alpha val="0"/>
              </a:srgbClr>
            </a:solidFill>
            <a:prstDash val="solid"/>
          </a:ln>
        </p:spPr>
      </p:sp>
      <p:sp>
        <p:nvSpPr>
          <p:cNvPr id="23" name="Text 21"/>
          <p:cNvSpPr txBox="1"/>
          <p:nvPr/>
        </p:nvSpPr>
        <p:spPr>
          <a:xfrm>
            <a:off x="941832" y="4325112"/>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2:55–3:40</a:t>
            </a:r>
            <a:endParaRPr lang="en-US" sz="1150" dirty="0"/>
          </a:p>
        </p:txBody>
      </p:sp>
      <p:sp>
        <p:nvSpPr>
          <p:cNvPr id="24" name="Text 22"/>
          <p:cNvSpPr txBox="1"/>
          <p:nvPr/>
        </p:nvSpPr>
        <p:spPr>
          <a:xfrm>
            <a:off x="2148840" y="4325112"/>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Ask InvestigateIQ</a:t>
            </a:r>
            <a:endParaRPr lang="en-US" sz="1250" dirty="0"/>
          </a:p>
        </p:txBody>
      </p:sp>
      <p:sp>
        <p:nvSpPr>
          <p:cNvPr id="25" name="Text 23"/>
          <p:cNvSpPr txBox="1"/>
          <p:nvPr/>
        </p:nvSpPr>
        <p:spPr>
          <a:xfrm>
            <a:off x="4023360" y="4279392"/>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Ask one bounded case question; show the response, citations, and limits.</a:t>
            </a:r>
            <a:endParaRPr lang="en-US" sz="1060" dirty="0"/>
          </a:p>
        </p:txBody>
      </p:sp>
      <p:sp>
        <p:nvSpPr>
          <p:cNvPr id="26" name="Shape 24"/>
          <p:cNvSpPr/>
          <p:nvPr/>
        </p:nvSpPr>
        <p:spPr>
          <a:xfrm>
            <a:off x="731520" y="4873752"/>
            <a:ext cx="10716768" cy="512064"/>
          </a:xfrm>
          <a:prstGeom prst="roundRect">
            <a:avLst>
              <a:gd name="adj" fmla="val 21429"/>
            </a:avLst>
          </a:prstGeom>
          <a:solidFill>
            <a:srgbClr val="102B51"/>
          </a:solidFill>
          <a:ln w="12700">
            <a:solidFill>
              <a:srgbClr val="102B51">
                <a:alpha val="0"/>
              </a:srgbClr>
            </a:solidFill>
            <a:prstDash val="solid"/>
          </a:ln>
        </p:spPr>
      </p:sp>
      <p:sp>
        <p:nvSpPr>
          <p:cNvPr id="27" name="Text 25"/>
          <p:cNvSpPr txBox="1"/>
          <p:nvPr/>
        </p:nvSpPr>
        <p:spPr>
          <a:xfrm>
            <a:off x="941832" y="503834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3:40–4:50</a:t>
            </a:r>
            <a:endParaRPr lang="en-US" sz="1150" dirty="0"/>
          </a:p>
        </p:txBody>
      </p:sp>
      <p:sp>
        <p:nvSpPr>
          <p:cNvPr id="28" name="Text 26"/>
          <p:cNvSpPr txBox="1"/>
          <p:nvPr/>
        </p:nvSpPr>
        <p:spPr>
          <a:xfrm>
            <a:off x="2148840" y="503834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Human decision / audit</a:t>
            </a:r>
            <a:endParaRPr lang="en-US" sz="1250" dirty="0"/>
          </a:p>
        </p:txBody>
      </p:sp>
      <p:sp>
        <p:nvSpPr>
          <p:cNvPr id="29" name="Text 27"/>
          <p:cNvSpPr txBox="1"/>
          <p:nvPr/>
        </p:nvSpPr>
        <p:spPr>
          <a:xfrm>
            <a:off x="4023360" y="499262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Show Close, Request more information, and Escalate options plus required rationale; do not submit or close any case.</a:t>
            </a:r>
            <a:endParaRPr lang="en-US" sz="106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VALUE REALIZATION AND ROADMAP</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Measure the benefit before claiming ROI</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8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7" name="Text 5"/>
          <p:cNvSpPr txBox="1"/>
          <p:nvPr/>
        </p:nvSpPr>
        <p:spPr>
          <a:xfrm>
            <a:off x="950976"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Efficiency</a:t>
            </a:r>
            <a:endParaRPr lang="en-US" sz="1300" dirty="0"/>
          </a:p>
        </p:txBody>
      </p:sp>
      <p:sp>
        <p:nvSpPr>
          <p:cNvPr id="8" name="Text 6"/>
          <p:cNvSpPr txBox="1"/>
          <p:nvPr/>
        </p:nvSpPr>
        <p:spPr>
          <a:xfrm>
            <a:off x="2139696"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Verified minutes saved locating case records and source passages</a:t>
            </a:r>
            <a:endParaRPr lang="en-US" sz="1050" dirty="0"/>
          </a:p>
        </p:txBody>
      </p:sp>
      <p:sp>
        <p:nvSpPr>
          <p:cNvPr id="9" name="Shape 7"/>
          <p:cNvSpPr/>
          <p:nvPr/>
        </p:nvSpPr>
        <p:spPr>
          <a:xfrm>
            <a:off x="6254496"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10" name="Text 8"/>
          <p:cNvSpPr txBox="1"/>
          <p:nvPr/>
        </p:nvSpPr>
        <p:spPr>
          <a:xfrm>
            <a:off x="6455664"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Rework</a:t>
            </a:r>
            <a:endParaRPr lang="en-US" sz="1300" dirty="0"/>
          </a:p>
        </p:txBody>
      </p:sp>
      <p:sp>
        <p:nvSpPr>
          <p:cNvPr id="11" name="Text 9"/>
          <p:cNvSpPr txBox="1"/>
          <p:nvPr/>
        </p:nvSpPr>
        <p:spPr>
          <a:xfrm>
            <a:off x="7644384"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Avoided evidence requests and Compliance returns</a:t>
            </a:r>
            <a:endParaRPr lang="en-US" sz="1050" dirty="0"/>
          </a:p>
        </p:txBody>
      </p:sp>
      <p:sp>
        <p:nvSpPr>
          <p:cNvPr id="12" name="Shape 10"/>
          <p:cNvSpPr/>
          <p:nvPr/>
        </p:nvSpPr>
        <p:spPr>
          <a:xfrm>
            <a:off x="749808" y="2423160"/>
            <a:ext cx="5001768" cy="749808"/>
          </a:xfrm>
          <a:prstGeom prst="roundRect">
            <a:avLst>
              <a:gd name="adj" fmla="val 14634"/>
            </a:avLst>
          </a:prstGeom>
          <a:solidFill>
            <a:srgbClr val="FFFFFF"/>
          </a:solidFill>
          <a:ln w="12700">
            <a:solidFill>
              <a:srgbClr val="FFFFFF">
                <a:alpha val="0"/>
              </a:srgbClr>
            </a:solidFill>
            <a:prstDash val="solid"/>
          </a:ln>
        </p:spPr>
      </p:sp>
      <p:sp>
        <p:nvSpPr>
          <p:cNvPr id="13" name="Text 11"/>
          <p:cNvSpPr txBox="1"/>
          <p:nvPr/>
        </p:nvSpPr>
        <p:spPr>
          <a:xfrm>
            <a:off x="950976"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Audit readiness</a:t>
            </a:r>
            <a:endParaRPr lang="en-US" sz="1300" dirty="0"/>
          </a:p>
        </p:txBody>
      </p:sp>
      <p:sp>
        <p:nvSpPr>
          <p:cNvPr id="14" name="Text 12"/>
          <p:cNvSpPr txBox="1"/>
          <p:nvPr/>
        </p:nvSpPr>
        <p:spPr>
          <a:xfrm>
            <a:off x="2139696"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Time to reconstruct evidence, rationale, and outcome</a:t>
            </a:r>
            <a:endParaRPr lang="en-US" sz="1050" dirty="0"/>
          </a:p>
        </p:txBody>
      </p:sp>
      <p:sp>
        <p:nvSpPr>
          <p:cNvPr id="15" name="Shape 13"/>
          <p:cNvSpPr/>
          <p:nvPr/>
        </p:nvSpPr>
        <p:spPr>
          <a:xfrm>
            <a:off x="6254496" y="2423160"/>
            <a:ext cx="5001768" cy="749808"/>
          </a:xfrm>
          <a:prstGeom prst="roundRect">
            <a:avLst>
              <a:gd name="adj" fmla="val 14634"/>
            </a:avLst>
          </a:prstGeom>
          <a:solidFill>
            <a:srgbClr val="E6F8F6"/>
          </a:solidFill>
          <a:ln w="12700">
            <a:solidFill>
              <a:srgbClr val="E6F8F6">
                <a:alpha val="0"/>
              </a:srgbClr>
            </a:solidFill>
            <a:prstDash val="solid"/>
          </a:ln>
        </p:spPr>
      </p:sp>
      <p:sp>
        <p:nvSpPr>
          <p:cNvPr id="16" name="Text 14"/>
          <p:cNvSpPr txBox="1"/>
          <p:nvPr/>
        </p:nvSpPr>
        <p:spPr>
          <a:xfrm>
            <a:off x="6455664"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Safety</a:t>
            </a:r>
            <a:endParaRPr lang="en-US" sz="1300" dirty="0"/>
          </a:p>
        </p:txBody>
      </p:sp>
      <p:sp>
        <p:nvSpPr>
          <p:cNvPr id="17" name="Text 15"/>
          <p:cNvSpPr txBox="1"/>
          <p:nvPr/>
        </p:nvSpPr>
        <p:spPr>
          <a:xfrm>
            <a:off x="7644384"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Unsupported claims, broken citations, unclear states found in review</a:t>
            </a:r>
            <a:endParaRPr lang="en-US" sz="1050" dirty="0"/>
          </a:p>
        </p:txBody>
      </p:sp>
      <p:sp>
        <p:nvSpPr>
          <p:cNvPr id="18" name="Shape 16"/>
          <p:cNvSpPr/>
          <p:nvPr/>
        </p:nvSpPr>
        <p:spPr>
          <a:xfrm>
            <a:off x="749808" y="3904488"/>
            <a:ext cx="10497312" cy="493776"/>
          </a:xfrm>
          <a:prstGeom prst="roundRect">
            <a:avLst>
              <a:gd name="adj" fmla="val 22222"/>
            </a:avLst>
          </a:prstGeom>
          <a:solidFill>
            <a:srgbClr val="173C78"/>
          </a:solidFill>
          <a:ln w="12700">
            <a:solidFill>
              <a:srgbClr val="173C78">
                <a:alpha val="0"/>
              </a:srgbClr>
            </a:solidFill>
            <a:prstDash val="solid"/>
          </a:ln>
        </p:spPr>
      </p:sp>
      <p:sp>
        <p:nvSpPr>
          <p:cNvPr id="19" name="Text 17"/>
          <p:cNvSpPr txBox="1"/>
          <p:nvPr/>
        </p:nvSpPr>
        <p:spPr>
          <a:xfrm>
            <a:off x="950976" y="4078224"/>
            <a:ext cx="10104120" cy="146304"/>
          </a:xfrm>
          <a:prstGeom prst="rect">
            <a:avLst/>
          </a:prstGeom>
          <a:noFill/>
          <a:ln/>
        </p:spPr>
        <p:txBody>
          <a:bodyPr wrap="square" lIns="0" tIns="0" rIns="0" bIns="0" rtlCol="0" anchor="ctr">
            <a:normAutofit/>
          </a:bodyPr>
          <a:lstStyle/>
          <a:p>
            <a:pPr algn="ctr" indent="0" marL="0">
              <a:buNone/>
            </a:pPr>
            <a:r>
              <a:rPr lang="en-US" sz="1250" b="1" dirty="0">
                <a:solidFill>
                  <a:srgbClr val="FFFFFF"/>
                </a:solidFill>
                <a:latin typeface="Arial" pitchFamily="34" charset="0"/>
                <a:ea typeface="Arial" pitchFamily="34" charset="-122"/>
                <a:cs typeface="Arial" pitchFamily="34" charset="-120"/>
              </a:rPr>
              <a:t>ROI % = (verified annual benefit − implementation and run cost) ÷ implementation and run cost × 100</a:t>
            </a:r>
            <a:endParaRPr lang="en-US" sz="1250" dirty="0"/>
          </a:p>
        </p:txBody>
      </p:sp>
      <p:sp>
        <p:nvSpPr>
          <p:cNvPr id="20" name="Text 18"/>
          <p:cNvSpPr txBox="1"/>
          <p:nvPr/>
        </p:nvSpPr>
        <p:spPr>
          <a:xfrm>
            <a:off x="841248" y="4892040"/>
            <a:ext cx="10405872" cy="329184"/>
          </a:xfrm>
          <a:prstGeom prst="rect">
            <a:avLst/>
          </a:prstGeom>
          <a:noFill/>
          <a:ln/>
        </p:spPr>
        <p:txBody>
          <a:bodyPr wrap="square" lIns="0" tIns="0" rIns="0" bIns="0" rtlCol="0" anchor="ctr">
            <a:normAutofit/>
          </a:bodyPr>
          <a:lstStyle/>
          <a:p>
            <a:pPr algn="ctr" indent="0" marL="0">
              <a:buNone/>
            </a:pPr>
            <a:r>
              <a:rPr lang="en-US" sz="1500" b="1" dirty="0">
                <a:solidFill>
                  <a:srgbClr val="0B1F3A"/>
                </a:solidFill>
                <a:latin typeface="Arial" pitchFamily="34" charset="0"/>
                <a:ea typeface="Arial" pitchFamily="34" charset="-122"/>
                <a:cs typeface="Arial" pitchFamily="34" charset="-120"/>
              </a:rPr>
              <a:t>Roadmap: test fixtures + citation evaluation  →  authentication + lineage versioning  →  governed ingestion + approved integrations</a:t>
            </a:r>
            <a:endParaRPr lang="en-US" sz="1500" dirty="0"/>
          </a:p>
        </p:txBody>
      </p:sp>
      <p:sp>
        <p:nvSpPr>
          <p:cNvPr id="21" name="Text 19"/>
          <p:cNvSpPr txBox="1"/>
          <p:nvPr/>
        </p:nvSpPr>
        <p:spPr>
          <a:xfrm>
            <a:off x="841248" y="5367528"/>
            <a:ext cx="10405872" cy="164592"/>
          </a:xfrm>
          <a:prstGeom prst="rect">
            <a:avLst/>
          </a:prstGeom>
          <a:noFill/>
          <a:ln/>
        </p:spPr>
        <p:txBody>
          <a:bodyPr wrap="square" lIns="0" tIns="0" rIns="0" bIns="0" rtlCol="0" anchor="ctr">
            <a:normAutofit/>
          </a:bodyPr>
          <a:lstStyle/>
          <a:p>
            <a:pPr algn="ctr" indent="0" marL="0">
              <a:buNone/>
            </a:pPr>
            <a:r>
              <a:rPr lang="en-US" sz="1100" i="1" dirty="0">
                <a:solidFill>
                  <a:srgbClr val="63738D"/>
                </a:solidFill>
                <a:latin typeface="Arial" pitchFamily="34" charset="0"/>
                <a:ea typeface="Arial" pitchFamily="34" charset="-122"/>
                <a:cs typeface="Arial" pitchFamily="34" charset="-120"/>
              </a:rPr>
              <a:t>Planning model only: calculate ROI only after a baseline, approved cost boundary, and verified pilot outcomes.</a:t>
            </a:r>
            <a:endParaRPr lang="en-US" sz="11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THANK YOU</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Trace the evidence. Own the decision.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9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409944" y="1133856"/>
            <a:ext cx="5193792" cy="2953512"/>
          </a:xfrm>
          <a:prstGeom prst="roundRect">
            <a:avLst>
              <a:gd name="adj" fmla="val 3715"/>
            </a:avLst>
          </a:prstGeom>
          <a:solidFill>
            <a:srgbClr val="D9E7FC"/>
          </a:solidFill>
          <a:ln w="12700">
            <a:solidFill>
              <a:srgbClr val="D9E7FC">
                <a:alpha val="0"/>
              </a:srgbClr>
            </a:solidFill>
            <a:prstDash val="solid"/>
          </a:ln>
        </p:spPr>
      </p:sp>
      <p:pic>
        <p:nvPicPr>
          <p:cNvPr id="7" name="Image 0" descr="C:\D\IIT Mumbai\Capstone Blueprint\assets\walkthrough_screens\2026_workspace_current_report.png">    </p:cNvPr>
          <p:cNvPicPr>
            <a:picLocks noChangeAspect="1"/>
          </p:cNvPicPr>
          <p:nvPr/>
        </p:nvPicPr>
        <p:blipFill>
          <a:blip r:embed="rId1"/>
          <a:stretch>
            <a:fillRect/>
          </a:stretch>
        </p:blipFill>
        <p:spPr>
          <a:xfrm>
            <a:off x="6446520" y="1170432"/>
            <a:ext cx="5120640" cy="2880360"/>
          </a:xfrm>
          <a:prstGeom prst="rect">
            <a:avLst/>
          </a:prstGeom>
        </p:spPr>
      </p:pic>
      <p:sp>
        <p:nvSpPr>
          <p:cNvPr id="8" name="Text 5"/>
          <p:cNvSpPr txBox="1"/>
          <p:nvPr/>
        </p:nvSpPr>
        <p:spPr>
          <a:xfrm>
            <a:off x="777240" y="157276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Traceable evidence</a:t>
            </a:r>
            <a:endParaRPr lang="en-US" sz="1600" dirty="0"/>
          </a:p>
        </p:txBody>
      </p:sp>
      <p:sp>
        <p:nvSpPr>
          <p:cNvPr id="9" name="Text 6"/>
          <p:cNvSpPr txBox="1"/>
          <p:nvPr/>
        </p:nvSpPr>
        <p:spPr>
          <a:xfrm>
            <a:off x="777240" y="190195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Records, chunks, citations, and visible gaps</a:t>
            </a:r>
            <a:endParaRPr lang="en-US" sz="1150" dirty="0"/>
          </a:p>
        </p:txBody>
      </p:sp>
      <p:sp>
        <p:nvSpPr>
          <p:cNvPr id="10" name="Text 7"/>
          <p:cNvSpPr txBox="1"/>
          <p:nvPr/>
        </p:nvSpPr>
        <p:spPr>
          <a:xfrm>
            <a:off x="777240" y="244144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78DCD4"/>
                </a:solidFill>
                <a:latin typeface="Arial" pitchFamily="34" charset="0"/>
                <a:ea typeface="Arial" pitchFamily="34" charset="-122"/>
                <a:cs typeface="Arial" pitchFamily="34" charset="-120"/>
              </a:rPr>
              <a:t>Responsible AI</a:t>
            </a:r>
            <a:endParaRPr lang="en-US" sz="1600" dirty="0"/>
          </a:p>
        </p:txBody>
      </p:sp>
      <p:sp>
        <p:nvSpPr>
          <p:cNvPr id="11" name="Text 8"/>
          <p:cNvSpPr txBox="1"/>
          <p:nvPr/>
        </p:nvSpPr>
        <p:spPr>
          <a:xfrm>
            <a:off x="777240" y="277063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Confidence limitations, not automated judgement</a:t>
            </a:r>
            <a:endParaRPr lang="en-US" sz="1150" dirty="0"/>
          </a:p>
        </p:txBody>
      </p:sp>
      <p:sp>
        <p:nvSpPr>
          <p:cNvPr id="12" name="Text 9"/>
          <p:cNvSpPr txBox="1"/>
          <p:nvPr/>
        </p:nvSpPr>
        <p:spPr>
          <a:xfrm>
            <a:off x="777240" y="331012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Human accountability</a:t>
            </a:r>
            <a:endParaRPr lang="en-US" sz="1600" dirty="0"/>
          </a:p>
        </p:txBody>
      </p:sp>
      <p:sp>
        <p:nvSpPr>
          <p:cNvPr id="13" name="Text 10"/>
          <p:cNvSpPr txBox="1"/>
          <p:nvPr/>
        </p:nvSpPr>
        <p:spPr>
          <a:xfrm>
            <a:off x="777240" y="363931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Named rationale and separate Compliance review</a:t>
            </a:r>
            <a:endParaRPr lang="en-US" sz="1150" dirty="0"/>
          </a:p>
        </p:txBody>
      </p:sp>
      <p:sp>
        <p:nvSpPr>
          <p:cNvPr id="14" name="Text 11"/>
          <p:cNvSpPr txBox="1"/>
          <p:nvPr/>
        </p:nvSpPr>
        <p:spPr>
          <a:xfrm>
            <a:off x="777240" y="5074920"/>
            <a:ext cx="5257800" cy="320040"/>
          </a:xfrm>
          <a:prstGeom prst="rect">
            <a:avLst/>
          </a:prstGeom>
          <a:noFill/>
          <a:ln/>
        </p:spPr>
        <p:txBody>
          <a:bodyPr wrap="square" lIns="0" tIns="0" rIns="0" bIns="0" rtlCol="0" anchor="t">
            <a:normAutofit/>
          </a:bodyPr>
          <a:lstStyle/>
          <a:p>
            <a:pPr algn="l" indent="0" marL="0">
              <a:buNone/>
            </a:pPr>
            <a:r>
              <a:rPr lang="en-US" sz="1700" b="1" dirty="0">
                <a:solidFill>
                  <a:srgbClr val="78DCD4"/>
                </a:solidFill>
                <a:latin typeface="Arial" pitchFamily="34" charset="0"/>
                <a:ea typeface="Arial" pitchFamily="34" charset="-122"/>
                <a:cs typeface="Arial" pitchFamily="34" charset="-120"/>
              </a:rPr>
              <a:t>Thank you. The FAQ appendix is available for any follow-up question.</a:t>
            </a:r>
            <a:endParaRPr lang="en-US" sz="17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FAQ APPENDIX 1</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Where does the data come from, and how is it relevant?</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10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53312"/>
            <a:ext cx="10652760" cy="941832"/>
          </a:xfrm>
          <a:prstGeom prst="roundRect">
            <a:avLst>
              <a:gd name="adj" fmla="val 11650"/>
            </a:avLst>
          </a:prstGeom>
          <a:solidFill>
            <a:srgbClr val="FFFFFF"/>
          </a:solidFill>
          <a:ln w="12700">
            <a:solidFill>
              <a:srgbClr val="FFFFFF">
                <a:alpha val="0"/>
              </a:srgbClr>
            </a:solidFill>
            <a:prstDash val="solid"/>
          </a:ln>
        </p:spPr>
      </p:sp>
      <p:sp>
        <p:nvSpPr>
          <p:cNvPr id="7" name="Text 5"/>
          <p:cNvSpPr txBox="1"/>
          <p:nvPr/>
        </p:nvSpPr>
        <p:spPr>
          <a:xfrm>
            <a:off x="987552" y="1517904"/>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What is the data source?</a:t>
            </a:r>
            <a:endParaRPr lang="en-US" sz="1400" dirty="0"/>
          </a:p>
        </p:txBody>
      </p:sp>
      <p:sp>
        <p:nvSpPr>
          <p:cNvPr id="8" name="Text 6"/>
          <p:cNvSpPr txBox="1"/>
          <p:nvPr/>
        </p:nvSpPr>
        <p:spPr>
          <a:xfrm>
            <a:off x="4169664" y="1499616"/>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All cases, customers, transactions, documents, and guidance are fictional course material stored locally for this demonstration. The product is not connected to a bank feed or real customer records.</a:t>
            </a:r>
            <a:endParaRPr lang="en-US" sz="1120" dirty="0"/>
          </a:p>
        </p:txBody>
      </p:sp>
      <p:sp>
        <p:nvSpPr>
          <p:cNvPr id="9" name="Shape 7"/>
          <p:cNvSpPr/>
          <p:nvPr/>
        </p:nvSpPr>
        <p:spPr>
          <a:xfrm>
            <a:off x="749808" y="2578608"/>
            <a:ext cx="10652760" cy="941832"/>
          </a:xfrm>
          <a:prstGeom prst="roundRect">
            <a:avLst>
              <a:gd name="adj" fmla="val 11650"/>
            </a:avLst>
          </a:prstGeom>
          <a:solidFill>
            <a:srgbClr val="E6F8F6"/>
          </a:solidFill>
          <a:ln w="12700">
            <a:solidFill>
              <a:srgbClr val="E6F8F6">
                <a:alpha val="0"/>
              </a:srgbClr>
            </a:solidFill>
            <a:prstDash val="solid"/>
          </a:ln>
        </p:spPr>
      </p:sp>
      <p:sp>
        <p:nvSpPr>
          <p:cNvPr id="10" name="Text 8"/>
          <p:cNvSpPr txBox="1"/>
          <p:nvPr/>
        </p:nvSpPr>
        <p:spPr>
          <a:xfrm>
            <a:off x="987552" y="274320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How is retrieval relevant to a case?</a:t>
            </a:r>
            <a:endParaRPr lang="en-US" sz="1400" dirty="0"/>
          </a:p>
        </p:txBody>
      </p:sp>
      <p:sp>
        <p:nvSpPr>
          <p:cNvPr id="11" name="Text 9"/>
          <p:cNvSpPr txBox="1"/>
          <p:nvPr/>
        </p:nvSpPr>
        <p:spPr>
          <a:xfrm>
            <a:off x="4169664" y="2724912"/>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The active case/scenario scopes the available evidence. SQLite FTS5 performs lexical keyword matching and BM25 ranks matching passages. The user can open the exact record or chunk behind a result.</a:t>
            </a:r>
            <a:endParaRPr lang="en-US" sz="1120" dirty="0"/>
          </a:p>
        </p:txBody>
      </p:sp>
      <p:sp>
        <p:nvSpPr>
          <p:cNvPr id="12" name="Shape 10"/>
          <p:cNvSpPr/>
          <p:nvPr/>
        </p:nvSpPr>
        <p:spPr>
          <a:xfrm>
            <a:off x="749808" y="3803904"/>
            <a:ext cx="10652760" cy="941832"/>
          </a:xfrm>
          <a:prstGeom prst="roundRect">
            <a:avLst>
              <a:gd name="adj" fmla="val 11650"/>
            </a:avLst>
          </a:prstGeom>
          <a:solidFill>
            <a:srgbClr val="FFFFFF"/>
          </a:solidFill>
          <a:ln w="12700">
            <a:solidFill>
              <a:srgbClr val="FFFFFF">
                <a:alpha val="0"/>
              </a:srgbClr>
            </a:solidFill>
            <a:prstDash val="solid"/>
          </a:ln>
        </p:spPr>
      </p:sp>
      <p:sp>
        <p:nvSpPr>
          <p:cNvPr id="13" name="Text 11"/>
          <p:cNvSpPr txBox="1"/>
          <p:nvPr/>
        </p:nvSpPr>
        <p:spPr>
          <a:xfrm>
            <a:off x="987552" y="396849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Does a citation prove a claim?</a:t>
            </a:r>
            <a:endParaRPr lang="en-US" sz="1400" dirty="0"/>
          </a:p>
        </p:txBody>
      </p:sp>
      <p:sp>
        <p:nvSpPr>
          <p:cNvPr id="14" name="Text 12"/>
          <p:cNvSpPr txBox="1"/>
          <p:nvPr/>
        </p:nvSpPr>
        <p:spPr>
          <a:xfrm>
            <a:off x="4169664" y="3950208"/>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It is a pointer to inspect supplied text. The product labels evidence gaps and requires a human to interpret the material and record the next action.</a:t>
            </a:r>
            <a:endParaRPr lang="en-US" sz="112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FAQ APPENDIX 2</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Where is AI used, and how do we reduce hallucination risk?</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11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44168"/>
            <a:ext cx="10652760" cy="941832"/>
          </a:xfrm>
          <a:prstGeom prst="roundRect">
            <a:avLst>
              <a:gd name="adj" fmla="val 11650"/>
            </a:avLst>
          </a:prstGeom>
          <a:solidFill>
            <a:srgbClr val="173C78"/>
          </a:solidFill>
          <a:ln w="12700">
            <a:solidFill>
              <a:srgbClr val="173C78">
                <a:alpha val="0"/>
              </a:srgbClr>
            </a:solidFill>
            <a:prstDash val="solid"/>
          </a:ln>
        </p:spPr>
      </p:sp>
      <p:sp>
        <p:nvSpPr>
          <p:cNvPr id="7" name="Text 5"/>
          <p:cNvSpPr txBox="1"/>
          <p:nvPr/>
        </p:nvSpPr>
        <p:spPr>
          <a:xfrm>
            <a:off x="987552" y="150876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Where is AI used?</a:t>
            </a:r>
            <a:endParaRPr lang="en-US" sz="1400" dirty="0"/>
          </a:p>
        </p:txBody>
      </p:sp>
      <p:sp>
        <p:nvSpPr>
          <p:cNvPr id="8" name="Text 6"/>
          <p:cNvSpPr txBox="1"/>
          <p:nvPr/>
        </p:nvSpPr>
        <p:spPr>
          <a:xfrm>
            <a:off x="4169664" y="1490472"/>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Five specialist components collect/compute evidence. The Investigation Summary Agent is the only component that makes an optional Gemini model call; calculated mode makes no model call.</a:t>
            </a:r>
            <a:endParaRPr lang="en-US" sz="1120" dirty="0"/>
          </a:p>
        </p:txBody>
      </p:sp>
      <p:sp>
        <p:nvSpPr>
          <p:cNvPr id="9" name="Shape 7"/>
          <p:cNvSpPr/>
          <p:nvPr/>
        </p:nvSpPr>
        <p:spPr>
          <a:xfrm>
            <a:off x="749808" y="2569464"/>
            <a:ext cx="10652760" cy="941832"/>
          </a:xfrm>
          <a:prstGeom prst="roundRect">
            <a:avLst>
              <a:gd name="adj" fmla="val 11650"/>
            </a:avLst>
          </a:prstGeom>
          <a:solidFill>
            <a:srgbClr val="173C78"/>
          </a:solidFill>
          <a:ln w="12700">
            <a:solidFill>
              <a:srgbClr val="173C78">
                <a:alpha val="0"/>
              </a:srgbClr>
            </a:solidFill>
            <a:prstDash val="solid"/>
          </a:ln>
        </p:spPr>
      </p:sp>
      <p:sp>
        <p:nvSpPr>
          <p:cNvPr id="10" name="Text 8"/>
          <p:cNvSpPr txBox="1"/>
          <p:nvPr/>
        </p:nvSpPr>
        <p:spPr>
          <a:xfrm>
            <a:off x="987552" y="273405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What guardrails exist?</a:t>
            </a:r>
            <a:endParaRPr lang="en-US" sz="1400" dirty="0"/>
          </a:p>
        </p:txBody>
      </p:sp>
      <p:sp>
        <p:nvSpPr>
          <p:cNvPr id="11" name="Text 9"/>
          <p:cNvSpPr txBox="1"/>
          <p:nvPr/>
        </p:nvSpPr>
        <p:spPr>
          <a:xfrm>
            <a:off x="4169664" y="2715768"/>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Prompt rules require cited source IDs, avoid verdict language, and treat source fields as untrusted. The validator checks selected citations, ratios, and unsupported conclusion wording.</a:t>
            </a:r>
            <a:endParaRPr lang="en-US" sz="1120" dirty="0"/>
          </a:p>
        </p:txBody>
      </p:sp>
      <p:sp>
        <p:nvSpPr>
          <p:cNvPr id="12" name="Shape 10"/>
          <p:cNvSpPr/>
          <p:nvPr/>
        </p:nvSpPr>
        <p:spPr>
          <a:xfrm>
            <a:off x="749808" y="3794760"/>
            <a:ext cx="10652760" cy="941832"/>
          </a:xfrm>
          <a:prstGeom prst="roundRect">
            <a:avLst>
              <a:gd name="adj" fmla="val 11650"/>
            </a:avLst>
          </a:prstGeom>
          <a:solidFill>
            <a:srgbClr val="173C78"/>
          </a:solidFill>
          <a:ln w="12700">
            <a:solidFill>
              <a:srgbClr val="173C78">
                <a:alpha val="0"/>
              </a:srgbClr>
            </a:solidFill>
            <a:prstDash val="solid"/>
          </a:ln>
        </p:spPr>
      </p:sp>
      <p:sp>
        <p:nvSpPr>
          <p:cNvPr id="13" name="Text 11"/>
          <p:cNvSpPr txBox="1"/>
          <p:nvPr/>
        </p:nvSpPr>
        <p:spPr>
          <a:xfrm>
            <a:off x="987552" y="3959352"/>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Can the system guarantee truth?</a:t>
            </a:r>
            <a:endParaRPr lang="en-US" sz="1400" dirty="0"/>
          </a:p>
        </p:txBody>
      </p:sp>
      <p:sp>
        <p:nvSpPr>
          <p:cNvPr id="14" name="Text 12"/>
          <p:cNvSpPr txBox="1"/>
          <p:nvPr/>
        </p:nvSpPr>
        <p:spPr>
          <a:xfrm>
            <a:off x="4169664" y="3941064"/>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No. These checks reduce specific failure modes only. Evidence confidence exposes limitations, and a named human—not the AI—decides whether to close, request information, or escalate.</a:t>
            </a:r>
            <a:endParaRPr lang="en-US" sz="112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FAQ APPENDIX 3</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How are access, audit, and value handled?</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12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53312"/>
            <a:ext cx="10652760" cy="941832"/>
          </a:xfrm>
          <a:prstGeom prst="roundRect">
            <a:avLst>
              <a:gd name="adj" fmla="val 11650"/>
            </a:avLst>
          </a:prstGeom>
          <a:solidFill>
            <a:srgbClr val="FFFFFF"/>
          </a:solidFill>
          <a:ln w="12700">
            <a:solidFill>
              <a:srgbClr val="FFFFFF">
                <a:alpha val="0"/>
              </a:srgbClr>
            </a:solidFill>
            <a:prstDash val="solid"/>
          </a:ln>
        </p:spPr>
      </p:sp>
      <p:sp>
        <p:nvSpPr>
          <p:cNvPr id="7" name="Text 5"/>
          <p:cNvSpPr txBox="1"/>
          <p:nvPr/>
        </p:nvSpPr>
        <p:spPr>
          <a:xfrm>
            <a:off x="987552" y="1517904"/>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Is this role-based access control?</a:t>
            </a:r>
            <a:endParaRPr lang="en-US" sz="1400" dirty="0"/>
          </a:p>
        </p:txBody>
      </p:sp>
      <p:sp>
        <p:nvSpPr>
          <p:cNvPr id="8" name="Text 6"/>
          <p:cNvSpPr txBox="1"/>
          <p:nvPr/>
        </p:nvSpPr>
        <p:spPr>
          <a:xfrm>
            <a:off x="4169664" y="1499616"/>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The visible role selector is a demo display label. Admin pages use a limited passcode gate, which is not production authentication or authorization; the code is not shown in the deck or Blueprint.</a:t>
            </a:r>
            <a:endParaRPr lang="en-US" sz="1120" dirty="0"/>
          </a:p>
        </p:txBody>
      </p:sp>
      <p:sp>
        <p:nvSpPr>
          <p:cNvPr id="9" name="Shape 7"/>
          <p:cNvSpPr/>
          <p:nvPr/>
        </p:nvSpPr>
        <p:spPr>
          <a:xfrm>
            <a:off x="749808" y="2578608"/>
            <a:ext cx="10652760" cy="941832"/>
          </a:xfrm>
          <a:prstGeom prst="roundRect">
            <a:avLst>
              <a:gd name="adj" fmla="val 11650"/>
            </a:avLst>
          </a:prstGeom>
          <a:solidFill>
            <a:srgbClr val="FFFFFF"/>
          </a:solidFill>
          <a:ln w="12700">
            <a:solidFill>
              <a:srgbClr val="FFFFFF">
                <a:alpha val="0"/>
              </a:srgbClr>
            </a:solidFill>
            <a:prstDash val="solid"/>
          </a:ln>
        </p:spPr>
      </p:sp>
      <p:sp>
        <p:nvSpPr>
          <p:cNvPr id="10" name="Text 8"/>
          <p:cNvSpPr txBox="1"/>
          <p:nvPr/>
        </p:nvSpPr>
        <p:spPr>
          <a:xfrm>
            <a:off x="987552" y="274320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What is in the audit trail?</a:t>
            </a:r>
            <a:endParaRPr lang="en-US" sz="1400" dirty="0"/>
          </a:p>
        </p:txBody>
      </p:sp>
      <p:sp>
        <p:nvSpPr>
          <p:cNvPr id="11" name="Text 9"/>
          <p:cNvSpPr txBox="1"/>
          <p:nvPr/>
        </p:nvSpPr>
        <p:spPr>
          <a:xfrm>
            <a:off x="4169664" y="2724912"/>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System, AI, and human workflow events are recorded with case context. A human decision requires a name and rationale and becomes a recorded state; a Compliance return creates a new auditable step.</a:t>
            </a:r>
            <a:endParaRPr lang="en-US" sz="1120" dirty="0"/>
          </a:p>
        </p:txBody>
      </p:sp>
      <p:sp>
        <p:nvSpPr>
          <p:cNvPr id="12" name="Shape 10"/>
          <p:cNvSpPr/>
          <p:nvPr/>
        </p:nvSpPr>
        <p:spPr>
          <a:xfrm>
            <a:off x="749808" y="3803904"/>
            <a:ext cx="10652760" cy="941832"/>
          </a:xfrm>
          <a:prstGeom prst="roundRect">
            <a:avLst>
              <a:gd name="adj" fmla="val 11650"/>
            </a:avLst>
          </a:prstGeom>
          <a:solidFill>
            <a:srgbClr val="E6F8F6"/>
          </a:solidFill>
          <a:ln w="12700">
            <a:solidFill>
              <a:srgbClr val="E6F8F6">
                <a:alpha val="0"/>
              </a:srgbClr>
            </a:solidFill>
            <a:prstDash val="solid"/>
          </a:ln>
        </p:spPr>
      </p:sp>
      <p:sp>
        <p:nvSpPr>
          <p:cNvPr id="13" name="Text 11"/>
          <p:cNvSpPr txBox="1"/>
          <p:nvPr/>
        </p:nvSpPr>
        <p:spPr>
          <a:xfrm>
            <a:off x="987552" y="396849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How much money or time does it save?</a:t>
            </a:r>
            <a:endParaRPr lang="en-US" sz="1400" dirty="0"/>
          </a:p>
        </p:txBody>
      </p:sp>
      <p:sp>
        <p:nvSpPr>
          <p:cNvPr id="14" name="Text 12"/>
          <p:cNvSpPr txBox="1"/>
          <p:nvPr/>
        </p:nvSpPr>
        <p:spPr>
          <a:xfrm>
            <a:off x="4169664" y="3950208"/>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percentage or financial claim is made from fictional data. A real pilot would measure verified lookup time, rework, audit reconstruction time, and safety issues against an approved cost baseline.</a:t>
            </a:r>
            <a:endParaRPr lang="en-US" sz="1120" dirty="0"/>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concise product presentation and live demo</dc:title>
  <dc:subject>InvestigateIQ concise product presentation</dc:subject>
  <dc:creator>Capstone Group 7</dc:creator>
  <cp:lastModifiedBy>Capstone Group 7</cp:lastModifiedBy>
  <cp:revision>1</cp:revision>
  <dcterms:created xsi:type="dcterms:W3CDTF">2026-10-10T13:07:28Z</dcterms:created>
  <dcterms:modified xsi:type="dcterms:W3CDTF">2026-10-10T13:07:28Z</dcterms:modified>
</cp:coreProperties>
</file>