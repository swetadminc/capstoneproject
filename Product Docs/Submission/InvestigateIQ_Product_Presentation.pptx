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introduce InvestigateIQ as a fictional AML investigation copilot. Explain that the deck shows the complete product and its human-accountability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Pankaj introduces the group. State that Pankaj is the single presentation lead and Rahul Chainani supports technical preparation. Acknowledge the roster in the displayed order without reading every responsibility.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Sweta explains the problem: source alerts help prioritize review but do not prove wrongdoing. Point out the queue fields and the difference between status, severity, rule label, and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Sweta walks the audience through the five steps. Use the fade transition and reveal each step in order. Emphasize that every workflow action belongs to a named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Laxman explains the simplified left navigation. Show that the sequence follows user work: first find a case, then inspect it, then trace evidence, then complete a human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Lakshmi explains queue filtering. Use a single case as the continuing example. Mention that a source-closed label differs from a recorded human closure, and evidence remains viewable after completion.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Pankaj explains the workspace. Show saved versus calculated mode and explain that the investigation runs or replays a review; it does not record a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Pankaj explains the evidence confidence score. Say exactly what it measures: support coverage for the draft. Say exactly what it does not measure: crime likelihood, legality, or the correct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Pankaj explains the code path in plain language. OKF is the product's Open Knowledge Format source record. Point to the source chunks on the left. Explain FTS5 and BM25 as local keyword matching and ranking; retrieved IDs make a cited response inspectable, not proven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Laxman demonstrates the floating Copilot. Explain that it stays inside the same case context. Do not imply that a response proves a fact or makes a workflow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Rahul Sharma explains the decision lock and separate Compliance review. State the three Compliance outcomes and their meaning: acknowledge, return, or referred onward. Emphasize that no external filing happens in this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Rahul Sharma explains each graph’s unit. Read axes before making any point about the chart. Make clear that the visuals summarize fictional stored data and workflow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Soumya or Lakshmi covers this slide. Explain how Global Search shortens navigation, while Project and Team makes delivery ownership and role boundaries 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Pankaj explains the technical design. Streamlit provides the pages and session context; SQLite stores the fictional material; FTS5 and BM25 retrieve inspectable chunks; a report is cited and any human decision becomes an append-only audit event. Rahul Chainani can answer a follow-up technical question after the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Rahul Chainani explains the Admin boundary. Do not mention or enter a passcode. Explain that the restricted pages support source/rule inspection but do not claim production authentication.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Rahul Sharma explains validation and Rahul Chainani explains release. Mention that the video used current 1280 by 720 screens and that no production decision data was changed during capture.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Soumya closes. Restate the narrow claim: the product helps people inspect supplied fictional evidence and document their reasoning. It does not prove guilt or legality, replace a human, or file a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C:\D\IIT Mumbai\Capstone Blueprint\assets\walkthrough_screens\2026_home_guest.png">    </p:cNvPr>
          <p:cNvPicPr>
            <a:picLocks noChangeAspect="1"/>
          </p:cNvPicPr>
          <p:nvPr/>
        </p:nvPicPr>
        <p:blipFill>
          <a:blip r:embed="rId1">
            <a:alphaModFix amt="81000"/>
          </a:blip>
          <a:stretch>
            <a:fillRect/>
          </a:stretch>
        </p:blipFill>
        <p:spPr>
          <a:xfrm>
            <a:off x="5806440" y="0"/>
            <a:ext cx="6385255" cy="6858000"/>
          </a:xfrm>
          <a:prstGeom prst="rect">
            <a:avLst/>
          </a:prstGeom>
        </p:spPr>
      </p:pic>
      <p:sp>
        <p:nvSpPr>
          <p:cNvPr id="3" name="Shape 0"/>
          <p:cNvSpPr/>
          <p:nvPr/>
        </p:nvSpPr>
        <p:spPr>
          <a:xfrm>
            <a:off x="0" y="0"/>
            <a:ext cx="6858000" cy="6858000"/>
          </a:xfrm>
          <a:prstGeom prst="rect">
            <a:avLst/>
          </a:prstGeom>
          <a:solidFill>
            <a:srgbClr val="0B1F3A">
              <a:alpha val="97000"/>
            </a:srgbClr>
          </a:solidFill>
          <a:ln w="12700">
            <a:solidFill>
              <a:srgbClr val="0B1F3A">
                <a:alpha val="0"/>
              </a:srgbClr>
            </a:solidFill>
            <a:prstDash val="solid"/>
          </a:ln>
        </p:spPr>
      </p:sp>
      <p:sp>
        <p:nvSpPr>
          <p:cNvPr id="4" name="Shape 1"/>
          <p:cNvSpPr/>
          <p:nvPr/>
        </p:nvSpPr>
        <p:spPr>
          <a:xfrm>
            <a:off x="658368" y="685800"/>
            <a:ext cx="1737360" cy="310896"/>
          </a:xfrm>
          <a:prstGeom prst="roundRect">
            <a:avLst>
              <a:gd name="adj" fmla="val 47059"/>
            </a:avLst>
          </a:prstGeom>
          <a:solidFill>
            <a:srgbClr val="00A79D"/>
          </a:solidFill>
          <a:ln w="12700">
            <a:solidFill>
              <a:srgbClr val="00A79D">
                <a:alpha val="0"/>
              </a:srgbClr>
            </a:solidFill>
            <a:prstDash val="solid"/>
          </a:ln>
        </p:spPr>
      </p:sp>
      <p:sp>
        <p:nvSpPr>
          <p:cNvPr id="5" name="Text 2"/>
          <p:cNvSpPr txBox="1"/>
          <p:nvPr/>
        </p:nvSpPr>
        <p:spPr>
          <a:xfrm>
            <a:off x="768096" y="722376"/>
            <a:ext cx="1517904" cy="201168"/>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CAPSTONE GROUP 7</a:t>
            </a:r>
            <a:endParaRPr lang="en-US" sz="1000" dirty="0"/>
          </a:p>
        </p:txBody>
      </p:sp>
      <p:sp>
        <p:nvSpPr>
          <p:cNvPr id="6" name="Text 3"/>
          <p:cNvSpPr txBox="1"/>
          <p:nvPr/>
        </p:nvSpPr>
        <p:spPr>
          <a:xfrm>
            <a:off x="658368" y="1298448"/>
            <a:ext cx="4754880" cy="594360"/>
          </a:xfrm>
          <a:prstGeom prst="rect">
            <a:avLst/>
          </a:prstGeom>
          <a:noFill/>
          <a:ln/>
        </p:spPr>
        <p:txBody>
          <a:bodyPr wrap="square" lIns="0" tIns="0" rIns="0" bIns="0" rtlCol="0" anchor="ctr">
            <a:normAutofit/>
          </a:bodyPr>
          <a:lstStyle/>
          <a:p>
            <a:pPr algn="l" indent="0" marL="0">
              <a:buNone/>
            </a:pPr>
            <a:r>
              <a:rPr lang="en-US" sz="4200" b="1" dirty="0">
                <a:solidFill>
                  <a:srgbClr val="FFFFFF"/>
                </a:solidFill>
                <a:latin typeface="Arial" pitchFamily="34" charset="0"/>
                <a:ea typeface="Arial" pitchFamily="34" charset="-122"/>
                <a:cs typeface="Arial" pitchFamily="34" charset="-120"/>
              </a:rPr>
              <a:t>InvestigateIQ</a:t>
            </a:r>
            <a:endParaRPr lang="en-US" sz="4200" dirty="0"/>
          </a:p>
        </p:txBody>
      </p:sp>
      <p:sp>
        <p:nvSpPr>
          <p:cNvPr id="7" name="Text 4"/>
          <p:cNvSpPr txBox="1"/>
          <p:nvPr/>
        </p:nvSpPr>
        <p:spPr>
          <a:xfrm>
            <a:off x="685800" y="2011680"/>
            <a:ext cx="4617720" cy="411480"/>
          </a:xfrm>
          <a:prstGeom prst="rect">
            <a:avLst/>
          </a:prstGeom>
          <a:noFill/>
          <a:ln/>
        </p:spPr>
        <p:txBody>
          <a:bodyPr wrap="square" lIns="0" tIns="0" rIns="0" bIns="0" rtlCol="0" anchor="ctr">
            <a:normAutofit/>
          </a:bodyPr>
          <a:lstStyle/>
          <a:p>
            <a:pPr algn="l" indent="0" marL="0">
              <a:buNone/>
            </a:pPr>
            <a:r>
              <a:rPr lang="en-US" sz="2000" dirty="0">
                <a:solidFill>
                  <a:srgbClr val="C8D9F3"/>
                </a:solidFill>
                <a:latin typeface="Arial" pitchFamily="34" charset="0"/>
                <a:ea typeface="Arial" pitchFamily="34" charset="-122"/>
                <a:cs typeface="Arial" pitchFamily="34" charset="-120"/>
              </a:rPr>
              <a:t>AI-assisted AML case investigation copilot</a:t>
            </a:r>
            <a:endParaRPr lang="en-US" sz="2000" dirty="0"/>
          </a:p>
        </p:txBody>
      </p:sp>
      <p:sp>
        <p:nvSpPr>
          <p:cNvPr id="8" name="Text 5"/>
          <p:cNvSpPr txBox="1"/>
          <p:nvPr/>
        </p:nvSpPr>
        <p:spPr>
          <a:xfrm>
            <a:off x="685800" y="2907792"/>
            <a:ext cx="4389120" cy="384048"/>
          </a:xfrm>
          <a:prstGeom prst="rect">
            <a:avLst/>
          </a:prstGeom>
          <a:noFill/>
          <a:ln/>
        </p:spPr>
        <p:txBody>
          <a:bodyPr wrap="square" lIns="0" tIns="0" rIns="0" bIns="0" rtlCol="0" anchor="ctr">
            <a:normAutofit/>
          </a:bodyPr>
          <a:lstStyle/>
          <a:p>
            <a:pPr algn="l" indent="0" marL="0">
              <a:buNone/>
            </a:pPr>
            <a:r>
              <a:rPr lang="en-US" sz="2200" b="1" dirty="0">
                <a:solidFill>
                  <a:srgbClr val="78DCD4"/>
                </a:solidFill>
                <a:latin typeface="Arial" pitchFamily="34" charset="0"/>
                <a:ea typeface="Arial" pitchFamily="34" charset="-122"/>
                <a:cs typeface="Arial" pitchFamily="34" charset="-120"/>
              </a:rPr>
              <a:t>Trace the evidence. Own the decision.</a:t>
            </a:r>
            <a:endParaRPr lang="en-US" sz="2200" dirty="0"/>
          </a:p>
        </p:txBody>
      </p:sp>
      <p:sp>
        <p:nvSpPr>
          <p:cNvPr id="9" name="Text 6"/>
          <p:cNvSpPr txBox="1"/>
          <p:nvPr/>
        </p:nvSpPr>
        <p:spPr>
          <a:xfrm>
            <a:off x="685800" y="3474720"/>
            <a:ext cx="4709160" cy="676656"/>
          </a:xfrm>
          <a:prstGeom prst="rect">
            <a:avLst/>
          </a:prstGeom>
          <a:noFill/>
          <a:ln/>
        </p:spPr>
        <p:txBody>
          <a:bodyPr wrap="square" lIns="0" tIns="0" rIns="0" bIns="0" rtlCol="0" anchor="t">
            <a:normAutofit/>
          </a:bodyPr>
          <a:lstStyle/>
          <a:p>
            <a:pPr algn="l" indent="0" marL="0">
              <a:buNone/>
            </a:pPr>
            <a:r>
              <a:rPr lang="en-US" sz="1700" dirty="0">
                <a:solidFill>
                  <a:srgbClr val="D7E5F9"/>
                </a:solidFill>
                <a:latin typeface="Arial" pitchFamily="34" charset="0"/>
                <a:ea typeface="Arial" pitchFamily="34" charset="-122"/>
                <a:cs typeface="Arial" pitchFamily="34" charset="-120"/>
              </a:rPr>
              <a:t>A fictional, transparent evidence-to-decision workflow for a human investigator and Compliance reviewer.</a:t>
            </a:r>
            <a:endParaRPr lang="en-US" sz="1700" dirty="0"/>
          </a:p>
        </p:txBody>
      </p:sp>
      <p:sp>
        <p:nvSpPr>
          <p:cNvPr id="10" name="Text 7"/>
          <p:cNvSpPr txBox="1"/>
          <p:nvPr/>
        </p:nvSpPr>
        <p:spPr>
          <a:xfrm>
            <a:off x="685800" y="5797296"/>
            <a:ext cx="3383280" cy="201168"/>
          </a:xfrm>
          <a:prstGeom prst="rect">
            <a:avLst/>
          </a:prstGeom>
          <a:noFill/>
          <a:ln/>
        </p:spPr>
        <p:txBody>
          <a:bodyPr wrap="square" lIns="0" tIns="0" rIns="0" bIns="0" rtlCol="0" anchor="ctr">
            <a:normAutofit/>
          </a:bodyPr>
          <a:lstStyle/>
          <a:p>
            <a:pPr algn="l" indent="0" marL="0">
              <a:buNone/>
            </a:pPr>
            <a:r>
              <a:rPr lang="en-US" sz="1200" dirty="0">
                <a:solidFill>
                  <a:srgbClr val="AFC9EC"/>
                </a:solidFill>
                <a:latin typeface="Arial" pitchFamily="34" charset="0"/>
                <a:ea typeface="Arial" pitchFamily="34" charset="-122"/>
                <a:cs typeface="Arial" pitchFamily="34" charset="-120"/>
              </a:rPr>
              <a:t>Leadership with AI · IIT Bombay</a:t>
            </a:r>
            <a:endParaRPr lang="en-US" sz="1200" dirty="0"/>
          </a:p>
        </p:txBody>
      </p:sp>
    </p:spTree>
  </p:cSld>
  <p:clrMapOvr>
    <a:masterClrMapping/>
  </p:clrMapOvr>
  <p:transition spd="med" advClick="1">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84048"/>
            <a:ext cx="4572000" cy="21031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THE PROJECT TEAM</a:t>
            </a:r>
            <a:endParaRPr lang="en-US" sz="1000" dirty="0"/>
          </a:p>
        </p:txBody>
      </p:sp>
      <p:sp>
        <p:nvSpPr>
          <p:cNvPr id="3" name="Text 1"/>
          <p:cNvSpPr txBox="1"/>
          <p:nvPr/>
        </p:nvSpPr>
        <p:spPr>
          <a:xfrm>
            <a:off x="621792" y="658368"/>
            <a:ext cx="10881360" cy="493776"/>
          </a:xfrm>
          <a:prstGeom prst="rect">
            <a:avLst/>
          </a:prstGeom>
          <a:noFill/>
          <a:ln/>
        </p:spPr>
        <p:txBody>
          <a:bodyPr wrap="square" lIns="0" tIns="0" rIns="0" bIns="0" rtlCol="0" anchor="ctr">
            <a:normAutofit/>
          </a:bodyPr>
          <a:lstStyle/>
          <a:p>
            <a:pPr algn="l" indent="0" marL="0">
              <a:buNone/>
            </a:pPr>
            <a:r>
              <a:rPr lang="en-US" sz="3100" b="1" dirty="0">
                <a:solidFill>
                  <a:srgbClr val="0B1F3A"/>
                </a:solidFill>
                <a:latin typeface="Arial" pitchFamily="34" charset="0"/>
                <a:ea typeface="Arial" pitchFamily="34" charset="-122"/>
                <a:cs typeface="Arial" pitchFamily="34" charset="-120"/>
              </a:rPr>
              <a:t>Who built and explains the product</a:t>
            </a:r>
            <a:endParaRPr lang="en-US" sz="3100" dirty="0"/>
          </a:p>
        </p:txBody>
      </p:sp>
      <p:sp>
        <p:nvSpPr>
          <p:cNvPr id="4" name="Text 2"/>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2</a:t>
            </a:r>
            <a:endParaRPr lang="en-US" sz="850" dirty="0"/>
          </a:p>
        </p:txBody>
      </p:sp>
      <p:sp>
        <p:nvSpPr>
          <p:cNvPr id="5" name="Text 3"/>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Text 4"/>
          <p:cNvSpPr txBox="1"/>
          <p:nvPr/>
        </p:nvSpPr>
        <p:spPr>
          <a:xfrm>
            <a:off x="640080" y="1316736"/>
            <a:ext cx="6583680" cy="228600"/>
          </a:xfrm>
          <a:prstGeom prst="rect">
            <a:avLst/>
          </a:prstGeom>
          <a:noFill/>
          <a:ln/>
        </p:spPr>
        <p:txBody>
          <a:bodyPr wrap="square" lIns="0" tIns="0" rIns="0" bIns="0" rtlCol="0" anchor="ctr">
            <a:normAutofit/>
          </a:bodyPr>
          <a:lstStyle/>
          <a:p>
            <a:pPr algn="l" indent="0" marL="0">
              <a:buNone/>
            </a:pPr>
            <a:r>
              <a:rPr lang="en-US" sz="1500" dirty="0">
                <a:solidFill>
                  <a:srgbClr val="63738D"/>
                </a:solidFill>
                <a:latin typeface="Arial" pitchFamily="34" charset="0"/>
                <a:ea typeface="Arial" pitchFamily="34" charset="-122"/>
                <a:cs typeface="Arial" pitchFamily="34" charset="-120"/>
              </a:rPr>
              <a:t>Presentation lead: Pankaj Bharsakale · Technical preparation: Rahul Chainani</a:t>
            </a:r>
            <a:endParaRPr lang="en-US" sz="1500" dirty="0"/>
          </a:p>
        </p:txBody>
      </p:sp>
      <p:sp>
        <p:nvSpPr>
          <p:cNvPr id="7" name="Shape 5"/>
          <p:cNvSpPr/>
          <p:nvPr/>
        </p:nvSpPr>
        <p:spPr>
          <a:xfrm>
            <a:off x="658368" y="1783080"/>
            <a:ext cx="5074920" cy="822960"/>
          </a:xfrm>
          <a:prstGeom prst="roundRect">
            <a:avLst>
              <a:gd name="adj" fmla="val 17778"/>
            </a:avLst>
          </a:prstGeom>
          <a:solidFill>
            <a:srgbClr val="EAF2FF"/>
          </a:solidFill>
          <a:ln w="12700">
            <a:solidFill>
              <a:srgbClr val="EAF2FF">
                <a:alpha val="0"/>
              </a:srgbClr>
            </a:solidFill>
            <a:prstDash val="solid"/>
          </a:ln>
        </p:spPr>
      </p:sp>
      <p:sp>
        <p:nvSpPr>
          <p:cNvPr id="8" name="Shape 6"/>
          <p:cNvSpPr/>
          <p:nvPr/>
        </p:nvSpPr>
        <p:spPr>
          <a:xfrm>
            <a:off x="841248" y="1965960"/>
            <a:ext cx="438912" cy="438912"/>
          </a:xfrm>
          <a:prstGeom prst="ellipse">
            <a:avLst/>
          </a:prstGeom>
          <a:solidFill>
            <a:srgbClr val="2E65C5"/>
          </a:solidFill>
          <a:ln w="12700">
            <a:solidFill>
              <a:srgbClr val="FFFFFF">
                <a:alpha val="0"/>
              </a:srgbClr>
            </a:solidFill>
            <a:prstDash val="solid"/>
          </a:ln>
        </p:spPr>
      </p:sp>
      <p:sp>
        <p:nvSpPr>
          <p:cNvPr id="9" name="Text 7"/>
          <p:cNvSpPr txBox="1"/>
          <p:nvPr/>
        </p:nvSpPr>
        <p:spPr>
          <a:xfrm>
            <a:off x="1435608" y="1920240"/>
            <a:ext cx="3611880" cy="210312"/>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Rahul Chainani</a:t>
            </a:r>
            <a:endParaRPr lang="en-US" sz="1500" dirty="0"/>
          </a:p>
        </p:txBody>
      </p:sp>
      <p:sp>
        <p:nvSpPr>
          <p:cNvPr id="10" name="Text 8"/>
          <p:cNvSpPr txBox="1"/>
          <p:nvPr/>
        </p:nvSpPr>
        <p:spPr>
          <a:xfrm>
            <a:off x="1435608" y="2194560"/>
            <a:ext cx="3977640" cy="228600"/>
          </a:xfrm>
          <a:prstGeom prst="rect">
            <a:avLst/>
          </a:prstGeom>
          <a:noFill/>
          <a:ln/>
        </p:spPr>
        <p:txBody>
          <a:bodyPr wrap="square" lIns="0" tIns="0" rIns="0" bIns="0" rtlCol="0" anchor="ctr">
            <a:normAutofit/>
          </a:bodyPr>
          <a:lstStyle/>
          <a:p>
            <a:pPr algn="l" indent="0" marL="0">
              <a:buNone/>
            </a:pPr>
            <a:r>
              <a:rPr lang="en-US" sz="1150" dirty="0">
                <a:solidFill>
                  <a:srgbClr val="63738D"/>
                </a:solidFill>
                <a:latin typeface="Arial" pitchFamily="34" charset="0"/>
                <a:ea typeface="Arial" pitchFamily="34" charset="-122"/>
                <a:cs typeface="Arial" pitchFamily="34" charset="-120"/>
              </a:rPr>
              <a:t>Application development and integration</a:t>
            </a:r>
            <a:endParaRPr lang="en-US" sz="1150" dirty="0"/>
          </a:p>
        </p:txBody>
      </p:sp>
      <p:sp>
        <p:nvSpPr>
          <p:cNvPr id="11" name="Shape 9"/>
          <p:cNvSpPr/>
          <p:nvPr/>
        </p:nvSpPr>
        <p:spPr>
          <a:xfrm>
            <a:off x="6190488" y="1783080"/>
            <a:ext cx="5074920" cy="822960"/>
          </a:xfrm>
          <a:prstGeom prst="roundRect">
            <a:avLst>
              <a:gd name="adj" fmla="val 17778"/>
            </a:avLst>
          </a:prstGeom>
          <a:solidFill>
            <a:srgbClr val="EAF9F7"/>
          </a:solidFill>
          <a:ln w="12700">
            <a:solidFill>
              <a:srgbClr val="EAF9F7">
                <a:alpha val="0"/>
              </a:srgbClr>
            </a:solidFill>
            <a:prstDash val="solid"/>
          </a:ln>
        </p:spPr>
      </p:sp>
      <p:sp>
        <p:nvSpPr>
          <p:cNvPr id="12" name="Shape 10"/>
          <p:cNvSpPr/>
          <p:nvPr/>
        </p:nvSpPr>
        <p:spPr>
          <a:xfrm>
            <a:off x="6373368" y="1965960"/>
            <a:ext cx="438912" cy="438912"/>
          </a:xfrm>
          <a:prstGeom prst="ellipse">
            <a:avLst/>
          </a:prstGeom>
          <a:solidFill>
            <a:srgbClr val="00A79D"/>
          </a:solidFill>
          <a:ln w="12700">
            <a:solidFill>
              <a:srgbClr val="FFFFFF">
                <a:alpha val="0"/>
              </a:srgbClr>
            </a:solidFill>
            <a:prstDash val="solid"/>
          </a:ln>
        </p:spPr>
      </p:sp>
      <p:sp>
        <p:nvSpPr>
          <p:cNvPr id="13" name="Text 11"/>
          <p:cNvSpPr txBox="1"/>
          <p:nvPr/>
        </p:nvSpPr>
        <p:spPr>
          <a:xfrm>
            <a:off x="6967728" y="1920240"/>
            <a:ext cx="3611880" cy="210312"/>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Pankaj Bharsakale</a:t>
            </a:r>
            <a:endParaRPr lang="en-US" sz="1500" dirty="0"/>
          </a:p>
        </p:txBody>
      </p:sp>
      <p:sp>
        <p:nvSpPr>
          <p:cNvPr id="14" name="Text 12"/>
          <p:cNvSpPr txBox="1"/>
          <p:nvPr/>
        </p:nvSpPr>
        <p:spPr>
          <a:xfrm>
            <a:off x="6967728" y="2194560"/>
            <a:ext cx="3977640" cy="228600"/>
          </a:xfrm>
          <a:prstGeom prst="rect">
            <a:avLst/>
          </a:prstGeom>
          <a:noFill/>
          <a:ln/>
        </p:spPr>
        <p:txBody>
          <a:bodyPr wrap="square" lIns="0" tIns="0" rIns="0" bIns="0" rtlCol="0" anchor="ctr">
            <a:normAutofit/>
          </a:bodyPr>
          <a:lstStyle/>
          <a:p>
            <a:pPr algn="l" indent="0" marL="0">
              <a:buNone/>
            </a:pPr>
            <a:r>
              <a:rPr lang="en-US" sz="1150" dirty="0">
                <a:solidFill>
                  <a:srgbClr val="63738D"/>
                </a:solidFill>
                <a:latin typeface="Arial" pitchFamily="34" charset="0"/>
                <a:ea typeface="Arial" pitchFamily="34" charset="-122"/>
                <a:cs typeface="Arial" pitchFamily="34" charset="-120"/>
              </a:rPr>
              <a:t>AI workflow and evidence review</a:t>
            </a:r>
            <a:endParaRPr lang="en-US" sz="1150" dirty="0"/>
          </a:p>
        </p:txBody>
      </p:sp>
      <p:sp>
        <p:nvSpPr>
          <p:cNvPr id="15" name="Shape 13"/>
          <p:cNvSpPr/>
          <p:nvPr/>
        </p:nvSpPr>
        <p:spPr>
          <a:xfrm>
            <a:off x="658368" y="2843784"/>
            <a:ext cx="5074920" cy="822960"/>
          </a:xfrm>
          <a:prstGeom prst="roundRect">
            <a:avLst>
              <a:gd name="adj" fmla="val 17778"/>
            </a:avLst>
          </a:prstGeom>
          <a:solidFill>
            <a:srgbClr val="EAF2FF"/>
          </a:solidFill>
          <a:ln w="12700">
            <a:solidFill>
              <a:srgbClr val="EAF2FF">
                <a:alpha val="0"/>
              </a:srgbClr>
            </a:solidFill>
            <a:prstDash val="solid"/>
          </a:ln>
        </p:spPr>
      </p:sp>
      <p:sp>
        <p:nvSpPr>
          <p:cNvPr id="16" name="Shape 14"/>
          <p:cNvSpPr/>
          <p:nvPr/>
        </p:nvSpPr>
        <p:spPr>
          <a:xfrm>
            <a:off x="841248" y="3026664"/>
            <a:ext cx="438912" cy="438912"/>
          </a:xfrm>
          <a:prstGeom prst="ellipse">
            <a:avLst/>
          </a:prstGeom>
          <a:solidFill>
            <a:srgbClr val="2E65C5"/>
          </a:solidFill>
          <a:ln w="12700">
            <a:solidFill>
              <a:srgbClr val="FFFFFF">
                <a:alpha val="0"/>
              </a:srgbClr>
            </a:solidFill>
            <a:prstDash val="solid"/>
          </a:ln>
        </p:spPr>
      </p:sp>
      <p:sp>
        <p:nvSpPr>
          <p:cNvPr id="17" name="Text 15"/>
          <p:cNvSpPr txBox="1"/>
          <p:nvPr/>
        </p:nvSpPr>
        <p:spPr>
          <a:xfrm>
            <a:off x="1435608" y="2980944"/>
            <a:ext cx="3611880" cy="210312"/>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Lakshmi Dudgikar</a:t>
            </a:r>
            <a:endParaRPr lang="en-US" sz="1500" dirty="0"/>
          </a:p>
        </p:txBody>
      </p:sp>
      <p:sp>
        <p:nvSpPr>
          <p:cNvPr id="18" name="Text 16"/>
          <p:cNvSpPr txBox="1"/>
          <p:nvPr/>
        </p:nvSpPr>
        <p:spPr>
          <a:xfrm>
            <a:off x="1435608" y="3255264"/>
            <a:ext cx="3977640" cy="228600"/>
          </a:xfrm>
          <a:prstGeom prst="rect">
            <a:avLst/>
          </a:prstGeom>
          <a:noFill/>
          <a:ln/>
        </p:spPr>
        <p:txBody>
          <a:bodyPr wrap="square" lIns="0" tIns="0" rIns="0" bIns="0" rtlCol="0" anchor="ctr">
            <a:normAutofit/>
          </a:bodyPr>
          <a:lstStyle/>
          <a:p>
            <a:pPr algn="l" indent="0" marL="0">
              <a:buNone/>
            </a:pPr>
            <a:r>
              <a:rPr lang="en-US" sz="1150" dirty="0">
                <a:solidFill>
                  <a:srgbClr val="63738D"/>
                </a:solidFill>
                <a:latin typeface="Arial" pitchFamily="34" charset="0"/>
                <a:ea typeface="Arial" pitchFamily="34" charset="-122"/>
                <a:cs typeface="Arial" pitchFamily="34" charset="-120"/>
              </a:rPr>
              <a:t>Requirements and case-study mapping</a:t>
            </a:r>
            <a:endParaRPr lang="en-US" sz="1150" dirty="0"/>
          </a:p>
        </p:txBody>
      </p:sp>
      <p:sp>
        <p:nvSpPr>
          <p:cNvPr id="19" name="Shape 17"/>
          <p:cNvSpPr/>
          <p:nvPr/>
        </p:nvSpPr>
        <p:spPr>
          <a:xfrm>
            <a:off x="6190488" y="2843784"/>
            <a:ext cx="5074920" cy="822960"/>
          </a:xfrm>
          <a:prstGeom prst="roundRect">
            <a:avLst>
              <a:gd name="adj" fmla="val 17778"/>
            </a:avLst>
          </a:prstGeom>
          <a:solidFill>
            <a:srgbClr val="EAF9F7"/>
          </a:solidFill>
          <a:ln w="12700">
            <a:solidFill>
              <a:srgbClr val="EAF9F7">
                <a:alpha val="0"/>
              </a:srgbClr>
            </a:solidFill>
            <a:prstDash val="solid"/>
          </a:ln>
        </p:spPr>
      </p:sp>
      <p:sp>
        <p:nvSpPr>
          <p:cNvPr id="20" name="Shape 18"/>
          <p:cNvSpPr/>
          <p:nvPr/>
        </p:nvSpPr>
        <p:spPr>
          <a:xfrm>
            <a:off x="6373368" y="3026664"/>
            <a:ext cx="438912" cy="438912"/>
          </a:xfrm>
          <a:prstGeom prst="ellipse">
            <a:avLst/>
          </a:prstGeom>
          <a:solidFill>
            <a:srgbClr val="00A79D"/>
          </a:solidFill>
          <a:ln w="12700">
            <a:solidFill>
              <a:srgbClr val="FFFFFF">
                <a:alpha val="0"/>
              </a:srgbClr>
            </a:solidFill>
            <a:prstDash val="solid"/>
          </a:ln>
        </p:spPr>
      </p:sp>
      <p:sp>
        <p:nvSpPr>
          <p:cNvPr id="21" name="Text 19"/>
          <p:cNvSpPr txBox="1"/>
          <p:nvPr/>
        </p:nvSpPr>
        <p:spPr>
          <a:xfrm>
            <a:off x="6967728" y="2980944"/>
            <a:ext cx="3611880" cy="210312"/>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Rahul Sharma</a:t>
            </a:r>
            <a:endParaRPr lang="en-US" sz="1500" dirty="0"/>
          </a:p>
        </p:txBody>
      </p:sp>
      <p:sp>
        <p:nvSpPr>
          <p:cNvPr id="22" name="Text 20"/>
          <p:cNvSpPr txBox="1"/>
          <p:nvPr/>
        </p:nvSpPr>
        <p:spPr>
          <a:xfrm>
            <a:off x="6967728" y="3255264"/>
            <a:ext cx="3977640" cy="228600"/>
          </a:xfrm>
          <a:prstGeom prst="rect">
            <a:avLst/>
          </a:prstGeom>
          <a:noFill/>
          <a:ln/>
        </p:spPr>
        <p:txBody>
          <a:bodyPr wrap="square" lIns="0" tIns="0" rIns="0" bIns="0" rtlCol="0" anchor="ctr">
            <a:normAutofit/>
          </a:bodyPr>
          <a:lstStyle/>
          <a:p>
            <a:pPr algn="l" indent="0" marL="0">
              <a:buNone/>
            </a:pPr>
            <a:r>
              <a:rPr lang="en-US" sz="1150" dirty="0">
                <a:solidFill>
                  <a:srgbClr val="63738D"/>
                </a:solidFill>
                <a:latin typeface="Arial" pitchFamily="34" charset="0"/>
                <a:ea typeface="Arial" pitchFamily="34" charset="-122"/>
                <a:cs typeface="Arial" pitchFamily="34" charset="-120"/>
              </a:rPr>
              <a:t>Quality assurance and edge cases</a:t>
            </a:r>
            <a:endParaRPr lang="en-US" sz="1150" dirty="0"/>
          </a:p>
        </p:txBody>
      </p:sp>
      <p:sp>
        <p:nvSpPr>
          <p:cNvPr id="23" name="Shape 21"/>
          <p:cNvSpPr/>
          <p:nvPr/>
        </p:nvSpPr>
        <p:spPr>
          <a:xfrm>
            <a:off x="658368" y="3904488"/>
            <a:ext cx="5074920" cy="822960"/>
          </a:xfrm>
          <a:prstGeom prst="roundRect">
            <a:avLst>
              <a:gd name="adj" fmla="val 17778"/>
            </a:avLst>
          </a:prstGeom>
          <a:solidFill>
            <a:srgbClr val="EAF2FF"/>
          </a:solidFill>
          <a:ln w="12700">
            <a:solidFill>
              <a:srgbClr val="EAF2FF">
                <a:alpha val="0"/>
              </a:srgbClr>
            </a:solidFill>
            <a:prstDash val="solid"/>
          </a:ln>
        </p:spPr>
      </p:sp>
      <p:sp>
        <p:nvSpPr>
          <p:cNvPr id="24" name="Shape 22"/>
          <p:cNvSpPr/>
          <p:nvPr/>
        </p:nvSpPr>
        <p:spPr>
          <a:xfrm>
            <a:off x="841248" y="4087368"/>
            <a:ext cx="438912" cy="438912"/>
          </a:xfrm>
          <a:prstGeom prst="ellipse">
            <a:avLst/>
          </a:prstGeom>
          <a:solidFill>
            <a:srgbClr val="2E65C5"/>
          </a:solidFill>
          <a:ln w="12700">
            <a:solidFill>
              <a:srgbClr val="FFFFFF">
                <a:alpha val="0"/>
              </a:srgbClr>
            </a:solidFill>
            <a:prstDash val="solid"/>
          </a:ln>
        </p:spPr>
      </p:sp>
      <p:sp>
        <p:nvSpPr>
          <p:cNvPr id="25" name="Text 23"/>
          <p:cNvSpPr txBox="1"/>
          <p:nvPr/>
        </p:nvSpPr>
        <p:spPr>
          <a:xfrm>
            <a:off x="1435608" y="4041648"/>
            <a:ext cx="3611880" cy="210312"/>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Laxman Singh</a:t>
            </a:r>
            <a:endParaRPr lang="en-US" sz="1500" dirty="0"/>
          </a:p>
        </p:txBody>
      </p:sp>
      <p:sp>
        <p:nvSpPr>
          <p:cNvPr id="26" name="Text 24"/>
          <p:cNvSpPr txBox="1"/>
          <p:nvPr/>
        </p:nvSpPr>
        <p:spPr>
          <a:xfrm>
            <a:off x="1435608" y="4315968"/>
            <a:ext cx="3977640" cy="228600"/>
          </a:xfrm>
          <a:prstGeom prst="rect">
            <a:avLst/>
          </a:prstGeom>
          <a:noFill/>
          <a:ln/>
        </p:spPr>
        <p:txBody>
          <a:bodyPr wrap="square" lIns="0" tIns="0" rIns="0" bIns="0" rtlCol="0" anchor="ctr">
            <a:normAutofit/>
          </a:bodyPr>
          <a:lstStyle/>
          <a:p>
            <a:pPr algn="l" indent="0" marL="0">
              <a:buNone/>
            </a:pPr>
            <a:r>
              <a:rPr lang="en-US" sz="1150" dirty="0">
                <a:solidFill>
                  <a:srgbClr val="63738D"/>
                </a:solidFill>
                <a:latin typeface="Arial" pitchFamily="34" charset="0"/>
                <a:ea typeface="Arial" pitchFamily="34" charset="-122"/>
                <a:cs typeface="Arial" pitchFamily="34" charset="-120"/>
              </a:rPr>
              <a:t>User experience and product walkthrough</a:t>
            </a:r>
            <a:endParaRPr lang="en-US" sz="1150" dirty="0"/>
          </a:p>
        </p:txBody>
      </p:sp>
      <p:sp>
        <p:nvSpPr>
          <p:cNvPr id="27" name="Shape 25"/>
          <p:cNvSpPr/>
          <p:nvPr/>
        </p:nvSpPr>
        <p:spPr>
          <a:xfrm>
            <a:off x="6190488" y="3904488"/>
            <a:ext cx="5074920" cy="822960"/>
          </a:xfrm>
          <a:prstGeom prst="roundRect">
            <a:avLst>
              <a:gd name="adj" fmla="val 17778"/>
            </a:avLst>
          </a:prstGeom>
          <a:solidFill>
            <a:srgbClr val="EAF9F7"/>
          </a:solidFill>
          <a:ln w="12700">
            <a:solidFill>
              <a:srgbClr val="EAF9F7">
                <a:alpha val="0"/>
              </a:srgbClr>
            </a:solidFill>
            <a:prstDash val="solid"/>
          </a:ln>
        </p:spPr>
      </p:sp>
      <p:sp>
        <p:nvSpPr>
          <p:cNvPr id="28" name="Shape 26"/>
          <p:cNvSpPr/>
          <p:nvPr/>
        </p:nvSpPr>
        <p:spPr>
          <a:xfrm>
            <a:off x="6373368" y="4087368"/>
            <a:ext cx="438912" cy="438912"/>
          </a:xfrm>
          <a:prstGeom prst="ellipse">
            <a:avLst/>
          </a:prstGeom>
          <a:solidFill>
            <a:srgbClr val="00A79D"/>
          </a:solidFill>
          <a:ln w="12700">
            <a:solidFill>
              <a:srgbClr val="FFFFFF">
                <a:alpha val="0"/>
              </a:srgbClr>
            </a:solidFill>
            <a:prstDash val="solid"/>
          </a:ln>
        </p:spPr>
      </p:sp>
      <p:sp>
        <p:nvSpPr>
          <p:cNvPr id="29" name="Text 27"/>
          <p:cNvSpPr txBox="1"/>
          <p:nvPr/>
        </p:nvSpPr>
        <p:spPr>
          <a:xfrm>
            <a:off x="6967728" y="4041648"/>
            <a:ext cx="3611880" cy="210312"/>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Soumya</a:t>
            </a:r>
            <a:endParaRPr lang="en-US" sz="1500" dirty="0"/>
          </a:p>
        </p:txBody>
      </p:sp>
      <p:sp>
        <p:nvSpPr>
          <p:cNvPr id="30" name="Text 28"/>
          <p:cNvSpPr txBox="1"/>
          <p:nvPr/>
        </p:nvSpPr>
        <p:spPr>
          <a:xfrm>
            <a:off x="6967728" y="4315968"/>
            <a:ext cx="3977640" cy="228600"/>
          </a:xfrm>
          <a:prstGeom prst="rect">
            <a:avLst/>
          </a:prstGeom>
          <a:noFill/>
          <a:ln/>
        </p:spPr>
        <p:txBody>
          <a:bodyPr wrap="square" lIns="0" tIns="0" rIns="0" bIns="0" rtlCol="0" anchor="ctr">
            <a:normAutofit/>
          </a:bodyPr>
          <a:lstStyle/>
          <a:p>
            <a:pPr algn="l" indent="0" marL="0">
              <a:buNone/>
            </a:pPr>
            <a:r>
              <a:rPr lang="en-US" sz="1150" dirty="0">
                <a:solidFill>
                  <a:srgbClr val="63738D"/>
                </a:solidFill>
                <a:latin typeface="Arial" pitchFamily="34" charset="0"/>
                <a:ea typeface="Arial" pitchFamily="34" charset="-122"/>
                <a:cs typeface="Arial" pitchFamily="34" charset="-120"/>
              </a:rPr>
              <a:t>Team coordination and presentation</a:t>
            </a:r>
            <a:endParaRPr lang="en-US" sz="1150" dirty="0"/>
          </a:p>
        </p:txBody>
      </p:sp>
      <p:sp>
        <p:nvSpPr>
          <p:cNvPr id="31" name="Shape 29"/>
          <p:cNvSpPr/>
          <p:nvPr/>
        </p:nvSpPr>
        <p:spPr>
          <a:xfrm>
            <a:off x="658368" y="4965192"/>
            <a:ext cx="5074920" cy="822960"/>
          </a:xfrm>
          <a:prstGeom prst="roundRect">
            <a:avLst>
              <a:gd name="adj" fmla="val 17778"/>
            </a:avLst>
          </a:prstGeom>
          <a:solidFill>
            <a:srgbClr val="EAF2FF"/>
          </a:solidFill>
          <a:ln w="12700">
            <a:solidFill>
              <a:srgbClr val="EAF2FF">
                <a:alpha val="0"/>
              </a:srgbClr>
            </a:solidFill>
            <a:prstDash val="solid"/>
          </a:ln>
        </p:spPr>
      </p:sp>
      <p:sp>
        <p:nvSpPr>
          <p:cNvPr id="32" name="Shape 30"/>
          <p:cNvSpPr/>
          <p:nvPr/>
        </p:nvSpPr>
        <p:spPr>
          <a:xfrm>
            <a:off x="841248" y="5148072"/>
            <a:ext cx="438912" cy="438912"/>
          </a:xfrm>
          <a:prstGeom prst="ellipse">
            <a:avLst/>
          </a:prstGeom>
          <a:solidFill>
            <a:srgbClr val="2E65C5"/>
          </a:solidFill>
          <a:ln w="12700">
            <a:solidFill>
              <a:srgbClr val="FFFFFF">
                <a:alpha val="0"/>
              </a:srgbClr>
            </a:solidFill>
            <a:prstDash val="solid"/>
          </a:ln>
        </p:spPr>
      </p:sp>
      <p:sp>
        <p:nvSpPr>
          <p:cNvPr id="33" name="Text 31"/>
          <p:cNvSpPr txBox="1"/>
          <p:nvPr/>
        </p:nvSpPr>
        <p:spPr>
          <a:xfrm>
            <a:off x="1435608" y="5102352"/>
            <a:ext cx="3611880" cy="210312"/>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Sweta Singh</a:t>
            </a:r>
            <a:endParaRPr lang="en-US" sz="1500" dirty="0"/>
          </a:p>
        </p:txBody>
      </p:sp>
      <p:sp>
        <p:nvSpPr>
          <p:cNvPr id="34" name="Text 32"/>
          <p:cNvSpPr txBox="1"/>
          <p:nvPr/>
        </p:nvSpPr>
        <p:spPr>
          <a:xfrm>
            <a:off x="1435608" y="5376672"/>
            <a:ext cx="3977640" cy="228600"/>
          </a:xfrm>
          <a:prstGeom prst="rect">
            <a:avLst/>
          </a:prstGeom>
          <a:noFill/>
          <a:ln/>
        </p:spPr>
        <p:txBody>
          <a:bodyPr wrap="square" lIns="0" tIns="0" rIns="0" bIns="0" rtlCol="0" anchor="ctr">
            <a:normAutofit/>
          </a:bodyPr>
          <a:lstStyle/>
          <a:p>
            <a:pPr algn="l" indent="0" marL="0">
              <a:buNone/>
            </a:pPr>
            <a:r>
              <a:rPr lang="en-US" sz="1150" dirty="0">
                <a:solidFill>
                  <a:srgbClr val="63738D"/>
                </a:solidFill>
                <a:latin typeface="Arial" pitchFamily="34" charset="0"/>
                <a:ea typeface="Arial" pitchFamily="34" charset="-122"/>
                <a:cs typeface="Arial" pitchFamily="34" charset="-120"/>
              </a:rPr>
              <a:t>Course linkage and project explanation</a:t>
            </a:r>
            <a:endParaRPr lang="en-US" sz="1150" dirty="0"/>
          </a:p>
        </p:txBody>
      </p:sp>
      <p:sp>
        <p:nvSpPr>
          <p:cNvPr id="35" name="Text 33"/>
          <p:cNvSpPr txBox="1"/>
          <p:nvPr/>
        </p:nvSpPr>
        <p:spPr>
          <a:xfrm>
            <a:off x="658368" y="6099048"/>
            <a:ext cx="10789920" cy="210312"/>
          </a:xfrm>
          <a:prstGeom prst="rect">
            <a:avLst/>
          </a:prstGeom>
          <a:noFill/>
          <a:ln/>
        </p:spPr>
        <p:txBody>
          <a:bodyPr wrap="square" lIns="0" tIns="0" rIns="0" bIns="0" rtlCol="0" anchor="ctr">
            <a:normAutofit/>
          </a:bodyPr>
          <a:lstStyle/>
          <a:p>
            <a:pPr algn="l" indent="0" marL="0">
              <a:buNone/>
            </a:pPr>
            <a:r>
              <a:rPr lang="en-US" sz="1100" i="1" dirty="0">
                <a:solidFill>
                  <a:srgbClr val="63738D"/>
                </a:solidFill>
                <a:latin typeface="Arial" pitchFamily="34" charset="0"/>
                <a:ea typeface="Arial" pitchFamily="34" charset="-122"/>
                <a:cs typeface="Arial" pitchFamily="34" charset="-120"/>
              </a:rPr>
              <a:t>Contact details are intentionally excluded. Responsibilities describe planning and demonstration ownership, not system permissions.</a:t>
            </a:r>
            <a:endParaRPr lang="en-US" sz="1100" dirty="0"/>
          </a:p>
        </p:txBody>
      </p:sp>
    </p:spTree>
  </p:cSld>
  <p:clrMapOvr>
    <a:masterClrMapping/>
  </p:clrMapOvr>
  <p:transition spd="med" advClick="1">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21792" y="384048"/>
            <a:ext cx="4572000" cy="210312"/>
          </a:xfrm>
          <a:prstGeom prst="rect">
            <a:avLst/>
          </a:prstGeom>
          <a:noFill/>
          <a:ln/>
        </p:spPr>
        <p:txBody>
          <a:bodyPr wrap="square" lIns="0" tIns="0" rIns="0" bIns="0" rtlCol="0" anchor="ctr">
            <a:normAutofit/>
          </a:bodyPr>
          <a:lstStyle/>
          <a:p>
            <a:pPr algn="l" indent="0" marL="0">
              <a:buNone/>
            </a:pPr>
            <a:r>
              <a:rPr lang="en-US" sz="1000" b="1" dirty="0">
                <a:solidFill>
                  <a:srgbClr val="78DCD4"/>
                </a:solidFill>
                <a:latin typeface="Arial" pitchFamily="34" charset="0"/>
                <a:ea typeface="Arial" pitchFamily="34" charset="-122"/>
                <a:cs typeface="Arial" pitchFamily="34" charset="-120"/>
              </a:rPr>
              <a:t>THE PROBLEM</a:t>
            </a:r>
            <a:endParaRPr lang="en-US" sz="1000" dirty="0"/>
          </a:p>
        </p:txBody>
      </p:sp>
      <p:sp>
        <p:nvSpPr>
          <p:cNvPr id="3" name="Text 1"/>
          <p:cNvSpPr txBox="1"/>
          <p:nvPr/>
        </p:nvSpPr>
        <p:spPr>
          <a:xfrm>
            <a:off x="621792" y="658368"/>
            <a:ext cx="10881360" cy="493776"/>
          </a:xfrm>
          <a:prstGeom prst="rect">
            <a:avLst/>
          </a:prstGeom>
          <a:noFill/>
          <a:ln/>
        </p:spPr>
        <p:txBody>
          <a:bodyPr wrap="square" lIns="0" tIns="0" rIns="0" bIns="0" rtlCol="0" anchor="ctr">
            <a:normAutofit/>
          </a:bodyPr>
          <a:lstStyle/>
          <a:p>
            <a:pPr algn="l" indent="0" marL="0">
              <a:buNone/>
            </a:pPr>
            <a:r>
              <a:rPr lang="en-US" sz="3100" b="1" dirty="0">
                <a:solidFill>
                  <a:srgbClr val="FFFFFF"/>
                </a:solidFill>
                <a:latin typeface="Arial" pitchFamily="34" charset="0"/>
                <a:ea typeface="Arial" pitchFamily="34" charset="-122"/>
                <a:cs typeface="Arial" pitchFamily="34" charset="-120"/>
              </a:rPr>
              <a:t>An alert alone does not make a case</a:t>
            </a:r>
            <a:endParaRPr lang="en-US" sz="3100" dirty="0"/>
          </a:p>
        </p:txBody>
      </p:sp>
      <p:sp>
        <p:nvSpPr>
          <p:cNvPr id="4" name="Text 2"/>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AFC9EC"/>
                </a:solidFill>
                <a:latin typeface="Arial" pitchFamily="34" charset="0"/>
                <a:ea typeface="Arial" pitchFamily="34" charset="-122"/>
                <a:cs typeface="Arial" pitchFamily="34" charset="-120"/>
              </a:rPr>
              <a:t>InvestigateIQ  |  Capstone Group 7  |  3</a:t>
            </a:r>
            <a:endParaRPr lang="en-US" sz="850" dirty="0"/>
          </a:p>
        </p:txBody>
      </p:sp>
      <p:sp>
        <p:nvSpPr>
          <p:cNvPr id="5" name="Text 3"/>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AFC9EC"/>
                </a:solidFill>
                <a:latin typeface="Arial" pitchFamily="34" charset="0"/>
                <a:ea typeface="Arial" pitchFamily="34" charset="-122"/>
                <a:cs typeface="Arial" pitchFamily="34" charset="-120"/>
              </a:rPr>
              <a:t>Fictional AML investigation learning environment</a:t>
            </a:r>
            <a:endParaRPr lang="en-US" sz="850" dirty="0"/>
          </a:p>
        </p:txBody>
      </p:sp>
      <p:sp>
        <p:nvSpPr>
          <p:cNvPr id="6" name="Text 4"/>
          <p:cNvSpPr txBox="1"/>
          <p:nvPr/>
        </p:nvSpPr>
        <p:spPr>
          <a:xfrm>
            <a:off x="640080" y="1417320"/>
            <a:ext cx="4709160" cy="1024128"/>
          </a:xfrm>
          <a:prstGeom prst="rect">
            <a:avLst/>
          </a:prstGeom>
          <a:noFill/>
          <a:ln/>
        </p:spPr>
        <p:txBody>
          <a:bodyPr wrap="square" lIns="0" tIns="0" rIns="0" bIns="0" rtlCol="0" anchor="t">
            <a:normAutofit/>
          </a:bodyPr>
          <a:lstStyle/>
          <a:p>
            <a:pPr algn="l" indent="0" marL="0">
              <a:buNone/>
            </a:pPr>
            <a:r>
              <a:rPr lang="en-US" sz="2200" dirty="0">
                <a:solidFill>
                  <a:srgbClr val="DDEBFF"/>
                </a:solidFill>
                <a:latin typeface="Arial" pitchFamily="34" charset="0"/>
                <a:ea typeface="Arial" pitchFamily="34" charset="-122"/>
                <a:cs typeface="Arial" pitchFamily="34" charset="-120"/>
              </a:rPr>
              <a:t>Investigators need to connect a monitoring signal with the source records, the missing evidence, the draft explanation, and the accountable next action.</a:t>
            </a:r>
            <a:endParaRPr lang="en-US" sz="2200" dirty="0"/>
          </a:p>
        </p:txBody>
      </p:sp>
      <p:sp>
        <p:nvSpPr>
          <p:cNvPr id="7" name="Shape 5"/>
          <p:cNvSpPr/>
          <p:nvPr/>
        </p:nvSpPr>
        <p:spPr>
          <a:xfrm>
            <a:off x="841248" y="2788920"/>
            <a:ext cx="438912" cy="438912"/>
          </a:xfrm>
          <a:prstGeom prst="ellipse">
            <a:avLst/>
          </a:prstGeom>
          <a:solidFill>
            <a:srgbClr val="447FE1"/>
          </a:solidFill>
          <a:ln w="12700">
            <a:solidFill>
              <a:srgbClr val="447FE1">
                <a:alpha val="0"/>
              </a:srgbClr>
            </a:solidFill>
            <a:prstDash val="solid"/>
          </a:ln>
        </p:spPr>
      </p:sp>
      <p:sp>
        <p:nvSpPr>
          <p:cNvPr id="8" name="Text 6"/>
          <p:cNvSpPr txBox="1"/>
          <p:nvPr/>
        </p:nvSpPr>
        <p:spPr>
          <a:xfrm>
            <a:off x="1527048" y="2807208"/>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Alert metadata</a:t>
            </a:r>
            <a:endParaRPr lang="en-US" sz="1500" dirty="0"/>
          </a:p>
        </p:txBody>
      </p:sp>
      <p:sp>
        <p:nvSpPr>
          <p:cNvPr id="9" name="Shape 7"/>
          <p:cNvSpPr/>
          <p:nvPr/>
        </p:nvSpPr>
        <p:spPr>
          <a:xfrm>
            <a:off x="841248" y="3611880"/>
            <a:ext cx="438912" cy="438912"/>
          </a:xfrm>
          <a:prstGeom prst="ellipse">
            <a:avLst/>
          </a:prstGeom>
          <a:solidFill>
            <a:srgbClr val="00A79D"/>
          </a:solidFill>
          <a:ln w="12700">
            <a:solidFill>
              <a:srgbClr val="00A79D">
                <a:alpha val="0"/>
              </a:srgbClr>
            </a:solidFill>
            <a:prstDash val="solid"/>
          </a:ln>
        </p:spPr>
      </p:sp>
      <p:sp>
        <p:nvSpPr>
          <p:cNvPr id="10" name="Text 8"/>
          <p:cNvSpPr txBox="1"/>
          <p:nvPr/>
        </p:nvSpPr>
        <p:spPr>
          <a:xfrm>
            <a:off x="1527048" y="3630168"/>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Source records</a:t>
            </a:r>
            <a:endParaRPr lang="en-US" sz="1500" dirty="0"/>
          </a:p>
        </p:txBody>
      </p:sp>
      <p:sp>
        <p:nvSpPr>
          <p:cNvPr id="11" name="Shape 9"/>
          <p:cNvSpPr/>
          <p:nvPr/>
        </p:nvSpPr>
        <p:spPr>
          <a:xfrm>
            <a:off x="841248" y="4434840"/>
            <a:ext cx="438912" cy="438912"/>
          </a:xfrm>
          <a:prstGeom prst="ellipse">
            <a:avLst/>
          </a:prstGeom>
          <a:solidFill>
            <a:srgbClr val="C68600"/>
          </a:solidFill>
          <a:ln w="12700">
            <a:solidFill>
              <a:srgbClr val="C68600">
                <a:alpha val="0"/>
              </a:srgbClr>
            </a:solidFill>
            <a:prstDash val="solid"/>
          </a:ln>
        </p:spPr>
      </p:sp>
      <p:sp>
        <p:nvSpPr>
          <p:cNvPr id="12" name="Text 10"/>
          <p:cNvSpPr txBox="1"/>
          <p:nvPr/>
        </p:nvSpPr>
        <p:spPr>
          <a:xfrm>
            <a:off x="1527048" y="4453128"/>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Human rationale</a:t>
            </a:r>
            <a:endParaRPr lang="en-US" sz="1500" dirty="0"/>
          </a:p>
        </p:txBody>
      </p:sp>
      <p:sp>
        <p:nvSpPr>
          <p:cNvPr id="13" name="Shape 11"/>
          <p:cNvSpPr/>
          <p:nvPr/>
        </p:nvSpPr>
        <p:spPr>
          <a:xfrm>
            <a:off x="5486400" y="1261872"/>
            <a:ext cx="6089904" cy="3465576"/>
          </a:xfrm>
          <a:prstGeom prst="roundRect">
            <a:avLst>
              <a:gd name="adj" fmla="val 4222"/>
            </a:avLst>
          </a:prstGeom>
          <a:solidFill>
            <a:srgbClr val="D9E7FC"/>
          </a:solidFill>
          <a:ln w="12700">
            <a:solidFill>
              <a:srgbClr val="D9E7FC">
                <a:alpha val="0"/>
              </a:srgbClr>
            </a:solidFill>
            <a:prstDash val="solid"/>
          </a:ln>
        </p:spPr>
      </p:sp>
      <p:pic>
        <p:nvPicPr>
          <p:cNvPr id="14" name="Image 0" descr="C:\D\IIT Mumbai\Capstone Blueprint\assets\walkthrough_screens\2026_case_queue_table.png">    </p:cNvPr>
          <p:cNvPicPr>
            <a:picLocks noChangeAspect="1"/>
          </p:cNvPicPr>
          <p:nvPr/>
        </p:nvPicPr>
        <p:blipFill>
          <a:blip r:embed="rId1"/>
          <a:stretch>
            <a:fillRect/>
          </a:stretch>
        </p:blipFill>
        <p:spPr>
          <a:xfrm>
            <a:off x="5532120" y="1307592"/>
            <a:ext cx="5998464" cy="3374136"/>
          </a:xfrm>
          <a:prstGeom prst="rect">
            <a:avLst/>
          </a:prstGeom>
        </p:spPr>
      </p:pic>
      <p:sp>
        <p:nvSpPr>
          <p:cNvPr id="15" name="Text 12"/>
          <p:cNvSpPr txBox="1"/>
          <p:nvPr/>
        </p:nvSpPr>
        <p:spPr>
          <a:xfrm>
            <a:off x="5532120" y="4983480"/>
            <a:ext cx="5669280" cy="457200"/>
          </a:xfrm>
          <a:prstGeom prst="rect">
            <a:avLst/>
          </a:prstGeom>
          <a:noFill/>
          <a:ln/>
        </p:spPr>
        <p:txBody>
          <a:bodyPr wrap="square" lIns="0" tIns="0" rIns="0" bIns="0" rtlCol="0" anchor="ctr">
            <a:normAutofit/>
          </a:bodyPr>
          <a:lstStyle/>
          <a:p>
            <a:pPr algn="l" indent="0" marL="0">
              <a:buNone/>
            </a:pPr>
            <a:r>
              <a:rPr lang="en-US" sz="1600" dirty="0">
                <a:solidFill>
                  <a:srgbClr val="C8D9F3"/>
                </a:solidFill>
                <a:latin typeface="Arial" pitchFamily="34" charset="0"/>
                <a:ea typeface="Arial" pitchFamily="34" charset="-122"/>
                <a:cs typeface="Arial" pitchFamily="34" charset="-120"/>
              </a:rPr>
              <a:t>InvestigateIQ keeps the queue, evidence, report, and human action connected on one product path.</a:t>
            </a:r>
            <a:endParaRPr lang="en-US" sz="1600" dirty="0"/>
          </a:p>
        </p:txBody>
      </p:sp>
    </p:spTree>
  </p:cSld>
  <p:clrMapOvr>
    <a:masterClrMapping/>
  </p:clrMapOvr>
  <p:transition spd="med" advClick="1">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84048"/>
            <a:ext cx="4572000" cy="21031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PRODUCT WORKFLOW</a:t>
            </a:r>
            <a:endParaRPr lang="en-US" sz="1000" dirty="0"/>
          </a:p>
        </p:txBody>
      </p:sp>
      <p:sp>
        <p:nvSpPr>
          <p:cNvPr id="3" name="Text 1"/>
          <p:cNvSpPr txBox="1"/>
          <p:nvPr/>
        </p:nvSpPr>
        <p:spPr>
          <a:xfrm>
            <a:off x="621792" y="658368"/>
            <a:ext cx="10881360" cy="493776"/>
          </a:xfrm>
          <a:prstGeom prst="rect">
            <a:avLst/>
          </a:prstGeom>
          <a:noFill/>
          <a:ln/>
        </p:spPr>
        <p:txBody>
          <a:bodyPr wrap="square" lIns="0" tIns="0" rIns="0" bIns="0" rtlCol="0" anchor="ctr">
            <a:normAutofit/>
          </a:bodyPr>
          <a:lstStyle/>
          <a:p>
            <a:pPr algn="l" indent="0" marL="0">
              <a:buNone/>
            </a:pPr>
            <a:r>
              <a:rPr lang="en-US" sz="3100" b="1" dirty="0">
                <a:solidFill>
                  <a:srgbClr val="0B1F3A"/>
                </a:solidFill>
                <a:latin typeface="Arial" pitchFamily="34" charset="0"/>
                <a:ea typeface="Arial" pitchFamily="34" charset="-122"/>
                <a:cs typeface="Arial" pitchFamily="34" charset="-120"/>
              </a:rPr>
              <a:t>One case follows a visible evidence trail</a:t>
            </a:r>
            <a:endParaRPr lang="en-US" sz="3100" dirty="0"/>
          </a:p>
        </p:txBody>
      </p:sp>
      <p:sp>
        <p:nvSpPr>
          <p:cNvPr id="4" name="Text 2"/>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4</a:t>
            </a:r>
            <a:endParaRPr lang="en-US" sz="850" dirty="0"/>
          </a:p>
        </p:txBody>
      </p:sp>
      <p:sp>
        <p:nvSpPr>
          <p:cNvPr id="5" name="Text 3"/>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502920" y="2240280"/>
            <a:ext cx="1965960" cy="1874520"/>
          </a:xfrm>
          <a:prstGeom prst="roundRect">
            <a:avLst>
              <a:gd name="adj" fmla="val 7805"/>
            </a:avLst>
          </a:prstGeom>
          <a:solidFill>
            <a:srgbClr val="FFFFFF"/>
          </a:solidFill>
          <a:ln w="12700">
            <a:solidFill>
              <a:srgbClr val="FFFFFF">
                <a:alpha val="0"/>
              </a:srgbClr>
            </a:solidFill>
            <a:prstDash val="solid"/>
          </a:ln>
        </p:spPr>
      </p:sp>
      <p:sp>
        <p:nvSpPr>
          <p:cNvPr id="7" name="Shape 5"/>
          <p:cNvSpPr/>
          <p:nvPr/>
        </p:nvSpPr>
        <p:spPr>
          <a:xfrm>
            <a:off x="667512" y="2450592"/>
            <a:ext cx="438912" cy="438912"/>
          </a:xfrm>
          <a:prstGeom prst="ellipse">
            <a:avLst/>
          </a:prstGeom>
          <a:solidFill>
            <a:srgbClr val="2E65C5"/>
          </a:solidFill>
          <a:ln w="12700">
            <a:solidFill>
              <a:srgbClr val="FFFFFF">
                <a:alpha val="0"/>
              </a:srgbClr>
            </a:solidFill>
            <a:prstDash val="solid"/>
          </a:ln>
        </p:spPr>
      </p:sp>
      <p:sp>
        <p:nvSpPr>
          <p:cNvPr id="8" name="Text 6"/>
          <p:cNvSpPr txBox="1"/>
          <p:nvPr/>
        </p:nvSpPr>
        <p:spPr>
          <a:xfrm>
            <a:off x="667512" y="2532888"/>
            <a:ext cx="438912" cy="146304"/>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Text 7"/>
          <p:cNvSpPr txBox="1"/>
          <p:nvPr/>
        </p:nvSpPr>
        <p:spPr>
          <a:xfrm>
            <a:off x="667512" y="3090672"/>
            <a:ext cx="1600200" cy="256032"/>
          </a:xfrm>
          <a:prstGeom prst="rect">
            <a:avLst/>
          </a:prstGeom>
          <a:noFill/>
          <a:ln/>
        </p:spPr>
        <p:txBody>
          <a:bodyPr wrap="square" lIns="0" tIns="0" rIns="0" bIns="0" rtlCol="0" anchor="ctr">
            <a:normAutofit/>
          </a:bodyPr>
          <a:lstStyle/>
          <a:p>
            <a:pPr algn="l" indent="0" marL="0">
              <a:buNone/>
            </a:pPr>
            <a:r>
              <a:rPr lang="en-US" sz="1600" b="1" dirty="0">
                <a:solidFill>
                  <a:srgbClr val="12233F"/>
                </a:solidFill>
                <a:latin typeface="Arial" pitchFamily="34" charset="0"/>
                <a:ea typeface="Arial" pitchFamily="34" charset="-122"/>
                <a:cs typeface="Arial" pitchFamily="34" charset="-120"/>
              </a:rPr>
              <a:t>Case Queue</a:t>
            </a:r>
            <a:endParaRPr lang="en-US" sz="1600" dirty="0"/>
          </a:p>
        </p:txBody>
      </p:sp>
      <p:sp>
        <p:nvSpPr>
          <p:cNvPr id="10" name="Text 8"/>
          <p:cNvSpPr txBox="1"/>
          <p:nvPr/>
        </p:nvSpPr>
        <p:spPr>
          <a:xfrm>
            <a:off x="667512" y="3493008"/>
            <a:ext cx="1554480" cy="365760"/>
          </a:xfrm>
          <a:prstGeom prst="rect">
            <a:avLst/>
          </a:prstGeom>
          <a:noFill/>
          <a:ln/>
        </p:spPr>
        <p:txBody>
          <a:bodyPr wrap="square" lIns="0" tIns="0" rIns="0" bIns="0" rtlCol="0" anchor="t">
            <a:normAutofit/>
          </a:bodyPr>
          <a:lstStyle/>
          <a:p>
            <a:pPr algn="l" indent="0" marL="0">
              <a:buNone/>
            </a:pPr>
            <a:r>
              <a:rPr lang="en-US" sz="1150" dirty="0">
                <a:solidFill>
                  <a:srgbClr val="63738D"/>
                </a:solidFill>
                <a:latin typeface="Arial" pitchFamily="34" charset="0"/>
                <a:ea typeface="Arial" pitchFamily="34" charset="-122"/>
                <a:cs typeface="Arial" pitchFamily="34" charset="-120"/>
              </a:rPr>
              <a:t>Find the fictional alert</a:t>
            </a:r>
            <a:endParaRPr lang="en-US" sz="1150" dirty="0"/>
          </a:p>
        </p:txBody>
      </p:sp>
      <p:sp>
        <p:nvSpPr>
          <p:cNvPr id="11" name="Shape 9"/>
          <p:cNvSpPr/>
          <p:nvPr/>
        </p:nvSpPr>
        <p:spPr>
          <a:xfrm>
            <a:off x="2496312" y="3172968"/>
            <a:ext cx="256032" cy="0"/>
          </a:xfrm>
          <a:prstGeom prst="line">
            <a:avLst/>
          </a:prstGeom>
          <a:noFill/>
          <a:ln w="25400">
            <a:solidFill>
              <a:srgbClr val="00A79D"/>
            </a:solidFill>
            <a:prstDash val="solid"/>
            <a:headEnd type="none"/>
            <a:tailEnd type="triangle"/>
          </a:ln>
        </p:spPr>
      </p:sp>
      <p:sp>
        <p:nvSpPr>
          <p:cNvPr id="12" name="Shape 10"/>
          <p:cNvSpPr/>
          <p:nvPr/>
        </p:nvSpPr>
        <p:spPr>
          <a:xfrm>
            <a:off x="2834640" y="2240280"/>
            <a:ext cx="1965960" cy="1874520"/>
          </a:xfrm>
          <a:prstGeom prst="roundRect">
            <a:avLst>
              <a:gd name="adj" fmla="val 7805"/>
            </a:avLst>
          </a:prstGeom>
          <a:solidFill>
            <a:srgbClr val="FFFFFF"/>
          </a:solidFill>
          <a:ln w="12700">
            <a:solidFill>
              <a:srgbClr val="FFFFFF">
                <a:alpha val="0"/>
              </a:srgbClr>
            </a:solidFill>
            <a:prstDash val="solid"/>
          </a:ln>
        </p:spPr>
      </p:sp>
      <p:sp>
        <p:nvSpPr>
          <p:cNvPr id="13" name="Shape 11"/>
          <p:cNvSpPr/>
          <p:nvPr/>
        </p:nvSpPr>
        <p:spPr>
          <a:xfrm>
            <a:off x="2999232" y="2450592"/>
            <a:ext cx="438912" cy="438912"/>
          </a:xfrm>
          <a:prstGeom prst="ellipse">
            <a:avLst/>
          </a:prstGeom>
          <a:solidFill>
            <a:srgbClr val="2E65C5"/>
          </a:solidFill>
          <a:ln w="12700">
            <a:solidFill>
              <a:srgbClr val="FFFFFF">
                <a:alpha val="0"/>
              </a:srgbClr>
            </a:solidFill>
            <a:prstDash val="solid"/>
          </a:ln>
        </p:spPr>
      </p:sp>
      <p:sp>
        <p:nvSpPr>
          <p:cNvPr id="14" name="Text 12"/>
          <p:cNvSpPr txBox="1"/>
          <p:nvPr/>
        </p:nvSpPr>
        <p:spPr>
          <a:xfrm>
            <a:off x="2999232" y="2532888"/>
            <a:ext cx="438912" cy="146304"/>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2999232" y="3090672"/>
            <a:ext cx="1600200" cy="256032"/>
          </a:xfrm>
          <a:prstGeom prst="rect">
            <a:avLst/>
          </a:prstGeom>
          <a:noFill/>
          <a:ln/>
        </p:spPr>
        <p:txBody>
          <a:bodyPr wrap="square" lIns="0" tIns="0" rIns="0" bIns="0" rtlCol="0" anchor="ctr">
            <a:normAutofit/>
          </a:bodyPr>
          <a:lstStyle/>
          <a:p>
            <a:pPr algn="l" indent="0" marL="0">
              <a:buNone/>
            </a:pPr>
            <a:r>
              <a:rPr lang="en-US" sz="1600" b="1" dirty="0">
                <a:solidFill>
                  <a:srgbClr val="12233F"/>
                </a:solidFill>
                <a:latin typeface="Arial" pitchFamily="34" charset="0"/>
                <a:ea typeface="Arial" pitchFamily="34" charset="-122"/>
                <a:cs typeface="Arial" pitchFamily="34" charset="-120"/>
              </a:rPr>
              <a:t>Workspace</a:t>
            </a:r>
            <a:endParaRPr lang="en-US" sz="1600" dirty="0"/>
          </a:p>
        </p:txBody>
      </p:sp>
      <p:sp>
        <p:nvSpPr>
          <p:cNvPr id="16" name="Text 14"/>
          <p:cNvSpPr txBox="1"/>
          <p:nvPr/>
        </p:nvSpPr>
        <p:spPr>
          <a:xfrm>
            <a:off x="2999232" y="3493008"/>
            <a:ext cx="1554480" cy="365760"/>
          </a:xfrm>
          <a:prstGeom prst="rect">
            <a:avLst/>
          </a:prstGeom>
          <a:noFill/>
          <a:ln/>
        </p:spPr>
        <p:txBody>
          <a:bodyPr wrap="square" lIns="0" tIns="0" rIns="0" bIns="0" rtlCol="0" anchor="t">
            <a:normAutofit/>
          </a:bodyPr>
          <a:lstStyle/>
          <a:p>
            <a:pPr algn="l" indent="0" marL="0">
              <a:buNone/>
            </a:pPr>
            <a:r>
              <a:rPr lang="en-US" sz="1150" dirty="0">
                <a:solidFill>
                  <a:srgbClr val="63738D"/>
                </a:solidFill>
                <a:latin typeface="Arial" pitchFamily="34" charset="0"/>
                <a:ea typeface="Arial" pitchFamily="34" charset="-122"/>
                <a:cs typeface="Arial" pitchFamily="34" charset="-120"/>
              </a:rPr>
              <a:t>Build or replay the review</a:t>
            </a:r>
            <a:endParaRPr lang="en-US" sz="1150" dirty="0"/>
          </a:p>
        </p:txBody>
      </p:sp>
      <p:sp>
        <p:nvSpPr>
          <p:cNvPr id="17" name="Shape 15"/>
          <p:cNvSpPr/>
          <p:nvPr/>
        </p:nvSpPr>
        <p:spPr>
          <a:xfrm>
            <a:off x="4828032" y="3172968"/>
            <a:ext cx="256032" cy="0"/>
          </a:xfrm>
          <a:prstGeom prst="line">
            <a:avLst/>
          </a:prstGeom>
          <a:noFill/>
          <a:ln w="25400">
            <a:solidFill>
              <a:srgbClr val="00A79D"/>
            </a:solidFill>
            <a:prstDash val="solid"/>
            <a:headEnd type="none"/>
            <a:tailEnd type="triangle"/>
          </a:ln>
        </p:spPr>
      </p:sp>
      <p:sp>
        <p:nvSpPr>
          <p:cNvPr id="18" name="Shape 16"/>
          <p:cNvSpPr/>
          <p:nvPr/>
        </p:nvSpPr>
        <p:spPr>
          <a:xfrm>
            <a:off x="5166360" y="2240280"/>
            <a:ext cx="1965960" cy="1874520"/>
          </a:xfrm>
          <a:prstGeom prst="roundRect">
            <a:avLst>
              <a:gd name="adj" fmla="val 7805"/>
            </a:avLst>
          </a:prstGeom>
          <a:solidFill>
            <a:srgbClr val="E6F8F6"/>
          </a:solidFill>
          <a:ln w="12700">
            <a:solidFill>
              <a:srgbClr val="E6F8F6">
                <a:alpha val="0"/>
              </a:srgbClr>
            </a:solidFill>
            <a:prstDash val="solid"/>
          </a:ln>
        </p:spPr>
      </p:sp>
      <p:sp>
        <p:nvSpPr>
          <p:cNvPr id="19" name="Shape 17"/>
          <p:cNvSpPr/>
          <p:nvPr/>
        </p:nvSpPr>
        <p:spPr>
          <a:xfrm>
            <a:off x="5330952" y="2450592"/>
            <a:ext cx="438912" cy="438912"/>
          </a:xfrm>
          <a:prstGeom prst="ellipse">
            <a:avLst/>
          </a:prstGeom>
          <a:solidFill>
            <a:srgbClr val="00A79D"/>
          </a:solidFill>
          <a:ln w="12700">
            <a:solidFill>
              <a:srgbClr val="FFFFFF">
                <a:alpha val="0"/>
              </a:srgbClr>
            </a:solidFill>
            <a:prstDash val="solid"/>
          </a:ln>
        </p:spPr>
      </p:sp>
      <p:sp>
        <p:nvSpPr>
          <p:cNvPr id="20" name="Text 18"/>
          <p:cNvSpPr txBox="1"/>
          <p:nvPr/>
        </p:nvSpPr>
        <p:spPr>
          <a:xfrm>
            <a:off x="5330952" y="2532888"/>
            <a:ext cx="438912" cy="146304"/>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1" name="Text 19"/>
          <p:cNvSpPr txBox="1"/>
          <p:nvPr/>
        </p:nvSpPr>
        <p:spPr>
          <a:xfrm>
            <a:off x="5330952" y="3090672"/>
            <a:ext cx="1600200" cy="256032"/>
          </a:xfrm>
          <a:prstGeom prst="rect">
            <a:avLst/>
          </a:prstGeom>
          <a:noFill/>
          <a:ln/>
        </p:spPr>
        <p:txBody>
          <a:bodyPr wrap="square" lIns="0" tIns="0" rIns="0" bIns="0" rtlCol="0" anchor="ctr">
            <a:normAutofit/>
          </a:bodyPr>
          <a:lstStyle/>
          <a:p>
            <a:pPr algn="l" indent="0" marL="0">
              <a:buNone/>
            </a:pPr>
            <a:r>
              <a:rPr lang="en-US" sz="1600" b="1" dirty="0">
                <a:solidFill>
                  <a:srgbClr val="12233F"/>
                </a:solidFill>
                <a:latin typeface="Arial" pitchFamily="34" charset="0"/>
                <a:ea typeface="Arial" pitchFamily="34" charset="-122"/>
                <a:cs typeface="Arial" pitchFamily="34" charset="-120"/>
              </a:rPr>
              <a:t>Evidence &amp; RAG</a:t>
            </a:r>
            <a:endParaRPr lang="en-US" sz="1600" dirty="0"/>
          </a:p>
        </p:txBody>
      </p:sp>
      <p:sp>
        <p:nvSpPr>
          <p:cNvPr id="22" name="Text 20"/>
          <p:cNvSpPr txBox="1"/>
          <p:nvPr/>
        </p:nvSpPr>
        <p:spPr>
          <a:xfrm>
            <a:off x="5330952" y="3493008"/>
            <a:ext cx="1554480" cy="365760"/>
          </a:xfrm>
          <a:prstGeom prst="rect">
            <a:avLst/>
          </a:prstGeom>
          <a:noFill/>
          <a:ln/>
        </p:spPr>
        <p:txBody>
          <a:bodyPr wrap="square" lIns="0" tIns="0" rIns="0" bIns="0" rtlCol="0" anchor="t">
            <a:normAutofit/>
          </a:bodyPr>
          <a:lstStyle/>
          <a:p>
            <a:pPr algn="l" indent="0" marL="0">
              <a:buNone/>
            </a:pPr>
            <a:r>
              <a:rPr lang="en-US" sz="1150" dirty="0">
                <a:solidFill>
                  <a:srgbClr val="63738D"/>
                </a:solidFill>
                <a:latin typeface="Arial" pitchFamily="34" charset="0"/>
                <a:ea typeface="Arial" pitchFamily="34" charset="-122"/>
                <a:cs typeface="Arial" pitchFamily="34" charset="-120"/>
              </a:rPr>
              <a:t>Read exact source material</a:t>
            </a:r>
            <a:endParaRPr lang="en-US" sz="1150" dirty="0"/>
          </a:p>
        </p:txBody>
      </p:sp>
      <p:sp>
        <p:nvSpPr>
          <p:cNvPr id="23" name="Shape 21"/>
          <p:cNvSpPr/>
          <p:nvPr/>
        </p:nvSpPr>
        <p:spPr>
          <a:xfrm>
            <a:off x="7159752" y="3172968"/>
            <a:ext cx="256032" cy="0"/>
          </a:xfrm>
          <a:prstGeom prst="line">
            <a:avLst/>
          </a:prstGeom>
          <a:noFill/>
          <a:ln w="25400">
            <a:solidFill>
              <a:srgbClr val="00A79D"/>
            </a:solidFill>
            <a:prstDash val="solid"/>
            <a:headEnd type="none"/>
            <a:tailEnd type="triangle"/>
          </a:ln>
        </p:spPr>
      </p:sp>
      <p:sp>
        <p:nvSpPr>
          <p:cNvPr id="24" name="Shape 22"/>
          <p:cNvSpPr/>
          <p:nvPr/>
        </p:nvSpPr>
        <p:spPr>
          <a:xfrm>
            <a:off x="7498080" y="2240280"/>
            <a:ext cx="1965960" cy="1874520"/>
          </a:xfrm>
          <a:prstGeom prst="roundRect">
            <a:avLst>
              <a:gd name="adj" fmla="val 7805"/>
            </a:avLst>
          </a:prstGeom>
          <a:solidFill>
            <a:srgbClr val="FFFFFF"/>
          </a:solidFill>
          <a:ln w="12700">
            <a:solidFill>
              <a:srgbClr val="FFFFFF">
                <a:alpha val="0"/>
              </a:srgbClr>
            </a:solidFill>
            <a:prstDash val="solid"/>
          </a:ln>
        </p:spPr>
      </p:sp>
      <p:sp>
        <p:nvSpPr>
          <p:cNvPr id="25" name="Shape 23"/>
          <p:cNvSpPr/>
          <p:nvPr/>
        </p:nvSpPr>
        <p:spPr>
          <a:xfrm>
            <a:off x="7662672" y="2450592"/>
            <a:ext cx="438912" cy="438912"/>
          </a:xfrm>
          <a:prstGeom prst="ellipse">
            <a:avLst/>
          </a:prstGeom>
          <a:solidFill>
            <a:srgbClr val="2E65C5"/>
          </a:solidFill>
          <a:ln w="12700">
            <a:solidFill>
              <a:srgbClr val="FFFFFF">
                <a:alpha val="0"/>
              </a:srgbClr>
            </a:solidFill>
            <a:prstDash val="solid"/>
          </a:ln>
        </p:spPr>
      </p:sp>
      <p:sp>
        <p:nvSpPr>
          <p:cNvPr id="26" name="Text 24"/>
          <p:cNvSpPr txBox="1"/>
          <p:nvPr/>
        </p:nvSpPr>
        <p:spPr>
          <a:xfrm>
            <a:off x="7662672" y="2532888"/>
            <a:ext cx="438912" cy="146304"/>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27" name="Text 25"/>
          <p:cNvSpPr txBox="1"/>
          <p:nvPr/>
        </p:nvSpPr>
        <p:spPr>
          <a:xfrm>
            <a:off x="7662672" y="3090672"/>
            <a:ext cx="1600200" cy="256032"/>
          </a:xfrm>
          <a:prstGeom prst="rect">
            <a:avLst/>
          </a:prstGeom>
          <a:noFill/>
          <a:ln/>
        </p:spPr>
        <p:txBody>
          <a:bodyPr wrap="square" lIns="0" tIns="0" rIns="0" bIns="0" rtlCol="0" anchor="ctr">
            <a:normAutofit/>
          </a:bodyPr>
          <a:lstStyle/>
          <a:p>
            <a:pPr algn="l" indent="0" marL="0">
              <a:buNone/>
            </a:pPr>
            <a:r>
              <a:rPr lang="en-US" sz="1600" b="1" dirty="0">
                <a:solidFill>
                  <a:srgbClr val="12233F"/>
                </a:solidFill>
                <a:latin typeface="Arial" pitchFamily="34" charset="0"/>
                <a:ea typeface="Arial" pitchFamily="34" charset="-122"/>
                <a:cs typeface="Arial" pitchFamily="34" charset="-120"/>
              </a:rPr>
              <a:t>Human action</a:t>
            </a:r>
            <a:endParaRPr lang="en-US" sz="1600" dirty="0"/>
          </a:p>
        </p:txBody>
      </p:sp>
      <p:sp>
        <p:nvSpPr>
          <p:cNvPr id="28" name="Text 26"/>
          <p:cNvSpPr txBox="1"/>
          <p:nvPr/>
        </p:nvSpPr>
        <p:spPr>
          <a:xfrm>
            <a:off x="7662672" y="3493008"/>
            <a:ext cx="1554480" cy="365760"/>
          </a:xfrm>
          <a:prstGeom prst="rect">
            <a:avLst/>
          </a:prstGeom>
          <a:noFill/>
          <a:ln/>
        </p:spPr>
        <p:txBody>
          <a:bodyPr wrap="square" lIns="0" tIns="0" rIns="0" bIns="0" rtlCol="0" anchor="t">
            <a:normAutofit/>
          </a:bodyPr>
          <a:lstStyle/>
          <a:p>
            <a:pPr algn="l" indent="0" marL="0">
              <a:buNone/>
            </a:pPr>
            <a:r>
              <a:rPr lang="en-US" sz="1150" dirty="0">
                <a:solidFill>
                  <a:srgbClr val="63738D"/>
                </a:solidFill>
                <a:latin typeface="Arial" pitchFamily="34" charset="0"/>
                <a:ea typeface="Arial" pitchFamily="34" charset="-122"/>
                <a:cs typeface="Arial" pitchFamily="34" charset="-120"/>
              </a:rPr>
              <a:t>Record a rationale</a:t>
            </a:r>
            <a:endParaRPr lang="en-US" sz="1150" dirty="0"/>
          </a:p>
        </p:txBody>
      </p:sp>
      <p:sp>
        <p:nvSpPr>
          <p:cNvPr id="29" name="Shape 27"/>
          <p:cNvSpPr/>
          <p:nvPr/>
        </p:nvSpPr>
        <p:spPr>
          <a:xfrm>
            <a:off x="9491472" y="3172968"/>
            <a:ext cx="256032" cy="0"/>
          </a:xfrm>
          <a:prstGeom prst="line">
            <a:avLst/>
          </a:prstGeom>
          <a:noFill/>
          <a:ln w="25400">
            <a:solidFill>
              <a:srgbClr val="00A79D"/>
            </a:solidFill>
            <a:prstDash val="solid"/>
            <a:headEnd type="none"/>
            <a:tailEnd type="triangle"/>
          </a:ln>
        </p:spPr>
      </p:sp>
      <p:sp>
        <p:nvSpPr>
          <p:cNvPr id="30" name="Shape 28"/>
          <p:cNvSpPr/>
          <p:nvPr/>
        </p:nvSpPr>
        <p:spPr>
          <a:xfrm>
            <a:off x="9829800" y="2240280"/>
            <a:ext cx="1965960" cy="1874520"/>
          </a:xfrm>
          <a:prstGeom prst="roundRect">
            <a:avLst>
              <a:gd name="adj" fmla="val 7805"/>
            </a:avLst>
          </a:prstGeom>
          <a:solidFill>
            <a:srgbClr val="FFFFFF"/>
          </a:solidFill>
          <a:ln w="12700">
            <a:solidFill>
              <a:srgbClr val="FFFFFF">
                <a:alpha val="0"/>
              </a:srgbClr>
            </a:solidFill>
            <a:prstDash val="solid"/>
          </a:ln>
        </p:spPr>
      </p:sp>
      <p:sp>
        <p:nvSpPr>
          <p:cNvPr id="31" name="Shape 29"/>
          <p:cNvSpPr/>
          <p:nvPr/>
        </p:nvSpPr>
        <p:spPr>
          <a:xfrm>
            <a:off x="9994392" y="2450592"/>
            <a:ext cx="438912" cy="438912"/>
          </a:xfrm>
          <a:prstGeom prst="ellipse">
            <a:avLst/>
          </a:prstGeom>
          <a:solidFill>
            <a:srgbClr val="2E65C5"/>
          </a:solidFill>
          <a:ln w="12700">
            <a:solidFill>
              <a:srgbClr val="FFFFFF">
                <a:alpha val="0"/>
              </a:srgbClr>
            </a:solidFill>
            <a:prstDash val="solid"/>
          </a:ln>
        </p:spPr>
      </p:sp>
      <p:sp>
        <p:nvSpPr>
          <p:cNvPr id="32" name="Text 30"/>
          <p:cNvSpPr txBox="1"/>
          <p:nvPr/>
        </p:nvSpPr>
        <p:spPr>
          <a:xfrm>
            <a:off x="9994392" y="2532888"/>
            <a:ext cx="438912" cy="146304"/>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33" name="Text 31"/>
          <p:cNvSpPr txBox="1"/>
          <p:nvPr/>
        </p:nvSpPr>
        <p:spPr>
          <a:xfrm>
            <a:off x="9994392" y="3090672"/>
            <a:ext cx="1600200" cy="256032"/>
          </a:xfrm>
          <a:prstGeom prst="rect">
            <a:avLst/>
          </a:prstGeom>
          <a:noFill/>
          <a:ln/>
        </p:spPr>
        <p:txBody>
          <a:bodyPr wrap="square" lIns="0" tIns="0" rIns="0" bIns="0" rtlCol="0" anchor="ctr">
            <a:normAutofit/>
          </a:bodyPr>
          <a:lstStyle/>
          <a:p>
            <a:pPr algn="l" indent="0" marL="0">
              <a:buNone/>
            </a:pPr>
            <a:r>
              <a:rPr lang="en-US" sz="1600" b="1" dirty="0">
                <a:solidFill>
                  <a:srgbClr val="12233F"/>
                </a:solidFill>
                <a:latin typeface="Arial" pitchFamily="34" charset="0"/>
                <a:ea typeface="Arial" pitchFamily="34" charset="-122"/>
                <a:cs typeface="Arial" pitchFamily="34" charset="-120"/>
              </a:rPr>
              <a:t>Compliance</a:t>
            </a:r>
            <a:endParaRPr lang="en-US" sz="1600" dirty="0"/>
          </a:p>
        </p:txBody>
      </p:sp>
      <p:sp>
        <p:nvSpPr>
          <p:cNvPr id="34" name="Text 32"/>
          <p:cNvSpPr txBox="1"/>
          <p:nvPr/>
        </p:nvSpPr>
        <p:spPr>
          <a:xfrm>
            <a:off x="9994392" y="3493008"/>
            <a:ext cx="1554480" cy="365760"/>
          </a:xfrm>
          <a:prstGeom prst="rect">
            <a:avLst/>
          </a:prstGeom>
          <a:noFill/>
          <a:ln/>
        </p:spPr>
        <p:txBody>
          <a:bodyPr wrap="square" lIns="0" tIns="0" rIns="0" bIns="0" rtlCol="0" anchor="t">
            <a:normAutofit/>
          </a:bodyPr>
          <a:lstStyle/>
          <a:p>
            <a:pPr algn="l" indent="0" marL="0">
              <a:buNone/>
            </a:pPr>
            <a:r>
              <a:rPr lang="en-US" sz="1150" dirty="0">
                <a:solidFill>
                  <a:srgbClr val="63738D"/>
                </a:solidFill>
                <a:latin typeface="Arial" pitchFamily="34" charset="0"/>
                <a:ea typeface="Arial" pitchFamily="34" charset="-122"/>
                <a:cs typeface="Arial" pitchFamily="34" charset="-120"/>
              </a:rPr>
              <a:t>Perform separate review</a:t>
            </a:r>
            <a:endParaRPr lang="en-US" sz="1150" dirty="0"/>
          </a:p>
        </p:txBody>
      </p:sp>
      <p:sp>
        <p:nvSpPr>
          <p:cNvPr id="35" name="Text 33"/>
          <p:cNvSpPr txBox="1"/>
          <p:nvPr/>
        </p:nvSpPr>
        <p:spPr>
          <a:xfrm>
            <a:off x="1234440" y="5047488"/>
            <a:ext cx="9738360" cy="310896"/>
          </a:xfrm>
          <a:prstGeom prst="rect">
            <a:avLst/>
          </a:prstGeom>
          <a:noFill/>
          <a:ln/>
        </p:spPr>
        <p:txBody>
          <a:bodyPr wrap="square" lIns="0" tIns="0" rIns="0" bIns="0" rtlCol="0" anchor="ctr">
            <a:normAutofit/>
          </a:bodyPr>
          <a:lstStyle/>
          <a:p>
            <a:pPr algn="ctr" indent="0" marL="0">
              <a:buNone/>
            </a:pPr>
            <a:r>
              <a:rPr lang="en-US" sz="1800" b="1" dirty="0">
                <a:solidFill>
                  <a:srgbClr val="0B1F3A"/>
                </a:solidFill>
                <a:latin typeface="Arial" pitchFamily="34" charset="0"/>
                <a:ea typeface="Arial" pitchFamily="34" charset="-122"/>
                <a:cs typeface="Arial" pitchFamily="34" charset="-120"/>
              </a:rPr>
              <a:t>The application supports investigation. It never submits, closes, escalates, or files an action automatically.</a:t>
            </a:r>
            <a:endParaRPr lang="en-US" sz="1800" dirty="0"/>
          </a:p>
        </p:txBody>
      </p:sp>
    </p:spTree>
  </p:cSld>
  <p:clrMapOvr>
    <a:masterClrMapping/>
  </p:clrMapOvr>
  <p:transition spd="med" advClick="1">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84048"/>
            <a:ext cx="4572000" cy="21031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PRODUCT NAVIGATION</a:t>
            </a:r>
            <a:endParaRPr lang="en-US" sz="1000" dirty="0"/>
          </a:p>
        </p:txBody>
      </p:sp>
      <p:sp>
        <p:nvSpPr>
          <p:cNvPr id="3" name="Text 1"/>
          <p:cNvSpPr txBox="1"/>
          <p:nvPr/>
        </p:nvSpPr>
        <p:spPr>
          <a:xfrm>
            <a:off x="621792" y="658368"/>
            <a:ext cx="10881360" cy="493776"/>
          </a:xfrm>
          <a:prstGeom prst="rect">
            <a:avLst/>
          </a:prstGeom>
          <a:noFill/>
          <a:ln/>
        </p:spPr>
        <p:txBody>
          <a:bodyPr wrap="square" lIns="0" tIns="0" rIns="0" bIns="0" rtlCol="0" anchor="ctr">
            <a:normAutofit/>
          </a:bodyPr>
          <a:lstStyle/>
          <a:p>
            <a:pPr algn="l" indent="0" marL="0">
              <a:buNone/>
            </a:pPr>
            <a:r>
              <a:rPr lang="en-US" sz="3100" b="1" dirty="0">
                <a:solidFill>
                  <a:srgbClr val="0B1F3A"/>
                </a:solidFill>
                <a:latin typeface="Arial" pitchFamily="34" charset="0"/>
                <a:ea typeface="Arial" pitchFamily="34" charset="-122"/>
                <a:cs typeface="Arial" pitchFamily="34" charset="-120"/>
              </a:rPr>
              <a:t>The left navigation matches the investigation sequence</a:t>
            </a:r>
            <a:endParaRPr lang="en-US" sz="3100" dirty="0"/>
          </a:p>
        </p:txBody>
      </p:sp>
      <p:sp>
        <p:nvSpPr>
          <p:cNvPr id="4" name="Text 2"/>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5</a:t>
            </a:r>
            <a:endParaRPr lang="en-US" sz="850" dirty="0"/>
          </a:p>
        </p:txBody>
      </p:sp>
      <p:sp>
        <p:nvSpPr>
          <p:cNvPr id="5" name="Text 3"/>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566928" y="1280160"/>
            <a:ext cx="6583680" cy="3739896"/>
          </a:xfrm>
          <a:prstGeom prst="roundRect">
            <a:avLst>
              <a:gd name="adj" fmla="val 3912"/>
            </a:avLst>
          </a:prstGeom>
          <a:solidFill>
            <a:srgbClr val="D9E7FC"/>
          </a:solidFill>
          <a:ln w="12700">
            <a:solidFill>
              <a:srgbClr val="D9E7FC">
                <a:alpha val="0"/>
              </a:srgbClr>
            </a:solidFill>
            <a:prstDash val="solid"/>
          </a:ln>
        </p:spPr>
      </p:sp>
      <p:pic>
        <p:nvPicPr>
          <p:cNvPr id="7" name="Image 0" descr="C:\D\IIT Mumbai\Capstone Blueprint\assets\walkthrough_screens\2026_evidence_case_records.png">    </p:cNvPr>
          <p:cNvPicPr>
            <a:picLocks noChangeAspect="1"/>
          </p:cNvPicPr>
          <p:nvPr/>
        </p:nvPicPr>
        <p:blipFill>
          <a:blip r:embed="rId1"/>
          <a:stretch>
            <a:fillRect/>
          </a:stretch>
        </p:blipFill>
        <p:spPr>
          <a:xfrm>
            <a:off x="612648" y="1325880"/>
            <a:ext cx="6492240" cy="3648456"/>
          </a:xfrm>
          <a:prstGeom prst="rect">
            <a:avLst/>
          </a:prstGeom>
        </p:spPr>
      </p:pic>
      <p:sp>
        <p:nvSpPr>
          <p:cNvPr id="8" name="Text 5"/>
          <p:cNvSpPr txBox="1"/>
          <p:nvPr/>
        </p:nvSpPr>
        <p:spPr>
          <a:xfrm>
            <a:off x="7543800" y="1554480"/>
            <a:ext cx="3108960" cy="228600"/>
          </a:xfrm>
          <a:prstGeom prst="rect">
            <a:avLst/>
          </a:prstGeom>
          <a:noFill/>
          <a:ln/>
        </p:spPr>
        <p:txBody>
          <a:bodyPr wrap="square" lIns="0" tIns="0" rIns="0" bIns="0" rtlCol="0" anchor="ctr">
            <a:normAutofit/>
          </a:bodyPr>
          <a:lstStyle/>
          <a:p>
            <a:pPr algn="l" indent="0" marL="0">
              <a:buNone/>
            </a:pPr>
            <a:r>
              <a:rPr lang="en-US" sz="1800" b="1" dirty="0">
                <a:solidFill>
                  <a:srgbClr val="12233F"/>
                </a:solidFill>
                <a:latin typeface="Arial" pitchFamily="34" charset="0"/>
                <a:ea typeface="Arial" pitchFamily="34" charset="-122"/>
                <a:cs typeface="Arial" pitchFamily="34" charset="-120"/>
              </a:rPr>
              <a:t>Core workspaces</a:t>
            </a:r>
            <a:endParaRPr lang="en-US" sz="1800" dirty="0"/>
          </a:p>
        </p:txBody>
      </p:sp>
      <p:sp>
        <p:nvSpPr>
          <p:cNvPr id="9" name="Shape 6"/>
          <p:cNvSpPr/>
          <p:nvPr/>
        </p:nvSpPr>
        <p:spPr>
          <a:xfrm>
            <a:off x="7589520" y="2011680"/>
            <a:ext cx="438912" cy="438912"/>
          </a:xfrm>
          <a:prstGeom prst="ellipse">
            <a:avLst/>
          </a:prstGeom>
          <a:solidFill>
            <a:srgbClr val="2E65C5"/>
          </a:solidFill>
          <a:ln w="12700">
            <a:solidFill>
              <a:srgbClr val="2E65C5">
                <a:alpha val="0"/>
              </a:srgbClr>
            </a:solidFill>
            <a:prstDash val="solid"/>
          </a:ln>
        </p:spPr>
      </p:sp>
      <p:sp>
        <p:nvSpPr>
          <p:cNvPr id="10" name="Text 7"/>
          <p:cNvSpPr txBox="1"/>
          <p:nvPr/>
        </p:nvSpPr>
        <p:spPr>
          <a:xfrm>
            <a:off x="8275320" y="2029968"/>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Home</a:t>
            </a:r>
            <a:endParaRPr lang="en-US" sz="1500" dirty="0"/>
          </a:p>
        </p:txBody>
      </p:sp>
      <p:sp>
        <p:nvSpPr>
          <p:cNvPr id="11" name="Text 8"/>
          <p:cNvSpPr txBox="1"/>
          <p:nvPr/>
        </p:nvSpPr>
        <p:spPr>
          <a:xfrm>
            <a:off x="8275320" y="2350008"/>
            <a:ext cx="2834640" cy="164592"/>
          </a:xfrm>
          <a:prstGeom prst="rect">
            <a:avLst/>
          </a:prstGeom>
          <a:noFill/>
          <a:ln/>
        </p:spPr>
        <p:txBody>
          <a:bodyPr wrap="square" lIns="0" tIns="0" rIns="0" bIns="0" rtlCol="0" anchor="ctr">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Workspace entry and product overview</a:t>
            </a:r>
            <a:endParaRPr lang="en-US" sz="1050" dirty="0"/>
          </a:p>
        </p:txBody>
      </p:sp>
      <p:sp>
        <p:nvSpPr>
          <p:cNvPr id="12" name="Shape 9"/>
          <p:cNvSpPr/>
          <p:nvPr/>
        </p:nvSpPr>
        <p:spPr>
          <a:xfrm>
            <a:off x="7589520" y="2651760"/>
            <a:ext cx="438912" cy="438912"/>
          </a:xfrm>
          <a:prstGeom prst="ellipse">
            <a:avLst/>
          </a:prstGeom>
          <a:solidFill>
            <a:srgbClr val="2E65C5"/>
          </a:solidFill>
          <a:ln w="12700">
            <a:solidFill>
              <a:srgbClr val="2E65C5">
                <a:alpha val="0"/>
              </a:srgbClr>
            </a:solidFill>
            <a:prstDash val="solid"/>
          </a:ln>
        </p:spPr>
      </p:sp>
      <p:sp>
        <p:nvSpPr>
          <p:cNvPr id="13" name="Text 10"/>
          <p:cNvSpPr txBox="1"/>
          <p:nvPr/>
        </p:nvSpPr>
        <p:spPr>
          <a:xfrm>
            <a:off x="8275320" y="2670048"/>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Case Queue</a:t>
            </a:r>
            <a:endParaRPr lang="en-US" sz="1500" dirty="0"/>
          </a:p>
        </p:txBody>
      </p:sp>
      <p:sp>
        <p:nvSpPr>
          <p:cNvPr id="14" name="Text 11"/>
          <p:cNvSpPr txBox="1"/>
          <p:nvPr/>
        </p:nvSpPr>
        <p:spPr>
          <a:xfrm>
            <a:off x="8275320" y="2990088"/>
            <a:ext cx="2834640" cy="164592"/>
          </a:xfrm>
          <a:prstGeom prst="rect">
            <a:avLst/>
          </a:prstGeom>
          <a:noFill/>
          <a:ln/>
        </p:spPr>
        <p:txBody>
          <a:bodyPr wrap="square" lIns="0" tIns="0" rIns="0" bIns="0" rtlCol="0" anchor="ctr">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Find and filter fictional alerts</a:t>
            </a:r>
            <a:endParaRPr lang="en-US" sz="1050" dirty="0"/>
          </a:p>
        </p:txBody>
      </p:sp>
      <p:sp>
        <p:nvSpPr>
          <p:cNvPr id="15" name="Shape 12"/>
          <p:cNvSpPr/>
          <p:nvPr/>
        </p:nvSpPr>
        <p:spPr>
          <a:xfrm>
            <a:off x="7589520" y="3291840"/>
            <a:ext cx="438912" cy="438912"/>
          </a:xfrm>
          <a:prstGeom prst="ellipse">
            <a:avLst/>
          </a:prstGeom>
          <a:solidFill>
            <a:srgbClr val="2E65C5"/>
          </a:solidFill>
          <a:ln w="12700">
            <a:solidFill>
              <a:srgbClr val="2E65C5">
                <a:alpha val="0"/>
              </a:srgbClr>
            </a:solidFill>
            <a:prstDash val="solid"/>
          </a:ln>
        </p:spPr>
      </p:sp>
      <p:sp>
        <p:nvSpPr>
          <p:cNvPr id="16" name="Text 13"/>
          <p:cNvSpPr txBox="1"/>
          <p:nvPr/>
        </p:nvSpPr>
        <p:spPr>
          <a:xfrm>
            <a:off x="8275320" y="3310128"/>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Investigation Workspace</a:t>
            </a:r>
            <a:endParaRPr lang="en-US" sz="1500" dirty="0"/>
          </a:p>
        </p:txBody>
      </p:sp>
      <p:sp>
        <p:nvSpPr>
          <p:cNvPr id="17" name="Text 14"/>
          <p:cNvSpPr txBox="1"/>
          <p:nvPr/>
        </p:nvSpPr>
        <p:spPr>
          <a:xfrm>
            <a:off x="8275320" y="3630168"/>
            <a:ext cx="2834640" cy="164592"/>
          </a:xfrm>
          <a:prstGeom prst="rect">
            <a:avLst/>
          </a:prstGeom>
          <a:noFill/>
          <a:ln/>
        </p:spPr>
        <p:txBody>
          <a:bodyPr wrap="square" lIns="0" tIns="0" rIns="0" bIns="0" rtlCol="0" anchor="ctr">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Read evidence and record an action</a:t>
            </a:r>
            <a:endParaRPr lang="en-US" sz="1050" dirty="0"/>
          </a:p>
        </p:txBody>
      </p:sp>
      <p:sp>
        <p:nvSpPr>
          <p:cNvPr id="18" name="Shape 15"/>
          <p:cNvSpPr/>
          <p:nvPr/>
        </p:nvSpPr>
        <p:spPr>
          <a:xfrm>
            <a:off x="7589520" y="3931920"/>
            <a:ext cx="438912" cy="438912"/>
          </a:xfrm>
          <a:prstGeom prst="ellipse">
            <a:avLst/>
          </a:prstGeom>
          <a:solidFill>
            <a:srgbClr val="00A79D"/>
          </a:solidFill>
          <a:ln w="12700">
            <a:solidFill>
              <a:srgbClr val="00A79D">
                <a:alpha val="0"/>
              </a:srgbClr>
            </a:solidFill>
            <a:prstDash val="solid"/>
          </a:ln>
        </p:spPr>
      </p:sp>
      <p:sp>
        <p:nvSpPr>
          <p:cNvPr id="19" name="Text 16"/>
          <p:cNvSpPr txBox="1"/>
          <p:nvPr/>
        </p:nvSpPr>
        <p:spPr>
          <a:xfrm>
            <a:off x="8275320" y="3950208"/>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Evidence &amp; RAG</a:t>
            </a:r>
            <a:endParaRPr lang="en-US" sz="1500" dirty="0"/>
          </a:p>
        </p:txBody>
      </p:sp>
      <p:sp>
        <p:nvSpPr>
          <p:cNvPr id="20" name="Text 17"/>
          <p:cNvSpPr txBox="1"/>
          <p:nvPr/>
        </p:nvSpPr>
        <p:spPr>
          <a:xfrm>
            <a:off x="8275320" y="4270248"/>
            <a:ext cx="2834640" cy="164592"/>
          </a:xfrm>
          <a:prstGeom prst="rect">
            <a:avLst/>
          </a:prstGeom>
          <a:noFill/>
          <a:ln/>
        </p:spPr>
        <p:txBody>
          <a:bodyPr wrap="square" lIns="0" tIns="0" rIns="0" bIns="0" rtlCol="0" anchor="ctr">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Inspect sources, chunks, and search</a:t>
            </a:r>
            <a:endParaRPr lang="en-US" sz="1050" dirty="0"/>
          </a:p>
        </p:txBody>
      </p:sp>
      <p:sp>
        <p:nvSpPr>
          <p:cNvPr id="21" name="Shape 18"/>
          <p:cNvSpPr/>
          <p:nvPr/>
        </p:nvSpPr>
        <p:spPr>
          <a:xfrm>
            <a:off x="7589520" y="4572000"/>
            <a:ext cx="438912" cy="438912"/>
          </a:xfrm>
          <a:prstGeom prst="ellipse">
            <a:avLst/>
          </a:prstGeom>
          <a:solidFill>
            <a:srgbClr val="2E65C5"/>
          </a:solidFill>
          <a:ln w="12700">
            <a:solidFill>
              <a:srgbClr val="2E65C5">
                <a:alpha val="0"/>
              </a:srgbClr>
            </a:solidFill>
            <a:prstDash val="solid"/>
          </a:ln>
        </p:spPr>
      </p:sp>
      <p:sp>
        <p:nvSpPr>
          <p:cNvPr id="22" name="Text 19"/>
          <p:cNvSpPr txBox="1"/>
          <p:nvPr/>
        </p:nvSpPr>
        <p:spPr>
          <a:xfrm>
            <a:off x="8275320" y="4590288"/>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Compliance / Analytics / Search</a:t>
            </a:r>
            <a:endParaRPr lang="en-US" sz="1500" dirty="0"/>
          </a:p>
        </p:txBody>
      </p:sp>
      <p:sp>
        <p:nvSpPr>
          <p:cNvPr id="23" name="Text 20"/>
          <p:cNvSpPr txBox="1"/>
          <p:nvPr/>
        </p:nvSpPr>
        <p:spPr>
          <a:xfrm>
            <a:off x="8275320" y="4910328"/>
            <a:ext cx="2834640" cy="164592"/>
          </a:xfrm>
          <a:prstGeom prst="rect">
            <a:avLst/>
          </a:prstGeom>
          <a:noFill/>
          <a:ln/>
        </p:spPr>
        <p:txBody>
          <a:bodyPr wrap="square" lIns="0" tIns="0" rIns="0" bIns="0" rtlCol="0" anchor="ctr">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Second review, descriptive charts, context lookup</a:t>
            </a:r>
            <a:endParaRPr lang="en-US" sz="1050" dirty="0"/>
          </a:p>
        </p:txBody>
      </p:sp>
    </p:spTree>
  </p:cSld>
  <p:clrMapOvr>
    <a:masterClrMapping/>
  </p:clrMapOvr>
  <p:transition spd="med" advClick="1">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21792" y="384048"/>
            <a:ext cx="4572000" cy="210312"/>
          </a:xfrm>
          <a:prstGeom prst="rect">
            <a:avLst/>
          </a:prstGeom>
          <a:noFill/>
          <a:ln/>
        </p:spPr>
        <p:txBody>
          <a:bodyPr wrap="square" lIns="0" tIns="0" rIns="0" bIns="0" rtlCol="0" anchor="ctr">
            <a:normAutofit/>
          </a:bodyPr>
          <a:lstStyle/>
          <a:p>
            <a:pPr algn="l" indent="0" marL="0">
              <a:buNone/>
            </a:pPr>
            <a:r>
              <a:rPr lang="en-US" sz="1000" b="1" dirty="0">
                <a:solidFill>
                  <a:srgbClr val="78DCD4"/>
                </a:solidFill>
                <a:latin typeface="Arial" pitchFamily="34" charset="0"/>
                <a:ea typeface="Arial" pitchFamily="34" charset="-122"/>
                <a:cs typeface="Arial" pitchFamily="34" charset="-120"/>
              </a:rPr>
              <a:t>CASE QUEUE</a:t>
            </a:r>
            <a:endParaRPr lang="en-US" sz="1000" dirty="0"/>
          </a:p>
        </p:txBody>
      </p:sp>
      <p:sp>
        <p:nvSpPr>
          <p:cNvPr id="3" name="Text 1"/>
          <p:cNvSpPr txBox="1"/>
          <p:nvPr/>
        </p:nvSpPr>
        <p:spPr>
          <a:xfrm>
            <a:off x="621792" y="658368"/>
            <a:ext cx="10881360" cy="493776"/>
          </a:xfrm>
          <a:prstGeom prst="rect">
            <a:avLst/>
          </a:prstGeom>
          <a:noFill/>
          <a:ln/>
        </p:spPr>
        <p:txBody>
          <a:bodyPr wrap="square" lIns="0" tIns="0" rIns="0" bIns="0" rtlCol="0" anchor="ctr">
            <a:normAutofit/>
          </a:bodyPr>
          <a:lstStyle/>
          <a:p>
            <a:pPr algn="l" indent="0" marL="0">
              <a:buNone/>
            </a:pPr>
            <a:r>
              <a:rPr lang="en-US" sz="3100" b="1" dirty="0">
                <a:solidFill>
                  <a:srgbClr val="FFFFFF"/>
                </a:solidFill>
                <a:latin typeface="Arial" pitchFamily="34" charset="0"/>
                <a:ea typeface="Arial" pitchFamily="34" charset="-122"/>
                <a:cs typeface="Arial" pitchFamily="34" charset="-120"/>
              </a:rPr>
              <a:t>Stored alerts become a reviewable workload</a:t>
            </a:r>
            <a:endParaRPr lang="en-US" sz="3100" dirty="0"/>
          </a:p>
        </p:txBody>
      </p:sp>
      <p:sp>
        <p:nvSpPr>
          <p:cNvPr id="4" name="Text 2"/>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AFC9EC"/>
                </a:solidFill>
                <a:latin typeface="Arial" pitchFamily="34" charset="0"/>
                <a:ea typeface="Arial" pitchFamily="34" charset="-122"/>
                <a:cs typeface="Arial" pitchFamily="34" charset="-120"/>
              </a:rPr>
              <a:t>InvestigateIQ  |  Capstone Group 7  |  6</a:t>
            </a:r>
            <a:endParaRPr lang="en-US" sz="850" dirty="0"/>
          </a:p>
        </p:txBody>
      </p:sp>
      <p:sp>
        <p:nvSpPr>
          <p:cNvPr id="5" name="Text 3"/>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AFC9EC"/>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566928" y="1280160"/>
            <a:ext cx="6766560" cy="3840480"/>
          </a:xfrm>
          <a:prstGeom prst="roundRect">
            <a:avLst>
              <a:gd name="adj" fmla="val 3810"/>
            </a:avLst>
          </a:prstGeom>
          <a:solidFill>
            <a:srgbClr val="D9E7FC"/>
          </a:solidFill>
          <a:ln w="12700">
            <a:solidFill>
              <a:srgbClr val="D9E7FC">
                <a:alpha val="0"/>
              </a:srgbClr>
            </a:solidFill>
            <a:prstDash val="solid"/>
          </a:ln>
        </p:spPr>
      </p:sp>
      <p:pic>
        <p:nvPicPr>
          <p:cNvPr id="7" name="Image 0" descr="C:\D\IIT Mumbai\Capstone Blueprint\assets\walkthrough_screens\2026_case_queue_table.png">    </p:cNvPr>
          <p:cNvPicPr>
            <a:picLocks noChangeAspect="1"/>
          </p:cNvPicPr>
          <p:nvPr/>
        </p:nvPicPr>
        <p:blipFill>
          <a:blip r:embed="rId1"/>
          <a:stretch>
            <a:fillRect/>
          </a:stretch>
        </p:blipFill>
        <p:spPr>
          <a:xfrm>
            <a:off x="612648" y="1325880"/>
            <a:ext cx="6675120" cy="3749040"/>
          </a:xfrm>
          <a:prstGeom prst="rect">
            <a:avLst/>
          </a:prstGeom>
        </p:spPr>
      </p:pic>
      <p:sp>
        <p:nvSpPr>
          <p:cNvPr id="8" name="Text 5"/>
          <p:cNvSpPr txBox="1"/>
          <p:nvPr/>
        </p:nvSpPr>
        <p:spPr>
          <a:xfrm>
            <a:off x="7699248" y="1508760"/>
            <a:ext cx="3337560" cy="274320"/>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Arial" pitchFamily="34" charset="0"/>
                <a:ea typeface="Arial" pitchFamily="34" charset="-122"/>
                <a:cs typeface="Arial" pitchFamily="34" charset="-120"/>
              </a:rPr>
              <a:t>What the queue separates</a:t>
            </a:r>
            <a:endParaRPr lang="en-US" sz="1900" dirty="0"/>
          </a:p>
        </p:txBody>
      </p:sp>
      <p:sp>
        <p:nvSpPr>
          <p:cNvPr id="9" name="Shape 6"/>
          <p:cNvSpPr/>
          <p:nvPr/>
        </p:nvSpPr>
        <p:spPr>
          <a:xfrm>
            <a:off x="7699248" y="2029968"/>
            <a:ext cx="3584448" cy="493776"/>
          </a:xfrm>
          <a:prstGeom prst="roundRect">
            <a:avLst>
              <a:gd name="adj" fmla="val 29630"/>
            </a:avLst>
          </a:prstGeom>
          <a:solidFill>
            <a:srgbClr val="173C78"/>
          </a:solidFill>
          <a:ln w="12700">
            <a:solidFill>
              <a:srgbClr val="173C78">
                <a:alpha val="0"/>
              </a:srgbClr>
            </a:solidFill>
            <a:prstDash val="solid"/>
          </a:ln>
        </p:spPr>
      </p:sp>
      <p:sp>
        <p:nvSpPr>
          <p:cNvPr id="10" name="Text 7"/>
          <p:cNvSpPr txBox="1"/>
          <p:nvPr/>
        </p:nvSpPr>
        <p:spPr>
          <a:xfrm>
            <a:off x="7891272" y="2139696"/>
            <a:ext cx="822960" cy="155448"/>
          </a:xfrm>
          <a:prstGeom prst="rect">
            <a:avLst/>
          </a:prstGeom>
          <a:noFill/>
          <a:ln/>
        </p:spPr>
        <p:txBody>
          <a:bodyPr wrap="square" lIns="0" tIns="0" rIns="0" bIns="0" rtlCol="0" anchor="ctr">
            <a:normAutofit/>
          </a:bodyPr>
          <a:lstStyle/>
          <a:p>
            <a:pPr algn="l" indent="0" marL="0">
              <a:buNone/>
            </a:pPr>
            <a:r>
              <a:rPr lang="en-US" sz="1250" b="1" dirty="0">
                <a:solidFill>
                  <a:srgbClr val="78DCD4"/>
                </a:solidFill>
                <a:latin typeface="Arial" pitchFamily="34" charset="0"/>
                <a:ea typeface="Arial" pitchFamily="34" charset="-122"/>
                <a:cs typeface="Arial" pitchFamily="34" charset="-120"/>
              </a:rPr>
              <a:t>Severity</a:t>
            </a:r>
            <a:endParaRPr lang="en-US" sz="1250" dirty="0"/>
          </a:p>
        </p:txBody>
      </p:sp>
      <p:sp>
        <p:nvSpPr>
          <p:cNvPr id="11" name="Text 8"/>
          <p:cNvSpPr txBox="1"/>
          <p:nvPr/>
        </p:nvSpPr>
        <p:spPr>
          <a:xfrm>
            <a:off x="8732520" y="2112264"/>
            <a:ext cx="2331720" cy="201168"/>
          </a:xfrm>
          <a:prstGeom prst="rect">
            <a:avLst/>
          </a:prstGeom>
          <a:noFill/>
          <a:ln/>
        </p:spPr>
        <p:txBody>
          <a:bodyPr wrap="square" lIns="0" tIns="0" rIns="0" bIns="0" rtlCol="0" anchor="ctr">
            <a:normAutofit/>
          </a:bodyPr>
          <a:lstStyle/>
          <a:p>
            <a:pPr algn="l" indent="0" marL="0">
              <a:buNone/>
            </a:pPr>
            <a:r>
              <a:rPr lang="en-US" sz="1060" dirty="0">
                <a:solidFill>
                  <a:srgbClr val="DDEBFF"/>
                </a:solidFill>
                <a:latin typeface="Arial" pitchFamily="34" charset="0"/>
                <a:ea typeface="Arial" pitchFamily="34" charset="-122"/>
                <a:cs typeface="Arial" pitchFamily="34" charset="-120"/>
              </a:rPr>
              <a:t>Priority label from the fictional source</a:t>
            </a:r>
            <a:endParaRPr lang="en-US" sz="1060" dirty="0"/>
          </a:p>
        </p:txBody>
      </p:sp>
      <p:sp>
        <p:nvSpPr>
          <p:cNvPr id="12" name="Shape 9"/>
          <p:cNvSpPr/>
          <p:nvPr/>
        </p:nvSpPr>
        <p:spPr>
          <a:xfrm>
            <a:off x="7699248" y="2706624"/>
            <a:ext cx="3584448" cy="493776"/>
          </a:xfrm>
          <a:prstGeom prst="roundRect">
            <a:avLst>
              <a:gd name="adj" fmla="val 29630"/>
            </a:avLst>
          </a:prstGeom>
          <a:solidFill>
            <a:srgbClr val="173C78"/>
          </a:solidFill>
          <a:ln w="12700">
            <a:solidFill>
              <a:srgbClr val="173C78">
                <a:alpha val="0"/>
              </a:srgbClr>
            </a:solidFill>
            <a:prstDash val="solid"/>
          </a:ln>
        </p:spPr>
      </p:sp>
      <p:sp>
        <p:nvSpPr>
          <p:cNvPr id="13" name="Text 10"/>
          <p:cNvSpPr txBox="1"/>
          <p:nvPr/>
        </p:nvSpPr>
        <p:spPr>
          <a:xfrm>
            <a:off x="7891272" y="2816352"/>
            <a:ext cx="822960" cy="155448"/>
          </a:xfrm>
          <a:prstGeom prst="rect">
            <a:avLst/>
          </a:prstGeom>
          <a:noFill/>
          <a:ln/>
        </p:spPr>
        <p:txBody>
          <a:bodyPr wrap="square" lIns="0" tIns="0" rIns="0" bIns="0" rtlCol="0" anchor="ctr">
            <a:normAutofit/>
          </a:bodyPr>
          <a:lstStyle/>
          <a:p>
            <a:pPr algn="l" indent="0" marL="0">
              <a:buNone/>
            </a:pPr>
            <a:r>
              <a:rPr lang="en-US" sz="1250" b="1" dirty="0">
                <a:solidFill>
                  <a:srgbClr val="78DCD4"/>
                </a:solidFill>
                <a:latin typeface="Arial" pitchFamily="34" charset="0"/>
                <a:ea typeface="Arial" pitchFamily="34" charset="-122"/>
                <a:cs typeface="Arial" pitchFamily="34" charset="-120"/>
              </a:rPr>
              <a:t>Status</a:t>
            </a:r>
            <a:endParaRPr lang="en-US" sz="1250" dirty="0"/>
          </a:p>
        </p:txBody>
      </p:sp>
      <p:sp>
        <p:nvSpPr>
          <p:cNvPr id="14" name="Text 11"/>
          <p:cNvSpPr txBox="1"/>
          <p:nvPr/>
        </p:nvSpPr>
        <p:spPr>
          <a:xfrm>
            <a:off x="8732520" y="2788920"/>
            <a:ext cx="2331720" cy="201168"/>
          </a:xfrm>
          <a:prstGeom prst="rect">
            <a:avLst/>
          </a:prstGeom>
          <a:noFill/>
          <a:ln/>
        </p:spPr>
        <p:txBody>
          <a:bodyPr wrap="square" lIns="0" tIns="0" rIns="0" bIns="0" rtlCol="0" anchor="ctr">
            <a:normAutofit/>
          </a:bodyPr>
          <a:lstStyle/>
          <a:p>
            <a:pPr algn="l" indent="0" marL="0">
              <a:buNone/>
            </a:pPr>
            <a:r>
              <a:rPr lang="en-US" sz="1060" dirty="0">
                <a:solidFill>
                  <a:srgbClr val="DDEBFF"/>
                </a:solidFill>
                <a:latin typeface="Arial" pitchFamily="34" charset="0"/>
                <a:ea typeface="Arial" pitchFamily="34" charset="-122"/>
                <a:cs typeface="Arial" pitchFamily="34" charset="-120"/>
              </a:rPr>
              <a:t>Current workflow state</a:t>
            </a:r>
            <a:endParaRPr lang="en-US" sz="1060" dirty="0"/>
          </a:p>
        </p:txBody>
      </p:sp>
      <p:sp>
        <p:nvSpPr>
          <p:cNvPr id="15" name="Shape 12"/>
          <p:cNvSpPr/>
          <p:nvPr/>
        </p:nvSpPr>
        <p:spPr>
          <a:xfrm>
            <a:off x="7699248" y="3383280"/>
            <a:ext cx="3584448" cy="493776"/>
          </a:xfrm>
          <a:prstGeom prst="roundRect">
            <a:avLst>
              <a:gd name="adj" fmla="val 29630"/>
            </a:avLst>
          </a:prstGeom>
          <a:solidFill>
            <a:srgbClr val="173C78"/>
          </a:solidFill>
          <a:ln w="12700">
            <a:solidFill>
              <a:srgbClr val="173C78">
                <a:alpha val="0"/>
              </a:srgbClr>
            </a:solidFill>
            <a:prstDash val="solid"/>
          </a:ln>
        </p:spPr>
      </p:sp>
      <p:sp>
        <p:nvSpPr>
          <p:cNvPr id="16" name="Text 13"/>
          <p:cNvSpPr txBox="1"/>
          <p:nvPr/>
        </p:nvSpPr>
        <p:spPr>
          <a:xfrm>
            <a:off x="7891272" y="3493008"/>
            <a:ext cx="822960" cy="155448"/>
          </a:xfrm>
          <a:prstGeom prst="rect">
            <a:avLst/>
          </a:prstGeom>
          <a:noFill/>
          <a:ln/>
        </p:spPr>
        <p:txBody>
          <a:bodyPr wrap="square" lIns="0" tIns="0" rIns="0" bIns="0" rtlCol="0" anchor="ctr">
            <a:normAutofit/>
          </a:bodyPr>
          <a:lstStyle/>
          <a:p>
            <a:pPr algn="l" indent="0" marL="0">
              <a:buNone/>
            </a:pPr>
            <a:r>
              <a:rPr lang="en-US" sz="1250" b="1" dirty="0">
                <a:solidFill>
                  <a:srgbClr val="78DCD4"/>
                </a:solidFill>
                <a:latin typeface="Arial" pitchFamily="34" charset="0"/>
                <a:ea typeface="Arial" pitchFamily="34" charset="-122"/>
                <a:cs typeface="Arial" pitchFamily="34" charset="-120"/>
              </a:rPr>
              <a:t>Rule(s)</a:t>
            </a:r>
            <a:endParaRPr lang="en-US" sz="1250" dirty="0"/>
          </a:p>
        </p:txBody>
      </p:sp>
      <p:sp>
        <p:nvSpPr>
          <p:cNvPr id="17" name="Text 14"/>
          <p:cNvSpPr txBox="1"/>
          <p:nvPr/>
        </p:nvSpPr>
        <p:spPr>
          <a:xfrm>
            <a:off x="8732520" y="3465576"/>
            <a:ext cx="2331720" cy="201168"/>
          </a:xfrm>
          <a:prstGeom prst="rect">
            <a:avLst/>
          </a:prstGeom>
          <a:noFill/>
          <a:ln/>
        </p:spPr>
        <p:txBody>
          <a:bodyPr wrap="square" lIns="0" tIns="0" rIns="0" bIns="0" rtlCol="0" anchor="ctr">
            <a:normAutofit/>
          </a:bodyPr>
          <a:lstStyle/>
          <a:p>
            <a:pPr algn="l" indent="0" marL="0">
              <a:buNone/>
            </a:pPr>
            <a:r>
              <a:rPr lang="en-US" sz="1060" dirty="0">
                <a:solidFill>
                  <a:srgbClr val="DDEBFF"/>
                </a:solidFill>
                <a:latin typeface="Arial" pitchFamily="34" charset="0"/>
                <a:ea typeface="Arial" pitchFamily="34" charset="-122"/>
                <a:cs typeface="Arial" pitchFamily="34" charset="-120"/>
              </a:rPr>
              <a:t>Stored trigger metadata</a:t>
            </a:r>
            <a:endParaRPr lang="en-US" sz="1060" dirty="0"/>
          </a:p>
        </p:txBody>
      </p:sp>
      <p:sp>
        <p:nvSpPr>
          <p:cNvPr id="18" name="Shape 15"/>
          <p:cNvSpPr/>
          <p:nvPr/>
        </p:nvSpPr>
        <p:spPr>
          <a:xfrm>
            <a:off x="7699248" y="4059936"/>
            <a:ext cx="3584448" cy="493776"/>
          </a:xfrm>
          <a:prstGeom prst="roundRect">
            <a:avLst>
              <a:gd name="adj" fmla="val 29630"/>
            </a:avLst>
          </a:prstGeom>
          <a:solidFill>
            <a:srgbClr val="173C78"/>
          </a:solidFill>
          <a:ln w="12700">
            <a:solidFill>
              <a:srgbClr val="173C78">
                <a:alpha val="0"/>
              </a:srgbClr>
            </a:solidFill>
            <a:prstDash val="solid"/>
          </a:ln>
        </p:spPr>
      </p:sp>
      <p:sp>
        <p:nvSpPr>
          <p:cNvPr id="19" name="Text 16"/>
          <p:cNvSpPr txBox="1"/>
          <p:nvPr/>
        </p:nvSpPr>
        <p:spPr>
          <a:xfrm>
            <a:off x="7891272" y="4169664"/>
            <a:ext cx="822960" cy="155448"/>
          </a:xfrm>
          <a:prstGeom prst="rect">
            <a:avLst/>
          </a:prstGeom>
          <a:noFill/>
          <a:ln/>
        </p:spPr>
        <p:txBody>
          <a:bodyPr wrap="square" lIns="0" tIns="0" rIns="0" bIns="0" rtlCol="0" anchor="ctr">
            <a:normAutofit/>
          </a:bodyPr>
          <a:lstStyle/>
          <a:p>
            <a:pPr algn="l" indent="0" marL="0">
              <a:buNone/>
            </a:pPr>
            <a:r>
              <a:rPr lang="en-US" sz="1250" b="1" dirty="0">
                <a:solidFill>
                  <a:srgbClr val="78DCD4"/>
                </a:solidFill>
                <a:latin typeface="Arial" pitchFamily="34" charset="0"/>
                <a:ea typeface="Arial" pitchFamily="34" charset="-122"/>
                <a:cs typeface="Arial" pitchFamily="34" charset="-120"/>
              </a:rPr>
              <a:t>Action</a:t>
            </a:r>
            <a:endParaRPr lang="en-US" sz="1250" dirty="0"/>
          </a:p>
        </p:txBody>
      </p:sp>
      <p:sp>
        <p:nvSpPr>
          <p:cNvPr id="20" name="Text 17"/>
          <p:cNvSpPr txBox="1"/>
          <p:nvPr/>
        </p:nvSpPr>
        <p:spPr>
          <a:xfrm>
            <a:off x="8732520" y="4142232"/>
            <a:ext cx="2331720" cy="201168"/>
          </a:xfrm>
          <a:prstGeom prst="rect">
            <a:avLst/>
          </a:prstGeom>
          <a:noFill/>
          <a:ln/>
        </p:spPr>
        <p:txBody>
          <a:bodyPr wrap="square" lIns="0" tIns="0" rIns="0" bIns="0" rtlCol="0" anchor="ctr">
            <a:normAutofit/>
          </a:bodyPr>
          <a:lstStyle/>
          <a:p>
            <a:pPr algn="l" indent="0" marL="0">
              <a:buNone/>
            </a:pPr>
            <a:r>
              <a:rPr lang="en-US" sz="1060" dirty="0">
                <a:solidFill>
                  <a:srgbClr val="DDEBFF"/>
                </a:solidFill>
                <a:latin typeface="Arial" pitchFamily="34" charset="0"/>
                <a:ea typeface="Arial" pitchFamily="34" charset="-122"/>
                <a:cs typeface="Arial" pitchFamily="34" charset="-120"/>
              </a:rPr>
              <a:t>Open a current case or inspect evidence</a:t>
            </a:r>
            <a:endParaRPr lang="en-US" sz="1060" dirty="0"/>
          </a:p>
        </p:txBody>
      </p:sp>
    </p:spTree>
  </p:cSld>
  <p:clrMapOvr>
    <a:masterClrMapping/>
  </p:clrMapOvr>
  <p:transition spd="med" advClick="1">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84048"/>
            <a:ext cx="4572000" cy="21031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INVESTIGATION WORKSPACE</a:t>
            </a:r>
            <a:endParaRPr lang="en-US" sz="1000" dirty="0"/>
          </a:p>
        </p:txBody>
      </p:sp>
      <p:sp>
        <p:nvSpPr>
          <p:cNvPr id="3" name="Text 1"/>
          <p:cNvSpPr txBox="1"/>
          <p:nvPr/>
        </p:nvSpPr>
        <p:spPr>
          <a:xfrm>
            <a:off x="621792" y="658368"/>
            <a:ext cx="10881360" cy="493776"/>
          </a:xfrm>
          <a:prstGeom prst="rect">
            <a:avLst/>
          </a:prstGeom>
          <a:noFill/>
          <a:ln/>
        </p:spPr>
        <p:txBody>
          <a:bodyPr wrap="square" lIns="0" tIns="0" rIns="0" bIns="0" rtlCol="0" anchor="ctr">
            <a:normAutofit/>
          </a:bodyPr>
          <a:lstStyle/>
          <a:p>
            <a:pPr algn="l" indent="0" marL="0">
              <a:buNone/>
            </a:pPr>
            <a:r>
              <a:rPr lang="en-US" sz="3100" b="1" dirty="0">
                <a:solidFill>
                  <a:srgbClr val="0B1F3A"/>
                </a:solidFill>
                <a:latin typeface="Arial" pitchFamily="34" charset="0"/>
                <a:ea typeface="Arial" pitchFamily="34" charset="-122"/>
                <a:cs typeface="Arial" pitchFamily="34" charset="-120"/>
              </a:rPr>
              <a:t>The report stays connected to its evidence and limits</a:t>
            </a:r>
            <a:endParaRPr lang="en-US" sz="3100" dirty="0"/>
          </a:p>
        </p:txBody>
      </p:sp>
      <p:sp>
        <p:nvSpPr>
          <p:cNvPr id="4" name="Text 2"/>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7</a:t>
            </a:r>
            <a:endParaRPr lang="en-US" sz="850" dirty="0"/>
          </a:p>
        </p:txBody>
      </p:sp>
      <p:sp>
        <p:nvSpPr>
          <p:cNvPr id="5" name="Text 3"/>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566928" y="1252728"/>
            <a:ext cx="6784848" cy="3858768"/>
          </a:xfrm>
          <a:prstGeom prst="roundRect">
            <a:avLst>
              <a:gd name="adj" fmla="val 3791"/>
            </a:avLst>
          </a:prstGeom>
          <a:solidFill>
            <a:srgbClr val="D9E7FC"/>
          </a:solidFill>
          <a:ln w="12700">
            <a:solidFill>
              <a:srgbClr val="D9E7FC">
                <a:alpha val="0"/>
              </a:srgbClr>
            </a:solidFill>
            <a:prstDash val="solid"/>
          </a:ln>
        </p:spPr>
      </p:sp>
      <p:pic>
        <p:nvPicPr>
          <p:cNvPr id="7" name="Image 0" descr="C:\D\IIT Mumbai\Capstone Blueprint\assets\walkthrough_screens\2026_workspace_current_report.png">    </p:cNvPr>
          <p:cNvPicPr>
            <a:picLocks noChangeAspect="1"/>
          </p:cNvPicPr>
          <p:nvPr/>
        </p:nvPicPr>
        <p:blipFill>
          <a:blip r:embed="rId1"/>
          <a:stretch>
            <a:fillRect/>
          </a:stretch>
        </p:blipFill>
        <p:spPr>
          <a:xfrm>
            <a:off x="612648" y="1298448"/>
            <a:ext cx="6693408" cy="3767328"/>
          </a:xfrm>
          <a:prstGeom prst="rect">
            <a:avLst/>
          </a:prstGeom>
        </p:spPr>
      </p:pic>
      <p:sp>
        <p:nvSpPr>
          <p:cNvPr id="8" name="Text 5"/>
          <p:cNvSpPr txBox="1"/>
          <p:nvPr/>
        </p:nvSpPr>
        <p:spPr>
          <a:xfrm>
            <a:off x="7680960" y="1481328"/>
            <a:ext cx="3200400" cy="228600"/>
          </a:xfrm>
          <a:prstGeom prst="rect">
            <a:avLst/>
          </a:prstGeom>
          <a:noFill/>
          <a:ln/>
        </p:spPr>
        <p:txBody>
          <a:bodyPr wrap="square" lIns="0" tIns="0" rIns="0" bIns="0" rtlCol="0" anchor="ctr">
            <a:normAutofit/>
          </a:bodyPr>
          <a:lstStyle/>
          <a:p>
            <a:pPr algn="l" indent="0" marL="0">
              <a:buNone/>
            </a:pPr>
            <a:r>
              <a:rPr lang="en-US" sz="1800" b="1" dirty="0">
                <a:solidFill>
                  <a:srgbClr val="12233F"/>
                </a:solidFill>
                <a:latin typeface="Arial" pitchFamily="34" charset="0"/>
                <a:ea typeface="Arial" pitchFamily="34" charset="-122"/>
                <a:cs typeface="Arial" pitchFamily="34" charset="-120"/>
              </a:rPr>
              <a:t>Report controls</a:t>
            </a:r>
            <a:endParaRPr lang="en-US" sz="1800" dirty="0"/>
          </a:p>
        </p:txBody>
      </p:sp>
      <p:sp>
        <p:nvSpPr>
          <p:cNvPr id="9" name="Shape 6"/>
          <p:cNvSpPr/>
          <p:nvPr/>
        </p:nvSpPr>
        <p:spPr>
          <a:xfrm>
            <a:off x="7717536" y="2039112"/>
            <a:ext cx="438912" cy="438912"/>
          </a:xfrm>
          <a:prstGeom prst="ellipse">
            <a:avLst/>
          </a:prstGeom>
          <a:solidFill>
            <a:srgbClr val="2E65C5"/>
          </a:solidFill>
          <a:ln w="12700">
            <a:solidFill>
              <a:srgbClr val="2E65C5">
                <a:alpha val="0"/>
              </a:srgbClr>
            </a:solidFill>
            <a:prstDash val="solid"/>
          </a:ln>
        </p:spPr>
      </p:sp>
      <p:sp>
        <p:nvSpPr>
          <p:cNvPr id="10" name="Text 7"/>
          <p:cNvSpPr txBox="1"/>
          <p:nvPr/>
        </p:nvSpPr>
        <p:spPr>
          <a:xfrm>
            <a:off x="8403336" y="2057400"/>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Saved report</a:t>
            </a:r>
            <a:endParaRPr lang="en-US" sz="1500" dirty="0"/>
          </a:p>
        </p:txBody>
      </p:sp>
      <p:sp>
        <p:nvSpPr>
          <p:cNvPr id="11" name="Text 8"/>
          <p:cNvSpPr txBox="1"/>
          <p:nvPr/>
        </p:nvSpPr>
        <p:spPr>
          <a:xfrm>
            <a:off x="8394192" y="2377440"/>
            <a:ext cx="2651760" cy="164592"/>
          </a:xfrm>
          <a:prstGeom prst="rect">
            <a:avLst/>
          </a:prstGeom>
          <a:noFill/>
          <a:ln/>
        </p:spPr>
        <p:txBody>
          <a:bodyPr wrap="square" lIns="0" tIns="0" rIns="0" bIns="0" rtlCol="0" anchor="ctr">
            <a:normAutofit/>
          </a:bodyPr>
          <a:lstStyle/>
          <a:p>
            <a:pPr algn="l" indent="0" marL="0">
              <a:buNone/>
            </a:pPr>
            <a:r>
              <a:rPr lang="en-US" sz="1100" dirty="0">
                <a:solidFill>
                  <a:srgbClr val="63738D"/>
                </a:solidFill>
                <a:latin typeface="Arial" pitchFamily="34" charset="0"/>
                <a:ea typeface="Arial" pitchFamily="34" charset="-122"/>
                <a:cs typeface="Arial" pitchFamily="34" charset="-120"/>
              </a:rPr>
              <a:t>Repeatable historical snapshot</a:t>
            </a:r>
            <a:endParaRPr lang="en-US" sz="1100" dirty="0"/>
          </a:p>
        </p:txBody>
      </p:sp>
      <p:sp>
        <p:nvSpPr>
          <p:cNvPr id="12" name="Shape 9"/>
          <p:cNvSpPr/>
          <p:nvPr/>
        </p:nvSpPr>
        <p:spPr>
          <a:xfrm>
            <a:off x="7717536" y="2825496"/>
            <a:ext cx="438912" cy="438912"/>
          </a:xfrm>
          <a:prstGeom prst="ellipse">
            <a:avLst/>
          </a:prstGeom>
          <a:solidFill>
            <a:srgbClr val="2E65C5"/>
          </a:solidFill>
          <a:ln w="12700">
            <a:solidFill>
              <a:srgbClr val="2E65C5">
                <a:alpha val="0"/>
              </a:srgbClr>
            </a:solidFill>
            <a:prstDash val="solid"/>
          </a:ln>
        </p:spPr>
      </p:sp>
      <p:sp>
        <p:nvSpPr>
          <p:cNvPr id="13" name="Text 10"/>
          <p:cNvSpPr txBox="1"/>
          <p:nvPr/>
        </p:nvSpPr>
        <p:spPr>
          <a:xfrm>
            <a:off x="8403336" y="2843784"/>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Calculated mode</a:t>
            </a:r>
            <a:endParaRPr lang="en-US" sz="1500" dirty="0"/>
          </a:p>
        </p:txBody>
      </p:sp>
      <p:sp>
        <p:nvSpPr>
          <p:cNvPr id="14" name="Text 11"/>
          <p:cNvSpPr txBox="1"/>
          <p:nvPr/>
        </p:nvSpPr>
        <p:spPr>
          <a:xfrm>
            <a:off x="8394192" y="3163824"/>
            <a:ext cx="2651760" cy="164592"/>
          </a:xfrm>
          <a:prstGeom prst="rect">
            <a:avLst/>
          </a:prstGeom>
          <a:noFill/>
          <a:ln/>
        </p:spPr>
        <p:txBody>
          <a:bodyPr wrap="square" lIns="0" tIns="0" rIns="0" bIns="0" rtlCol="0" anchor="ctr">
            <a:normAutofit/>
          </a:bodyPr>
          <a:lstStyle/>
          <a:p>
            <a:pPr algn="l" indent="0" marL="0">
              <a:buNone/>
            </a:pPr>
            <a:r>
              <a:rPr lang="en-US" sz="1100" dirty="0">
                <a:solidFill>
                  <a:srgbClr val="63738D"/>
                </a:solidFill>
                <a:latin typeface="Arial" pitchFamily="34" charset="0"/>
                <a:ea typeface="Arial" pitchFamily="34" charset="-122"/>
                <a:cs typeface="Arial" pitchFamily="34" charset="-120"/>
              </a:rPr>
              <a:t>Current stored fictional rows</a:t>
            </a:r>
            <a:endParaRPr lang="en-US" sz="1100" dirty="0"/>
          </a:p>
        </p:txBody>
      </p:sp>
      <p:sp>
        <p:nvSpPr>
          <p:cNvPr id="15" name="Shape 12"/>
          <p:cNvSpPr/>
          <p:nvPr/>
        </p:nvSpPr>
        <p:spPr>
          <a:xfrm>
            <a:off x="7717536" y="3611880"/>
            <a:ext cx="438912" cy="438912"/>
          </a:xfrm>
          <a:prstGeom prst="ellipse">
            <a:avLst/>
          </a:prstGeom>
          <a:solidFill>
            <a:srgbClr val="B97800"/>
          </a:solidFill>
          <a:ln w="12700">
            <a:solidFill>
              <a:srgbClr val="B97800">
                <a:alpha val="0"/>
              </a:srgbClr>
            </a:solidFill>
            <a:prstDash val="solid"/>
          </a:ln>
        </p:spPr>
      </p:sp>
      <p:sp>
        <p:nvSpPr>
          <p:cNvPr id="16" name="Text 13"/>
          <p:cNvSpPr txBox="1"/>
          <p:nvPr/>
        </p:nvSpPr>
        <p:spPr>
          <a:xfrm>
            <a:off x="8403336" y="3630168"/>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Validator</a:t>
            </a:r>
            <a:endParaRPr lang="en-US" sz="1500" dirty="0"/>
          </a:p>
        </p:txBody>
      </p:sp>
      <p:sp>
        <p:nvSpPr>
          <p:cNvPr id="17" name="Text 14"/>
          <p:cNvSpPr txBox="1"/>
          <p:nvPr/>
        </p:nvSpPr>
        <p:spPr>
          <a:xfrm>
            <a:off x="8394192" y="3950208"/>
            <a:ext cx="2651760" cy="164592"/>
          </a:xfrm>
          <a:prstGeom prst="rect">
            <a:avLst/>
          </a:prstGeom>
          <a:noFill/>
          <a:ln/>
        </p:spPr>
        <p:txBody>
          <a:bodyPr wrap="square" lIns="0" tIns="0" rIns="0" bIns="0" rtlCol="0" anchor="ctr">
            <a:normAutofit/>
          </a:bodyPr>
          <a:lstStyle/>
          <a:p>
            <a:pPr algn="l" indent="0" marL="0">
              <a:buNone/>
            </a:pPr>
            <a:r>
              <a:rPr lang="en-US" sz="1100" dirty="0">
                <a:solidFill>
                  <a:srgbClr val="63738D"/>
                </a:solidFill>
                <a:latin typeface="Arial" pitchFamily="34" charset="0"/>
                <a:ea typeface="Arial" pitchFamily="34" charset="-122"/>
                <a:cs typeface="Arial" pitchFamily="34" charset="-120"/>
              </a:rPr>
              <a:t>Records notes before a decision</a:t>
            </a:r>
            <a:endParaRPr lang="en-US" sz="1100" dirty="0"/>
          </a:p>
        </p:txBody>
      </p:sp>
    </p:spTree>
  </p:cSld>
  <p:clrMapOvr>
    <a:masterClrMapping/>
  </p:clrMapOvr>
  <p:transition spd="med" advClick="1">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21792" y="384048"/>
            <a:ext cx="4572000" cy="210312"/>
          </a:xfrm>
          <a:prstGeom prst="rect">
            <a:avLst/>
          </a:prstGeom>
          <a:noFill/>
          <a:ln/>
        </p:spPr>
        <p:txBody>
          <a:bodyPr wrap="square" lIns="0" tIns="0" rIns="0" bIns="0" rtlCol="0" anchor="ctr">
            <a:normAutofit/>
          </a:bodyPr>
          <a:lstStyle/>
          <a:p>
            <a:pPr algn="l" indent="0" marL="0">
              <a:buNone/>
            </a:pPr>
            <a:r>
              <a:rPr lang="en-US" sz="1000" b="1" dirty="0">
                <a:solidFill>
                  <a:srgbClr val="78DCD4"/>
                </a:solidFill>
                <a:latin typeface="Arial" pitchFamily="34" charset="0"/>
                <a:ea typeface="Arial" pitchFamily="34" charset="-122"/>
                <a:cs typeface="Arial" pitchFamily="34" charset="-120"/>
              </a:rPr>
              <a:t>RESPONSIBLE AI</a:t>
            </a:r>
            <a:endParaRPr lang="en-US" sz="1000" dirty="0"/>
          </a:p>
        </p:txBody>
      </p:sp>
      <p:sp>
        <p:nvSpPr>
          <p:cNvPr id="3" name="Text 1"/>
          <p:cNvSpPr txBox="1"/>
          <p:nvPr/>
        </p:nvSpPr>
        <p:spPr>
          <a:xfrm>
            <a:off x="621792" y="658368"/>
            <a:ext cx="10881360" cy="493776"/>
          </a:xfrm>
          <a:prstGeom prst="rect">
            <a:avLst/>
          </a:prstGeom>
          <a:noFill/>
          <a:ln/>
        </p:spPr>
        <p:txBody>
          <a:bodyPr wrap="square" lIns="0" tIns="0" rIns="0" bIns="0" rtlCol="0" anchor="ctr">
            <a:normAutofit/>
          </a:bodyPr>
          <a:lstStyle/>
          <a:p>
            <a:pPr algn="l" indent="0" marL="0">
              <a:buNone/>
            </a:pPr>
            <a:r>
              <a:rPr lang="en-US" sz="3100" b="1" dirty="0">
                <a:solidFill>
                  <a:srgbClr val="FFFFFF"/>
                </a:solidFill>
                <a:latin typeface="Arial" pitchFamily="34" charset="0"/>
                <a:ea typeface="Arial" pitchFamily="34" charset="-122"/>
                <a:cs typeface="Arial" pitchFamily="34" charset="-120"/>
              </a:rPr>
              <a:t>Evidence confidence makes support gaps visible</a:t>
            </a:r>
            <a:endParaRPr lang="en-US" sz="3100" dirty="0"/>
          </a:p>
        </p:txBody>
      </p:sp>
      <p:sp>
        <p:nvSpPr>
          <p:cNvPr id="4" name="Text 2"/>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AFC9EC"/>
                </a:solidFill>
                <a:latin typeface="Arial" pitchFamily="34" charset="0"/>
                <a:ea typeface="Arial" pitchFamily="34" charset="-122"/>
                <a:cs typeface="Arial" pitchFamily="34" charset="-120"/>
              </a:rPr>
              <a:t>InvestigateIQ  |  Capstone Group 7  |  8</a:t>
            </a:r>
            <a:endParaRPr lang="en-US" sz="850" dirty="0"/>
          </a:p>
        </p:txBody>
      </p:sp>
      <p:sp>
        <p:nvSpPr>
          <p:cNvPr id="5" name="Text 3"/>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AFC9EC"/>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566928" y="1234440"/>
            <a:ext cx="6812280" cy="3877056"/>
          </a:xfrm>
          <a:prstGeom prst="roundRect">
            <a:avLst>
              <a:gd name="adj" fmla="val 3774"/>
            </a:avLst>
          </a:prstGeom>
          <a:solidFill>
            <a:srgbClr val="D9E7FC"/>
          </a:solidFill>
          <a:ln w="12700">
            <a:solidFill>
              <a:srgbClr val="D9E7FC">
                <a:alpha val="0"/>
              </a:srgbClr>
            </a:solidFill>
            <a:prstDash val="solid"/>
          </a:ln>
        </p:spPr>
      </p:sp>
      <p:pic>
        <p:nvPicPr>
          <p:cNvPr id="7" name="Image 0" descr="C:\D\IIT Mumbai\Capstone Blueprint\assets\walkthrough_screens\2026_workspace_confidence.png">    </p:cNvPr>
          <p:cNvPicPr>
            <a:picLocks noChangeAspect="1"/>
          </p:cNvPicPr>
          <p:nvPr/>
        </p:nvPicPr>
        <p:blipFill>
          <a:blip r:embed="rId1"/>
          <a:stretch>
            <a:fillRect/>
          </a:stretch>
        </p:blipFill>
        <p:spPr>
          <a:xfrm>
            <a:off x="612648" y="1280160"/>
            <a:ext cx="6720840" cy="3785616"/>
          </a:xfrm>
          <a:prstGeom prst="rect">
            <a:avLst/>
          </a:prstGeom>
        </p:spPr>
      </p:pic>
      <p:sp>
        <p:nvSpPr>
          <p:cNvPr id="8" name="Text 5"/>
          <p:cNvSpPr txBox="1"/>
          <p:nvPr/>
        </p:nvSpPr>
        <p:spPr>
          <a:xfrm>
            <a:off x="7726680" y="1618488"/>
            <a:ext cx="3108960" cy="566928"/>
          </a:xfrm>
          <a:prstGeom prst="rect">
            <a:avLst/>
          </a:prstGeom>
          <a:noFill/>
          <a:ln/>
        </p:spPr>
        <p:txBody>
          <a:bodyPr wrap="square" lIns="0" tIns="0" rIns="0" bIns="0" rtlCol="0" anchor="ctr">
            <a:normAutofit/>
          </a:bodyPr>
          <a:lstStyle/>
          <a:p>
            <a:pPr algn="l" indent="0" marL="0">
              <a:buNone/>
            </a:pPr>
            <a:r>
              <a:rPr lang="en-US" sz="3800" b="1" dirty="0">
                <a:solidFill>
                  <a:srgbClr val="78DCD4"/>
                </a:solidFill>
                <a:latin typeface="Arial" pitchFamily="34" charset="0"/>
                <a:ea typeface="Arial" pitchFamily="34" charset="-122"/>
                <a:cs typeface="Arial" pitchFamily="34" charset="-120"/>
              </a:rPr>
              <a:t>45 / 100</a:t>
            </a:r>
            <a:endParaRPr lang="en-US" sz="3800" dirty="0"/>
          </a:p>
        </p:txBody>
      </p:sp>
      <p:sp>
        <p:nvSpPr>
          <p:cNvPr id="9" name="Text 6"/>
          <p:cNvSpPr txBox="1"/>
          <p:nvPr/>
        </p:nvSpPr>
        <p:spPr>
          <a:xfrm>
            <a:off x="7744968" y="2221992"/>
            <a:ext cx="3337560" cy="256032"/>
          </a:xfrm>
          <a:prstGeom prst="rect">
            <a:avLst/>
          </a:prstGeom>
          <a:noFill/>
          <a:ln/>
        </p:spPr>
        <p:txBody>
          <a:bodyPr wrap="square" lIns="0" tIns="0" rIns="0" bIns="0" rtlCol="0" anchor="ctr">
            <a:normAutofit/>
          </a:bodyPr>
          <a:lstStyle/>
          <a:p>
            <a:pPr algn="l" indent="0" marL="0">
              <a:buNone/>
            </a:pPr>
            <a:r>
              <a:rPr lang="en-US" sz="1200" dirty="0">
                <a:solidFill>
                  <a:srgbClr val="C8D9F3"/>
                </a:solidFill>
                <a:latin typeface="Arial" pitchFamily="34" charset="0"/>
                <a:ea typeface="Arial" pitchFamily="34" charset="-122"/>
                <a:cs typeface="Arial" pitchFamily="34" charset="-120"/>
              </a:rPr>
              <a:t>Example support score shown in the product</a:t>
            </a:r>
            <a:endParaRPr lang="en-US" sz="1200" dirty="0"/>
          </a:p>
        </p:txBody>
      </p:sp>
      <p:sp>
        <p:nvSpPr>
          <p:cNvPr id="10" name="Shape 7"/>
          <p:cNvSpPr/>
          <p:nvPr/>
        </p:nvSpPr>
        <p:spPr>
          <a:xfrm>
            <a:off x="7726680" y="2743200"/>
            <a:ext cx="3520440" cy="466344"/>
          </a:xfrm>
          <a:prstGeom prst="roundRect">
            <a:avLst>
              <a:gd name="adj" fmla="val 31373"/>
            </a:avLst>
          </a:prstGeom>
          <a:solidFill>
            <a:srgbClr val="173C78"/>
          </a:solidFill>
          <a:ln w="12700">
            <a:solidFill>
              <a:srgbClr val="173C78">
                <a:alpha val="0"/>
              </a:srgbClr>
            </a:solidFill>
            <a:prstDash val="solid"/>
          </a:ln>
        </p:spPr>
      </p:sp>
      <p:sp>
        <p:nvSpPr>
          <p:cNvPr id="11" name="Text 8"/>
          <p:cNvSpPr txBox="1"/>
          <p:nvPr/>
        </p:nvSpPr>
        <p:spPr>
          <a:xfrm>
            <a:off x="7882128" y="2862072"/>
            <a:ext cx="804672" cy="137160"/>
          </a:xfrm>
          <a:prstGeom prst="rect">
            <a:avLst/>
          </a:prstGeom>
          <a:noFill/>
          <a:ln/>
        </p:spPr>
        <p:txBody>
          <a:bodyPr wrap="square" lIns="0" tIns="0" rIns="0" bIns="0" rtlCol="0" anchor="ctr">
            <a:normAutofit/>
          </a:bodyPr>
          <a:lstStyle/>
          <a:p>
            <a:pPr algn="l" indent="0" marL="0">
              <a:buNone/>
            </a:pPr>
            <a:r>
              <a:rPr lang="en-US" sz="1150" b="1" dirty="0">
                <a:solidFill>
                  <a:srgbClr val="78DCD4"/>
                </a:solidFill>
                <a:latin typeface="Arial" pitchFamily="34" charset="0"/>
                <a:ea typeface="Arial" pitchFamily="34" charset="-122"/>
                <a:cs typeface="Arial" pitchFamily="34" charset="-120"/>
              </a:rPr>
              <a:t>Coverage</a:t>
            </a:r>
            <a:endParaRPr lang="en-US" sz="1150" dirty="0"/>
          </a:p>
        </p:txBody>
      </p:sp>
      <p:sp>
        <p:nvSpPr>
          <p:cNvPr id="12" name="Text 9"/>
          <p:cNvSpPr txBox="1"/>
          <p:nvPr/>
        </p:nvSpPr>
        <p:spPr>
          <a:xfrm>
            <a:off x="8705088" y="2816352"/>
            <a:ext cx="2304288" cy="237744"/>
          </a:xfrm>
          <a:prstGeom prst="rect">
            <a:avLst/>
          </a:prstGeom>
          <a:noFill/>
          <a:ln/>
        </p:spPr>
        <p:txBody>
          <a:bodyPr wrap="square" lIns="0" tIns="0" rIns="0" bIns="0" rtlCol="0" anchor="ctr">
            <a:normAutofit/>
          </a:bodyPr>
          <a:lstStyle/>
          <a:p>
            <a:pPr algn="l" indent="0" marL="0">
              <a:buNone/>
            </a:pPr>
            <a:r>
              <a:rPr lang="en-US" sz="980" dirty="0">
                <a:solidFill>
                  <a:srgbClr val="DDEBFF"/>
                </a:solidFill>
                <a:latin typeface="Arial" pitchFamily="34" charset="0"/>
                <a:ea typeface="Arial" pitchFamily="34" charset="-122"/>
                <a:cs typeface="Arial" pitchFamily="34" charset="-120"/>
              </a:rPr>
              <a:t>How well the supplied records and guidance support the draft</a:t>
            </a:r>
            <a:endParaRPr lang="en-US" sz="980" dirty="0"/>
          </a:p>
        </p:txBody>
      </p:sp>
      <p:sp>
        <p:nvSpPr>
          <p:cNvPr id="13" name="Shape 10"/>
          <p:cNvSpPr/>
          <p:nvPr/>
        </p:nvSpPr>
        <p:spPr>
          <a:xfrm>
            <a:off x="7726680" y="3355848"/>
            <a:ext cx="3520440" cy="466344"/>
          </a:xfrm>
          <a:prstGeom prst="roundRect">
            <a:avLst>
              <a:gd name="adj" fmla="val 31373"/>
            </a:avLst>
          </a:prstGeom>
          <a:solidFill>
            <a:srgbClr val="173C78"/>
          </a:solidFill>
          <a:ln w="12700">
            <a:solidFill>
              <a:srgbClr val="173C78">
                <a:alpha val="0"/>
              </a:srgbClr>
            </a:solidFill>
            <a:prstDash val="solid"/>
          </a:ln>
        </p:spPr>
      </p:sp>
      <p:sp>
        <p:nvSpPr>
          <p:cNvPr id="14" name="Text 11"/>
          <p:cNvSpPr txBox="1"/>
          <p:nvPr/>
        </p:nvSpPr>
        <p:spPr>
          <a:xfrm>
            <a:off x="7882128" y="3474720"/>
            <a:ext cx="804672" cy="137160"/>
          </a:xfrm>
          <a:prstGeom prst="rect">
            <a:avLst/>
          </a:prstGeom>
          <a:noFill/>
          <a:ln/>
        </p:spPr>
        <p:txBody>
          <a:bodyPr wrap="square" lIns="0" tIns="0" rIns="0" bIns="0" rtlCol="0" anchor="ctr">
            <a:normAutofit/>
          </a:bodyPr>
          <a:lstStyle/>
          <a:p>
            <a:pPr algn="l" indent="0" marL="0">
              <a:buNone/>
            </a:pPr>
            <a:r>
              <a:rPr lang="en-US" sz="1150" b="1" dirty="0">
                <a:solidFill>
                  <a:srgbClr val="78DCD4"/>
                </a:solidFill>
                <a:latin typeface="Arial" pitchFamily="34" charset="0"/>
                <a:ea typeface="Arial" pitchFamily="34" charset="-122"/>
                <a:cs typeface="Arial" pitchFamily="34" charset="-120"/>
              </a:rPr>
              <a:t>Limitations</a:t>
            </a:r>
            <a:endParaRPr lang="en-US" sz="1150" dirty="0"/>
          </a:p>
        </p:txBody>
      </p:sp>
      <p:sp>
        <p:nvSpPr>
          <p:cNvPr id="15" name="Text 12"/>
          <p:cNvSpPr txBox="1"/>
          <p:nvPr/>
        </p:nvSpPr>
        <p:spPr>
          <a:xfrm>
            <a:off x="8705088" y="3429000"/>
            <a:ext cx="2304288" cy="237744"/>
          </a:xfrm>
          <a:prstGeom prst="rect">
            <a:avLst/>
          </a:prstGeom>
          <a:noFill/>
          <a:ln/>
        </p:spPr>
        <p:txBody>
          <a:bodyPr wrap="square" lIns="0" tIns="0" rIns="0" bIns="0" rtlCol="0" anchor="ctr">
            <a:normAutofit/>
          </a:bodyPr>
          <a:lstStyle/>
          <a:p>
            <a:pPr algn="l" indent="0" marL="0">
              <a:buNone/>
            </a:pPr>
            <a:r>
              <a:rPr lang="en-US" sz="980" dirty="0">
                <a:solidFill>
                  <a:srgbClr val="DDEBFF"/>
                </a:solidFill>
                <a:latin typeface="Arial" pitchFamily="34" charset="0"/>
                <a:ea typeface="Arial" pitchFamily="34" charset="-122"/>
                <a:cs typeface="Arial" pitchFamily="34" charset="-120"/>
              </a:rPr>
              <a:t>Known missing or unresolved evidence</a:t>
            </a:r>
            <a:endParaRPr lang="en-US" sz="980" dirty="0"/>
          </a:p>
        </p:txBody>
      </p:sp>
      <p:sp>
        <p:nvSpPr>
          <p:cNvPr id="16" name="Shape 13"/>
          <p:cNvSpPr/>
          <p:nvPr/>
        </p:nvSpPr>
        <p:spPr>
          <a:xfrm>
            <a:off x="7726680" y="3968496"/>
            <a:ext cx="3520440" cy="466344"/>
          </a:xfrm>
          <a:prstGeom prst="roundRect">
            <a:avLst>
              <a:gd name="adj" fmla="val 31373"/>
            </a:avLst>
          </a:prstGeom>
          <a:solidFill>
            <a:srgbClr val="173C78"/>
          </a:solidFill>
          <a:ln w="12700">
            <a:solidFill>
              <a:srgbClr val="173C78">
                <a:alpha val="0"/>
              </a:srgbClr>
            </a:solidFill>
            <a:prstDash val="solid"/>
          </a:ln>
        </p:spPr>
      </p:sp>
      <p:sp>
        <p:nvSpPr>
          <p:cNvPr id="17" name="Text 14"/>
          <p:cNvSpPr txBox="1"/>
          <p:nvPr/>
        </p:nvSpPr>
        <p:spPr>
          <a:xfrm>
            <a:off x="7882128" y="4087368"/>
            <a:ext cx="804672" cy="137160"/>
          </a:xfrm>
          <a:prstGeom prst="rect">
            <a:avLst/>
          </a:prstGeom>
          <a:noFill/>
          <a:ln/>
        </p:spPr>
        <p:txBody>
          <a:bodyPr wrap="square" lIns="0" tIns="0" rIns="0" bIns="0" rtlCol="0" anchor="ctr">
            <a:normAutofit/>
          </a:bodyPr>
          <a:lstStyle/>
          <a:p>
            <a:pPr algn="l" indent="0" marL="0">
              <a:buNone/>
            </a:pPr>
            <a:r>
              <a:rPr lang="en-US" sz="1150" b="1" dirty="0">
                <a:solidFill>
                  <a:srgbClr val="78DCD4"/>
                </a:solidFill>
                <a:latin typeface="Arial" pitchFamily="34" charset="0"/>
                <a:ea typeface="Arial" pitchFamily="34" charset="-122"/>
                <a:cs typeface="Arial" pitchFamily="34" charset="-120"/>
              </a:rPr>
              <a:t>Boundary</a:t>
            </a:r>
            <a:endParaRPr lang="en-US" sz="1150" dirty="0"/>
          </a:p>
        </p:txBody>
      </p:sp>
      <p:sp>
        <p:nvSpPr>
          <p:cNvPr id="18" name="Text 15"/>
          <p:cNvSpPr txBox="1"/>
          <p:nvPr/>
        </p:nvSpPr>
        <p:spPr>
          <a:xfrm>
            <a:off x="8705088" y="4041648"/>
            <a:ext cx="2304288" cy="237744"/>
          </a:xfrm>
          <a:prstGeom prst="rect">
            <a:avLst/>
          </a:prstGeom>
          <a:noFill/>
          <a:ln/>
        </p:spPr>
        <p:txBody>
          <a:bodyPr wrap="square" lIns="0" tIns="0" rIns="0" bIns="0" rtlCol="0" anchor="ctr">
            <a:normAutofit/>
          </a:bodyPr>
          <a:lstStyle/>
          <a:p>
            <a:pPr algn="l" indent="0" marL="0">
              <a:buNone/>
            </a:pPr>
            <a:r>
              <a:rPr lang="en-US" sz="980" dirty="0">
                <a:solidFill>
                  <a:srgbClr val="DDEBFF"/>
                </a:solidFill>
                <a:latin typeface="Arial" pitchFamily="34" charset="0"/>
                <a:ea typeface="Arial" pitchFamily="34" charset="-122"/>
                <a:cs typeface="Arial" pitchFamily="34" charset="-120"/>
              </a:rPr>
              <a:t>Never a probability of crime or a recommended outcome</a:t>
            </a:r>
            <a:endParaRPr lang="en-US" sz="980" dirty="0"/>
          </a:p>
        </p:txBody>
      </p:sp>
    </p:spTree>
  </p:cSld>
  <p:clrMapOvr>
    <a:masterClrMapping/>
  </p:clrMapOvr>
  <p:transition spd="med" advClick="1">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84048"/>
            <a:ext cx="4572000" cy="21031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OKF, CHUNKS, AND RAG</a:t>
            </a:r>
            <a:endParaRPr lang="en-US" sz="1000" dirty="0"/>
          </a:p>
        </p:txBody>
      </p:sp>
      <p:sp>
        <p:nvSpPr>
          <p:cNvPr id="3" name="Text 1"/>
          <p:cNvSpPr txBox="1"/>
          <p:nvPr/>
        </p:nvSpPr>
        <p:spPr>
          <a:xfrm>
            <a:off x="621792" y="658368"/>
            <a:ext cx="10881360" cy="493776"/>
          </a:xfrm>
          <a:prstGeom prst="rect">
            <a:avLst/>
          </a:prstGeom>
          <a:noFill/>
          <a:ln/>
        </p:spPr>
        <p:txBody>
          <a:bodyPr wrap="square" lIns="0" tIns="0" rIns="0" bIns="0" rtlCol="0" anchor="ctr">
            <a:normAutofit/>
          </a:bodyPr>
          <a:lstStyle/>
          <a:p>
            <a:pPr algn="l" indent="0" marL="0">
              <a:buNone/>
            </a:pPr>
            <a:r>
              <a:rPr lang="en-US" sz="3100" b="1" dirty="0">
                <a:solidFill>
                  <a:srgbClr val="0B1F3A"/>
                </a:solidFill>
                <a:latin typeface="Arial" pitchFamily="34" charset="0"/>
                <a:ea typeface="Arial" pitchFamily="34" charset="-122"/>
                <a:cs typeface="Arial" pitchFamily="34" charset="-120"/>
              </a:rPr>
              <a:t>A citation opens the exact stored passage</a:t>
            </a:r>
            <a:endParaRPr lang="en-US" sz="3100" dirty="0"/>
          </a:p>
        </p:txBody>
      </p:sp>
      <p:sp>
        <p:nvSpPr>
          <p:cNvPr id="4" name="Text 2"/>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9</a:t>
            </a:r>
            <a:endParaRPr lang="en-US" sz="850" dirty="0"/>
          </a:p>
        </p:txBody>
      </p:sp>
      <p:sp>
        <p:nvSpPr>
          <p:cNvPr id="5" name="Text 3"/>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566928" y="1234440"/>
            <a:ext cx="6446520" cy="3666744"/>
          </a:xfrm>
          <a:prstGeom prst="roundRect">
            <a:avLst>
              <a:gd name="adj" fmla="val 3990"/>
            </a:avLst>
          </a:prstGeom>
          <a:solidFill>
            <a:srgbClr val="D9E7FC"/>
          </a:solidFill>
          <a:ln w="12700">
            <a:solidFill>
              <a:srgbClr val="D9E7FC">
                <a:alpha val="0"/>
              </a:srgbClr>
            </a:solidFill>
            <a:prstDash val="solid"/>
          </a:ln>
        </p:spPr>
      </p:sp>
      <p:pic>
        <p:nvPicPr>
          <p:cNvPr id="7" name="Image 0" descr="C:\D\IIT Mumbai\Capstone Blueprint\assets\walkthrough_screens\2026_evidence_source_chunks_detail.png">    </p:cNvPr>
          <p:cNvPicPr>
            <a:picLocks noChangeAspect="1"/>
          </p:cNvPicPr>
          <p:nvPr/>
        </p:nvPicPr>
        <p:blipFill>
          <a:blip r:embed="rId1"/>
          <a:stretch>
            <a:fillRect/>
          </a:stretch>
        </p:blipFill>
        <p:spPr>
          <a:xfrm>
            <a:off x="612648" y="1280160"/>
            <a:ext cx="6355080" cy="3575304"/>
          </a:xfrm>
          <a:prstGeom prst="rect">
            <a:avLst/>
          </a:prstGeom>
        </p:spPr>
      </p:pic>
      <p:sp>
        <p:nvSpPr>
          <p:cNvPr id="8" name="Text 5"/>
          <p:cNvSpPr txBox="1"/>
          <p:nvPr/>
        </p:nvSpPr>
        <p:spPr>
          <a:xfrm>
            <a:off x="7360920" y="1463040"/>
            <a:ext cx="3566160" cy="256032"/>
          </a:xfrm>
          <a:prstGeom prst="rect">
            <a:avLst/>
          </a:prstGeom>
          <a:noFill/>
          <a:ln/>
        </p:spPr>
        <p:txBody>
          <a:bodyPr wrap="square" lIns="0" tIns="0" rIns="0" bIns="0" rtlCol="0" anchor="ctr">
            <a:normAutofit/>
          </a:bodyPr>
          <a:lstStyle/>
          <a:p>
            <a:pPr algn="l" indent="0" marL="0">
              <a:buNone/>
            </a:pPr>
            <a:r>
              <a:rPr lang="en-US" sz="1900" b="1" dirty="0">
                <a:solidFill>
                  <a:srgbClr val="12233F"/>
                </a:solidFill>
                <a:latin typeface="Arial" pitchFamily="34" charset="0"/>
                <a:ea typeface="Arial" pitchFamily="34" charset="-122"/>
                <a:cs typeface="Arial" pitchFamily="34" charset="-120"/>
              </a:rPr>
              <a:t>Transparent retrieval path</a:t>
            </a:r>
            <a:endParaRPr lang="en-US" sz="1900" dirty="0"/>
          </a:p>
        </p:txBody>
      </p:sp>
      <p:sp>
        <p:nvSpPr>
          <p:cNvPr id="9" name="Shape 6"/>
          <p:cNvSpPr/>
          <p:nvPr/>
        </p:nvSpPr>
        <p:spPr>
          <a:xfrm>
            <a:off x="7370064" y="1938528"/>
            <a:ext cx="365760" cy="365760"/>
          </a:xfrm>
          <a:prstGeom prst="ellipse">
            <a:avLst/>
          </a:prstGeom>
          <a:solidFill>
            <a:srgbClr val="2E65C5"/>
          </a:solidFill>
          <a:ln w="12700">
            <a:solidFill>
              <a:srgbClr val="FFFFFF">
                <a:alpha val="0"/>
              </a:srgbClr>
            </a:solidFill>
            <a:prstDash val="solid"/>
          </a:ln>
        </p:spPr>
      </p:sp>
      <p:sp>
        <p:nvSpPr>
          <p:cNvPr id="10" name="Text 7"/>
          <p:cNvSpPr txBox="1"/>
          <p:nvPr/>
        </p:nvSpPr>
        <p:spPr>
          <a:xfrm>
            <a:off x="7370064" y="2020824"/>
            <a:ext cx="365760" cy="128016"/>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rial" pitchFamily="34" charset="0"/>
                <a:ea typeface="Arial" pitchFamily="34" charset="-122"/>
                <a:cs typeface="Arial" pitchFamily="34" charset="-120"/>
              </a:rPr>
              <a:t>1</a:t>
            </a:r>
            <a:endParaRPr lang="en-US" sz="900" dirty="0"/>
          </a:p>
        </p:txBody>
      </p:sp>
      <p:sp>
        <p:nvSpPr>
          <p:cNvPr id="11" name="Text 8"/>
          <p:cNvSpPr txBox="1"/>
          <p:nvPr/>
        </p:nvSpPr>
        <p:spPr>
          <a:xfrm>
            <a:off x="7909560" y="1947672"/>
            <a:ext cx="960120" cy="182880"/>
          </a:xfrm>
          <a:prstGeom prst="rect">
            <a:avLst/>
          </a:prstGeom>
          <a:noFill/>
          <a:ln/>
        </p:spPr>
        <p:txBody>
          <a:bodyPr wrap="square" lIns="0" tIns="0" rIns="0" bIns="0" rtlCol="0" anchor="ctr">
            <a:normAutofit/>
          </a:bodyPr>
          <a:lstStyle/>
          <a:p>
            <a:pPr algn="l" indent="0" marL="0">
              <a:buNone/>
            </a:pPr>
            <a:r>
              <a:rPr lang="en-US" sz="1250" b="1" dirty="0">
                <a:solidFill>
                  <a:srgbClr val="12233F"/>
                </a:solidFill>
                <a:latin typeface="Arial" pitchFamily="34" charset="0"/>
                <a:ea typeface="Arial" pitchFamily="34" charset="-122"/>
                <a:cs typeface="Arial" pitchFamily="34" charset="-120"/>
              </a:rPr>
              <a:t>OKF source</a:t>
            </a:r>
            <a:endParaRPr lang="en-US" sz="1250" dirty="0"/>
          </a:p>
        </p:txBody>
      </p:sp>
      <p:sp>
        <p:nvSpPr>
          <p:cNvPr id="12" name="Text 9"/>
          <p:cNvSpPr txBox="1"/>
          <p:nvPr/>
        </p:nvSpPr>
        <p:spPr>
          <a:xfrm>
            <a:off x="8887968" y="1938528"/>
            <a:ext cx="2121408" cy="256032"/>
          </a:xfrm>
          <a:prstGeom prst="rect">
            <a:avLst/>
          </a:prstGeom>
          <a:noFill/>
          <a:ln/>
        </p:spPr>
        <p:txBody>
          <a:bodyPr wrap="square" lIns="0" tIns="0" rIns="0" bIns="0" rtlCol="0" anchor="ctr">
            <a:normAutofit/>
          </a:bodyPr>
          <a:lstStyle/>
          <a:p>
            <a:pPr algn="l" indent="0" marL="0">
              <a:buNone/>
            </a:pPr>
            <a:r>
              <a:rPr lang="en-US" sz="1000" dirty="0">
                <a:solidFill>
                  <a:srgbClr val="63738D"/>
                </a:solidFill>
                <a:latin typeface="Arial" pitchFamily="34" charset="0"/>
                <a:ea typeface="Arial" pitchFamily="34" charset="-122"/>
                <a:cs typeface="Arial" pitchFamily="34" charset="-120"/>
              </a:rPr>
              <a:t>ID, scenario, title, criteria, and body</a:t>
            </a:r>
            <a:endParaRPr lang="en-US" sz="1000" dirty="0"/>
          </a:p>
        </p:txBody>
      </p:sp>
      <p:sp>
        <p:nvSpPr>
          <p:cNvPr id="13" name="Shape 10"/>
          <p:cNvSpPr/>
          <p:nvPr/>
        </p:nvSpPr>
        <p:spPr>
          <a:xfrm>
            <a:off x="7370064" y="2551176"/>
            <a:ext cx="365760" cy="365760"/>
          </a:xfrm>
          <a:prstGeom prst="ellipse">
            <a:avLst/>
          </a:prstGeom>
          <a:solidFill>
            <a:srgbClr val="2E65C5"/>
          </a:solidFill>
          <a:ln w="12700">
            <a:solidFill>
              <a:srgbClr val="FFFFFF">
                <a:alpha val="0"/>
              </a:srgbClr>
            </a:solidFill>
            <a:prstDash val="solid"/>
          </a:ln>
        </p:spPr>
      </p:sp>
      <p:sp>
        <p:nvSpPr>
          <p:cNvPr id="14" name="Text 11"/>
          <p:cNvSpPr txBox="1"/>
          <p:nvPr/>
        </p:nvSpPr>
        <p:spPr>
          <a:xfrm>
            <a:off x="7370064" y="2633472"/>
            <a:ext cx="365760" cy="128016"/>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rial" pitchFamily="34" charset="0"/>
                <a:ea typeface="Arial" pitchFamily="34" charset="-122"/>
                <a:cs typeface="Arial" pitchFamily="34" charset="-120"/>
              </a:rPr>
              <a:t>2</a:t>
            </a:r>
            <a:endParaRPr lang="en-US" sz="900" dirty="0"/>
          </a:p>
        </p:txBody>
      </p:sp>
      <p:sp>
        <p:nvSpPr>
          <p:cNvPr id="15" name="Text 12"/>
          <p:cNvSpPr txBox="1"/>
          <p:nvPr/>
        </p:nvSpPr>
        <p:spPr>
          <a:xfrm>
            <a:off x="7909560" y="2560320"/>
            <a:ext cx="960120" cy="182880"/>
          </a:xfrm>
          <a:prstGeom prst="rect">
            <a:avLst/>
          </a:prstGeom>
          <a:noFill/>
          <a:ln/>
        </p:spPr>
        <p:txBody>
          <a:bodyPr wrap="square" lIns="0" tIns="0" rIns="0" bIns="0" rtlCol="0" anchor="ctr">
            <a:normAutofit/>
          </a:bodyPr>
          <a:lstStyle/>
          <a:p>
            <a:pPr algn="l" indent="0" marL="0">
              <a:buNone/>
            </a:pPr>
            <a:r>
              <a:rPr lang="en-US" sz="1250" b="1" dirty="0">
                <a:solidFill>
                  <a:srgbClr val="12233F"/>
                </a:solidFill>
                <a:latin typeface="Arial" pitchFamily="34" charset="0"/>
                <a:ea typeface="Arial" pitchFamily="34" charset="-122"/>
                <a:cs typeface="Arial" pitchFamily="34" charset="-120"/>
              </a:rPr>
              <a:t>Chunker</a:t>
            </a:r>
            <a:endParaRPr lang="en-US" sz="1250" dirty="0"/>
          </a:p>
        </p:txBody>
      </p:sp>
      <p:sp>
        <p:nvSpPr>
          <p:cNvPr id="16" name="Text 13"/>
          <p:cNvSpPr txBox="1"/>
          <p:nvPr/>
        </p:nvSpPr>
        <p:spPr>
          <a:xfrm>
            <a:off x="8887968" y="2551176"/>
            <a:ext cx="2121408" cy="256032"/>
          </a:xfrm>
          <a:prstGeom prst="rect">
            <a:avLst/>
          </a:prstGeom>
          <a:noFill/>
          <a:ln/>
        </p:spPr>
        <p:txBody>
          <a:bodyPr wrap="square" lIns="0" tIns="0" rIns="0" bIns="0" rtlCol="0" anchor="ctr">
            <a:normAutofit/>
          </a:bodyPr>
          <a:lstStyle/>
          <a:p>
            <a:pPr algn="l" indent="0" marL="0">
              <a:buNone/>
            </a:pPr>
            <a:r>
              <a:rPr lang="en-US" sz="1000" dirty="0">
                <a:solidFill>
                  <a:srgbClr val="63738D"/>
                </a:solidFill>
                <a:latin typeface="Arial" pitchFamily="34" charset="0"/>
                <a:ea typeface="Arial" pitchFamily="34" charset="-122"/>
                <a:cs typeface="Arial" pitchFamily="34" charset="-120"/>
              </a:rPr>
              <a:t>C0 metadata + two-sentence passages</a:t>
            </a:r>
            <a:endParaRPr lang="en-US" sz="1000" dirty="0"/>
          </a:p>
        </p:txBody>
      </p:sp>
      <p:sp>
        <p:nvSpPr>
          <p:cNvPr id="17" name="Shape 14"/>
          <p:cNvSpPr/>
          <p:nvPr/>
        </p:nvSpPr>
        <p:spPr>
          <a:xfrm>
            <a:off x="7370064" y="3163824"/>
            <a:ext cx="365760" cy="365760"/>
          </a:xfrm>
          <a:prstGeom prst="ellipse">
            <a:avLst/>
          </a:prstGeom>
          <a:solidFill>
            <a:srgbClr val="00A79D"/>
          </a:solidFill>
          <a:ln w="12700">
            <a:solidFill>
              <a:srgbClr val="FFFFFF">
                <a:alpha val="0"/>
              </a:srgbClr>
            </a:solidFill>
            <a:prstDash val="solid"/>
          </a:ln>
        </p:spPr>
      </p:sp>
      <p:sp>
        <p:nvSpPr>
          <p:cNvPr id="18" name="Text 15"/>
          <p:cNvSpPr txBox="1"/>
          <p:nvPr/>
        </p:nvSpPr>
        <p:spPr>
          <a:xfrm>
            <a:off x="7370064" y="3246120"/>
            <a:ext cx="365760" cy="128016"/>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rial" pitchFamily="34" charset="0"/>
                <a:ea typeface="Arial" pitchFamily="34" charset="-122"/>
                <a:cs typeface="Arial" pitchFamily="34" charset="-120"/>
              </a:rPr>
              <a:t>3</a:t>
            </a:r>
            <a:endParaRPr lang="en-US" sz="900" dirty="0"/>
          </a:p>
        </p:txBody>
      </p:sp>
      <p:sp>
        <p:nvSpPr>
          <p:cNvPr id="19" name="Text 16"/>
          <p:cNvSpPr txBox="1"/>
          <p:nvPr/>
        </p:nvSpPr>
        <p:spPr>
          <a:xfrm>
            <a:off x="7909560" y="3172968"/>
            <a:ext cx="960120" cy="182880"/>
          </a:xfrm>
          <a:prstGeom prst="rect">
            <a:avLst/>
          </a:prstGeom>
          <a:noFill/>
          <a:ln/>
        </p:spPr>
        <p:txBody>
          <a:bodyPr wrap="square" lIns="0" tIns="0" rIns="0" bIns="0" rtlCol="0" anchor="ctr">
            <a:normAutofit/>
          </a:bodyPr>
          <a:lstStyle/>
          <a:p>
            <a:pPr algn="l" indent="0" marL="0">
              <a:buNone/>
            </a:pPr>
            <a:r>
              <a:rPr lang="en-US" sz="1250" b="1" dirty="0">
                <a:solidFill>
                  <a:srgbClr val="12233F"/>
                </a:solidFill>
                <a:latin typeface="Arial" pitchFamily="34" charset="0"/>
                <a:ea typeface="Arial" pitchFamily="34" charset="-122"/>
                <a:cs typeface="Arial" pitchFamily="34" charset="-120"/>
              </a:rPr>
              <a:t>Index</a:t>
            </a:r>
            <a:endParaRPr lang="en-US" sz="1250" dirty="0"/>
          </a:p>
        </p:txBody>
      </p:sp>
      <p:sp>
        <p:nvSpPr>
          <p:cNvPr id="20" name="Text 17"/>
          <p:cNvSpPr txBox="1"/>
          <p:nvPr/>
        </p:nvSpPr>
        <p:spPr>
          <a:xfrm>
            <a:off x="8887968" y="3163824"/>
            <a:ext cx="2121408" cy="256032"/>
          </a:xfrm>
          <a:prstGeom prst="rect">
            <a:avLst/>
          </a:prstGeom>
          <a:noFill/>
          <a:ln/>
        </p:spPr>
        <p:txBody>
          <a:bodyPr wrap="square" lIns="0" tIns="0" rIns="0" bIns="0" rtlCol="0" anchor="ctr">
            <a:normAutofit/>
          </a:bodyPr>
          <a:lstStyle/>
          <a:p>
            <a:pPr algn="l" indent="0" marL="0">
              <a:buNone/>
            </a:pPr>
            <a:r>
              <a:rPr lang="en-US" sz="1000" dirty="0">
                <a:solidFill>
                  <a:srgbClr val="63738D"/>
                </a:solidFill>
                <a:latin typeface="Arial" pitchFamily="34" charset="0"/>
                <a:ea typeface="Arial" pitchFamily="34" charset="-122"/>
                <a:cs typeface="Arial" pitchFamily="34" charset="-120"/>
              </a:rPr>
              <a:t>SQLite FTS5 match + BM25 rank</a:t>
            </a:r>
            <a:endParaRPr lang="en-US" sz="1000" dirty="0"/>
          </a:p>
        </p:txBody>
      </p:sp>
      <p:sp>
        <p:nvSpPr>
          <p:cNvPr id="21" name="Shape 18"/>
          <p:cNvSpPr/>
          <p:nvPr/>
        </p:nvSpPr>
        <p:spPr>
          <a:xfrm>
            <a:off x="7370064" y="3776472"/>
            <a:ext cx="365760" cy="365760"/>
          </a:xfrm>
          <a:prstGeom prst="ellipse">
            <a:avLst/>
          </a:prstGeom>
          <a:solidFill>
            <a:srgbClr val="2E65C5"/>
          </a:solidFill>
          <a:ln w="12700">
            <a:solidFill>
              <a:srgbClr val="FFFFFF">
                <a:alpha val="0"/>
              </a:srgbClr>
            </a:solidFill>
            <a:prstDash val="solid"/>
          </a:ln>
        </p:spPr>
      </p:sp>
      <p:sp>
        <p:nvSpPr>
          <p:cNvPr id="22" name="Text 19"/>
          <p:cNvSpPr txBox="1"/>
          <p:nvPr/>
        </p:nvSpPr>
        <p:spPr>
          <a:xfrm>
            <a:off x="7370064" y="3858768"/>
            <a:ext cx="365760" cy="128016"/>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rial" pitchFamily="34" charset="0"/>
                <a:ea typeface="Arial" pitchFamily="34" charset="-122"/>
                <a:cs typeface="Arial" pitchFamily="34" charset="-120"/>
              </a:rPr>
              <a:t>4</a:t>
            </a:r>
            <a:endParaRPr lang="en-US" sz="900" dirty="0"/>
          </a:p>
        </p:txBody>
      </p:sp>
      <p:sp>
        <p:nvSpPr>
          <p:cNvPr id="23" name="Text 20"/>
          <p:cNvSpPr txBox="1"/>
          <p:nvPr/>
        </p:nvSpPr>
        <p:spPr>
          <a:xfrm>
            <a:off x="7909560" y="3785616"/>
            <a:ext cx="960120" cy="182880"/>
          </a:xfrm>
          <a:prstGeom prst="rect">
            <a:avLst/>
          </a:prstGeom>
          <a:noFill/>
          <a:ln/>
        </p:spPr>
        <p:txBody>
          <a:bodyPr wrap="square" lIns="0" tIns="0" rIns="0" bIns="0" rtlCol="0" anchor="ctr">
            <a:normAutofit/>
          </a:bodyPr>
          <a:lstStyle/>
          <a:p>
            <a:pPr algn="l" indent="0" marL="0">
              <a:buNone/>
            </a:pPr>
            <a:r>
              <a:rPr lang="en-US" sz="1250" b="1" dirty="0">
                <a:solidFill>
                  <a:srgbClr val="12233F"/>
                </a:solidFill>
                <a:latin typeface="Arial" pitchFamily="34" charset="0"/>
                <a:ea typeface="Arial" pitchFamily="34" charset="-122"/>
                <a:cs typeface="Arial" pitchFamily="34" charset="-120"/>
              </a:rPr>
              <a:t>RAG review</a:t>
            </a:r>
            <a:endParaRPr lang="en-US" sz="1250" dirty="0"/>
          </a:p>
        </p:txBody>
      </p:sp>
      <p:sp>
        <p:nvSpPr>
          <p:cNvPr id="24" name="Text 21"/>
          <p:cNvSpPr txBox="1"/>
          <p:nvPr/>
        </p:nvSpPr>
        <p:spPr>
          <a:xfrm>
            <a:off x="8887968" y="3776472"/>
            <a:ext cx="2121408" cy="256032"/>
          </a:xfrm>
          <a:prstGeom prst="rect">
            <a:avLst/>
          </a:prstGeom>
          <a:noFill/>
          <a:ln/>
        </p:spPr>
        <p:txBody>
          <a:bodyPr wrap="square" lIns="0" tIns="0" rIns="0" bIns="0" rtlCol="0" anchor="ctr">
            <a:normAutofit/>
          </a:bodyPr>
          <a:lstStyle/>
          <a:p>
            <a:pPr algn="l" indent="0" marL="0">
              <a:buNone/>
            </a:pPr>
            <a:r>
              <a:rPr lang="en-US" sz="1000" dirty="0">
                <a:solidFill>
                  <a:srgbClr val="63738D"/>
                </a:solidFill>
                <a:latin typeface="Arial" pitchFamily="34" charset="0"/>
                <a:ea typeface="Arial" pitchFamily="34" charset="-122"/>
                <a:cs typeface="Arial" pitchFamily="34" charset="-120"/>
              </a:rPr>
              <a:t>Retrieved IDs create cited, inspectable context</a:t>
            </a:r>
            <a:endParaRPr lang="en-US" sz="1000" dirty="0"/>
          </a:p>
        </p:txBody>
      </p:sp>
      <p:sp>
        <p:nvSpPr>
          <p:cNvPr id="25" name="Shape 22"/>
          <p:cNvSpPr/>
          <p:nvPr/>
        </p:nvSpPr>
        <p:spPr>
          <a:xfrm>
            <a:off x="658368" y="5166360"/>
            <a:ext cx="10881360" cy="429768"/>
          </a:xfrm>
          <a:prstGeom prst="roundRect">
            <a:avLst>
              <a:gd name="adj" fmla="val 34043"/>
            </a:avLst>
          </a:prstGeom>
          <a:solidFill>
            <a:srgbClr val="EAF9F7"/>
          </a:solidFill>
          <a:ln w="12700">
            <a:solidFill>
              <a:srgbClr val="EAF9F7">
                <a:alpha val="0"/>
              </a:srgbClr>
            </a:solidFill>
            <a:prstDash val="solid"/>
          </a:ln>
        </p:spPr>
      </p:sp>
      <p:sp>
        <p:nvSpPr>
          <p:cNvPr id="26" name="Text 23"/>
          <p:cNvSpPr txBox="1"/>
          <p:nvPr/>
        </p:nvSpPr>
        <p:spPr>
          <a:xfrm>
            <a:off x="850392" y="5285232"/>
            <a:ext cx="10469880" cy="146304"/>
          </a:xfrm>
          <a:prstGeom prst="rect">
            <a:avLst/>
          </a:prstGeom>
          <a:noFill/>
          <a:ln/>
        </p:spPr>
        <p:txBody>
          <a:bodyPr wrap="square" lIns="0" tIns="0" rIns="0" bIns="0" rtlCol="0" anchor="ctr">
            <a:normAutofit/>
          </a:bodyPr>
          <a:lstStyle/>
          <a:p>
            <a:pPr algn="ctr" indent="0" marL="0">
              <a:buNone/>
            </a:pPr>
            <a:r>
              <a:rPr lang="en-US" sz="1200" b="1" dirty="0">
                <a:solidFill>
                  <a:srgbClr val="00A79D"/>
                </a:solidFill>
                <a:latin typeface="Arial" pitchFamily="34" charset="0"/>
                <a:ea typeface="Arial" pitchFamily="34" charset="-122"/>
                <a:cs typeface="Arial" pitchFamily="34" charset="-120"/>
              </a:rPr>
              <a:t>OKF source  →  chunk builder  →  FTS5/BM25  →  retrieved IDs  →  cited response</a:t>
            </a:r>
            <a:endParaRPr lang="en-US" sz="1200" dirty="0"/>
          </a:p>
        </p:txBody>
      </p:sp>
    </p:spTree>
  </p:cSld>
  <p:clrMapOvr>
    <a:masterClrMapping/>
  </p:clrMapOvr>
  <p:transition spd="med" advClick="1">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21792" y="384048"/>
            <a:ext cx="4572000" cy="210312"/>
          </a:xfrm>
          <a:prstGeom prst="rect">
            <a:avLst/>
          </a:prstGeom>
          <a:noFill/>
          <a:ln/>
        </p:spPr>
        <p:txBody>
          <a:bodyPr wrap="square" lIns="0" tIns="0" rIns="0" bIns="0" rtlCol="0" anchor="ctr">
            <a:normAutofit/>
          </a:bodyPr>
          <a:lstStyle/>
          <a:p>
            <a:pPr algn="l" indent="0" marL="0">
              <a:buNone/>
            </a:pPr>
            <a:r>
              <a:rPr lang="en-US" sz="1000" b="1" dirty="0">
                <a:solidFill>
                  <a:srgbClr val="78DCD4"/>
                </a:solidFill>
                <a:latin typeface="Arial" pitchFamily="34" charset="0"/>
                <a:ea typeface="Arial" pitchFamily="34" charset="-122"/>
                <a:cs typeface="Arial" pitchFamily="34" charset="-120"/>
              </a:rPr>
              <a:t>INVESTIGATEIQ COPILOT</a:t>
            </a:r>
            <a:endParaRPr lang="en-US" sz="1000" dirty="0"/>
          </a:p>
        </p:txBody>
      </p:sp>
      <p:sp>
        <p:nvSpPr>
          <p:cNvPr id="3" name="Text 1"/>
          <p:cNvSpPr txBox="1"/>
          <p:nvPr/>
        </p:nvSpPr>
        <p:spPr>
          <a:xfrm>
            <a:off x="621792" y="658368"/>
            <a:ext cx="10881360" cy="493776"/>
          </a:xfrm>
          <a:prstGeom prst="rect">
            <a:avLst/>
          </a:prstGeom>
          <a:noFill/>
          <a:ln/>
        </p:spPr>
        <p:txBody>
          <a:bodyPr wrap="square" lIns="0" tIns="0" rIns="0" bIns="0" rtlCol="0" anchor="ctr">
            <a:normAutofit/>
          </a:bodyPr>
          <a:lstStyle/>
          <a:p>
            <a:pPr algn="l" indent="0" marL="0">
              <a:buNone/>
            </a:pPr>
            <a:r>
              <a:rPr lang="en-US" sz="3100" b="1" dirty="0">
                <a:solidFill>
                  <a:srgbClr val="FFFFFF"/>
                </a:solidFill>
                <a:latin typeface="Arial" pitchFamily="34" charset="0"/>
                <a:ea typeface="Arial" pitchFamily="34" charset="-122"/>
                <a:cs typeface="Arial" pitchFamily="34" charset="-120"/>
              </a:rPr>
              <a:t>Answers stay bounded by stored evidence</a:t>
            </a:r>
            <a:endParaRPr lang="en-US" sz="3100" dirty="0"/>
          </a:p>
        </p:txBody>
      </p:sp>
      <p:sp>
        <p:nvSpPr>
          <p:cNvPr id="4" name="Text 2"/>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AFC9EC"/>
                </a:solidFill>
                <a:latin typeface="Arial" pitchFamily="34" charset="0"/>
                <a:ea typeface="Arial" pitchFamily="34" charset="-122"/>
                <a:cs typeface="Arial" pitchFamily="34" charset="-120"/>
              </a:rPr>
              <a:t>InvestigateIQ  |  Capstone Group 7  |  10</a:t>
            </a:r>
            <a:endParaRPr lang="en-US" sz="850" dirty="0"/>
          </a:p>
        </p:txBody>
      </p:sp>
      <p:sp>
        <p:nvSpPr>
          <p:cNvPr id="5" name="Text 3"/>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AFC9EC"/>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548640" y="1252728"/>
            <a:ext cx="6629400" cy="3767328"/>
          </a:xfrm>
          <a:prstGeom prst="roundRect">
            <a:avLst>
              <a:gd name="adj" fmla="val 3883"/>
            </a:avLst>
          </a:prstGeom>
          <a:solidFill>
            <a:srgbClr val="D9E7FC"/>
          </a:solidFill>
          <a:ln w="12700">
            <a:solidFill>
              <a:srgbClr val="D9E7FC">
                <a:alpha val="0"/>
              </a:srgbClr>
            </a:solidFill>
            <a:prstDash val="solid"/>
          </a:ln>
        </p:spPr>
      </p:sp>
      <p:pic>
        <p:nvPicPr>
          <p:cNvPr id="7" name="Image 0" descr="C:\D\IIT Mumbai\Capstone Blueprint\assets\walkthrough_screens\2026_evidence_copilot_open.png">    </p:cNvPr>
          <p:cNvPicPr>
            <a:picLocks noChangeAspect="1"/>
          </p:cNvPicPr>
          <p:nvPr/>
        </p:nvPicPr>
        <p:blipFill>
          <a:blip r:embed="rId1"/>
          <a:stretch>
            <a:fillRect/>
          </a:stretch>
        </p:blipFill>
        <p:spPr>
          <a:xfrm>
            <a:off x="594360" y="1298448"/>
            <a:ext cx="6537960" cy="3675888"/>
          </a:xfrm>
          <a:prstGeom prst="rect">
            <a:avLst/>
          </a:prstGeom>
        </p:spPr>
      </p:pic>
      <p:sp>
        <p:nvSpPr>
          <p:cNvPr id="8" name="Text 5"/>
          <p:cNvSpPr txBox="1"/>
          <p:nvPr/>
        </p:nvSpPr>
        <p:spPr>
          <a:xfrm>
            <a:off x="7525512" y="1527048"/>
            <a:ext cx="3383280" cy="228600"/>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Arial" pitchFamily="34" charset="0"/>
                <a:ea typeface="Arial" pitchFamily="34" charset="-122"/>
                <a:cs typeface="Arial" pitchFamily="34" charset="-120"/>
              </a:rPr>
              <a:t>The Copilot can</a:t>
            </a:r>
            <a:endParaRPr lang="en-US" sz="1900" dirty="0"/>
          </a:p>
        </p:txBody>
      </p:sp>
      <p:sp>
        <p:nvSpPr>
          <p:cNvPr id="9" name="Shape 6"/>
          <p:cNvSpPr/>
          <p:nvPr/>
        </p:nvSpPr>
        <p:spPr>
          <a:xfrm>
            <a:off x="7543800" y="2057400"/>
            <a:ext cx="438912" cy="438912"/>
          </a:xfrm>
          <a:prstGeom prst="ellipse">
            <a:avLst/>
          </a:prstGeom>
          <a:solidFill>
            <a:srgbClr val="2E65C5"/>
          </a:solidFill>
          <a:ln w="12700">
            <a:solidFill>
              <a:srgbClr val="2E65C5">
                <a:alpha val="0"/>
              </a:srgbClr>
            </a:solidFill>
            <a:prstDash val="solid"/>
          </a:ln>
        </p:spPr>
      </p:sp>
      <p:sp>
        <p:nvSpPr>
          <p:cNvPr id="10" name="Text 7"/>
          <p:cNvSpPr txBox="1"/>
          <p:nvPr/>
        </p:nvSpPr>
        <p:spPr>
          <a:xfrm>
            <a:off x="8229600" y="2075688"/>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Summarize</a:t>
            </a:r>
            <a:endParaRPr lang="en-US" sz="1500" dirty="0"/>
          </a:p>
        </p:txBody>
      </p:sp>
      <p:sp>
        <p:nvSpPr>
          <p:cNvPr id="11" name="Text 8"/>
          <p:cNvSpPr txBox="1"/>
          <p:nvPr/>
        </p:nvSpPr>
        <p:spPr>
          <a:xfrm>
            <a:off x="8229600" y="2386584"/>
            <a:ext cx="2743200" cy="164592"/>
          </a:xfrm>
          <a:prstGeom prst="rect">
            <a:avLst/>
          </a:prstGeom>
          <a:noFill/>
          <a:ln/>
        </p:spPr>
        <p:txBody>
          <a:bodyPr wrap="square" lIns="0" tIns="0" rIns="0" bIns="0" rtlCol="0" anchor="ctr">
            <a:normAutofit/>
          </a:bodyPr>
          <a:lstStyle/>
          <a:p>
            <a:pPr algn="l" indent="0" marL="0">
              <a:buNone/>
            </a:pPr>
            <a:r>
              <a:rPr lang="en-US" sz="1080" dirty="0">
                <a:solidFill>
                  <a:srgbClr val="DDEBFF"/>
                </a:solidFill>
                <a:latin typeface="Arial" pitchFamily="34" charset="0"/>
                <a:ea typeface="Arial" pitchFamily="34" charset="-122"/>
                <a:cs typeface="Arial" pitchFamily="34" charset="-120"/>
              </a:rPr>
              <a:t>Stored fictional records and chunks</a:t>
            </a:r>
            <a:endParaRPr lang="en-US" sz="1080" dirty="0"/>
          </a:p>
        </p:txBody>
      </p:sp>
      <p:sp>
        <p:nvSpPr>
          <p:cNvPr id="12" name="Shape 9"/>
          <p:cNvSpPr/>
          <p:nvPr/>
        </p:nvSpPr>
        <p:spPr>
          <a:xfrm>
            <a:off x="7543800" y="2752344"/>
            <a:ext cx="438912" cy="438912"/>
          </a:xfrm>
          <a:prstGeom prst="ellipse">
            <a:avLst/>
          </a:prstGeom>
          <a:solidFill>
            <a:srgbClr val="00A79D"/>
          </a:solidFill>
          <a:ln w="12700">
            <a:solidFill>
              <a:srgbClr val="00A79D">
                <a:alpha val="0"/>
              </a:srgbClr>
            </a:solidFill>
            <a:prstDash val="solid"/>
          </a:ln>
        </p:spPr>
      </p:sp>
      <p:sp>
        <p:nvSpPr>
          <p:cNvPr id="13" name="Text 10"/>
          <p:cNvSpPr txBox="1"/>
          <p:nvPr/>
        </p:nvSpPr>
        <p:spPr>
          <a:xfrm>
            <a:off x="8229600" y="2770632"/>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Cite</a:t>
            </a:r>
            <a:endParaRPr lang="en-US" sz="1500" dirty="0"/>
          </a:p>
        </p:txBody>
      </p:sp>
      <p:sp>
        <p:nvSpPr>
          <p:cNvPr id="14" name="Text 11"/>
          <p:cNvSpPr txBox="1"/>
          <p:nvPr/>
        </p:nvSpPr>
        <p:spPr>
          <a:xfrm>
            <a:off x="8229600" y="3081528"/>
            <a:ext cx="2743200" cy="164592"/>
          </a:xfrm>
          <a:prstGeom prst="rect">
            <a:avLst/>
          </a:prstGeom>
          <a:noFill/>
          <a:ln/>
        </p:spPr>
        <p:txBody>
          <a:bodyPr wrap="square" lIns="0" tIns="0" rIns="0" bIns="0" rtlCol="0" anchor="ctr">
            <a:normAutofit/>
          </a:bodyPr>
          <a:lstStyle/>
          <a:p>
            <a:pPr algn="l" indent="0" marL="0">
              <a:buNone/>
            </a:pPr>
            <a:r>
              <a:rPr lang="en-US" sz="1080" dirty="0">
                <a:solidFill>
                  <a:srgbClr val="DDEBFF"/>
                </a:solidFill>
                <a:latin typeface="Arial" pitchFamily="34" charset="0"/>
                <a:ea typeface="Arial" pitchFamily="34" charset="-122"/>
                <a:cs typeface="Arial" pitchFamily="34" charset="-120"/>
              </a:rPr>
              <a:t>Source IDs and evidence gaps</a:t>
            </a:r>
            <a:endParaRPr lang="en-US" sz="1080" dirty="0"/>
          </a:p>
        </p:txBody>
      </p:sp>
      <p:sp>
        <p:nvSpPr>
          <p:cNvPr id="15" name="Shape 12"/>
          <p:cNvSpPr/>
          <p:nvPr/>
        </p:nvSpPr>
        <p:spPr>
          <a:xfrm>
            <a:off x="7543800" y="3447288"/>
            <a:ext cx="438912" cy="438912"/>
          </a:xfrm>
          <a:prstGeom prst="ellipse">
            <a:avLst/>
          </a:prstGeom>
          <a:solidFill>
            <a:srgbClr val="2E65C5"/>
          </a:solidFill>
          <a:ln w="12700">
            <a:solidFill>
              <a:srgbClr val="2E65C5">
                <a:alpha val="0"/>
              </a:srgbClr>
            </a:solidFill>
            <a:prstDash val="solid"/>
          </a:ln>
        </p:spPr>
      </p:sp>
      <p:sp>
        <p:nvSpPr>
          <p:cNvPr id="16" name="Text 13"/>
          <p:cNvSpPr txBox="1"/>
          <p:nvPr/>
        </p:nvSpPr>
        <p:spPr>
          <a:xfrm>
            <a:off x="8229600" y="3465576"/>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Explain</a:t>
            </a:r>
            <a:endParaRPr lang="en-US" sz="1500" dirty="0"/>
          </a:p>
        </p:txBody>
      </p:sp>
      <p:sp>
        <p:nvSpPr>
          <p:cNvPr id="17" name="Text 14"/>
          <p:cNvSpPr txBox="1"/>
          <p:nvPr/>
        </p:nvSpPr>
        <p:spPr>
          <a:xfrm>
            <a:off x="8229600" y="3776472"/>
            <a:ext cx="2743200" cy="164592"/>
          </a:xfrm>
          <a:prstGeom prst="rect">
            <a:avLst/>
          </a:prstGeom>
          <a:noFill/>
          <a:ln/>
        </p:spPr>
        <p:txBody>
          <a:bodyPr wrap="square" lIns="0" tIns="0" rIns="0" bIns="0" rtlCol="0" anchor="ctr">
            <a:normAutofit/>
          </a:bodyPr>
          <a:lstStyle/>
          <a:p>
            <a:pPr algn="l" indent="0" marL="0">
              <a:buNone/>
            </a:pPr>
            <a:r>
              <a:rPr lang="en-US" sz="1080" dirty="0">
                <a:solidFill>
                  <a:srgbClr val="DDEBFF"/>
                </a:solidFill>
                <a:latin typeface="Arial" pitchFamily="34" charset="0"/>
                <a:ea typeface="Arial" pitchFamily="34" charset="-122"/>
                <a:cs typeface="Arial" pitchFamily="34" charset="-120"/>
              </a:rPr>
              <a:t>The selected page and case context</a:t>
            </a:r>
            <a:endParaRPr lang="en-US" sz="1080" dirty="0"/>
          </a:p>
        </p:txBody>
      </p:sp>
      <p:sp>
        <p:nvSpPr>
          <p:cNvPr id="18" name="Text 15"/>
          <p:cNvSpPr txBox="1"/>
          <p:nvPr/>
        </p:nvSpPr>
        <p:spPr>
          <a:xfrm>
            <a:off x="7543800" y="4700016"/>
            <a:ext cx="3310128" cy="310896"/>
          </a:xfrm>
          <a:prstGeom prst="rect">
            <a:avLst/>
          </a:prstGeom>
          <a:noFill/>
          <a:ln/>
        </p:spPr>
        <p:txBody>
          <a:bodyPr wrap="square" lIns="0" tIns="0" rIns="0" bIns="0" rtlCol="0" anchor="ctr">
            <a:normAutofit/>
          </a:bodyPr>
          <a:lstStyle/>
          <a:p>
            <a:pPr algn="l" indent="0" marL="0">
              <a:buNone/>
            </a:pPr>
            <a:r>
              <a:rPr lang="en-US" sz="1500" b="1" dirty="0">
                <a:solidFill>
                  <a:srgbClr val="78DCD4"/>
                </a:solidFill>
                <a:latin typeface="Arial" pitchFamily="34" charset="0"/>
                <a:ea typeface="Arial" pitchFamily="34" charset="-122"/>
                <a:cs typeface="Arial" pitchFamily="34" charset="-120"/>
              </a:rPr>
              <a:t>It cannot submit or alter a human decision.</a:t>
            </a:r>
            <a:endParaRPr lang="en-US" sz="1500" dirty="0"/>
          </a:p>
        </p:txBody>
      </p:sp>
    </p:spTree>
  </p:cSld>
  <p:clrMapOvr>
    <a:masterClrMapping/>
  </p:clrMapOvr>
  <p:transition spd="med" advClick="1">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84048"/>
            <a:ext cx="4572000" cy="21031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HUMAN DECISIONS AND COMPLIANCE</a:t>
            </a:r>
            <a:endParaRPr lang="en-US" sz="1000" dirty="0"/>
          </a:p>
        </p:txBody>
      </p:sp>
      <p:sp>
        <p:nvSpPr>
          <p:cNvPr id="3" name="Text 1"/>
          <p:cNvSpPr txBox="1"/>
          <p:nvPr/>
        </p:nvSpPr>
        <p:spPr>
          <a:xfrm>
            <a:off x="621792" y="658368"/>
            <a:ext cx="10881360" cy="493776"/>
          </a:xfrm>
          <a:prstGeom prst="rect">
            <a:avLst/>
          </a:prstGeom>
          <a:noFill/>
          <a:ln/>
        </p:spPr>
        <p:txBody>
          <a:bodyPr wrap="square" lIns="0" tIns="0" rIns="0" bIns="0" rtlCol="0" anchor="ctr">
            <a:normAutofit/>
          </a:bodyPr>
          <a:lstStyle/>
          <a:p>
            <a:pPr algn="l" indent="0" marL="0">
              <a:buNone/>
            </a:pPr>
            <a:r>
              <a:rPr lang="en-US" sz="3100" b="1" dirty="0">
                <a:solidFill>
                  <a:srgbClr val="0B1F3A"/>
                </a:solidFill>
                <a:latin typeface="Arial" pitchFamily="34" charset="0"/>
                <a:ea typeface="Arial" pitchFamily="34" charset="-122"/>
                <a:cs typeface="Arial" pitchFamily="34" charset="-120"/>
              </a:rPr>
              <a:t>Accountability belongs to named people</a:t>
            </a:r>
            <a:endParaRPr lang="en-US" sz="3100" dirty="0"/>
          </a:p>
        </p:txBody>
      </p:sp>
      <p:sp>
        <p:nvSpPr>
          <p:cNvPr id="4" name="Text 2"/>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11</a:t>
            </a:r>
            <a:endParaRPr lang="en-US" sz="850" dirty="0"/>
          </a:p>
        </p:txBody>
      </p:sp>
      <p:sp>
        <p:nvSpPr>
          <p:cNvPr id="5" name="Text 3"/>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576072" y="1252728"/>
            <a:ext cx="6400800" cy="3639312"/>
          </a:xfrm>
          <a:prstGeom prst="roundRect">
            <a:avLst>
              <a:gd name="adj" fmla="val 4020"/>
            </a:avLst>
          </a:prstGeom>
          <a:solidFill>
            <a:srgbClr val="D9E7FC"/>
          </a:solidFill>
          <a:ln w="12700">
            <a:solidFill>
              <a:srgbClr val="D9E7FC">
                <a:alpha val="0"/>
              </a:srgbClr>
            </a:solidFill>
            <a:prstDash val="solid"/>
          </a:ln>
        </p:spPr>
      </p:sp>
      <p:pic>
        <p:nvPicPr>
          <p:cNvPr id="7" name="Image 0" descr="C:\D\IIT Mumbai\Capstone Blueprint\assets\walkthrough_screens\2026_compliance_queue_detail.png">    </p:cNvPr>
          <p:cNvPicPr>
            <a:picLocks noChangeAspect="1"/>
          </p:cNvPicPr>
          <p:nvPr/>
        </p:nvPicPr>
        <p:blipFill>
          <a:blip r:embed="rId1"/>
          <a:stretch>
            <a:fillRect/>
          </a:stretch>
        </p:blipFill>
        <p:spPr>
          <a:xfrm>
            <a:off x="621792" y="1298448"/>
            <a:ext cx="6309360" cy="3547872"/>
          </a:xfrm>
          <a:prstGeom prst="rect">
            <a:avLst/>
          </a:prstGeom>
        </p:spPr>
      </p:pic>
      <p:sp>
        <p:nvSpPr>
          <p:cNvPr id="8" name="Text 5"/>
          <p:cNvSpPr txBox="1"/>
          <p:nvPr/>
        </p:nvSpPr>
        <p:spPr>
          <a:xfrm>
            <a:off x="7315200" y="1554480"/>
            <a:ext cx="1508760" cy="237744"/>
          </a:xfrm>
          <a:prstGeom prst="rect">
            <a:avLst/>
          </a:prstGeom>
          <a:noFill/>
          <a:ln/>
        </p:spPr>
        <p:txBody>
          <a:bodyPr wrap="square" lIns="0" tIns="0" rIns="0" bIns="0" rtlCol="0" anchor="ctr">
            <a:normAutofit/>
          </a:bodyPr>
          <a:lstStyle/>
          <a:p>
            <a:pPr algn="l" indent="0" marL="0">
              <a:buNone/>
            </a:pPr>
            <a:r>
              <a:rPr lang="en-US" sz="1800" b="1" dirty="0">
                <a:solidFill>
                  <a:srgbClr val="12233F"/>
                </a:solidFill>
                <a:latin typeface="Arial" pitchFamily="34" charset="0"/>
                <a:ea typeface="Arial" pitchFamily="34" charset="-122"/>
                <a:cs typeface="Arial" pitchFamily="34" charset="-120"/>
              </a:rPr>
              <a:t>Investigator</a:t>
            </a:r>
            <a:endParaRPr lang="en-US" sz="1800" dirty="0"/>
          </a:p>
        </p:txBody>
      </p:sp>
      <p:sp>
        <p:nvSpPr>
          <p:cNvPr id="9" name="Text 6"/>
          <p:cNvSpPr txBox="1"/>
          <p:nvPr/>
        </p:nvSpPr>
        <p:spPr>
          <a:xfrm>
            <a:off x="7315200" y="1901952"/>
            <a:ext cx="3931920" cy="612648"/>
          </a:xfrm>
          <a:prstGeom prst="rect">
            <a:avLst/>
          </a:prstGeom>
          <a:noFill/>
          <a:ln/>
        </p:spPr>
        <p:txBody>
          <a:bodyPr wrap="square" lIns="0" tIns="0" rIns="0" bIns="0" rtlCol="0" anchor="t">
            <a:normAutofit/>
          </a:bodyPr>
          <a:lstStyle/>
          <a:p>
            <a:pPr algn="l" indent="0" marL="0">
              <a:buNone/>
            </a:pPr>
            <a:r>
              <a:rPr lang="en-US" sz="1400" dirty="0">
                <a:solidFill>
                  <a:srgbClr val="63738D"/>
                </a:solidFill>
                <a:latin typeface="Arial" pitchFamily="34" charset="0"/>
                <a:ea typeface="Arial" pitchFamily="34" charset="-122"/>
                <a:cs typeface="Arial" pitchFamily="34" charset="-120"/>
              </a:rPr>
              <a:t>Records a required rationale for more information or escalation. A completed action appears as an immutable recorded state.</a:t>
            </a:r>
            <a:endParaRPr lang="en-US" sz="1400" dirty="0"/>
          </a:p>
        </p:txBody>
      </p:sp>
      <p:sp>
        <p:nvSpPr>
          <p:cNvPr id="10" name="Text 7"/>
          <p:cNvSpPr txBox="1"/>
          <p:nvPr/>
        </p:nvSpPr>
        <p:spPr>
          <a:xfrm>
            <a:off x="7315200" y="2788920"/>
            <a:ext cx="2011680" cy="237744"/>
          </a:xfrm>
          <a:prstGeom prst="rect">
            <a:avLst/>
          </a:prstGeom>
          <a:noFill/>
          <a:ln/>
        </p:spPr>
        <p:txBody>
          <a:bodyPr wrap="square" lIns="0" tIns="0" rIns="0" bIns="0" rtlCol="0" anchor="ctr">
            <a:normAutofit/>
          </a:bodyPr>
          <a:lstStyle/>
          <a:p>
            <a:pPr algn="l" indent="0" marL="0">
              <a:buNone/>
            </a:pPr>
            <a:r>
              <a:rPr lang="en-US" sz="1800" b="1" dirty="0">
                <a:solidFill>
                  <a:srgbClr val="12233F"/>
                </a:solidFill>
                <a:latin typeface="Arial" pitchFamily="34" charset="0"/>
                <a:ea typeface="Arial" pitchFamily="34" charset="-122"/>
                <a:cs typeface="Arial" pitchFamily="34" charset="-120"/>
              </a:rPr>
              <a:t>Compliance Officer</a:t>
            </a:r>
            <a:endParaRPr lang="en-US" sz="1800" dirty="0"/>
          </a:p>
        </p:txBody>
      </p:sp>
      <p:sp>
        <p:nvSpPr>
          <p:cNvPr id="11" name="Text 8"/>
          <p:cNvSpPr txBox="1"/>
          <p:nvPr/>
        </p:nvSpPr>
        <p:spPr>
          <a:xfrm>
            <a:off x="7315200" y="3136392"/>
            <a:ext cx="3977640" cy="612648"/>
          </a:xfrm>
          <a:prstGeom prst="rect">
            <a:avLst/>
          </a:prstGeom>
          <a:noFill/>
          <a:ln/>
        </p:spPr>
        <p:txBody>
          <a:bodyPr wrap="square" lIns="0" tIns="0" rIns="0" bIns="0" rtlCol="0" anchor="t">
            <a:normAutofit/>
          </a:bodyPr>
          <a:lstStyle/>
          <a:p>
            <a:pPr algn="l" indent="0" marL="0">
              <a:buNone/>
            </a:pPr>
            <a:r>
              <a:rPr lang="en-US" sz="1400" dirty="0">
                <a:solidFill>
                  <a:srgbClr val="63738D"/>
                </a:solidFill>
                <a:latin typeface="Arial" pitchFamily="34" charset="0"/>
                <a:ea typeface="Arial" pitchFamily="34" charset="-122"/>
                <a:cs typeface="Arial" pitchFamily="34" charset="-120"/>
              </a:rPr>
              <a:t>Acknowledges, returns, or records an onward referral. These outcomes map back to distinct case statuses and audit events.</a:t>
            </a:r>
            <a:endParaRPr lang="en-US" sz="1400" dirty="0"/>
          </a:p>
        </p:txBody>
      </p:sp>
      <p:sp>
        <p:nvSpPr>
          <p:cNvPr id="12" name="Shape 9"/>
          <p:cNvSpPr/>
          <p:nvPr/>
        </p:nvSpPr>
        <p:spPr>
          <a:xfrm>
            <a:off x="7315200" y="4315968"/>
            <a:ext cx="3977640" cy="566928"/>
          </a:xfrm>
          <a:prstGeom prst="roundRect">
            <a:avLst>
              <a:gd name="adj" fmla="val 25806"/>
            </a:avLst>
          </a:prstGeom>
          <a:solidFill>
            <a:srgbClr val="EAF9F7"/>
          </a:solidFill>
          <a:ln w="12700">
            <a:solidFill>
              <a:srgbClr val="EAF9F7">
                <a:alpha val="0"/>
              </a:srgbClr>
            </a:solidFill>
            <a:prstDash val="solid"/>
          </a:ln>
        </p:spPr>
      </p:sp>
      <p:sp>
        <p:nvSpPr>
          <p:cNvPr id="13" name="Text 10"/>
          <p:cNvSpPr txBox="1"/>
          <p:nvPr/>
        </p:nvSpPr>
        <p:spPr>
          <a:xfrm>
            <a:off x="7543800" y="4498848"/>
            <a:ext cx="3520440" cy="155448"/>
          </a:xfrm>
          <a:prstGeom prst="rect">
            <a:avLst/>
          </a:prstGeom>
          <a:noFill/>
          <a:ln/>
        </p:spPr>
        <p:txBody>
          <a:bodyPr wrap="square" lIns="0" tIns="0" rIns="0" bIns="0" rtlCol="0" anchor="ctr">
            <a:normAutofit/>
          </a:bodyPr>
          <a:lstStyle/>
          <a:p>
            <a:pPr algn="ctr" indent="0" marL="0">
              <a:buNone/>
            </a:pPr>
            <a:r>
              <a:rPr lang="en-US" sz="1200" b="1" dirty="0">
                <a:solidFill>
                  <a:srgbClr val="00A79D"/>
                </a:solidFill>
                <a:latin typeface="Arial" pitchFamily="34" charset="0"/>
                <a:ea typeface="Arial" pitchFamily="34" charset="-122"/>
                <a:cs typeface="Arial" pitchFamily="34" charset="-120"/>
              </a:rPr>
              <a:t>No automated close, escalation, referral, or external filing</a:t>
            </a:r>
            <a:endParaRPr lang="en-US" sz="1200" dirty="0"/>
          </a:p>
        </p:txBody>
      </p:sp>
    </p:spTree>
  </p:cSld>
  <p:clrMapOvr>
    <a:masterClrMapping/>
  </p:clrMapOvr>
  <p:transition spd="med" advClick="1">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21792" y="384048"/>
            <a:ext cx="4572000" cy="210312"/>
          </a:xfrm>
          <a:prstGeom prst="rect">
            <a:avLst/>
          </a:prstGeom>
          <a:noFill/>
          <a:ln/>
        </p:spPr>
        <p:txBody>
          <a:bodyPr wrap="square" lIns="0" tIns="0" rIns="0" bIns="0" rtlCol="0" anchor="ctr">
            <a:normAutofit/>
          </a:bodyPr>
          <a:lstStyle/>
          <a:p>
            <a:pPr algn="l" indent="0" marL="0">
              <a:buNone/>
            </a:pPr>
            <a:r>
              <a:rPr lang="en-US" sz="1000" b="1" dirty="0">
                <a:solidFill>
                  <a:srgbClr val="78DCD4"/>
                </a:solidFill>
                <a:latin typeface="Arial" pitchFamily="34" charset="0"/>
                <a:ea typeface="Arial" pitchFamily="34" charset="-122"/>
                <a:cs typeface="Arial" pitchFamily="34" charset="-120"/>
              </a:rPr>
              <a:t>ANALYTICS</a:t>
            </a:r>
            <a:endParaRPr lang="en-US" sz="1000" dirty="0"/>
          </a:p>
        </p:txBody>
      </p:sp>
      <p:sp>
        <p:nvSpPr>
          <p:cNvPr id="3" name="Text 1"/>
          <p:cNvSpPr txBox="1"/>
          <p:nvPr/>
        </p:nvSpPr>
        <p:spPr>
          <a:xfrm>
            <a:off x="621792" y="658368"/>
            <a:ext cx="10881360" cy="493776"/>
          </a:xfrm>
          <a:prstGeom prst="rect">
            <a:avLst/>
          </a:prstGeom>
          <a:noFill/>
          <a:ln/>
        </p:spPr>
        <p:txBody>
          <a:bodyPr wrap="square" lIns="0" tIns="0" rIns="0" bIns="0" rtlCol="0" anchor="ctr">
            <a:normAutofit/>
          </a:bodyPr>
          <a:lstStyle/>
          <a:p>
            <a:pPr algn="l" indent="0" marL="0">
              <a:buNone/>
            </a:pPr>
            <a:r>
              <a:rPr lang="en-US" sz="3100" b="1" dirty="0">
                <a:solidFill>
                  <a:srgbClr val="FFFFFF"/>
                </a:solidFill>
                <a:latin typeface="Arial" pitchFamily="34" charset="0"/>
                <a:ea typeface="Arial" pitchFamily="34" charset="-122"/>
                <a:cs typeface="Arial" pitchFamily="34" charset="-120"/>
              </a:rPr>
              <a:t>Each graph names its measure and limitation</a:t>
            </a:r>
            <a:endParaRPr lang="en-US" sz="3100" dirty="0"/>
          </a:p>
        </p:txBody>
      </p:sp>
      <p:sp>
        <p:nvSpPr>
          <p:cNvPr id="4" name="Text 2"/>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AFC9EC"/>
                </a:solidFill>
                <a:latin typeface="Arial" pitchFamily="34" charset="0"/>
                <a:ea typeface="Arial" pitchFamily="34" charset="-122"/>
                <a:cs typeface="Arial" pitchFamily="34" charset="-120"/>
              </a:rPr>
              <a:t>InvestigateIQ  |  Capstone Group 7  |  12</a:t>
            </a:r>
            <a:endParaRPr lang="en-US" sz="850" dirty="0"/>
          </a:p>
        </p:txBody>
      </p:sp>
      <p:sp>
        <p:nvSpPr>
          <p:cNvPr id="5" name="Text 3"/>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AFC9EC"/>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566928" y="1234440"/>
            <a:ext cx="6858000" cy="3895344"/>
          </a:xfrm>
          <a:prstGeom prst="roundRect">
            <a:avLst>
              <a:gd name="adj" fmla="val 3756"/>
            </a:avLst>
          </a:prstGeom>
          <a:solidFill>
            <a:srgbClr val="D9E7FC"/>
          </a:solidFill>
          <a:ln w="12700">
            <a:solidFill>
              <a:srgbClr val="D9E7FC">
                <a:alpha val="0"/>
              </a:srgbClr>
            </a:solidFill>
            <a:prstDash val="solid"/>
          </a:ln>
        </p:spPr>
      </p:sp>
      <p:pic>
        <p:nvPicPr>
          <p:cNvPr id="7" name="Image 0" descr="C:\D\IIT Mumbai\Capstone Blueprint\assets\walkthrough_screens\2026_analytics_charts.png">    </p:cNvPr>
          <p:cNvPicPr>
            <a:picLocks noChangeAspect="1"/>
          </p:cNvPicPr>
          <p:nvPr/>
        </p:nvPicPr>
        <p:blipFill>
          <a:blip r:embed="rId1"/>
          <a:stretch>
            <a:fillRect/>
          </a:stretch>
        </p:blipFill>
        <p:spPr>
          <a:xfrm>
            <a:off x="612648" y="1280160"/>
            <a:ext cx="6766560" cy="3803904"/>
          </a:xfrm>
          <a:prstGeom prst="rect">
            <a:avLst/>
          </a:prstGeom>
        </p:spPr>
      </p:pic>
      <p:sp>
        <p:nvSpPr>
          <p:cNvPr id="8" name="Text 5"/>
          <p:cNvSpPr txBox="1"/>
          <p:nvPr/>
        </p:nvSpPr>
        <p:spPr>
          <a:xfrm>
            <a:off x="7754112" y="1527048"/>
            <a:ext cx="3337560" cy="246888"/>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Arial" pitchFamily="34" charset="0"/>
                <a:ea typeface="Arial" pitchFamily="34" charset="-122"/>
                <a:cs typeface="Arial" pitchFamily="34" charset="-120"/>
              </a:rPr>
              <a:t>What the charts describe</a:t>
            </a:r>
            <a:endParaRPr lang="en-US" sz="1900" dirty="0"/>
          </a:p>
        </p:txBody>
      </p:sp>
      <p:sp>
        <p:nvSpPr>
          <p:cNvPr id="9" name="Shape 6"/>
          <p:cNvSpPr/>
          <p:nvPr/>
        </p:nvSpPr>
        <p:spPr>
          <a:xfrm>
            <a:off x="7754112" y="1938528"/>
            <a:ext cx="3429000" cy="347472"/>
          </a:xfrm>
          <a:prstGeom prst="roundRect">
            <a:avLst>
              <a:gd name="adj" fmla="val 42105"/>
            </a:avLst>
          </a:prstGeom>
          <a:solidFill>
            <a:srgbClr val="173C78"/>
          </a:solidFill>
          <a:ln w="12700">
            <a:solidFill>
              <a:srgbClr val="173C78">
                <a:alpha val="0"/>
              </a:srgbClr>
            </a:solidFill>
            <a:prstDash val="solid"/>
          </a:ln>
        </p:spPr>
      </p:sp>
      <p:sp>
        <p:nvSpPr>
          <p:cNvPr id="10" name="Text 7"/>
          <p:cNvSpPr txBox="1"/>
          <p:nvPr/>
        </p:nvSpPr>
        <p:spPr>
          <a:xfrm>
            <a:off x="7909560" y="2029968"/>
            <a:ext cx="1005840" cy="137160"/>
          </a:xfrm>
          <a:prstGeom prst="rect">
            <a:avLst/>
          </a:prstGeom>
          <a:noFill/>
          <a:ln/>
        </p:spPr>
        <p:txBody>
          <a:bodyPr wrap="square" lIns="0" tIns="0" rIns="0" bIns="0" rtlCol="0" anchor="ctr">
            <a:normAutofit/>
          </a:bodyPr>
          <a:lstStyle/>
          <a:p>
            <a:pPr algn="l" indent="0" marL="0">
              <a:buNone/>
            </a:pPr>
            <a:r>
              <a:rPr lang="en-US" sz="1050" b="1" dirty="0">
                <a:solidFill>
                  <a:srgbClr val="78DCD4"/>
                </a:solidFill>
                <a:latin typeface="Arial" pitchFamily="34" charset="0"/>
                <a:ea typeface="Arial" pitchFamily="34" charset="-122"/>
                <a:cs typeface="Arial" pitchFamily="34" charset="-120"/>
              </a:rPr>
              <a:t>Severity</a:t>
            </a:r>
            <a:endParaRPr lang="en-US" sz="1050" dirty="0"/>
          </a:p>
        </p:txBody>
      </p:sp>
      <p:sp>
        <p:nvSpPr>
          <p:cNvPr id="11" name="Text 8"/>
          <p:cNvSpPr txBox="1"/>
          <p:nvPr/>
        </p:nvSpPr>
        <p:spPr>
          <a:xfrm>
            <a:off x="8961120" y="2029968"/>
            <a:ext cx="1965960" cy="137160"/>
          </a:xfrm>
          <a:prstGeom prst="rect">
            <a:avLst/>
          </a:prstGeom>
          <a:noFill/>
          <a:ln/>
        </p:spPr>
        <p:txBody>
          <a:bodyPr wrap="square" lIns="0" tIns="0" rIns="0" bIns="0" rtlCol="0" anchor="ctr">
            <a:normAutofit/>
          </a:bodyPr>
          <a:lstStyle/>
          <a:p>
            <a:pPr algn="l" indent="0" marL="0">
              <a:buNone/>
            </a:pPr>
            <a:r>
              <a:rPr lang="en-US" sz="1050" dirty="0">
                <a:solidFill>
                  <a:srgbClr val="DDEBFF"/>
                </a:solidFill>
                <a:latin typeface="Arial" pitchFamily="34" charset="0"/>
                <a:ea typeface="Arial" pitchFamily="34" charset="-122"/>
                <a:cs typeface="Arial" pitchFamily="34" charset="-120"/>
              </a:rPr>
              <a:t>Stored labels</a:t>
            </a:r>
            <a:endParaRPr lang="en-US" sz="1050" dirty="0"/>
          </a:p>
        </p:txBody>
      </p:sp>
      <p:sp>
        <p:nvSpPr>
          <p:cNvPr id="12" name="Shape 9"/>
          <p:cNvSpPr/>
          <p:nvPr/>
        </p:nvSpPr>
        <p:spPr>
          <a:xfrm>
            <a:off x="7754112" y="2441448"/>
            <a:ext cx="3429000" cy="347472"/>
          </a:xfrm>
          <a:prstGeom prst="roundRect">
            <a:avLst>
              <a:gd name="adj" fmla="val 42105"/>
            </a:avLst>
          </a:prstGeom>
          <a:solidFill>
            <a:srgbClr val="173C78"/>
          </a:solidFill>
          <a:ln w="12700">
            <a:solidFill>
              <a:srgbClr val="173C78">
                <a:alpha val="0"/>
              </a:srgbClr>
            </a:solidFill>
            <a:prstDash val="solid"/>
          </a:ln>
        </p:spPr>
      </p:sp>
      <p:sp>
        <p:nvSpPr>
          <p:cNvPr id="13" name="Text 10"/>
          <p:cNvSpPr txBox="1"/>
          <p:nvPr/>
        </p:nvSpPr>
        <p:spPr>
          <a:xfrm>
            <a:off x="7909560" y="2532888"/>
            <a:ext cx="1005840" cy="137160"/>
          </a:xfrm>
          <a:prstGeom prst="rect">
            <a:avLst/>
          </a:prstGeom>
          <a:noFill/>
          <a:ln/>
        </p:spPr>
        <p:txBody>
          <a:bodyPr wrap="square" lIns="0" tIns="0" rIns="0" bIns="0" rtlCol="0" anchor="ctr">
            <a:normAutofit/>
          </a:bodyPr>
          <a:lstStyle/>
          <a:p>
            <a:pPr algn="l" indent="0" marL="0">
              <a:buNone/>
            </a:pPr>
            <a:r>
              <a:rPr lang="en-US" sz="1050" b="1" dirty="0">
                <a:solidFill>
                  <a:srgbClr val="78DCD4"/>
                </a:solidFill>
                <a:latin typeface="Arial" pitchFamily="34" charset="0"/>
                <a:ea typeface="Arial" pitchFamily="34" charset="-122"/>
                <a:cs typeface="Arial" pitchFamily="34" charset="-120"/>
              </a:rPr>
              <a:t>Status</a:t>
            </a:r>
            <a:endParaRPr lang="en-US" sz="1050" dirty="0"/>
          </a:p>
        </p:txBody>
      </p:sp>
      <p:sp>
        <p:nvSpPr>
          <p:cNvPr id="14" name="Text 11"/>
          <p:cNvSpPr txBox="1"/>
          <p:nvPr/>
        </p:nvSpPr>
        <p:spPr>
          <a:xfrm>
            <a:off x="8961120" y="2532888"/>
            <a:ext cx="1965960" cy="137160"/>
          </a:xfrm>
          <a:prstGeom prst="rect">
            <a:avLst/>
          </a:prstGeom>
          <a:noFill/>
          <a:ln/>
        </p:spPr>
        <p:txBody>
          <a:bodyPr wrap="square" lIns="0" tIns="0" rIns="0" bIns="0" rtlCol="0" anchor="ctr">
            <a:normAutofit/>
          </a:bodyPr>
          <a:lstStyle/>
          <a:p>
            <a:pPr algn="l" indent="0" marL="0">
              <a:buNone/>
            </a:pPr>
            <a:r>
              <a:rPr lang="en-US" sz="1050" dirty="0">
                <a:solidFill>
                  <a:srgbClr val="DDEBFF"/>
                </a:solidFill>
                <a:latin typeface="Arial" pitchFamily="34" charset="0"/>
                <a:ea typeface="Arial" pitchFamily="34" charset="-122"/>
                <a:cs typeface="Arial" pitchFamily="34" charset="-120"/>
              </a:rPr>
              <a:t>Latest workflow state</a:t>
            </a:r>
            <a:endParaRPr lang="en-US" sz="1050" dirty="0"/>
          </a:p>
        </p:txBody>
      </p:sp>
      <p:sp>
        <p:nvSpPr>
          <p:cNvPr id="15" name="Shape 12"/>
          <p:cNvSpPr/>
          <p:nvPr/>
        </p:nvSpPr>
        <p:spPr>
          <a:xfrm>
            <a:off x="7754112" y="2944368"/>
            <a:ext cx="3429000" cy="347472"/>
          </a:xfrm>
          <a:prstGeom prst="roundRect">
            <a:avLst>
              <a:gd name="adj" fmla="val 42105"/>
            </a:avLst>
          </a:prstGeom>
          <a:solidFill>
            <a:srgbClr val="173C78"/>
          </a:solidFill>
          <a:ln w="12700">
            <a:solidFill>
              <a:srgbClr val="173C78">
                <a:alpha val="0"/>
              </a:srgbClr>
            </a:solidFill>
            <a:prstDash val="solid"/>
          </a:ln>
        </p:spPr>
      </p:sp>
      <p:sp>
        <p:nvSpPr>
          <p:cNvPr id="16" name="Text 13"/>
          <p:cNvSpPr txBox="1"/>
          <p:nvPr/>
        </p:nvSpPr>
        <p:spPr>
          <a:xfrm>
            <a:off x="7909560" y="3035808"/>
            <a:ext cx="1005840" cy="137160"/>
          </a:xfrm>
          <a:prstGeom prst="rect">
            <a:avLst/>
          </a:prstGeom>
          <a:noFill/>
          <a:ln/>
        </p:spPr>
        <p:txBody>
          <a:bodyPr wrap="square" lIns="0" tIns="0" rIns="0" bIns="0" rtlCol="0" anchor="ctr">
            <a:normAutofit/>
          </a:bodyPr>
          <a:lstStyle/>
          <a:p>
            <a:pPr algn="l" indent="0" marL="0">
              <a:buNone/>
            </a:pPr>
            <a:r>
              <a:rPr lang="en-US" sz="1050" b="1" dirty="0">
                <a:solidFill>
                  <a:srgbClr val="78DCD4"/>
                </a:solidFill>
                <a:latin typeface="Arial" pitchFamily="34" charset="0"/>
                <a:ea typeface="Arial" pitchFamily="34" charset="-122"/>
                <a:cs typeface="Arial" pitchFamily="34" charset="-120"/>
              </a:rPr>
              <a:t>High share</a:t>
            </a:r>
            <a:endParaRPr lang="en-US" sz="1050" dirty="0"/>
          </a:p>
        </p:txBody>
      </p:sp>
      <p:sp>
        <p:nvSpPr>
          <p:cNvPr id="17" name="Text 14"/>
          <p:cNvSpPr txBox="1"/>
          <p:nvPr/>
        </p:nvSpPr>
        <p:spPr>
          <a:xfrm>
            <a:off x="8961120" y="3035808"/>
            <a:ext cx="1965960" cy="137160"/>
          </a:xfrm>
          <a:prstGeom prst="rect">
            <a:avLst/>
          </a:prstGeom>
          <a:noFill/>
          <a:ln/>
        </p:spPr>
        <p:txBody>
          <a:bodyPr wrap="square" lIns="0" tIns="0" rIns="0" bIns="0" rtlCol="0" anchor="ctr">
            <a:normAutofit/>
          </a:bodyPr>
          <a:lstStyle/>
          <a:p>
            <a:pPr algn="l" indent="0" marL="0">
              <a:buNone/>
            </a:pPr>
            <a:r>
              <a:rPr lang="en-US" sz="1050" dirty="0">
                <a:solidFill>
                  <a:srgbClr val="DDEBFF"/>
                </a:solidFill>
                <a:latin typeface="Arial" pitchFamily="34" charset="0"/>
                <a:ea typeface="Arial" pitchFamily="34" charset="-122"/>
                <a:cs typeface="Arial" pitchFamily="34" charset="-120"/>
              </a:rPr>
              <a:t>Percentage within a typology</a:t>
            </a:r>
            <a:endParaRPr lang="en-US" sz="1050" dirty="0"/>
          </a:p>
        </p:txBody>
      </p:sp>
      <p:sp>
        <p:nvSpPr>
          <p:cNvPr id="18" name="Shape 15"/>
          <p:cNvSpPr/>
          <p:nvPr/>
        </p:nvSpPr>
        <p:spPr>
          <a:xfrm>
            <a:off x="7754112" y="3447288"/>
            <a:ext cx="3429000" cy="347472"/>
          </a:xfrm>
          <a:prstGeom prst="roundRect">
            <a:avLst>
              <a:gd name="adj" fmla="val 42105"/>
            </a:avLst>
          </a:prstGeom>
          <a:solidFill>
            <a:srgbClr val="173C78"/>
          </a:solidFill>
          <a:ln w="12700">
            <a:solidFill>
              <a:srgbClr val="173C78">
                <a:alpha val="0"/>
              </a:srgbClr>
            </a:solidFill>
            <a:prstDash val="solid"/>
          </a:ln>
        </p:spPr>
      </p:sp>
      <p:sp>
        <p:nvSpPr>
          <p:cNvPr id="19" name="Text 16"/>
          <p:cNvSpPr txBox="1"/>
          <p:nvPr/>
        </p:nvSpPr>
        <p:spPr>
          <a:xfrm>
            <a:off x="7909560" y="3538728"/>
            <a:ext cx="1005840" cy="137160"/>
          </a:xfrm>
          <a:prstGeom prst="rect">
            <a:avLst/>
          </a:prstGeom>
          <a:noFill/>
          <a:ln/>
        </p:spPr>
        <p:txBody>
          <a:bodyPr wrap="square" lIns="0" tIns="0" rIns="0" bIns="0" rtlCol="0" anchor="ctr">
            <a:normAutofit/>
          </a:bodyPr>
          <a:lstStyle/>
          <a:p>
            <a:pPr algn="l" indent="0" marL="0">
              <a:buNone/>
            </a:pPr>
            <a:r>
              <a:rPr lang="en-US" sz="1050" b="1" dirty="0">
                <a:solidFill>
                  <a:srgbClr val="78DCD4"/>
                </a:solidFill>
                <a:latin typeface="Arial" pitchFamily="34" charset="0"/>
                <a:ea typeface="Arial" pitchFamily="34" charset="-122"/>
                <a:cs typeface="Arial" pitchFamily="34" charset="-120"/>
              </a:rPr>
              <a:t>Monthly records</a:t>
            </a:r>
            <a:endParaRPr lang="en-US" sz="1050" dirty="0"/>
          </a:p>
        </p:txBody>
      </p:sp>
      <p:sp>
        <p:nvSpPr>
          <p:cNvPr id="20" name="Text 17"/>
          <p:cNvSpPr txBox="1"/>
          <p:nvPr/>
        </p:nvSpPr>
        <p:spPr>
          <a:xfrm>
            <a:off x="8961120" y="3538728"/>
            <a:ext cx="1965960" cy="137160"/>
          </a:xfrm>
          <a:prstGeom prst="rect">
            <a:avLst/>
          </a:prstGeom>
          <a:noFill/>
          <a:ln/>
        </p:spPr>
        <p:txBody>
          <a:bodyPr wrap="square" lIns="0" tIns="0" rIns="0" bIns="0" rtlCol="0" anchor="ctr">
            <a:normAutofit/>
          </a:bodyPr>
          <a:lstStyle/>
          <a:p>
            <a:pPr algn="l" indent="0" marL="0">
              <a:buNone/>
            </a:pPr>
            <a:r>
              <a:rPr lang="en-US" sz="1050" dirty="0">
                <a:solidFill>
                  <a:srgbClr val="DDEBFF"/>
                </a:solidFill>
                <a:latin typeface="Arial" pitchFamily="34" charset="0"/>
                <a:ea typeface="Arial" pitchFamily="34" charset="-122"/>
                <a:cs typeface="Arial" pitchFamily="34" charset="-120"/>
              </a:rPr>
              <a:t>Fictional source dates</a:t>
            </a:r>
            <a:endParaRPr lang="en-US" sz="1050" dirty="0"/>
          </a:p>
        </p:txBody>
      </p:sp>
      <p:sp>
        <p:nvSpPr>
          <p:cNvPr id="21" name="Shape 18"/>
          <p:cNvSpPr/>
          <p:nvPr/>
        </p:nvSpPr>
        <p:spPr>
          <a:xfrm>
            <a:off x="7754112" y="3950208"/>
            <a:ext cx="3429000" cy="347472"/>
          </a:xfrm>
          <a:prstGeom prst="roundRect">
            <a:avLst>
              <a:gd name="adj" fmla="val 42105"/>
            </a:avLst>
          </a:prstGeom>
          <a:solidFill>
            <a:srgbClr val="173C78"/>
          </a:solidFill>
          <a:ln w="12700">
            <a:solidFill>
              <a:srgbClr val="173C78">
                <a:alpha val="0"/>
              </a:srgbClr>
            </a:solidFill>
            <a:prstDash val="solid"/>
          </a:ln>
        </p:spPr>
      </p:sp>
      <p:sp>
        <p:nvSpPr>
          <p:cNvPr id="22" name="Text 19"/>
          <p:cNvSpPr txBox="1"/>
          <p:nvPr/>
        </p:nvSpPr>
        <p:spPr>
          <a:xfrm>
            <a:off x="7909560" y="4041648"/>
            <a:ext cx="1005840" cy="137160"/>
          </a:xfrm>
          <a:prstGeom prst="rect">
            <a:avLst/>
          </a:prstGeom>
          <a:noFill/>
          <a:ln/>
        </p:spPr>
        <p:txBody>
          <a:bodyPr wrap="square" lIns="0" tIns="0" rIns="0" bIns="0" rtlCol="0" anchor="ctr">
            <a:normAutofit/>
          </a:bodyPr>
          <a:lstStyle/>
          <a:p>
            <a:pPr algn="l" indent="0" marL="0">
              <a:buNone/>
            </a:pPr>
            <a:r>
              <a:rPr lang="en-US" sz="1050" b="1" dirty="0">
                <a:solidFill>
                  <a:srgbClr val="78DCD4"/>
                </a:solidFill>
                <a:latin typeface="Arial" pitchFamily="34" charset="0"/>
                <a:ea typeface="Arial" pitchFamily="34" charset="-122"/>
                <a:cs typeface="Arial" pitchFamily="34" charset="-120"/>
              </a:rPr>
              <a:t>Actions</a:t>
            </a:r>
            <a:endParaRPr lang="en-US" sz="1050" dirty="0"/>
          </a:p>
        </p:txBody>
      </p:sp>
      <p:sp>
        <p:nvSpPr>
          <p:cNvPr id="23" name="Text 20"/>
          <p:cNvSpPr txBox="1"/>
          <p:nvPr/>
        </p:nvSpPr>
        <p:spPr>
          <a:xfrm>
            <a:off x="8961120" y="4041648"/>
            <a:ext cx="1965960" cy="137160"/>
          </a:xfrm>
          <a:prstGeom prst="rect">
            <a:avLst/>
          </a:prstGeom>
          <a:noFill/>
          <a:ln/>
        </p:spPr>
        <p:txBody>
          <a:bodyPr wrap="square" lIns="0" tIns="0" rIns="0" bIns="0" rtlCol="0" anchor="ctr">
            <a:normAutofit/>
          </a:bodyPr>
          <a:lstStyle/>
          <a:p>
            <a:pPr algn="l" indent="0" marL="0">
              <a:buNone/>
            </a:pPr>
            <a:r>
              <a:rPr lang="en-US" sz="1050" dirty="0">
                <a:solidFill>
                  <a:srgbClr val="DDEBFF"/>
                </a:solidFill>
                <a:latin typeface="Arial" pitchFamily="34" charset="0"/>
                <a:ea typeface="Arial" pitchFamily="34" charset="-122"/>
                <a:cs typeface="Arial" pitchFamily="34" charset="-120"/>
              </a:rPr>
              <a:t>Saved human events</a:t>
            </a:r>
            <a:endParaRPr lang="en-US" sz="1050" dirty="0"/>
          </a:p>
        </p:txBody>
      </p:sp>
      <p:sp>
        <p:nvSpPr>
          <p:cNvPr id="24" name="Text 21"/>
          <p:cNvSpPr txBox="1"/>
          <p:nvPr/>
        </p:nvSpPr>
        <p:spPr>
          <a:xfrm>
            <a:off x="7754112" y="4663440"/>
            <a:ext cx="3401568" cy="384048"/>
          </a:xfrm>
          <a:prstGeom prst="rect">
            <a:avLst/>
          </a:prstGeom>
          <a:noFill/>
          <a:ln/>
        </p:spPr>
        <p:txBody>
          <a:bodyPr wrap="square" lIns="0" tIns="0" rIns="0" bIns="0" rtlCol="0" anchor="t">
            <a:normAutofit/>
          </a:bodyPr>
          <a:lstStyle/>
          <a:p>
            <a:pPr algn="l" indent="0" marL="0">
              <a:buNone/>
            </a:pPr>
            <a:r>
              <a:rPr lang="en-US" sz="1250" b="1" dirty="0">
                <a:solidFill>
                  <a:srgbClr val="78DCD4"/>
                </a:solidFill>
                <a:latin typeface="Arial" pitchFamily="34" charset="0"/>
                <a:ea typeface="Arial" pitchFamily="34" charset="-122"/>
                <a:cs typeface="Arial" pitchFamily="34" charset="-120"/>
              </a:rPr>
              <a:t>Descriptive charts do not predict crime, assess staff productivity, or measure model accuracy.</a:t>
            </a:r>
            <a:endParaRPr lang="en-US" sz="1250" dirty="0"/>
          </a:p>
        </p:txBody>
      </p:sp>
    </p:spTree>
  </p:cSld>
  <p:clrMapOvr>
    <a:masterClrMapping/>
  </p:clrMapOvr>
  <p:transition spd="med" advClick="1">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84048"/>
            <a:ext cx="4572000" cy="21031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CONTEXT AND OWNERSHIP</a:t>
            </a:r>
            <a:endParaRPr lang="en-US" sz="1000" dirty="0"/>
          </a:p>
        </p:txBody>
      </p:sp>
      <p:sp>
        <p:nvSpPr>
          <p:cNvPr id="3" name="Text 1"/>
          <p:cNvSpPr txBox="1"/>
          <p:nvPr/>
        </p:nvSpPr>
        <p:spPr>
          <a:xfrm>
            <a:off x="621792" y="658368"/>
            <a:ext cx="10881360" cy="493776"/>
          </a:xfrm>
          <a:prstGeom prst="rect">
            <a:avLst/>
          </a:prstGeom>
          <a:noFill/>
          <a:ln/>
        </p:spPr>
        <p:txBody>
          <a:bodyPr wrap="square" lIns="0" tIns="0" rIns="0" bIns="0" rtlCol="0" anchor="ctr">
            <a:normAutofit/>
          </a:bodyPr>
          <a:lstStyle/>
          <a:p>
            <a:pPr algn="l" indent="0" marL="0">
              <a:buNone/>
            </a:pPr>
            <a:r>
              <a:rPr lang="en-US" sz="3100" b="1" dirty="0">
                <a:solidFill>
                  <a:srgbClr val="0B1F3A"/>
                </a:solidFill>
                <a:latin typeface="Arial" pitchFamily="34" charset="0"/>
                <a:ea typeface="Arial" pitchFamily="34" charset="-122"/>
                <a:cs typeface="Arial" pitchFamily="34" charset="-120"/>
              </a:rPr>
              <a:t>Search finds records; the team owns the explanation</a:t>
            </a:r>
            <a:endParaRPr lang="en-US" sz="3100" dirty="0"/>
          </a:p>
        </p:txBody>
      </p:sp>
      <p:sp>
        <p:nvSpPr>
          <p:cNvPr id="4" name="Text 2"/>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13</a:t>
            </a:r>
            <a:endParaRPr lang="en-US" sz="850" dirty="0"/>
          </a:p>
        </p:txBody>
      </p:sp>
      <p:sp>
        <p:nvSpPr>
          <p:cNvPr id="5" name="Text 3"/>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576072" y="1261872"/>
            <a:ext cx="5440680" cy="3099816"/>
          </a:xfrm>
          <a:prstGeom prst="roundRect">
            <a:avLst>
              <a:gd name="adj" fmla="val 4720"/>
            </a:avLst>
          </a:prstGeom>
          <a:solidFill>
            <a:srgbClr val="D9E7FC"/>
          </a:solidFill>
          <a:ln w="12700">
            <a:solidFill>
              <a:srgbClr val="D9E7FC">
                <a:alpha val="0"/>
              </a:srgbClr>
            </a:solidFill>
            <a:prstDash val="solid"/>
          </a:ln>
        </p:spPr>
      </p:sp>
      <p:pic>
        <p:nvPicPr>
          <p:cNvPr id="7" name="Image 0" descr="C:\D\IIT Mumbai\Capstone Blueprint\assets\walkthrough_screens\2026_global_search.png">    </p:cNvPr>
          <p:cNvPicPr>
            <a:picLocks noChangeAspect="1"/>
          </p:cNvPicPr>
          <p:nvPr/>
        </p:nvPicPr>
        <p:blipFill>
          <a:blip r:embed="rId1"/>
          <a:stretch>
            <a:fillRect/>
          </a:stretch>
        </p:blipFill>
        <p:spPr>
          <a:xfrm>
            <a:off x="621792" y="1307592"/>
            <a:ext cx="5349240" cy="3008376"/>
          </a:xfrm>
          <a:prstGeom prst="rect">
            <a:avLst/>
          </a:prstGeom>
        </p:spPr>
      </p:pic>
      <p:sp>
        <p:nvSpPr>
          <p:cNvPr id="8" name="Shape 5"/>
          <p:cNvSpPr/>
          <p:nvPr/>
        </p:nvSpPr>
        <p:spPr>
          <a:xfrm>
            <a:off x="6245352" y="1261872"/>
            <a:ext cx="5367528" cy="3063240"/>
          </a:xfrm>
          <a:prstGeom prst="roundRect">
            <a:avLst>
              <a:gd name="adj" fmla="val 4776"/>
            </a:avLst>
          </a:prstGeom>
          <a:solidFill>
            <a:srgbClr val="D9E7FC"/>
          </a:solidFill>
          <a:ln w="12700">
            <a:solidFill>
              <a:srgbClr val="D9E7FC">
                <a:alpha val="0"/>
              </a:srgbClr>
            </a:solidFill>
            <a:prstDash val="solid"/>
          </a:ln>
        </p:spPr>
      </p:sp>
      <p:pic>
        <p:nvPicPr>
          <p:cNvPr id="9" name="Image 1" descr="C:\D\IIT Mumbai\Capstone Blueprint\assets\walkthrough_screens\2026_project_team_roles.png">    </p:cNvPr>
          <p:cNvPicPr>
            <a:picLocks noChangeAspect="1"/>
          </p:cNvPicPr>
          <p:nvPr/>
        </p:nvPicPr>
        <p:blipFill>
          <a:blip r:embed="rId2"/>
          <a:stretch>
            <a:fillRect/>
          </a:stretch>
        </p:blipFill>
        <p:spPr>
          <a:xfrm>
            <a:off x="6291072" y="1307592"/>
            <a:ext cx="5276088" cy="2971800"/>
          </a:xfrm>
          <a:prstGeom prst="rect">
            <a:avLst/>
          </a:prstGeom>
        </p:spPr>
      </p:pic>
      <p:sp>
        <p:nvSpPr>
          <p:cNvPr id="10" name="Text 6"/>
          <p:cNvSpPr txBox="1"/>
          <p:nvPr/>
        </p:nvSpPr>
        <p:spPr>
          <a:xfrm>
            <a:off x="658368" y="4572000"/>
            <a:ext cx="2011680" cy="246888"/>
          </a:xfrm>
          <a:prstGeom prst="rect">
            <a:avLst/>
          </a:prstGeom>
          <a:noFill/>
          <a:ln/>
        </p:spPr>
        <p:txBody>
          <a:bodyPr wrap="square" lIns="0" tIns="0" rIns="0" bIns="0" rtlCol="0" anchor="ctr">
            <a:normAutofit/>
          </a:bodyPr>
          <a:lstStyle/>
          <a:p>
            <a:pPr algn="l" indent="0" marL="0">
              <a:buNone/>
            </a:pPr>
            <a:r>
              <a:rPr lang="en-US" sz="1800" b="1" dirty="0">
                <a:solidFill>
                  <a:srgbClr val="12233F"/>
                </a:solidFill>
                <a:latin typeface="Arial" pitchFamily="34" charset="0"/>
                <a:ea typeface="Arial" pitchFamily="34" charset="-122"/>
                <a:cs typeface="Arial" pitchFamily="34" charset="-120"/>
              </a:rPr>
              <a:t>Global Search</a:t>
            </a:r>
            <a:endParaRPr lang="en-US" sz="1800" dirty="0"/>
          </a:p>
        </p:txBody>
      </p:sp>
      <p:sp>
        <p:nvSpPr>
          <p:cNvPr id="11" name="Text 7"/>
          <p:cNvSpPr txBox="1"/>
          <p:nvPr/>
        </p:nvSpPr>
        <p:spPr>
          <a:xfrm>
            <a:off x="658368" y="4910328"/>
            <a:ext cx="5166360" cy="438912"/>
          </a:xfrm>
          <a:prstGeom prst="rect">
            <a:avLst/>
          </a:prstGeom>
          <a:noFill/>
          <a:ln/>
        </p:spPr>
        <p:txBody>
          <a:bodyPr wrap="square" lIns="0" tIns="0" rIns="0" bIns="0" rtlCol="0" anchor="t">
            <a:normAutofit/>
          </a:bodyPr>
          <a:lstStyle/>
          <a:p>
            <a:pPr algn="l" indent="0" marL="0">
              <a:buNone/>
            </a:pPr>
            <a:r>
              <a:rPr lang="en-US" sz="1350" dirty="0">
                <a:solidFill>
                  <a:srgbClr val="63738D"/>
                </a:solidFill>
                <a:latin typeface="Arial" pitchFamily="34" charset="0"/>
                <a:ea typeface="Arial" pitchFamily="34" charset="-122"/>
                <a:cs typeface="Arial" pitchFamily="34" charset="-120"/>
              </a:rPr>
              <a:t>Find a fictional customer, account, transaction, or case, then return to the relevant context.</a:t>
            </a:r>
            <a:endParaRPr lang="en-US" sz="1350" dirty="0"/>
          </a:p>
        </p:txBody>
      </p:sp>
      <p:sp>
        <p:nvSpPr>
          <p:cNvPr id="12" name="Text 8"/>
          <p:cNvSpPr txBox="1"/>
          <p:nvPr/>
        </p:nvSpPr>
        <p:spPr>
          <a:xfrm>
            <a:off x="6327648" y="4572000"/>
            <a:ext cx="2011680" cy="246888"/>
          </a:xfrm>
          <a:prstGeom prst="rect">
            <a:avLst/>
          </a:prstGeom>
          <a:noFill/>
          <a:ln/>
        </p:spPr>
        <p:txBody>
          <a:bodyPr wrap="square" lIns="0" tIns="0" rIns="0" bIns="0" rtlCol="0" anchor="ctr">
            <a:normAutofit/>
          </a:bodyPr>
          <a:lstStyle/>
          <a:p>
            <a:pPr algn="l" indent="0" marL="0">
              <a:buNone/>
            </a:pPr>
            <a:r>
              <a:rPr lang="en-US" sz="1800" b="1" dirty="0">
                <a:solidFill>
                  <a:srgbClr val="12233F"/>
                </a:solidFill>
                <a:latin typeface="Arial" pitchFamily="34" charset="0"/>
                <a:ea typeface="Arial" pitchFamily="34" charset="-122"/>
                <a:cs typeface="Arial" pitchFamily="34" charset="-120"/>
              </a:rPr>
              <a:t>Role guide</a:t>
            </a:r>
            <a:endParaRPr lang="en-US" sz="1800" dirty="0"/>
          </a:p>
        </p:txBody>
      </p:sp>
      <p:sp>
        <p:nvSpPr>
          <p:cNvPr id="13" name="Text 9"/>
          <p:cNvSpPr txBox="1"/>
          <p:nvPr/>
        </p:nvSpPr>
        <p:spPr>
          <a:xfrm>
            <a:off x="6327648" y="4910328"/>
            <a:ext cx="5029200" cy="438912"/>
          </a:xfrm>
          <a:prstGeom prst="rect">
            <a:avLst/>
          </a:prstGeom>
          <a:noFill/>
          <a:ln/>
        </p:spPr>
        <p:txBody>
          <a:bodyPr wrap="square" lIns="0" tIns="0" rIns="0" bIns="0" rtlCol="0" anchor="t">
            <a:normAutofit/>
          </a:bodyPr>
          <a:lstStyle/>
          <a:p>
            <a:pPr algn="l" indent="0" marL="0">
              <a:buNone/>
            </a:pPr>
            <a:r>
              <a:rPr lang="en-US" sz="1350" dirty="0">
                <a:solidFill>
                  <a:srgbClr val="63738D"/>
                </a:solidFill>
                <a:latin typeface="Arial" pitchFamily="34" charset="0"/>
                <a:ea typeface="Arial" pitchFamily="34" charset="-122"/>
                <a:cs typeface="Arial" pitchFamily="34" charset="-120"/>
              </a:rPr>
              <a:t>Workflow role labels explain responsibilities. They do not authenticate a person or grant protected Admin access.</a:t>
            </a:r>
            <a:endParaRPr lang="en-US" sz="1350" dirty="0"/>
          </a:p>
        </p:txBody>
      </p:sp>
    </p:spTree>
  </p:cSld>
  <p:clrMapOvr>
    <a:masterClrMapping/>
  </p:clrMapOvr>
  <p:transition spd="med" advClick="1">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84048"/>
            <a:ext cx="4572000" cy="21031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TECHNICAL ARCHITECTURE AND CODE LOGIC</a:t>
            </a:r>
            <a:endParaRPr lang="en-US" sz="1000" dirty="0"/>
          </a:p>
        </p:txBody>
      </p:sp>
      <p:sp>
        <p:nvSpPr>
          <p:cNvPr id="3" name="Text 1"/>
          <p:cNvSpPr txBox="1"/>
          <p:nvPr/>
        </p:nvSpPr>
        <p:spPr>
          <a:xfrm>
            <a:off x="621792" y="658368"/>
            <a:ext cx="10881360" cy="493776"/>
          </a:xfrm>
          <a:prstGeom prst="rect">
            <a:avLst/>
          </a:prstGeom>
          <a:noFill/>
          <a:ln/>
        </p:spPr>
        <p:txBody>
          <a:bodyPr wrap="square" lIns="0" tIns="0" rIns="0" bIns="0" rtlCol="0" anchor="ctr">
            <a:normAutofit/>
          </a:bodyPr>
          <a:lstStyle/>
          <a:p>
            <a:pPr algn="l" indent="0" marL="0">
              <a:buNone/>
            </a:pPr>
            <a:r>
              <a:rPr lang="en-US" sz="3100" b="1" dirty="0">
                <a:solidFill>
                  <a:srgbClr val="0B1F3A"/>
                </a:solidFill>
                <a:latin typeface="Arial" pitchFamily="34" charset="0"/>
                <a:ea typeface="Arial" pitchFamily="34" charset="-122"/>
                <a:cs typeface="Arial" pitchFamily="34" charset="-120"/>
              </a:rPr>
              <a:t>A transparent Streamlit and SQLite implementation</a:t>
            </a:r>
            <a:endParaRPr lang="en-US" sz="3100" dirty="0"/>
          </a:p>
        </p:txBody>
      </p:sp>
      <p:sp>
        <p:nvSpPr>
          <p:cNvPr id="4" name="Text 2"/>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14</a:t>
            </a:r>
            <a:endParaRPr lang="en-US" sz="850" dirty="0"/>
          </a:p>
        </p:txBody>
      </p:sp>
      <p:sp>
        <p:nvSpPr>
          <p:cNvPr id="5" name="Text 3"/>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685800" y="1508760"/>
            <a:ext cx="3401568" cy="1261872"/>
          </a:xfrm>
          <a:prstGeom prst="roundRect">
            <a:avLst>
              <a:gd name="adj" fmla="val 11594"/>
            </a:avLst>
          </a:prstGeom>
          <a:solidFill>
            <a:srgbClr val="FFFFFF"/>
          </a:solidFill>
          <a:ln w="12700">
            <a:solidFill>
              <a:srgbClr val="FFFFFF">
                <a:alpha val="0"/>
              </a:srgbClr>
            </a:solidFill>
            <a:prstDash val="solid"/>
          </a:ln>
        </p:spPr>
      </p:sp>
      <p:sp>
        <p:nvSpPr>
          <p:cNvPr id="7" name="Shape 5"/>
          <p:cNvSpPr/>
          <p:nvPr/>
        </p:nvSpPr>
        <p:spPr>
          <a:xfrm>
            <a:off x="886968" y="1728216"/>
            <a:ext cx="411480" cy="411480"/>
          </a:xfrm>
          <a:prstGeom prst="ellipse">
            <a:avLst/>
          </a:prstGeom>
          <a:solidFill>
            <a:srgbClr val="2E65C5"/>
          </a:solidFill>
          <a:ln w="12700">
            <a:solidFill>
              <a:srgbClr val="FFFFFF">
                <a:alpha val="0"/>
              </a:srgbClr>
            </a:solidFill>
            <a:prstDash val="solid"/>
          </a:ln>
        </p:spPr>
      </p:sp>
      <p:sp>
        <p:nvSpPr>
          <p:cNvPr id="8" name="Text 6"/>
          <p:cNvSpPr txBox="1"/>
          <p:nvPr/>
        </p:nvSpPr>
        <p:spPr>
          <a:xfrm>
            <a:off x="1463040" y="1709928"/>
            <a:ext cx="2377440" cy="201168"/>
          </a:xfrm>
          <a:prstGeom prst="rect">
            <a:avLst/>
          </a:prstGeom>
          <a:noFill/>
          <a:ln/>
        </p:spPr>
        <p:txBody>
          <a:bodyPr wrap="square" lIns="0" tIns="0" rIns="0" bIns="0" rtlCol="0" anchor="ctr">
            <a:normAutofit/>
          </a:bodyPr>
          <a:lstStyle/>
          <a:p>
            <a:pPr algn="l" indent="0" marL="0">
              <a:buNone/>
            </a:pPr>
            <a:r>
              <a:rPr lang="en-US" sz="1400" b="1" dirty="0">
                <a:solidFill>
                  <a:srgbClr val="12233F"/>
                </a:solidFill>
                <a:latin typeface="Arial" pitchFamily="34" charset="0"/>
                <a:ea typeface="Arial" pitchFamily="34" charset="-122"/>
                <a:cs typeface="Arial" pitchFamily="34" charset="-120"/>
              </a:rPr>
              <a:t>Streamlit router</a:t>
            </a:r>
            <a:endParaRPr lang="en-US" sz="1400" dirty="0"/>
          </a:p>
        </p:txBody>
      </p:sp>
      <p:sp>
        <p:nvSpPr>
          <p:cNvPr id="9" name="Text 7"/>
          <p:cNvSpPr txBox="1"/>
          <p:nvPr/>
        </p:nvSpPr>
        <p:spPr>
          <a:xfrm>
            <a:off x="896112" y="2221992"/>
            <a:ext cx="2852928" cy="329184"/>
          </a:xfrm>
          <a:prstGeom prst="rect">
            <a:avLst/>
          </a:prstGeom>
          <a:noFill/>
          <a:ln/>
        </p:spPr>
        <p:txBody>
          <a:bodyPr wrap="square" lIns="0" tIns="0" rIns="0" bIns="0" rtlCol="0" anchor="t">
            <a:normAutofit/>
          </a:bodyPr>
          <a:lstStyle/>
          <a:p>
            <a:pPr algn="l" indent="0" marL="0">
              <a:buNone/>
            </a:pPr>
            <a:r>
              <a:rPr lang="en-US" sz="1120" dirty="0">
                <a:solidFill>
                  <a:srgbClr val="63738D"/>
                </a:solidFill>
                <a:latin typeface="Arial" pitchFamily="34" charset="0"/>
                <a:ea typeface="Arial" pitchFamily="34" charset="-122"/>
                <a:cs typeface="Arial" pitchFamily="34" charset="-120"/>
              </a:rPr>
              <a:t>Routes each left-navigation choice to a page module</a:t>
            </a:r>
            <a:endParaRPr lang="en-US" sz="1120" dirty="0"/>
          </a:p>
        </p:txBody>
      </p:sp>
      <p:sp>
        <p:nvSpPr>
          <p:cNvPr id="10" name="Shape 8"/>
          <p:cNvSpPr/>
          <p:nvPr/>
        </p:nvSpPr>
        <p:spPr>
          <a:xfrm>
            <a:off x="4507992" y="1508760"/>
            <a:ext cx="3401568" cy="1261872"/>
          </a:xfrm>
          <a:prstGeom prst="roundRect">
            <a:avLst>
              <a:gd name="adj" fmla="val 11594"/>
            </a:avLst>
          </a:prstGeom>
          <a:solidFill>
            <a:srgbClr val="FFFFFF"/>
          </a:solidFill>
          <a:ln w="12700">
            <a:solidFill>
              <a:srgbClr val="FFFFFF">
                <a:alpha val="0"/>
              </a:srgbClr>
            </a:solidFill>
            <a:prstDash val="solid"/>
          </a:ln>
        </p:spPr>
      </p:sp>
      <p:sp>
        <p:nvSpPr>
          <p:cNvPr id="11" name="Shape 9"/>
          <p:cNvSpPr/>
          <p:nvPr/>
        </p:nvSpPr>
        <p:spPr>
          <a:xfrm>
            <a:off x="4709160" y="1728216"/>
            <a:ext cx="411480" cy="411480"/>
          </a:xfrm>
          <a:prstGeom prst="ellipse">
            <a:avLst/>
          </a:prstGeom>
          <a:solidFill>
            <a:srgbClr val="2E65C5"/>
          </a:solidFill>
          <a:ln w="12700">
            <a:solidFill>
              <a:srgbClr val="FFFFFF">
                <a:alpha val="0"/>
              </a:srgbClr>
            </a:solidFill>
            <a:prstDash val="solid"/>
          </a:ln>
        </p:spPr>
      </p:sp>
      <p:sp>
        <p:nvSpPr>
          <p:cNvPr id="12" name="Text 10"/>
          <p:cNvSpPr txBox="1"/>
          <p:nvPr/>
        </p:nvSpPr>
        <p:spPr>
          <a:xfrm>
            <a:off x="5285232" y="1709928"/>
            <a:ext cx="2377440" cy="201168"/>
          </a:xfrm>
          <a:prstGeom prst="rect">
            <a:avLst/>
          </a:prstGeom>
          <a:noFill/>
          <a:ln/>
        </p:spPr>
        <p:txBody>
          <a:bodyPr wrap="square" lIns="0" tIns="0" rIns="0" bIns="0" rtlCol="0" anchor="ctr">
            <a:normAutofit/>
          </a:bodyPr>
          <a:lstStyle/>
          <a:p>
            <a:pPr algn="l" indent="0" marL="0">
              <a:buNone/>
            </a:pPr>
            <a:r>
              <a:rPr lang="en-US" sz="1400" b="1" dirty="0">
                <a:solidFill>
                  <a:srgbClr val="12233F"/>
                </a:solidFill>
                <a:latin typeface="Arial" pitchFamily="34" charset="0"/>
                <a:ea typeface="Arial" pitchFamily="34" charset="-122"/>
                <a:cs typeface="Arial" pitchFamily="34" charset="-120"/>
              </a:rPr>
              <a:t>Page modules</a:t>
            </a:r>
            <a:endParaRPr lang="en-US" sz="1400" dirty="0"/>
          </a:p>
        </p:txBody>
      </p:sp>
      <p:sp>
        <p:nvSpPr>
          <p:cNvPr id="13" name="Text 11"/>
          <p:cNvSpPr txBox="1"/>
          <p:nvPr/>
        </p:nvSpPr>
        <p:spPr>
          <a:xfrm>
            <a:off x="4718304" y="2221992"/>
            <a:ext cx="2852928" cy="329184"/>
          </a:xfrm>
          <a:prstGeom prst="rect">
            <a:avLst/>
          </a:prstGeom>
          <a:noFill/>
          <a:ln/>
        </p:spPr>
        <p:txBody>
          <a:bodyPr wrap="square" lIns="0" tIns="0" rIns="0" bIns="0" rtlCol="0" anchor="t">
            <a:normAutofit/>
          </a:bodyPr>
          <a:lstStyle/>
          <a:p>
            <a:pPr algn="l" indent="0" marL="0">
              <a:buNone/>
            </a:pPr>
            <a:r>
              <a:rPr lang="en-US" sz="1120" dirty="0">
                <a:solidFill>
                  <a:srgbClr val="63738D"/>
                </a:solidFill>
                <a:latin typeface="Arial" pitchFamily="34" charset="0"/>
                <a:ea typeface="Arial" pitchFamily="34" charset="-122"/>
                <a:cs typeface="Arial" pitchFamily="34" charset="-120"/>
              </a:rPr>
              <a:t>Read active case state; render queue, report, evidence, or review</a:t>
            </a:r>
            <a:endParaRPr lang="en-US" sz="1120" dirty="0"/>
          </a:p>
        </p:txBody>
      </p:sp>
      <p:sp>
        <p:nvSpPr>
          <p:cNvPr id="14" name="Shape 12"/>
          <p:cNvSpPr/>
          <p:nvPr/>
        </p:nvSpPr>
        <p:spPr>
          <a:xfrm>
            <a:off x="8330184" y="1508760"/>
            <a:ext cx="3401568" cy="1261872"/>
          </a:xfrm>
          <a:prstGeom prst="roundRect">
            <a:avLst>
              <a:gd name="adj" fmla="val 11594"/>
            </a:avLst>
          </a:prstGeom>
          <a:solidFill>
            <a:srgbClr val="FFFFFF"/>
          </a:solidFill>
          <a:ln w="12700">
            <a:solidFill>
              <a:srgbClr val="FFFFFF">
                <a:alpha val="0"/>
              </a:srgbClr>
            </a:solidFill>
            <a:prstDash val="solid"/>
          </a:ln>
        </p:spPr>
      </p:sp>
      <p:sp>
        <p:nvSpPr>
          <p:cNvPr id="15" name="Shape 13"/>
          <p:cNvSpPr/>
          <p:nvPr/>
        </p:nvSpPr>
        <p:spPr>
          <a:xfrm>
            <a:off x="8531352" y="1728216"/>
            <a:ext cx="411480" cy="411480"/>
          </a:xfrm>
          <a:prstGeom prst="ellipse">
            <a:avLst/>
          </a:prstGeom>
          <a:solidFill>
            <a:srgbClr val="2E65C5"/>
          </a:solidFill>
          <a:ln w="12700">
            <a:solidFill>
              <a:srgbClr val="FFFFFF">
                <a:alpha val="0"/>
              </a:srgbClr>
            </a:solidFill>
            <a:prstDash val="solid"/>
          </a:ln>
        </p:spPr>
      </p:sp>
      <p:sp>
        <p:nvSpPr>
          <p:cNvPr id="16" name="Text 14"/>
          <p:cNvSpPr txBox="1"/>
          <p:nvPr/>
        </p:nvSpPr>
        <p:spPr>
          <a:xfrm>
            <a:off x="9107424" y="1709928"/>
            <a:ext cx="2377440" cy="201168"/>
          </a:xfrm>
          <a:prstGeom prst="rect">
            <a:avLst/>
          </a:prstGeom>
          <a:noFill/>
          <a:ln/>
        </p:spPr>
        <p:txBody>
          <a:bodyPr wrap="square" lIns="0" tIns="0" rIns="0" bIns="0" rtlCol="0" anchor="ctr">
            <a:normAutofit/>
          </a:bodyPr>
          <a:lstStyle/>
          <a:p>
            <a:pPr algn="l" indent="0" marL="0">
              <a:buNone/>
            </a:pPr>
            <a:r>
              <a:rPr lang="en-US" sz="1400" b="1" dirty="0">
                <a:solidFill>
                  <a:srgbClr val="12233F"/>
                </a:solidFill>
                <a:latin typeface="Arial" pitchFamily="34" charset="0"/>
                <a:ea typeface="Arial" pitchFamily="34" charset="-122"/>
                <a:cs typeface="Arial" pitchFamily="34" charset="-120"/>
              </a:rPr>
              <a:t>Shared UI</a:t>
            </a:r>
            <a:endParaRPr lang="en-US" sz="1400" dirty="0"/>
          </a:p>
        </p:txBody>
      </p:sp>
      <p:sp>
        <p:nvSpPr>
          <p:cNvPr id="17" name="Text 15"/>
          <p:cNvSpPr txBox="1"/>
          <p:nvPr/>
        </p:nvSpPr>
        <p:spPr>
          <a:xfrm>
            <a:off x="8540496" y="2221992"/>
            <a:ext cx="2852928" cy="329184"/>
          </a:xfrm>
          <a:prstGeom prst="rect">
            <a:avLst/>
          </a:prstGeom>
          <a:noFill/>
          <a:ln/>
        </p:spPr>
        <p:txBody>
          <a:bodyPr wrap="square" lIns="0" tIns="0" rIns="0" bIns="0" rtlCol="0" anchor="t">
            <a:normAutofit/>
          </a:bodyPr>
          <a:lstStyle/>
          <a:p>
            <a:pPr algn="l" indent="0" marL="0">
              <a:buNone/>
            </a:pPr>
            <a:r>
              <a:rPr lang="en-US" sz="1120" dirty="0">
                <a:solidFill>
                  <a:srgbClr val="63738D"/>
                </a:solidFill>
                <a:latin typeface="Arial" pitchFamily="34" charset="0"/>
                <a:ea typeface="Arial" pitchFamily="34" charset="-122"/>
                <a:cs typeface="Arial" pitchFamily="34" charset="-120"/>
              </a:rPr>
              <a:t>Reusable banners, tooltips, themes, badges, and Copilot controls</a:t>
            </a:r>
            <a:endParaRPr lang="en-US" sz="1120" dirty="0"/>
          </a:p>
        </p:txBody>
      </p:sp>
      <p:sp>
        <p:nvSpPr>
          <p:cNvPr id="18" name="Shape 16"/>
          <p:cNvSpPr/>
          <p:nvPr/>
        </p:nvSpPr>
        <p:spPr>
          <a:xfrm>
            <a:off x="685800" y="3456432"/>
            <a:ext cx="3401568" cy="1261872"/>
          </a:xfrm>
          <a:prstGeom prst="roundRect">
            <a:avLst>
              <a:gd name="adj" fmla="val 11594"/>
            </a:avLst>
          </a:prstGeom>
          <a:solidFill>
            <a:srgbClr val="FFFFFF"/>
          </a:solidFill>
          <a:ln w="12700">
            <a:solidFill>
              <a:srgbClr val="FFFFFF">
                <a:alpha val="0"/>
              </a:srgbClr>
            </a:solidFill>
            <a:prstDash val="solid"/>
          </a:ln>
        </p:spPr>
      </p:sp>
      <p:sp>
        <p:nvSpPr>
          <p:cNvPr id="19" name="Shape 17"/>
          <p:cNvSpPr/>
          <p:nvPr/>
        </p:nvSpPr>
        <p:spPr>
          <a:xfrm>
            <a:off x="886968" y="3675888"/>
            <a:ext cx="411480" cy="411480"/>
          </a:xfrm>
          <a:prstGeom prst="ellipse">
            <a:avLst/>
          </a:prstGeom>
          <a:solidFill>
            <a:srgbClr val="2E65C5"/>
          </a:solidFill>
          <a:ln w="12700">
            <a:solidFill>
              <a:srgbClr val="FFFFFF">
                <a:alpha val="0"/>
              </a:srgbClr>
            </a:solidFill>
            <a:prstDash val="solid"/>
          </a:ln>
        </p:spPr>
      </p:sp>
      <p:sp>
        <p:nvSpPr>
          <p:cNvPr id="20" name="Text 18"/>
          <p:cNvSpPr txBox="1"/>
          <p:nvPr/>
        </p:nvSpPr>
        <p:spPr>
          <a:xfrm>
            <a:off x="1463040" y="3657600"/>
            <a:ext cx="2377440" cy="201168"/>
          </a:xfrm>
          <a:prstGeom prst="rect">
            <a:avLst/>
          </a:prstGeom>
          <a:noFill/>
          <a:ln/>
        </p:spPr>
        <p:txBody>
          <a:bodyPr wrap="square" lIns="0" tIns="0" rIns="0" bIns="0" rtlCol="0" anchor="ctr">
            <a:normAutofit/>
          </a:bodyPr>
          <a:lstStyle/>
          <a:p>
            <a:pPr algn="l" indent="0" marL="0">
              <a:buNone/>
            </a:pPr>
            <a:r>
              <a:rPr lang="en-US" sz="1400" b="1" dirty="0">
                <a:solidFill>
                  <a:srgbClr val="12233F"/>
                </a:solidFill>
                <a:latin typeface="Arial" pitchFamily="34" charset="0"/>
                <a:ea typeface="Arial" pitchFamily="34" charset="-122"/>
                <a:cs typeface="Arial" pitchFamily="34" charset="-120"/>
              </a:rPr>
              <a:t>SQLite stores</a:t>
            </a:r>
            <a:endParaRPr lang="en-US" sz="1400" dirty="0"/>
          </a:p>
        </p:txBody>
      </p:sp>
      <p:sp>
        <p:nvSpPr>
          <p:cNvPr id="21" name="Text 19"/>
          <p:cNvSpPr txBox="1"/>
          <p:nvPr/>
        </p:nvSpPr>
        <p:spPr>
          <a:xfrm>
            <a:off x="896112" y="4169664"/>
            <a:ext cx="2852928" cy="329184"/>
          </a:xfrm>
          <a:prstGeom prst="rect">
            <a:avLst/>
          </a:prstGeom>
          <a:noFill/>
          <a:ln/>
        </p:spPr>
        <p:txBody>
          <a:bodyPr wrap="square" lIns="0" tIns="0" rIns="0" bIns="0" rtlCol="0" anchor="t">
            <a:normAutofit/>
          </a:bodyPr>
          <a:lstStyle/>
          <a:p>
            <a:pPr algn="l" indent="0" marL="0">
              <a:buNone/>
            </a:pPr>
            <a:r>
              <a:rPr lang="en-US" sz="1120" dirty="0">
                <a:solidFill>
                  <a:srgbClr val="63738D"/>
                </a:solidFill>
                <a:latin typeface="Arial" pitchFamily="34" charset="0"/>
                <a:ea typeface="Arial" pitchFamily="34" charset="-122"/>
                <a:cs typeface="Arial" pitchFamily="34" charset="-120"/>
              </a:rPr>
              <a:t>Fictional alerts, sources, chunks, audit events, and case scope</a:t>
            </a:r>
            <a:endParaRPr lang="en-US" sz="1120" dirty="0"/>
          </a:p>
        </p:txBody>
      </p:sp>
      <p:sp>
        <p:nvSpPr>
          <p:cNvPr id="22" name="Shape 20"/>
          <p:cNvSpPr/>
          <p:nvPr/>
        </p:nvSpPr>
        <p:spPr>
          <a:xfrm>
            <a:off x="4507992" y="3456432"/>
            <a:ext cx="3401568" cy="1261872"/>
          </a:xfrm>
          <a:prstGeom prst="roundRect">
            <a:avLst>
              <a:gd name="adj" fmla="val 11594"/>
            </a:avLst>
          </a:prstGeom>
          <a:solidFill>
            <a:srgbClr val="E6F8F6"/>
          </a:solidFill>
          <a:ln w="12700">
            <a:solidFill>
              <a:srgbClr val="E6F8F6">
                <a:alpha val="0"/>
              </a:srgbClr>
            </a:solidFill>
            <a:prstDash val="solid"/>
          </a:ln>
        </p:spPr>
      </p:sp>
      <p:sp>
        <p:nvSpPr>
          <p:cNvPr id="23" name="Shape 21"/>
          <p:cNvSpPr/>
          <p:nvPr/>
        </p:nvSpPr>
        <p:spPr>
          <a:xfrm>
            <a:off x="4709160" y="3675888"/>
            <a:ext cx="411480" cy="411480"/>
          </a:xfrm>
          <a:prstGeom prst="ellipse">
            <a:avLst/>
          </a:prstGeom>
          <a:solidFill>
            <a:srgbClr val="00A79D"/>
          </a:solidFill>
          <a:ln w="12700">
            <a:solidFill>
              <a:srgbClr val="FFFFFF">
                <a:alpha val="0"/>
              </a:srgbClr>
            </a:solidFill>
            <a:prstDash val="solid"/>
          </a:ln>
        </p:spPr>
      </p:sp>
      <p:sp>
        <p:nvSpPr>
          <p:cNvPr id="24" name="Text 22"/>
          <p:cNvSpPr txBox="1"/>
          <p:nvPr/>
        </p:nvSpPr>
        <p:spPr>
          <a:xfrm>
            <a:off x="5285232" y="3657600"/>
            <a:ext cx="2377440" cy="201168"/>
          </a:xfrm>
          <a:prstGeom prst="rect">
            <a:avLst/>
          </a:prstGeom>
          <a:noFill/>
          <a:ln/>
        </p:spPr>
        <p:txBody>
          <a:bodyPr wrap="square" lIns="0" tIns="0" rIns="0" bIns="0" rtlCol="0" anchor="ctr">
            <a:normAutofit/>
          </a:bodyPr>
          <a:lstStyle/>
          <a:p>
            <a:pPr algn="l" indent="0" marL="0">
              <a:buNone/>
            </a:pPr>
            <a:r>
              <a:rPr lang="en-US" sz="1400" b="1" dirty="0">
                <a:solidFill>
                  <a:srgbClr val="12233F"/>
                </a:solidFill>
                <a:latin typeface="Arial" pitchFamily="34" charset="0"/>
                <a:ea typeface="Arial" pitchFamily="34" charset="-122"/>
                <a:cs typeface="Arial" pitchFamily="34" charset="-120"/>
              </a:rPr>
              <a:t>Retrieval + checks</a:t>
            </a:r>
            <a:endParaRPr lang="en-US" sz="1400" dirty="0"/>
          </a:p>
        </p:txBody>
      </p:sp>
      <p:sp>
        <p:nvSpPr>
          <p:cNvPr id="25" name="Text 23"/>
          <p:cNvSpPr txBox="1"/>
          <p:nvPr/>
        </p:nvSpPr>
        <p:spPr>
          <a:xfrm>
            <a:off x="4718304" y="4169664"/>
            <a:ext cx="2852928" cy="329184"/>
          </a:xfrm>
          <a:prstGeom prst="rect">
            <a:avLst/>
          </a:prstGeom>
          <a:noFill/>
          <a:ln/>
        </p:spPr>
        <p:txBody>
          <a:bodyPr wrap="square" lIns="0" tIns="0" rIns="0" bIns="0" rtlCol="0" anchor="t">
            <a:normAutofit/>
          </a:bodyPr>
          <a:lstStyle/>
          <a:p>
            <a:pPr algn="l" indent="0" marL="0">
              <a:buNone/>
            </a:pPr>
            <a:r>
              <a:rPr lang="en-US" sz="1120" dirty="0">
                <a:solidFill>
                  <a:srgbClr val="63738D"/>
                </a:solidFill>
                <a:latin typeface="Arial" pitchFamily="34" charset="0"/>
                <a:ea typeface="Arial" pitchFamily="34" charset="-122"/>
                <a:cs typeface="Arial" pitchFamily="34" charset="-120"/>
              </a:rPr>
              <a:t>FTS5/BM25, cited IDs, and deterministic evidence confidence</a:t>
            </a:r>
            <a:endParaRPr lang="en-US" sz="1120" dirty="0"/>
          </a:p>
        </p:txBody>
      </p:sp>
      <p:sp>
        <p:nvSpPr>
          <p:cNvPr id="26" name="Shape 24"/>
          <p:cNvSpPr/>
          <p:nvPr/>
        </p:nvSpPr>
        <p:spPr>
          <a:xfrm>
            <a:off x="8330184" y="3456432"/>
            <a:ext cx="3401568" cy="1261872"/>
          </a:xfrm>
          <a:prstGeom prst="roundRect">
            <a:avLst>
              <a:gd name="adj" fmla="val 11594"/>
            </a:avLst>
          </a:prstGeom>
          <a:solidFill>
            <a:srgbClr val="FFFFFF"/>
          </a:solidFill>
          <a:ln w="12700">
            <a:solidFill>
              <a:srgbClr val="FFFFFF">
                <a:alpha val="0"/>
              </a:srgbClr>
            </a:solidFill>
            <a:prstDash val="solid"/>
          </a:ln>
        </p:spPr>
      </p:sp>
      <p:sp>
        <p:nvSpPr>
          <p:cNvPr id="27" name="Shape 25"/>
          <p:cNvSpPr/>
          <p:nvPr/>
        </p:nvSpPr>
        <p:spPr>
          <a:xfrm>
            <a:off x="8531352" y="3675888"/>
            <a:ext cx="411480" cy="411480"/>
          </a:xfrm>
          <a:prstGeom prst="ellipse">
            <a:avLst/>
          </a:prstGeom>
          <a:solidFill>
            <a:srgbClr val="2E65C5"/>
          </a:solidFill>
          <a:ln w="12700">
            <a:solidFill>
              <a:srgbClr val="FFFFFF">
                <a:alpha val="0"/>
              </a:srgbClr>
            </a:solidFill>
            <a:prstDash val="solid"/>
          </a:ln>
        </p:spPr>
      </p:sp>
      <p:sp>
        <p:nvSpPr>
          <p:cNvPr id="28" name="Text 26"/>
          <p:cNvSpPr txBox="1"/>
          <p:nvPr/>
        </p:nvSpPr>
        <p:spPr>
          <a:xfrm>
            <a:off x="9107424" y="3657600"/>
            <a:ext cx="2377440" cy="201168"/>
          </a:xfrm>
          <a:prstGeom prst="rect">
            <a:avLst/>
          </a:prstGeom>
          <a:noFill/>
          <a:ln/>
        </p:spPr>
        <p:txBody>
          <a:bodyPr wrap="square" lIns="0" tIns="0" rIns="0" bIns="0" rtlCol="0" anchor="ctr">
            <a:normAutofit/>
          </a:bodyPr>
          <a:lstStyle/>
          <a:p>
            <a:pPr algn="l" indent="0" marL="0">
              <a:buNone/>
            </a:pPr>
            <a:r>
              <a:rPr lang="en-US" sz="1400" b="1" dirty="0">
                <a:solidFill>
                  <a:srgbClr val="12233F"/>
                </a:solidFill>
                <a:latin typeface="Arial" pitchFamily="34" charset="0"/>
                <a:ea typeface="Arial" pitchFamily="34" charset="-122"/>
                <a:cs typeface="Arial" pitchFamily="34" charset="-120"/>
              </a:rPr>
              <a:t>Release assets</a:t>
            </a:r>
            <a:endParaRPr lang="en-US" sz="1400" dirty="0"/>
          </a:p>
        </p:txBody>
      </p:sp>
      <p:sp>
        <p:nvSpPr>
          <p:cNvPr id="29" name="Text 27"/>
          <p:cNvSpPr txBox="1"/>
          <p:nvPr/>
        </p:nvSpPr>
        <p:spPr>
          <a:xfrm>
            <a:off x="8540496" y="4169664"/>
            <a:ext cx="2852928" cy="329184"/>
          </a:xfrm>
          <a:prstGeom prst="rect">
            <a:avLst/>
          </a:prstGeom>
          <a:noFill/>
          <a:ln/>
        </p:spPr>
        <p:txBody>
          <a:bodyPr wrap="square" lIns="0" tIns="0" rIns="0" bIns="0" rtlCol="0" anchor="t">
            <a:normAutofit/>
          </a:bodyPr>
          <a:lstStyle/>
          <a:p>
            <a:pPr algn="l" indent="0" marL="0">
              <a:buNone/>
            </a:pPr>
            <a:r>
              <a:rPr lang="en-US" sz="1120" dirty="0">
                <a:solidFill>
                  <a:srgbClr val="63738D"/>
                </a:solidFill>
                <a:latin typeface="Arial" pitchFamily="34" charset="0"/>
                <a:ea typeface="Arial" pitchFamily="34" charset="-122"/>
                <a:cs typeface="Arial" pitchFamily="34" charset="-120"/>
              </a:rPr>
              <a:t>Captures and builders; GitHub main to Railway verification</a:t>
            </a:r>
            <a:endParaRPr lang="en-US" sz="1120" dirty="0"/>
          </a:p>
        </p:txBody>
      </p:sp>
      <p:sp>
        <p:nvSpPr>
          <p:cNvPr id="30" name="Text 28"/>
          <p:cNvSpPr txBox="1"/>
          <p:nvPr/>
        </p:nvSpPr>
        <p:spPr>
          <a:xfrm>
            <a:off x="1033272" y="5650992"/>
            <a:ext cx="10058400" cy="274320"/>
          </a:xfrm>
          <a:prstGeom prst="rect">
            <a:avLst/>
          </a:prstGeom>
          <a:noFill/>
          <a:ln/>
        </p:spPr>
        <p:txBody>
          <a:bodyPr wrap="square" lIns="0" tIns="0" rIns="0" bIns="0" rtlCol="0" anchor="ctr">
            <a:normAutofit/>
          </a:bodyPr>
          <a:lstStyle/>
          <a:p>
            <a:pPr algn="ctr" indent="0" marL="0">
              <a:buNone/>
            </a:pPr>
            <a:r>
              <a:rPr lang="en-US" sz="1600" b="1" dirty="0">
                <a:solidFill>
                  <a:srgbClr val="0B1F3A"/>
                </a:solidFill>
                <a:latin typeface="Arial" pitchFamily="34" charset="0"/>
                <a:ea typeface="Arial" pitchFamily="34" charset="-122"/>
                <a:cs typeface="Arial" pitchFamily="34" charset="-120"/>
              </a:rPr>
              <a:t>route → active case → SQLite / FTS5 → cited report → append-only human audit event</a:t>
            </a:r>
            <a:endParaRPr lang="en-US" sz="1600" dirty="0"/>
          </a:p>
        </p:txBody>
      </p:sp>
    </p:spTree>
  </p:cSld>
  <p:clrMapOvr>
    <a:masterClrMapping/>
  </p:clrMapOvr>
  <p:transition spd="med" advClick="1">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21792" y="384048"/>
            <a:ext cx="4572000" cy="210312"/>
          </a:xfrm>
          <a:prstGeom prst="rect">
            <a:avLst/>
          </a:prstGeom>
          <a:noFill/>
          <a:ln/>
        </p:spPr>
        <p:txBody>
          <a:bodyPr wrap="square" lIns="0" tIns="0" rIns="0" bIns="0" rtlCol="0" anchor="ctr">
            <a:normAutofit/>
          </a:bodyPr>
          <a:lstStyle/>
          <a:p>
            <a:pPr algn="l" indent="0" marL="0">
              <a:buNone/>
            </a:pPr>
            <a:r>
              <a:rPr lang="en-US" sz="1000" b="1" dirty="0">
                <a:solidFill>
                  <a:srgbClr val="78DCD4"/>
                </a:solidFill>
                <a:latin typeface="Arial" pitchFamily="34" charset="0"/>
                <a:ea typeface="Arial" pitchFamily="34" charset="-122"/>
                <a:cs typeface="Arial" pitchFamily="34" charset="-120"/>
              </a:rPr>
              <a:t>PROTECTED ADMINISTRATION</a:t>
            </a:r>
            <a:endParaRPr lang="en-US" sz="1000" dirty="0"/>
          </a:p>
        </p:txBody>
      </p:sp>
      <p:sp>
        <p:nvSpPr>
          <p:cNvPr id="3" name="Text 1"/>
          <p:cNvSpPr txBox="1"/>
          <p:nvPr/>
        </p:nvSpPr>
        <p:spPr>
          <a:xfrm>
            <a:off x="621792" y="658368"/>
            <a:ext cx="10881360" cy="493776"/>
          </a:xfrm>
          <a:prstGeom prst="rect">
            <a:avLst/>
          </a:prstGeom>
          <a:noFill/>
          <a:ln/>
        </p:spPr>
        <p:txBody>
          <a:bodyPr wrap="square" lIns="0" tIns="0" rIns="0" bIns="0" rtlCol="0" anchor="ctr">
            <a:normAutofit/>
          </a:bodyPr>
          <a:lstStyle/>
          <a:p>
            <a:pPr algn="l" indent="0" marL="0">
              <a:buNone/>
            </a:pPr>
            <a:r>
              <a:rPr lang="en-US" sz="3100" b="1" dirty="0">
                <a:solidFill>
                  <a:srgbClr val="FFFFFF"/>
                </a:solidFill>
                <a:latin typeface="Arial" pitchFamily="34" charset="0"/>
                <a:ea typeface="Arial" pitchFamily="34" charset="-122"/>
                <a:cs typeface="Arial" pitchFamily="34" charset="-120"/>
              </a:rPr>
              <a:t>Admin tools remain visibly separate</a:t>
            </a:r>
            <a:endParaRPr lang="en-US" sz="3100" dirty="0"/>
          </a:p>
        </p:txBody>
      </p:sp>
      <p:sp>
        <p:nvSpPr>
          <p:cNvPr id="4" name="Text 2"/>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AFC9EC"/>
                </a:solidFill>
                <a:latin typeface="Arial" pitchFamily="34" charset="0"/>
                <a:ea typeface="Arial" pitchFamily="34" charset="-122"/>
                <a:cs typeface="Arial" pitchFamily="34" charset="-120"/>
              </a:rPr>
              <a:t>InvestigateIQ  |  Capstone Group 7  |  15</a:t>
            </a:r>
            <a:endParaRPr lang="en-US" sz="850" dirty="0"/>
          </a:p>
        </p:txBody>
      </p:sp>
      <p:sp>
        <p:nvSpPr>
          <p:cNvPr id="5" name="Text 3"/>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AFC9EC"/>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576072" y="1252728"/>
            <a:ext cx="6400800" cy="3639312"/>
          </a:xfrm>
          <a:prstGeom prst="roundRect">
            <a:avLst>
              <a:gd name="adj" fmla="val 4020"/>
            </a:avLst>
          </a:prstGeom>
          <a:solidFill>
            <a:srgbClr val="D9E7FC"/>
          </a:solidFill>
          <a:ln w="12700">
            <a:solidFill>
              <a:srgbClr val="D9E7FC">
                <a:alpha val="0"/>
              </a:srgbClr>
            </a:solidFill>
            <a:prstDash val="solid"/>
          </a:ln>
        </p:spPr>
      </p:sp>
      <p:pic>
        <p:nvPicPr>
          <p:cNvPr id="7" name="Image 0" descr="C:\D\IIT Mumbai\Capstone Blueprint\assets\walkthrough_screens\2026_admin_knowledge_locked.png">    </p:cNvPr>
          <p:cNvPicPr>
            <a:picLocks noChangeAspect="1"/>
          </p:cNvPicPr>
          <p:nvPr/>
        </p:nvPicPr>
        <p:blipFill>
          <a:blip r:embed="rId1"/>
          <a:stretch>
            <a:fillRect/>
          </a:stretch>
        </p:blipFill>
        <p:spPr>
          <a:xfrm>
            <a:off x="621792" y="1298448"/>
            <a:ext cx="6309360" cy="3547872"/>
          </a:xfrm>
          <a:prstGeom prst="rect">
            <a:avLst/>
          </a:prstGeom>
        </p:spPr>
      </p:pic>
      <p:sp>
        <p:nvSpPr>
          <p:cNvPr id="8" name="Text 5"/>
          <p:cNvSpPr txBox="1"/>
          <p:nvPr/>
        </p:nvSpPr>
        <p:spPr>
          <a:xfrm>
            <a:off x="7333488" y="1572768"/>
            <a:ext cx="3154680" cy="219456"/>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Arial" pitchFamily="34" charset="0"/>
                <a:ea typeface="Arial" pitchFamily="34" charset="-122"/>
                <a:cs typeface="Arial" pitchFamily="34" charset="-120"/>
              </a:rPr>
              <a:t>Knowledge Base</a:t>
            </a:r>
            <a:endParaRPr lang="en-US" sz="1900" dirty="0"/>
          </a:p>
        </p:txBody>
      </p:sp>
      <p:sp>
        <p:nvSpPr>
          <p:cNvPr id="9" name="Text 6"/>
          <p:cNvSpPr txBox="1"/>
          <p:nvPr/>
        </p:nvSpPr>
        <p:spPr>
          <a:xfrm>
            <a:off x="7333488" y="1938528"/>
            <a:ext cx="3730752" cy="594360"/>
          </a:xfrm>
          <a:prstGeom prst="rect">
            <a:avLst/>
          </a:prstGeom>
          <a:noFill/>
          <a:ln/>
        </p:spPr>
        <p:txBody>
          <a:bodyPr wrap="square" lIns="0" tIns="0" rIns="0" bIns="0" rtlCol="0" anchor="t">
            <a:normAutofit/>
          </a:bodyPr>
          <a:lstStyle/>
          <a:p>
            <a:pPr algn="l" indent="0" marL="0">
              <a:buNone/>
            </a:pPr>
            <a:r>
              <a:rPr lang="en-US" sz="1500" dirty="0">
                <a:solidFill>
                  <a:srgbClr val="DDEBFF"/>
                </a:solidFill>
                <a:latin typeface="Arial" pitchFamily="34" charset="0"/>
                <a:ea typeface="Arial" pitchFamily="34" charset="-122"/>
                <a:cs typeface="Arial" pitchFamily="34" charset="-120"/>
              </a:rPr>
              <a:t>Source and chunk inspection live behind a separate masked passcode. The Blueprint and demo never reveal or automate the passcode.</a:t>
            </a:r>
            <a:endParaRPr lang="en-US" sz="1500" dirty="0"/>
          </a:p>
        </p:txBody>
      </p:sp>
      <p:sp>
        <p:nvSpPr>
          <p:cNvPr id="10" name="Text 7"/>
          <p:cNvSpPr txBox="1"/>
          <p:nvPr/>
        </p:nvSpPr>
        <p:spPr>
          <a:xfrm>
            <a:off x="7333488" y="2971800"/>
            <a:ext cx="3154680" cy="219456"/>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Arial" pitchFamily="34" charset="0"/>
                <a:ea typeface="Arial" pitchFamily="34" charset="-122"/>
                <a:cs typeface="Arial" pitchFamily="34" charset="-120"/>
              </a:rPr>
              <a:t>Rule Config</a:t>
            </a:r>
            <a:endParaRPr lang="en-US" sz="1900" dirty="0"/>
          </a:p>
        </p:txBody>
      </p:sp>
      <p:sp>
        <p:nvSpPr>
          <p:cNvPr id="11" name="Text 8"/>
          <p:cNvSpPr txBox="1"/>
          <p:nvPr/>
        </p:nvSpPr>
        <p:spPr>
          <a:xfrm>
            <a:off x="7333488" y="3328416"/>
            <a:ext cx="3749040" cy="594360"/>
          </a:xfrm>
          <a:prstGeom prst="rect">
            <a:avLst/>
          </a:prstGeom>
          <a:noFill/>
          <a:ln/>
        </p:spPr>
        <p:txBody>
          <a:bodyPr wrap="square" lIns="0" tIns="0" rIns="0" bIns="0" rtlCol="0" anchor="t">
            <a:normAutofit/>
          </a:bodyPr>
          <a:lstStyle/>
          <a:p>
            <a:pPr algn="l" indent="0" marL="0">
              <a:buNone/>
            </a:pPr>
            <a:r>
              <a:rPr lang="en-US" sz="1500" dirty="0">
                <a:solidFill>
                  <a:srgbClr val="DDEBFF"/>
                </a:solidFill>
                <a:latin typeface="Arial" pitchFamily="34" charset="0"/>
                <a:ea typeface="Arial" pitchFamily="34" charset="-122"/>
                <a:cs typeface="Arial" pitchFamily="34" charset="-120"/>
              </a:rPr>
              <a:t>Rule previews explain fictional settings without silently regenerating case alerts. Restricted controls preserve a visible boundary in the demo.</a:t>
            </a:r>
            <a:endParaRPr lang="en-US" sz="1500" dirty="0"/>
          </a:p>
        </p:txBody>
      </p:sp>
    </p:spTree>
  </p:cSld>
  <p:clrMapOvr>
    <a:masterClrMapping/>
  </p:clrMapOvr>
  <p:transition spd="med" advClick="1">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84048"/>
            <a:ext cx="4572000" cy="21031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VALIDATION AND DEPLOYMENT</a:t>
            </a:r>
            <a:endParaRPr lang="en-US" sz="1000" dirty="0"/>
          </a:p>
        </p:txBody>
      </p:sp>
      <p:sp>
        <p:nvSpPr>
          <p:cNvPr id="3" name="Text 1"/>
          <p:cNvSpPr txBox="1"/>
          <p:nvPr/>
        </p:nvSpPr>
        <p:spPr>
          <a:xfrm>
            <a:off x="621792" y="658368"/>
            <a:ext cx="10881360" cy="493776"/>
          </a:xfrm>
          <a:prstGeom prst="rect">
            <a:avLst/>
          </a:prstGeom>
          <a:noFill/>
          <a:ln/>
        </p:spPr>
        <p:txBody>
          <a:bodyPr wrap="square" lIns="0" tIns="0" rIns="0" bIns="0" rtlCol="0" anchor="ctr">
            <a:normAutofit/>
          </a:bodyPr>
          <a:lstStyle/>
          <a:p>
            <a:pPr algn="l" indent="0" marL="0">
              <a:buNone/>
            </a:pPr>
            <a:r>
              <a:rPr lang="en-US" sz="3100" b="1" dirty="0">
                <a:solidFill>
                  <a:srgbClr val="0B1F3A"/>
                </a:solidFill>
                <a:latin typeface="Arial" pitchFamily="34" charset="0"/>
                <a:ea typeface="Arial" pitchFamily="34" charset="-122"/>
                <a:cs typeface="Arial" pitchFamily="34" charset="-120"/>
              </a:rPr>
              <a:t>The product and walkthrough follow reproducible checks</a:t>
            </a:r>
            <a:endParaRPr lang="en-US" sz="3100" dirty="0"/>
          </a:p>
        </p:txBody>
      </p:sp>
      <p:sp>
        <p:nvSpPr>
          <p:cNvPr id="4" name="Text 2"/>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16</a:t>
            </a:r>
            <a:endParaRPr lang="en-US" sz="850" dirty="0"/>
          </a:p>
        </p:txBody>
      </p:sp>
      <p:sp>
        <p:nvSpPr>
          <p:cNvPr id="5" name="Text 3"/>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777240" y="1572768"/>
            <a:ext cx="5029200" cy="1152144"/>
          </a:xfrm>
          <a:prstGeom prst="roundRect">
            <a:avLst>
              <a:gd name="adj" fmla="val 12698"/>
            </a:avLst>
          </a:prstGeom>
          <a:solidFill>
            <a:srgbClr val="FFFFFF"/>
          </a:solidFill>
          <a:ln w="12700">
            <a:solidFill>
              <a:srgbClr val="FFFFFF">
                <a:alpha val="0"/>
              </a:srgbClr>
            </a:solidFill>
            <a:prstDash val="solid"/>
          </a:ln>
        </p:spPr>
      </p:sp>
      <p:sp>
        <p:nvSpPr>
          <p:cNvPr id="7" name="Text 5"/>
          <p:cNvSpPr txBox="1"/>
          <p:nvPr/>
        </p:nvSpPr>
        <p:spPr>
          <a:xfrm>
            <a:off x="1005840" y="1828800"/>
            <a:ext cx="384048" cy="256032"/>
          </a:xfrm>
          <a:prstGeom prst="rect">
            <a:avLst/>
          </a:prstGeom>
          <a:noFill/>
          <a:ln/>
        </p:spPr>
        <p:txBody>
          <a:bodyPr wrap="square" lIns="0" tIns="0" rIns="0" bIns="0" rtlCol="0" anchor="ctr">
            <a:normAutofit/>
          </a:bodyPr>
          <a:lstStyle/>
          <a:p>
            <a:pPr algn="ctr" indent="0" marL="0">
              <a:buNone/>
            </a:pPr>
            <a:r>
              <a:rPr lang="en-US" sz="2000" b="1" dirty="0">
                <a:solidFill>
                  <a:srgbClr val="2E65C5"/>
                </a:solidFill>
                <a:latin typeface="Arial" pitchFamily="34" charset="0"/>
                <a:ea typeface="Arial" pitchFamily="34" charset="-122"/>
                <a:cs typeface="Arial" pitchFamily="34" charset="-120"/>
              </a:rPr>
              <a:t>1</a:t>
            </a:r>
            <a:endParaRPr lang="en-US" sz="2000" dirty="0"/>
          </a:p>
        </p:txBody>
      </p:sp>
      <p:sp>
        <p:nvSpPr>
          <p:cNvPr id="8" name="Text 6"/>
          <p:cNvSpPr txBox="1"/>
          <p:nvPr/>
        </p:nvSpPr>
        <p:spPr>
          <a:xfrm>
            <a:off x="1554480" y="1783080"/>
            <a:ext cx="3566160" cy="228600"/>
          </a:xfrm>
          <a:prstGeom prst="rect">
            <a:avLst/>
          </a:prstGeom>
          <a:noFill/>
          <a:ln/>
        </p:spPr>
        <p:txBody>
          <a:bodyPr wrap="square" lIns="0" tIns="0" rIns="0" bIns="0" rtlCol="0" anchor="ctr">
            <a:normAutofit/>
          </a:bodyPr>
          <a:lstStyle/>
          <a:p>
            <a:pPr algn="l" indent="0" marL="0">
              <a:buNone/>
            </a:pPr>
            <a:r>
              <a:rPr lang="en-US" sz="1600" b="1" dirty="0">
                <a:solidFill>
                  <a:srgbClr val="12233F"/>
                </a:solidFill>
                <a:latin typeface="Arial" pitchFamily="34" charset="0"/>
                <a:ea typeface="Arial" pitchFamily="34" charset="-122"/>
                <a:cs typeface="Arial" pitchFamily="34" charset="-120"/>
              </a:rPr>
              <a:t>Local validation</a:t>
            </a:r>
            <a:endParaRPr lang="en-US" sz="1600" dirty="0"/>
          </a:p>
        </p:txBody>
      </p:sp>
      <p:sp>
        <p:nvSpPr>
          <p:cNvPr id="9" name="Text 7"/>
          <p:cNvSpPr txBox="1"/>
          <p:nvPr/>
        </p:nvSpPr>
        <p:spPr>
          <a:xfrm>
            <a:off x="1554480" y="2157984"/>
            <a:ext cx="3840480" cy="274320"/>
          </a:xfrm>
          <a:prstGeom prst="rect">
            <a:avLst/>
          </a:prstGeom>
          <a:noFill/>
          <a:ln/>
        </p:spPr>
        <p:txBody>
          <a:bodyPr wrap="square" lIns="0" tIns="0" rIns="0" bIns="0" rtlCol="0" anchor="ctr">
            <a:normAutofit/>
          </a:bodyPr>
          <a:lstStyle/>
          <a:p>
            <a:pPr algn="l" indent="0" marL="0">
              <a:buNone/>
            </a:pPr>
            <a:r>
              <a:rPr lang="en-US" sz="1200" dirty="0">
                <a:solidFill>
                  <a:srgbClr val="63738D"/>
                </a:solidFill>
                <a:latin typeface="Arial" pitchFamily="34" charset="0"/>
                <a:ea typeface="Arial" pitchFamily="34" charset="-122"/>
                <a:cs typeface="Arial" pitchFamily="34" charset="-120"/>
              </a:rPr>
              <a:t>Exercise the changed screen before release</a:t>
            </a:r>
            <a:endParaRPr lang="en-US" sz="1200" dirty="0"/>
          </a:p>
        </p:txBody>
      </p:sp>
      <p:sp>
        <p:nvSpPr>
          <p:cNvPr id="10" name="Shape 8"/>
          <p:cNvSpPr/>
          <p:nvPr/>
        </p:nvSpPr>
        <p:spPr>
          <a:xfrm>
            <a:off x="6400800" y="1572768"/>
            <a:ext cx="5029200" cy="1152144"/>
          </a:xfrm>
          <a:prstGeom prst="roundRect">
            <a:avLst>
              <a:gd name="adj" fmla="val 12698"/>
            </a:avLst>
          </a:prstGeom>
          <a:solidFill>
            <a:srgbClr val="FFFFFF"/>
          </a:solidFill>
          <a:ln w="12700">
            <a:solidFill>
              <a:srgbClr val="FFFFFF">
                <a:alpha val="0"/>
              </a:srgbClr>
            </a:solidFill>
            <a:prstDash val="solid"/>
          </a:ln>
        </p:spPr>
      </p:sp>
      <p:sp>
        <p:nvSpPr>
          <p:cNvPr id="11" name="Text 9"/>
          <p:cNvSpPr txBox="1"/>
          <p:nvPr/>
        </p:nvSpPr>
        <p:spPr>
          <a:xfrm>
            <a:off x="6629400" y="1828800"/>
            <a:ext cx="384048" cy="256032"/>
          </a:xfrm>
          <a:prstGeom prst="rect">
            <a:avLst/>
          </a:prstGeom>
          <a:noFill/>
          <a:ln/>
        </p:spPr>
        <p:txBody>
          <a:bodyPr wrap="square" lIns="0" tIns="0" rIns="0" bIns="0" rtlCol="0" anchor="ctr">
            <a:normAutofit/>
          </a:bodyPr>
          <a:lstStyle/>
          <a:p>
            <a:pPr algn="ctr" indent="0" marL="0">
              <a:buNone/>
            </a:pPr>
            <a:r>
              <a:rPr lang="en-US" sz="2000" b="1" dirty="0">
                <a:solidFill>
                  <a:srgbClr val="2E65C5"/>
                </a:solidFill>
                <a:latin typeface="Arial" pitchFamily="34" charset="0"/>
                <a:ea typeface="Arial" pitchFamily="34" charset="-122"/>
                <a:cs typeface="Arial" pitchFamily="34" charset="-120"/>
              </a:rPr>
              <a:t>2</a:t>
            </a:r>
            <a:endParaRPr lang="en-US" sz="2000" dirty="0"/>
          </a:p>
        </p:txBody>
      </p:sp>
      <p:sp>
        <p:nvSpPr>
          <p:cNvPr id="12" name="Text 10"/>
          <p:cNvSpPr txBox="1"/>
          <p:nvPr/>
        </p:nvSpPr>
        <p:spPr>
          <a:xfrm>
            <a:off x="7178040" y="1783080"/>
            <a:ext cx="3566160" cy="228600"/>
          </a:xfrm>
          <a:prstGeom prst="rect">
            <a:avLst/>
          </a:prstGeom>
          <a:noFill/>
          <a:ln/>
        </p:spPr>
        <p:txBody>
          <a:bodyPr wrap="square" lIns="0" tIns="0" rIns="0" bIns="0" rtlCol="0" anchor="ctr">
            <a:normAutofit/>
          </a:bodyPr>
          <a:lstStyle/>
          <a:p>
            <a:pPr algn="l" indent="0" marL="0">
              <a:buNone/>
            </a:pPr>
            <a:r>
              <a:rPr lang="en-US" sz="1600" b="1" dirty="0">
                <a:solidFill>
                  <a:srgbClr val="12233F"/>
                </a:solidFill>
                <a:latin typeface="Arial" pitchFamily="34" charset="0"/>
                <a:ea typeface="Arial" pitchFamily="34" charset="-122"/>
                <a:cs typeface="Arial" pitchFamily="34" charset="-120"/>
              </a:rPr>
              <a:t>Workflow protection</a:t>
            </a:r>
            <a:endParaRPr lang="en-US" sz="1600" dirty="0"/>
          </a:p>
        </p:txBody>
      </p:sp>
      <p:sp>
        <p:nvSpPr>
          <p:cNvPr id="13" name="Text 11"/>
          <p:cNvSpPr txBox="1"/>
          <p:nvPr/>
        </p:nvSpPr>
        <p:spPr>
          <a:xfrm>
            <a:off x="7178040" y="2157984"/>
            <a:ext cx="3840480" cy="274320"/>
          </a:xfrm>
          <a:prstGeom prst="rect">
            <a:avLst/>
          </a:prstGeom>
          <a:noFill/>
          <a:ln/>
        </p:spPr>
        <p:txBody>
          <a:bodyPr wrap="square" lIns="0" tIns="0" rIns="0" bIns="0" rtlCol="0" anchor="ctr">
            <a:normAutofit/>
          </a:bodyPr>
          <a:lstStyle/>
          <a:p>
            <a:pPr algn="l" indent="0" marL="0">
              <a:buNone/>
            </a:pPr>
            <a:r>
              <a:rPr lang="en-US" sz="1200" dirty="0">
                <a:solidFill>
                  <a:srgbClr val="63738D"/>
                </a:solidFill>
                <a:latin typeface="Arial" pitchFamily="34" charset="0"/>
                <a:ea typeface="Arial" pitchFamily="34" charset="-122"/>
                <a:cs typeface="Arial" pitchFamily="34" charset="-120"/>
              </a:rPr>
              <a:t>Avoid creating decisions, intake cases, or Compliance actions during a demo</a:t>
            </a:r>
            <a:endParaRPr lang="en-US" sz="1200" dirty="0"/>
          </a:p>
        </p:txBody>
      </p:sp>
      <p:sp>
        <p:nvSpPr>
          <p:cNvPr id="14" name="Shape 12"/>
          <p:cNvSpPr/>
          <p:nvPr/>
        </p:nvSpPr>
        <p:spPr>
          <a:xfrm>
            <a:off x="777240" y="3236976"/>
            <a:ext cx="5029200" cy="1152144"/>
          </a:xfrm>
          <a:prstGeom prst="roundRect">
            <a:avLst>
              <a:gd name="adj" fmla="val 12698"/>
            </a:avLst>
          </a:prstGeom>
          <a:solidFill>
            <a:srgbClr val="E6F8F6"/>
          </a:solidFill>
          <a:ln w="12700">
            <a:solidFill>
              <a:srgbClr val="E6F8F6">
                <a:alpha val="0"/>
              </a:srgbClr>
            </a:solidFill>
            <a:prstDash val="solid"/>
          </a:ln>
        </p:spPr>
      </p:sp>
      <p:sp>
        <p:nvSpPr>
          <p:cNvPr id="15" name="Text 13"/>
          <p:cNvSpPr txBox="1"/>
          <p:nvPr/>
        </p:nvSpPr>
        <p:spPr>
          <a:xfrm>
            <a:off x="1005840" y="3493008"/>
            <a:ext cx="384048" cy="256032"/>
          </a:xfrm>
          <a:prstGeom prst="rect">
            <a:avLst/>
          </a:prstGeom>
          <a:noFill/>
          <a:ln/>
        </p:spPr>
        <p:txBody>
          <a:bodyPr wrap="square" lIns="0" tIns="0" rIns="0" bIns="0" rtlCol="0" anchor="ctr">
            <a:normAutofit/>
          </a:bodyPr>
          <a:lstStyle/>
          <a:p>
            <a:pPr algn="ctr" indent="0" marL="0">
              <a:buNone/>
            </a:pPr>
            <a:r>
              <a:rPr lang="en-US" sz="2000" b="1" dirty="0">
                <a:solidFill>
                  <a:srgbClr val="00A79D"/>
                </a:solidFill>
                <a:latin typeface="Arial" pitchFamily="34" charset="0"/>
                <a:ea typeface="Arial" pitchFamily="34" charset="-122"/>
                <a:cs typeface="Arial" pitchFamily="34" charset="-120"/>
              </a:rPr>
              <a:t>3</a:t>
            </a:r>
            <a:endParaRPr lang="en-US" sz="2000" dirty="0"/>
          </a:p>
        </p:txBody>
      </p:sp>
      <p:sp>
        <p:nvSpPr>
          <p:cNvPr id="16" name="Text 14"/>
          <p:cNvSpPr txBox="1"/>
          <p:nvPr/>
        </p:nvSpPr>
        <p:spPr>
          <a:xfrm>
            <a:off x="1554480" y="3447288"/>
            <a:ext cx="3566160" cy="228600"/>
          </a:xfrm>
          <a:prstGeom prst="rect">
            <a:avLst/>
          </a:prstGeom>
          <a:noFill/>
          <a:ln/>
        </p:spPr>
        <p:txBody>
          <a:bodyPr wrap="square" lIns="0" tIns="0" rIns="0" bIns="0" rtlCol="0" anchor="ctr">
            <a:normAutofit/>
          </a:bodyPr>
          <a:lstStyle/>
          <a:p>
            <a:pPr algn="l" indent="0" marL="0">
              <a:buNone/>
            </a:pPr>
            <a:r>
              <a:rPr lang="en-US" sz="1600" b="1" dirty="0">
                <a:solidFill>
                  <a:srgbClr val="12233F"/>
                </a:solidFill>
                <a:latin typeface="Arial" pitchFamily="34" charset="0"/>
                <a:ea typeface="Arial" pitchFamily="34" charset="-122"/>
                <a:cs typeface="Arial" pitchFamily="34" charset="-120"/>
              </a:rPr>
              <a:t>Visual QA</a:t>
            </a:r>
            <a:endParaRPr lang="en-US" sz="1600" dirty="0"/>
          </a:p>
        </p:txBody>
      </p:sp>
      <p:sp>
        <p:nvSpPr>
          <p:cNvPr id="17" name="Text 15"/>
          <p:cNvSpPr txBox="1"/>
          <p:nvPr/>
        </p:nvSpPr>
        <p:spPr>
          <a:xfrm>
            <a:off x="1554480" y="3822192"/>
            <a:ext cx="3840480" cy="274320"/>
          </a:xfrm>
          <a:prstGeom prst="rect">
            <a:avLst/>
          </a:prstGeom>
          <a:noFill/>
          <a:ln/>
        </p:spPr>
        <p:txBody>
          <a:bodyPr wrap="square" lIns="0" tIns="0" rIns="0" bIns="0" rtlCol="0" anchor="ctr">
            <a:normAutofit/>
          </a:bodyPr>
          <a:lstStyle/>
          <a:p>
            <a:pPr algn="l" indent="0" marL="0">
              <a:buNone/>
            </a:pPr>
            <a:r>
              <a:rPr lang="en-US" sz="1200" dirty="0">
                <a:solidFill>
                  <a:srgbClr val="63738D"/>
                </a:solidFill>
                <a:latin typeface="Arial" pitchFamily="34" charset="0"/>
                <a:ea typeface="Arial" pitchFamily="34" charset="-122"/>
                <a:cs typeface="Arial" pitchFamily="34" charset="-120"/>
              </a:rPr>
              <a:t>Check light/dark contrast, tooltips, tables, charts, and pointer targets</a:t>
            </a:r>
            <a:endParaRPr lang="en-US" sz="1200" dirty="0"/>
          </a:p>
        </p:txBody>
      </p:sp>
      <p:sp>
        <p:nvSpPr>
          <p:cNvPr id="18" name="Shape 16"/>
          <p:cNvSpPr/>
          <p:nvPr/>
        </p:nvSpPr>
        <p:spPr>
          <a:xfrm>
            <a:off x="6400800" y="3236976"/>
            <a:ext cx="5029200" cy="1152144"/>
          </a:xfrm>
          <a:prstGeom prst="roundRect">
            <a:avLst>
              <a:gd name="adj" fmla="val 12698"/>
            </a:avLst>
          </a:prstGeom>
          <a:solidFill>
            <a:srgbClr val="FFFFFF"/>
          </a:solidFill>
          <a:ln w="12700">
            <a:solidFill>
              <a:srgbClr val="FFFFFF">
                <a:alpha val="0"/>
              </a:srgbClr>
            </a:solidFill>
            <a:prstDash val="solid"/>
          </a:ln>
        </p:spPr>
      </p:sp>
      <p:sp>
        <p:nvSpPr>
          <p:cNvPr id="19" name="Text 17"/>
          <p:cNvSpPr txBox="1"/>
          <p:nvPr/>
        </p:nvSpPr>
        <p:spPr>
          <a:xfrm>
            <a:off x="6629400" y="3493008"/>
            <a:ext cx="384048" cy="256032"/>
          </a:xfrm>
          <a:prstGeom prst="rect">
            <a:avLst/>
          </a:prstGeom>
          <a:noFill/>
          <a:ln/>
        </p:spPr>
        <p:txBody>
          <a:bodyPr wrap="square" lIns="0" tIns="0" rIns="0" bIns="0" rtlCol="0" anchor="ctr">
            <a:normAutofit/>
          </a:bodyPr>
          <a:lstStyle/>
          <a:p>
            <a:pPr algn="ctr" indent="0" marL="0">
              <a:buNone/>
            </a:pPr>
            <a:r>
              <a:rPr lang="en-US" sz="2000" b="1" dirty="0">
                <a:solidFill>
                  <a:srgbClr val="2E65C5"/>
                </a:solidFill>
                <a:latin typeface="Arial" pitchFamily="34" charset="0"/>
                <a:ea typeface="Arial" pitchFamily="34" charset="-122"/>
                <a:cs typeface="Arial" pitchFamily="34" charset="-120"/>
              </a:rPr>
              <a:t>4</a:t>
            </a:r>
            <a:endParaRPr lang="en-US" sz="2000" dirty="0"/>
          </a:p>
        </p:txBody>
      </p:sp>
      <p:sp>
        <p:nvSpPr>
          <p:cNvPr id="20" name="Text 18"/>
          <p:cNvSpPr txBox="1"/>
          <p:nvPr/>
        </p:nvSpPr>
        <p:spPr>
          <a:xfrm>
            <a:off x="7178040" y="3447288"/>
            <a:ext cx="3566160" cy="228600"/>
          </a:xfrm>
          <a:prstGeom prst="rect">
            <a:avLst/>
          </a:prstGeom>
          <a:noFill/>
          <a:ln/>
        </p:spPr>
        <p:txBody>
          <a:bodyPr wrap="square" lIns="0" tIns="0" rIns="0" bIns="0" rtlCol="0" anchor="ctr">
            <a:normAutofit/>
          </a:bodyPr>
          <a:lstStyle/>
          <a:p>
            <a:pPr algn="l" indent="0" marL="0">
              <a:buNone/>
            </a:pPr>
            <a:r>
              <a:rPr lang="en-US" sz="1600" b="1" dirty="0">
                <a:solidFill>
                  <a:srgbClr val="12233F"/>
                </a:solidFill>
                <a:latin typeface="Arial" pitchFamily="34" charset="0"/>
                <a:ea typeface="Arial" pitchFamily="34" charset="-122"/>
                <a:cs typeface="Arial" pitchFamily="34" charset="-120"/>
              </a:rPr>
              <a:t>Release</a:t>
            </a:r>
            <a:endParaRPr lang="en-US" sz="1600" dirty="0"/>
          </a:p>
        </p:txBody>
      </p:sp>
      <p:sp>
        <p:nvSpPr>
          <p:cNvPr id="21" name="Text 19"/>
          <p:cNvSpPr txBox="1"/>
          <p:nvPr/>
        </p:nvSpPr>
        <p:spPr>
          <a:xfrm>
            <a:off x="7178040" y="3822192"/>
            <a:ext cx="3840480" cy="274320"/>
          </a:xfrm>
          <a:prstGeom prst="rect">
            <a:avLst/>
          </a:prstGeom>
          <a:noFill/>
          <a:ln/>
        </p:spPr>
        <p:txBody>
          <a:bodyPr wrap="square" lIns="0" tIns="0" rIns="0" bIns="0" rtlCol="0" anchor="ctr">
            <a:normAutofit/>
          </a:bodyPr>
          <a:lstStyle/>
          <a:p>
            <a:pPr algn="l" indent="0" marL="0">
              <a:buNone/>
            </a:pPr>
            <a:r>
              <a:rPr lang="en-US" sz="1200" dirty="0">
                <a:solidFill>
                  <a:srgbClr val="63738D"/>
                </a:solidFill>
                <a:latin typeface="Arial" pitchFamily="34" charset="0"/>
                <a:ea typeface="Arial" pitchFamily="34" charset="-122"/>
                <a:cs typeface="Arial" pitchFamily="34" charset="-120"/>
              </a:rPr>
              <a:t>Commit intended files, push main, verify the Railway response</a:t>
            </a:r>
            <a:endParaRPr lang="en-US" sz="1200" dirty="0"/>
          </a:p>
        </p:txBody>
      </p:sp>
      <p:sp>
        <p:nvSpPr>
          <p:cNvPr id="22" name="Text 20"/>
          <p:cNvSpPr txBox="1"/>
          <p:nvPr/>
        </p:nvSpPr>
        <p:spPr>
          <a:xfrm>
            <a:off x="960120" y="5330952"/>
            <a:ext cx="10195560" cy="320040"/>
          </a:xfrm>
          <a:prstGeom prst="rect">
            <a:avLst/>
          </a:prstGeom>
          <a:noFill/>
          <a:ln/>
        </p:spPr>
        <p:txBody>
          <a:bodyPr wrap="square" lIns="0" tIns="0" rIns="0" bIns="0" rtlCol="0" anchor="ctr">
            <a:normAutofit/>
          </a:bodyPr>
          <a:lstStyle/>
          <a:p>
            <a:pPr algn="ctr" indent="0" marL="0">
              <a:buNone/>
            </a:pPr>
            <a:r>
              <a:rPr lang="en-US" sz="1600" b="1" dirty="0">
                <a:solidFill>
                  <a:srgbClr val="0B1F3A"/>
                </a:solidFill>
                <a:latin typeface="Arial" pitchFamily="34" charset="0"/>
                <a:ea typeface="Arial" pitchFamily="34" charset="-122"/>
                <a:cs typeface="Arial" pitchFamily="34" charset="-120"/>
              </a:rPr>
              <a:t>The current product walkthrough has been rebuilt from current native screens, captioned, and deployed with the updated navigation.</a:t>
            </a:r>
            <a:endParaRPr lang="en-US" sz="1600" dirty="0"/>
          </a:p>
        </p:txBody>
      </p:sp>
    </p:spTree>
  </p:cSld>
  <p:clrMapOvr>
    <a:masterClrMapping/>
  </p:clrMapOvr>
  <p:transition spd="med" advClick="1">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713232" y="768096"/>
            <a:ext cx="4754880" cy="502920"/>
          </a:xfrm>
          <a:prstGeom prst="rect">
            <a:avLst/>
          </a:prstGeom>
          <a:noFill/>
          <a:ln/>
        </p:spPr>
        <p:txBody>
          <a:bodyPr wrap="square" lIns="0" tIns="0" rIns="0" bIns="0" rtlCol="0" anchor="ctr">
            <a:normAutofit/>
          </a:bodyPr>
          <a:lstStyle/>
          <a:p>
            <a:pPr algn="l" indent="0" marL="0">
              <a:buNone/>
            </a:pPr>
            <a:r>
              <a:rPr lang="en-US" sz="3500" b="1" dirty="0">
                <a:solidFill>
                  <a:srgbClr val="FFFFFF"/>
                </a:solidFill>
                <a:latin typeface="Arial" pitchFamily="34" charset="0"/>
                <a:ea typeface="Arial" pitchFamily="34" charset="-122"/>
                <a:cs typeface="Arial" pitchFamily="34" charset="-120"/>
              </a:rPr>
              <a:t>InvestigateIQ</a:t>
            </a:r>
            <a:endParaRPr lang="en-US" sz="3500" dirty="0"/>
          </a:p>
        </p:txBody>
      </p:sp>
      <p:sp>
        <p:nvSpPr>
          <p:cNvPr id="3" name="Text 1"/>
          <p:cNvSpPr txBox="1"/>
          <p:nvPr/>
        </p:nvSpPr>
        <p:spPr>
          <a:xfrm>
            <a:off x="731520" y="1463040"/>
            <a:ext cx="5303520" cy="329184"/>
          </a:xfrm>
          <a:prstGeom prst="rect">
            <a:avLst/>
          </a:prstGeom>
          <a:noFill/>
          <a:ln/>
        </p:spPr>
        <p:txBody>
          <a:bodyPr wrap="square" lIns="0" tIns="0" rIns="0" bIns="0" rtlCol="0" anchor="ctr">
            <a:normAutofit/>
          </a:bodyPr>
          <a:lstStyle/>
          <a:p>
            <a:pPr algn="l" indent="0" marL="0">
              <a:buNone/>
            </a:pPr>
            <a:r>
              <a:rPr lang="en-US" sz="1800" dirty="0">
                <a:solidFill>
                  <a:srgbClr val="C8D9F3"/>
                </a:solidFill>
                <a:latin typeface="Arial" pitchFamily="34" charset="0"/>
                <a:ea typeface="Arial" pitchFamily="34" charset="-122"/>
                <a:cs typeface="Arial" pitchFamily="34" charset="-120"/>
              </a:rPr>
              <a:t>A transparent review workflow for fictional AML investigations</a:t>
            </a:r>
            <a:endParaRPr lang="en-US" sz="1800" dirty="0"/>
          </a:p>
        </p:txBody>
      </p:sp>
      <p:sp>
        <p:nvSpPr>
          <p:cNvPr id="4" name="Shape 2"/>
          <p:cNvSpPr/>
          <p:nvPr/>
        </p:nvSpPr>
        <p:spPr>
          <a:xfrm>
            <a:off x="6126480" y="777240"/>
            <a:ext cx="5468112" cy="3118104"/>
          </a:xfrm>
          <a:prstGeom prst="roundRect">
            <a:avLst>
              <a:gd name="adj" fmla="val 4692"/>
            </a:avLst>
          </a:prstGeom>
          <a:solidFill>
            <a:srgbClr val="D9E7FC"/>
          </a:solidFill>
          <a:ln w="12700">
            <a:solidFill>
              <a:srgbClr val="D9E7FC">
                <a:alpha val="0"/>
              </a:srgbClr>
            </a:solidFill>
            <a:prstDash val="solid"/>
          </a:ln>
        </p:spPr>
      </p:sp>
      <p:pic>
        <p:nvPicPr>
          <p:cNvPr id="5" name="Image 0" descr="C:\D\IIT Mumbai\Capstone Blueprint\assets\walkthrough_screens\2026_workspace_confidence.png">    </p:cNvPr>
          <p:cNvPicPr>
            <a:picLocks noChangeAspect="1"/>
          </p:cNvPicPr>
          <p:nvPr/>
        </p:nvPicPr>
        <p:blipFill>
          <a:blip r:embed="rId1"/>
          <a:stretch>
            <a:fillRect/>
          </a:stretch>
        </p:blipFill>
        <p:spPr>
          <a:xfrm>
            <a:off x="6172200" y="822960"/>
            <a:ext cx="5376672" cy="3026664"/>
          </a:xfrm>
          <a:prstGeom prst="rect">
            <a:avLst/>
          </a:prstGeom>
        </p:spPr>
      </p:pic>
      <p:sp>
        <p:nvSpPr>
          <p:cNvPr id="6" name="Text 3"/>
          <p:cNvSpPr txBox="1"/>
          <p:nvPr/>
        </p:nvSpPr>
        <p:spPr>
          <a:xfrm>
            <a:off x="731520" y="2331720"/>
            <a:ext cx="3840480" cy="237744"/>
          </a:xfrm>
          <a:prstGeom prst="rect">
            <a:avLst/>
          </a:prstGeom>
          <a:noFill/>
          <a:ln/>
        </p:spPr>
        <p:txBody>
          <a:bodyPr wrap="square" lIns="0" tIns="0" rIns="0" bIns="0" rtlCol="0" anchor="ctr">
            <a:normAutofit/>
          </a:bodyPr>
          <a:lstStyle/>
          <a:p>
            <a:pPr algn="l" indent="0" marL="0">
              <a:buNone/>
            </a:pPr>
            <a:r>
              <a:rPr lang="en-US" sz="1800" b="1" dirty="0">
                <a:solidFill>
                  <a:srgbClr val="78DCD4"/>
                </a:solidFill>
                <a:latin typeface="Arial" pitchFamily="34" charset="0"/>
                <a:ea typeface="Arial" pitchFamily="34" charset="-122"/>
                <a:cs typeface="Arial" pitchFamily="34" charset="-120"/>
              </a:rPr>
              <a:t>What we demonstrate</a:t>
            </a:r>
            <a:endParaRPr lang="en-US" sz="1800" dirty="0"/>
          </a:p>
        </p:txBody>
      </p:sp>
      <p:sp>
        <p:nvSpPr>
          <p:cNvPr id="7" name="Shape 4"/>
          <p:cNvSpPr/>
          <p:nvPr/>
        </p:nvSpPr>
        <p:spPr>
          <a:xfrm>
            <a:off x="749808" y="2788920"/>
            <a:ext cx="438912" cy="438912"/>
          </a:xfrm>
          <a:prstGeom prst="ellipse">
            <a:avLst/>
          </a:prstGeom>
          <a:solidFill>
            <a:srgbClr val="2E65C5"/>
          </a:solidFill>
          <a:ln w="12700">
            <a:solidFill>
              <a:srgbClr val="2E65C5">
                <a:alpha val="0"/>
              </a:srgbClr>
            </a:solidFill>
            <a:prstDash val="solid"/>
          </a:ln>
        </p:spPr>
      </p:sp>
      <p:sp>
        <p:nvSpPr>
          <p:cNvPr id="8" name="Text 5"/>
          <p:cNvSpPr txBox="1"/>
          <p:nvPr/>
        </p:nvSpPr>
        <p:spPr>
          <a:xfrm>
            <a:off x="1435608" y="2807208"/>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Evidence traceability</a:t>
            </a:r>
            <a:endParaRPr lang="en-US" sz="1500" dirty="0"/>
          </a:p>
        </p:txBody>
      </p:sp>
      <p:sp>
        <p:nvSpPr>
          <p:cNvPr id="9" name="Text 6"/>
          <p:cNvSpPr txBox="1"/>
          <p:nvPr/>
        </p:nvSpPr>
        <p:spPr>
          <a:xfrm>
            <a:off x="1426464" y="3127248"/>
            <a:ext cx="4297680" cy="182880"/>
          </a:xfrm>
          <a:prstGeom prst="rect">
            <a:avLst/>
          </a:prstGeom>
          <a:noFill/>
          <a:ln/>
        </p:spPr>
        <p:txBody>
          <a:bodyPr wrap="square" lIns="0" tIns="0" rIns="0" bIns="0" rtlCol="0" anchor="ctr">
            <a:normAutofit/>
          </a:bodyPr>
          <a:lstStyle/>
          <a:p>
            <a:pPr algn="l" indent="0" marL="0">
              <a:buNone/>
            </a:pPr>
            <a:r>
              <a:rPr lang="en-US" sz="1150" dirty="0">
                <a:solidFill>
                  <a:srgbClr val="DDEBFF"/>
                </a:solidFill>
                <a:latin typeface="Arial" pitchFamily="34" charset="0"/>
                <a:ea typeface="Arial" pitchFamily="34" charset="-122"/>
                <a:cs typeface="Arial" pitchFamily="34" charset="-120"/>
              </a:rPr>
              <a:t>Sources, chunks, searches, and visible gaps</a:t>
            </a:r>
            <a:endParaRPr lang="en-US" sz="1150" dirty="0"/>
          </a:p>
        </p:txBody>
      </p:sp>
      <p:sp>
        <p:nvSpPr>
          <p:cNvPr id="10" name="Shape 7"/>
          <p:cNvSpPr/>
          <p:nvPr/>
        </p:nvSpPr>
        <p:spPr>
          <a:xfrm>
            <a:off x="749808" y="3474720"/>
            <a:ext cx="438912" cy="438912"/>
          </a:xfrm>
          <a:prstGeom prst="ellipse">
            <a:avLst/>
          </a:prstGeom>
          <a:solidFill>
            <a:srgbClr val="00A79D"/>
          </a:solidFill>
          <a:ln w="12700">
            <a:solidFill>
              <a:srgbClr val="00A79D">
                <a:alpha val="0"/>
              </a:srgbClr>
            </a:solidFill>
            <a:prstDash val="solid"/>
          </a:ln>
        </p:spPr>
      </p:sp>
      <p:sp>
        <p:nvSpPr>
          <p:cNvPr id="11" name="Text 8"/>
          <p:cNvSpPr txBox="1"/>
          <p:nvPr/>
        </p:nvSpPr>
        <p:spPr>
          <a:xfrm>
            <a:off x="1435608" y="3493008"/>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Responsible AI</a:t>
            </a:r>
            <a:endParaRPr lang="en-US" sz="1500" dirty="0"/>
          </a:p>
        </p:txBody>
      </p:sp>
      <p:sp>
        <p:nvSpPr>
          <p:cNvPr id="12" name="Text 9"/>
          <p:cNvSpPr txBox="1"/>
          <p:nvPr/>
        </p:nvSpPr>
        <p:spPr>
          <a:xfrm>
            <a:off x="1426464" y="3813048"/>
            <a:ext cx="4297680" cy="182880"/>
          </a:xfrm>
          <a:prstGeom prst="rect">
            <a:avLst/>
          </a:prstGeom>
          <a:noFill/>
          <a:ln/>
        </p:spPr>
        <p:txBody>
          <a:bodyPr wrap="square" lIns="0" tIns="0" rIns="0" bIns="0" rtlCol="0" anchor="ctr">
            <a:normAutofit/>
          </a:bodyPr>
          <a:lstStyle/>
          <a:p>
            <a:pPr algn="l" indent="0" marL="0">
              <a:buNone/>
            </a:pPr>
            <a:r>
              <a:rPr lang="en-US" sz="1150" dirty="0">
                <a:solidFill>
                  <a:srgbClr val="DDEBFF"/>
                </a:solidFill>
                <a:latin typeface="Arial" pitchFamily="34" charset="0"/>
                <a:ea typeface="Arial" pitchFamily="34" charset="-122"/>
                <a:cs typeface="Arial" pitchFamily="34" charset="-120"/>
              </a:rPr>
              <a:t>Evidence confidence and explicit limitations</a:t>
            </a:r>
            <a:endParaRPr lang="en-US" sz="1150" dirty="0"/>
          </a:p>
        </p:txBody>
      </p:sp>
      <p:sp>
        <p:nvSpPr>
          <p:cNvPr id="13" name="Shape 10"/>
          <p:cNvSpPr/>
          <p:nvPr/>
        </p:nvSpPr>
        <p:spPr>
          <a:xfrm>
            <a:off x="749808" y="4160520"/>
            <a:ext cx="438912" cy="438912"/>
          </a:xfrm>
          <a:prstGeom prst="ellipse">
            <a:avLst/>
          </a:prstGeom>
          <a:solidFill>
            <a:srgbClr val="2E65C5"/>
          </a:solidFill>
          <a:ln w="12700">
            <a:solidFill>
              <a:srgbClr val="2E65C5">
                <a:alpha val="0"/>
              </a:srgbClr>
            </a:solidFill>
            <a:prstDash val="solid"/>
          </a:ln>
        </p:spPr>
      </p:sp>
      <p:sp>
        <p:nvSpPr>
          <p:cNvPr id="14" name="Text 11"/>
          <p:cNvSpPr txBox="1"/>
          <p:nvPr/>
        </p:nvSpPr>
        <p:spPr>
          <a:xfrm>
            <a:off x="1435608" y="4178808"/>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Human accountability</a:t>
            </a:r>
            <a:endParaRPr lang="en-US" sz="1500" dirty="0"/>
          </a:p>
        </p:txBody>
      </p:sp>
      <p:sp>
        <p:nvSpPr>
          <p:cNvPr id="15" name="Text 12"/>
          <p:cNvSpPr txBox="1"/>
          <p:nvPr/>
        </p:nvSpPr>
        <p:spPr>
          <a:xfrm>
            <a:off x="1426464" y="4498848"/>
            <a:ext cx="4297680" cy="182880"/>
          </a:xfrm>
          <a:prstGeom prst="rect">
            <a:avLst/>
          </a:prstGeom>
          <a:noFill/>
          <a:ln/>
        </p:spPr>
        <p:txBody>
          <a:bodyPr wrap="square" lIns="0" tIns="0" rIns="0" bIns="0" rtlCol="0" anchor="ctr">
            <a:normAutofit/>
          </a:bodyPr>
          <a:lstStyle/>
          <a:p>
            <a:pPr algn="l" indent="0" marL="0">
              <a:buNone/>
            </a:pPr>
            <a:r>
              <a:rPr lang="en-US" sz="1150" dirty="0">
                <a:solidFill>
                  <a:srgbClr val="DDEBFF"/>
                </a:solidFill>
                <a:latin typeface="Arial" pitchFamily="34" charset="0"/>
                <a:ea typeface="Arial" pitchFamily="34" charset="-122"/>
                <a:cs typeface="Arial" pitchFamily="34" charset="-120"/>
              </a:rPr>
              <a:t>Named rationale, recorded actions, separate Compliance review</a:t>
            </a:r>
            <a:endParaRPr lang="en-US" sz="1150" dirty="0"/>
          </a:p>
        </p:txBody>
      </p:sp>
      <p:sp>
        <p:nvSpPr>
          <p:cNvPr id="16" name="Text 13"/>
          <p:cNvSpPr txBox="1"/>
          <p:nvPr/>
        </p:nvSpPr>
        <p:spPr>
          <a:xfrm>
            <a:off x="731520" y="5687568"/>
            <a:ext cx="6629400" cy="365760"/>
          </a:xfrm>
          <a:prstGeom prst="rect">
            <a:avLst/>
          </a:prstGeom>
          <a:noFill/>
          <a:ln/>
        </p:spPr>
        <p:txBody>
          <a:bodyPr wrap="square" lIns="0" tIns="0" rIns="0" bIns="0" rtlCol="0" anchor="ctr">
            <a:normAutofit/>
          </a:bodyPr>
          <a:lstStyle/>
          <a:p>
            <a:pPr algn="l" indent="0" marL="0">
              <a:buNone/>
            </a:pPr>
            <a:r>
              <a:rPr lang="en-US" sz="2400" b="1" dirty="0">
                <a:solidFill>
                  <a:srgbClr val="FFFFFF"/>
                </a:solidFill>
                <a:latin typeface="Arial" pitchFamily="34" charset="0"/>
                <a:ea typeface="Arial" pitchFamily="34" charset="-122"/>
                <a:cs typeface="Arial" pitchFamily="34" charset="-120"/>
              </a:rPr>
              <a:t>Trace the evidence. Own the decision.</a:t>
            </a:r>
            <a:endParaRPr lang="en-US" sz="2400" dirty="0"/>
          </a:p>
        </p:txBody>
      </p:sp>
      <p:sp>
        <p:nvSpPr>
          <p:cNvPr id="17" name="Text 14"/>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AFC9EC"/>
                </a:solidFill>
                <a:latin typeface="Arial" pitchFamily="34" charset="0"/>
                <a:ea typeface="Arial" pitchFamily="34" charset="-122"/>
                <a:cs typeface="Arial" pitchFamily="34" charset="-120"/>
              </a:rPr>
              <a:t>InvestigateIQ  |  Capstone Group 7  |  17</a:t>
            </a:r>
            <a:endParaRPr lang="en-US" sz="850" dirty="0"/>
          </a:p>
        </p:txBody>
      </p:sp>
      <p:sp>
        <p:nvSpPr>
          <p:cNvPr id="18" name="Text 15"/>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AFC9EC"/>
                </a:solidFill>
                <a:latin typeface="Arial" pitchFamily="34" charset="0"/>
                <a:ea typeface="Arial" pitchFamily="34" charset="-122"/>
                <a:cs typeface="Arial" pitchFamily="34" charset="-120"/>
              </a:rPr>
              <a:t>Fictional AML investigation learning environment</a:t>
            </a:r>
            <a:endParaRPr lang="en-US" sz="850" dirty="0"/>
          </a:p>
        </p:txBody>
      </p:sp>
    </p:spTree>
  </p:cSld>
  <p:clrMapOvr>
    <a:masterClrMapping/>
  </p:clrMapOvr>
  <p:transition spd="med"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IIT Bombay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InvestigateIQ: Product Blueprint and Demonstration</dc:title>
  <dc:subject>InvestigateIQ product presentation</dc:subject>
  <dc:creator>Capstone Group 7</dc:creator>
  <cp:lastModifiedBy>Capstone Group 7</cp:lastModifiedBy>
  <cp:revision>1</cp:revision>
  <dcterms:created xsi:type="dcterms:W3CDTF">2026-10-09T11:49:51Z</dcterms:created>
  <dcterms:modified xsi:type="dcterms:W3CDTF">2026-10-09T11:49:51Z</dcterms:modified>
</cp:coreProperties>
</file>