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introduce InvestigateIQ as a fictional AML investigation copilot. Explain that the deck shows the complete product and its human-accountability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introduces the group. State that Pankaj is the single presentation lead and Rahul Chainani supports technical preparation. Acknowledge the roster in the displayed order without reading every responsibility.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presents the program statement. Read the central statement slowly. The success measures are traceability, visible limits, clear states, and a human rationale. The program does not make a legal conclusion or automate a workflow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Sweta explains the problem: source alerts help prioritize review but do not prove wrongdoing. Point out the queue fields and the difference between status, severity, rule label, and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Sweta walks the audience through the five steps. Use the fade transition and reveal each step in order. Emphasize that every workflow action belongs to a named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Laxman explains the simplified left navigation. Show that the sequence follows user work: first find a case, then inspect it, then trace evidence, then complete a human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Lakshmi explains queue filtering. Use a single case as the continuing example. Mention that a source-closed label differs from a recorded human closure, and evidence remains viewable after completion.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workspace. Show saved versus calculated mode and explain that the investigation runs or replays a review; it does not record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evidence confidence score. Say exactly what it measures: support coverage for the draft. Say exactly what it does not measure: crime likelihood, legality, or the correct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code path in plain language. OKF is the product's Open Knowledge Format source record. Point to the source chunks on the left. Explain FTS5 and BM25 as local keyword matching and ranking; retrieved IDs make a cited response inspectable, not proven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Laxman demonstrates the floating Copilot. Explain that it stays inside the same case context. Do not imply that a response proves a fact or makes a workflow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Rahul Sharma explains the decision lock and separate Compliance review. State the three Compliance outcomes and their meaning: acknowledge, return, or referred onward. Emphasize that no external filing happens in this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Rahul Sharma explains each graph’s unit. Read axes before making any point about the chart. Make clear that the visuals summarize fictional stored data and workflow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Soumya or Lakshmi covers this slide. Explain how Global Search shortens navigation, while Project and Team makes delivery ownership and role boundaries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technical design. Streamlit provides the pages and session context; SQLite stores the fictional material; FTS5 and BM25 retrieve inspectable chunks; a report is cited and any human decision becomes an append-only audit event. Rahul Chainani can answer a follow-up technical question after the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Rahul Chainani explains the Admin boundary. Do not mention or enter a passcode. Explain that the restricted pages support source/rule inspection but do not claim production authentication.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the validation and release approach. Mention that the video used current 1280 by 720 screens and that no production decision data was changed during capture.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explains that ROI is a measurement framework, not a financial claim from fictional records. Name the four value levers, read the formula as a planning model, and then present the three-stage roadmap: evaluation first, governance controls next, and integrations only after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Pankaj closes. Restate the narrow claim: the product helps people inspect supplied fictional evidence and document their reasoning. It does not prove guilt or legality, replace a human, or file a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C:\D\IIT Mumbai\Capstone Blueprint\assets\walkthrough_screens\2026_home_guest.png">    </p:cNvPr>
          <p:cNvPicPr>
            <a:picLocks noChangeAspect="1"/>
          </p:cNvPicPr>
          <p:nvPr/>
        </p:nvPicPr>
        <p:blipFill>
          <a:blip r:embed="rId1">
            <a:alphaModFix amt="81000"/>
          </a:blip>
          <a:stretch>
            <a:fillRect/>
          </a:stretch>
        </p:blipFill>
        <p:spPr>
          <a:xfrm>
            <a:off x="5806440" y="0"/>
            <a:ext cx="6385255" cy="6858000"/>
          </a:xfrm>
          <a:prstGeom prst="rect">
            <a:avLst/>
          </a:prstGeom>
        </p:spPr>
      </p:pic>
      <p:sp>
        <p:nvSpPr>
          <p:cNvPr id="3" name="Shape 0"/>
          <p:cNvSpPr/>
          <p:nvPr/>
        </p:nvSpPr>
        <p:spPr>
          <a:xfrm>
            <a:off x="0" y="0"/>
            <a:ext cx="6858000" cy="6858000"/>
          </a:xfrm>
          <a:prstGeom prst="rect">
            <a:avLst/>
          </a:prstGeom>
          <a:solidFill>
            <a:srgbClr val="0B1F3A">
              <a:alpha val="97000"/>
            </a:srgbClr>
          </a:solidFill>
          <a:ln w="12700">
            <a:solidFill>
              <a:srgbClr val="0B1F3A">
                <a:alpha val="0"/>
              </a:srgbClr>
            </a:solidFill>
            <a:prstDash val="solid"/>
          </a:ln>
        </p:spPr>
      </p:sp>
      <p:sp>
        <p:nvSpPr>
          <p:cNvPr id="4" name="Shape 1"/>
          <p:cNvSpPr/>
          <p:nvPr/>
        </p:nvSpPr>
        <p:spPr>
          <a:xfrm>
            <a:off x="658368" y="685800"/>
            <a:ext cx="1737360" cy="310896"/>
          </a:xfrm>
          <a:prstGeom prst="roundRect">
            <a:avLst>
              <a:gd name="adj" fmla="val 47059"/>
            </a:avLst>
          </a:prstGeom>
          <a:solidFill>
            <a:srgbClr val="00A79D"/>
          </a:solidFill>
          <a:ln w="12700">
            <a:solidFill>
              <a:srgbClr val="00A79D">
                <a:alpha val="0"/>
              </a:srgbClr>
            </a:solidFill>
            <a:prstDash val="solid"/>
          </a:ln>
        </p:spPr>
      </p:sp>
      <p:sp>
        <p:nvSpPr>
          <p:cNvPr id="5" name="Text 2"/>
          <p:cNvSpPr txBox="1"/>
          <p:nvPr/>
        </p:nvSpPr>
        <p:spPr>
          <a:xfrm>
            <a:off x="768096" y="722376"/>
            <a:ext cx="1517904" cy="201168"/>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CAPSTONE GROUP 7</a:t>
            </a:r>
            <a:endParaRPr lang="en-US" sz="1000" dirty="0"/>
          </a:p>
        </p:txBody>
      </p:sp>
      <p:sp>
        <p:nvSpPr>
          <p:cNvPr id="6" name="Text 3"/>
          <p:cNvSpPr txBox="1"/>
          <p:nvPr/>
        </p:nvSpPr>
        <p:spPr>
          <a:xfrm>
            <a:off x="658368" y="1298448"/>
            <a:ext cx="4754880" cy="594360"/>
          </a:xfrm>
          <a:prstGeom prst="rect">
            <a:avLst/>
          </a:prstGeom>
          <a:noFill/>
          <a:ln/>
        </p:spPr>
        <p:txBody>
          <a:bodyPr wrap="square" lIns="0" tIns="0" rIns="0" bIns="0" rtlCol="0" anchor="ctr">
            <a:normAutofit/>
          </a:bodyPr>
          <a:lstStyle/>
          <a:p>
            <a:pPr algn="l" indent="0" marL="0">
              <a:buNone/>
            </a:pPr>
            <a:r>
              <a:rPr lang="en-US" sz="4200" b="1" dirty="0">
                <a:solidFill>
                  <a:srgbClr val="FFFFFF"/>
                </a:solidFill>
                <a:latin typeface="Arial" pitchFamily="34" charset="0"/>
                <a:ea typeface="Arial" pitchFamily="34" charset="-122"/>
                <a:cs typeface="Arial" pitchFamily="34" charset="-120"/>
              </a:rPr>
              <a:t>InvestigateIQ</a:t>
            </a:r>
            <a:endParaRPr lang="en-US" sz="4200" dirty="0"/>
          </a:p>
        </p:txBody>
      </p:sp>
      <p:sp>
        <p:nvSpPr>
          <p:cNvPr id="7" name="Text 4"/>
          <p:cNvSpPr txBox="1"/>
          <p:nvPr/>
        </p:nvSpPr>
        <p:spPr>
          <a:xfrm>
            <a:off x="685800" y="2011680"/>
            <a:ext cx="4617720" cy="411480"/>
          </a:xfrm>
          <a:prstGeom prst="rect">
            <a:avLst/>
          </a:prstGeom>
          <a:noFill/>
          <a:ln/>
        </p:spPr>
        <p:txBody>
          <a:bodyPr wrap="square" lIns="0" tIns="0" rIns="0" bIns="0" rtlCol="0" anchor="ctr">
            <a:normAutofit/>
          </a:bodyPr>
          <a:lstStyle/>
          <a:p>
            <a:pPr algn="l" indent="0" marL="0">
              <a:buNone/>
            </a:pPr>
            <a:r>
              <a:rPr lang="en-US" sz="2000" dirty="0">
                <a:solidFill>
                  <a:srgbClr val="C8D9F3"/>
                </a:solidFill>
                <a:latin typeface="Arial" pitchFamily="34" charset="0"/>
                <a:ea typeface="Arial" pitchFamily="34" charset="-122"/>
                <a:cs typeface="Arial" pitchFamily="34" charset="-120"/>
              </a:rPr>
              <a:t>AI-assisted AML case investigation copilot</a:t>
            </a:r>
            <a:endParaRPr lang="en-US" sz="2000" dirty="0"/>
          </a:p>
        </p:txBody>
      </p:sp>
      <p:sp>
        <p:nvSpPr>
          <p:cNvPr id="8" name="Text 5"/>
          <p:cNvSpPr txBox="1"/>
          <p:nvPr/>
        </p:nvSpPr>
        <p:spPr>
          <a:xfrm>
            <a:off x="685800" y="2907792"/>
            <a:ext cx="4389120" cy="384048"/>
          </a:xfrm>
          <a:prstGeom prst="rect">
            <a:avLst/>
          </a:prstGeom>
          <a:noFill/>
          <a:ln/>
        </p:spPr>
        <p:txBody>
          <a:bodyPr wrap="square" lIns="0" tIns="0" rIns="0" bIns="0" rtlCol="0" anchor="ctr">
            <a:normAutofit/>
          </a:bodyPr>
          <a:lstStyle/>
          <a:p>
            <a:pPr algn="l" indent="0" marL="0">
              <a:buNone/>
            </a:pPr>
            <a:r>
              <a:rPr lang="en-US" sz="2200" b="1" dirty="0">
                <a:solidFill>
                  <a:srgbClr val="78DCD4"/>
                </a:solidFill>
                <a:latin typeface="Arial" pitchFamily="34" charset="0"/>
                <a:ea typeface="Arial" pitchFamily="34" charset="-122"/>
                <a:cs typeface="Arial" pitchFamily="34" charset="-120"/>
              </a:rPr>
              <a:t>Trace the evidence. Own the decision.</a:t>
            </a:r>
            <a:endParaRPr lang="en-US" sz="2200" dirty="0"/>
          </a:p>
        </p:txBody>
      </p:sp>
      <p:sp>
        <p:nvSpPr>
          <p:cNvPr id="9" name="Text 6"/>
          <p:cNvSpPr txBox="1"/>
          <p:nvPr/>
        </p:nvSpPr>
        <p:spPr>
          <a:xfrm>
            <a:off x="685800" y="3474720"/>
            <a:ext cx="4709160" cy="676656"/>
          </a:xfrm>
          <a:prstGeom prst="rect">
            <a:avLst/>
          </a:prstGeom>
          <a:noFill/>
          <a:ln/>
        </p:spPr>
        <p:txBody>
          <a:bodyPr wrap="square" lIns="0" tIns="0" rIns="0" bIns="0" rtlCol="0" anchor="t">
            <a:normAutofit/>
          </a:bodyPr>
          <a:lstStyle/>
          <a:p>
            <a:pPr algn="l" indent="0" marL="0">
              <a:buNone/>
            </a:pPr>
            <a:r>
              <a:rPr lang="en-US" sz="1700" dirty="0">
                <a:solidFill>
                  <a:srgbClr val="D7E5F9"/>
                </a:solidFill>
                <a:latin typeface="Arial" pitchFamily="34" charset="0"/>
                <a:ea typeface="Arial" pitchFamily="34" charset="-122"/>
                <a:cs typeface="Arial" pitchFamily="34" charset="-120"/>
              </a:rPr>
              <a:t>A fictional, transparent evidence-to-decision workflow for a human investigator and Compliance reviewer.</a:t>
            </a:r>
            <a:endParaRPr lang="en-US" sz="1700" dirty="0"/>
          </a:p>
        </p:txBody>
      </p:sp>
      <p:sp>
        <p:nvSpPr>
          <p:cNvPr id="10" name="Text 7"/>
          <p:cNvSpPr txBox="1"/>
          <p:nvPr/>
        </p:nvSpPr>
        <p:spPr>
          <a:xfrm>
            <a:off x="685800" y="5797296"/>
            <a:ext cx="3383280" cy="201168"/>
          </a:xfrm>
          <a:prstGeom prst="rect">
            <a:avLst/>
          </a:prstGeom>
          <a:noFill/>
          <a:ln/>
        </p:spPr>
        <p:txBody>
          <a:bodyPr wrap="square" lIns="0" tIns="0" rIns="0" bIns="0" rtlCol="0" anchor="ctr">
            <a:normAutofit/>
          </a:bodyPr>
          <a:lstStyle/>
          <a:p>
            <a:pPr algn="l" indent="0" marL="0">
              <a:buNone/>
            </a:pPr>
            <a:r>
              <a:rPr lang="en-US" sz="1200" dirty="0">
                <a:solidFill>
                  <a:srgbClr val="AFC9EC"/>
                </a:solidFill>
                <a:latin typeface="Arial" pitchFamily="34" charset="0"/>
                <a:ea typeface="Arial" pitchFamily="34" charset="-122"/>
                <a:cs typeface="Arial" pitchFamily="34" charset="-120"/>
              </a:rPr>
              <a:t>Leadership with AI · IIT Bombay</a:t>
            </a:r>
            <a:endParaRPr lang="en-US" sz="1200" dirty="0"/>
          </a:p>
        </p:txBody>
      </p:sp>
    </p:spTree>
  </p:cSld>
  <p:clrMapOvr>
    <a:masterClrMapping/>
  </p:clrMapOvr>
  <p:transition spd="med" advClick="1">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THE PROJECT TEAM</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Who built and explains the product</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2</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Text 4"/>
          <p:cNvSpPr txBox="1"/>
          <p:nvPr/>
        </p:nvSpPr>
        <p:spPr>
          <a:xfrm>
            <a:off x="640080" y="1316736"/>
            <a:ext cx="6583680" cy="228600"/>
          </a:xfrm>
          <a:prstGeom prst="rect">
            <a:avLst/>
          </a:prstGeom>
          <a:noFill/>
          <a:ln/>
        </p:spPr>
        <p:txBody>
          <a:bodyPr wrap="square" lIns="0" tIns="0" rIns="0" bIns="0" rtlCol="0" anchor="ctr">
            <a:normAutofit/>
          </a:bodyPr>
          <a:lstStyle/>
          <a:p>
            <a:pPr algn="l" indent="0" marL="0">
              <a:buNone/>
            </a:pPr>
            <a:r>
              <a:rPr lang="en-US" sz="1500" dirty="0">
                <a:solidFill>
                  <a:srgbClr val="63738D"/>
                </a:solidFill>
                <a:latin typeface="Arial" pitchFamily="34" charset="0"/>
                <a:ea typeface="Arial" pitchFamily="34" charset="-122"/>
                <a:cs typeface="Arial" pitchFamily="34" charset="-120"/>
              </a:rPr>
              <a:t>Presentation lead: Pankaj Bharsakale · Technical preparation: Rahul Chainani</a:t>
            </a:r>
            <a:endParaRPr lang="en-US" sz="1500" dirty="0"/>
          </a:p>
        </p:txBody>
      </p:sp>
      <p:sp>
        <p:nvSpPr>
          <p:cNvPr id="7" name="Shape 5"/>
          <p:cNvSpPr/>
          <p:nvPr/>
        </p:nvSpPr>
        <p:spPr>
          <a:xfrm>
            <a:off x="658368" y="1783080"/>
            <a:ext cx="5074920" cy="822960"/>
          </a:xfrm>
          <a:prstGeom prst="roundRect">
            <a:avLst>
              <a:gd name="adj" fmla="val 17778"/>
            </a:avLst>
          </a:prstGeom>
          <a:solidFill>
            <a:srgbClr val="EAF2FF"/>
          </a:solidFill>
          <a:ln w="12700">
            <a:solidFill>
              <a:srgbClr val="EAF2FF">
                <a:alpha val="0"/>
              </a:srgbClr>
            </a:solidFill>
            <a:prstDash val="solid"/>
          </a:ln>
        </p:spPr>
      </p:sp>
      <p:sp>
        <p:nvSpPr>
          <p:cNvPr id="8" name="Shape 6"/>
          <p:cNvSpPr/>
          <p:nvPr/>
        </p:nvSpPr>
        <p:spPr>
          <a:xfrm>
            <a:off x="841248" y="1965960"/>
            <a:ext cx="438912" cy="438912"/>
          </a:xfrm>
          <a:prstGeom prst="ellipse">
            <a:avLst/>
          </a:prstGeom>
          <a:solidFill>
            <a:srgbClr val="2E65C5"/>
          </a:solidFill>
          <a:ln w="12700">
            <a:solidFill>
              <a:srgbClr val="FFFFFF">
                <a:alpha val="0"/>
              </a:srgbClr>
            </a:solidFill>
            <a:prstDash val="solid"/>
          </a:ln>
        </p:spPr>
      </p:sp>
      <p:sp>
        <p:nvSpPr>
          <p:cNvPr id="9" name="Text 7"/>
          <p:cNvSpPr txBox="1"/>
          <p:nvPr/>
        </p:nvSpPr>
        <p:spPr>
          <a:xfrm>
            <a:off x="1435608" y="1920240"/>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Rahul Chainani</a:t>
            </a:r>
            <a:endParaRPr lang="en-US" sz="1500" dirty="0"/>
          </a:p>
        </p:txBody>
      </p:sp>
      <p:sp>
        <p:nvSpPr>
          <p:cNvPr id="10" name="Text 8"/>
          <p:cNvSpPr txBox="1"/>
          <p:nvPr/>
        </p:nvSpPr>
        <p:spPr>
          <a:xfrm>
            <a:off x="1435608" y="2194560"/>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Application development and integration</a:t>
            </a:r>
            <a:endParaRPr lang="en-US" sz="1150" dirty="0"/>
          </a:p>
        </p:txBody>
      </p:sp>
      <p:sp>
        <p:nvSpPr>
          <p:cNvPr id="11" name="Shape 9"/>
          <p:cNvSpPr/>
          <p:nvPr/>
        </p:nvSpPr>
        <p:spPr>
          <a:xfrm>
            <a:off x="6190488" y="1783080"/>
            <a:ext cx="5074920" cy="822960"/>
          </a:xfrm>
          <a:prstGeom prst="roundRect">
            <a:avLst>
              <a:gd name="adj" fmla="val 17778"/>
            </a:avLst>
          </a:prstGeom>
          <a:solidFill>
            <a:srgbClr val="EAF9F7"/>
          </a:solidFill>
          <a:ln w="12700">
            <a:solidFill>
              <a:srgbClr val="EAF9F7">
                <a:alpha val="0"/>
              </a:srgbClr>
            </a:solidFill>
            <a:prstDash val="solid"/>
          </a:ln>
        </p:spPr>
      </p:sp>
      <p:sp>
        <p:nvSpPr>
          <p:cNvPr id="12" name="Shape 10"/>
          <p:cNvSpPr/>
          <p:nvPr/>
        </p:nvSpPr>
        <p:spPr>
          <a:xfrm>
            <a:off x="6373368" y="1965960"/>
            <a:ext cx="438912" cy="438912"/>
          </a:xfrm>
          <a:prstGeom prst="ellipse">
            <a:avLst/>
          </a:prstGeom>
          <a:solidFill>
            <a:srgbClr val="00A79D"/>
          </a:solidFill>
          <a:ln w="12700">
            <a:solidFill>
              <a:srgbClr val="FFFFFF">
                <a:alpha val="0"/>
              </a:srgbClr>
            </a:solidFill>
            <a:prstDash val="solid"/>
          </a:ln>
        </p:spPr>
      </p:sp>
      <p:sp>
        <p:nvSpPr>
          <p:cNvPr id="13" name="Text 11"/>
          <p:cNvSpPr txBox="1"/>
          <p:nvPr/>
        </p:nvSpPr>
        <p:spPr>
          <a:xfrm>
            <a:off x="6967728" y="1920240"/>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Pankaj Bharsakale</a:t>
            </a:r>
            <a:endParaRPr lang="en-US" sz="1500" dirty="0"/>
          </a:p>
        </p:txBody>
      </p:sp>
      <p:sp>
        <p:nvSpPr>
          <p:cNvPr id="14" name="Text 12"/>
          <p:cNvSpPr txBox="1"/>
          <p:nvPr/>
        </p:nvSpPr>
        <p:spPr>
          <a:xfrm>
            <a:off x="6967728" y="2194560"/>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AI workflow and evidence review</a:t>
            </a:r>
            <a:endParaRPr lang="en-US" sz="1150" dirty="0"/>
          </a:p>
        </p:txBody>
      </p:sp>
      <p:sp>
        <p:nvSpPr>
          <p:cNvPr id="15" name="Shape 13"/>
          <p:cNvSpPr/>
          <p:nvPr/>
        </p:nvSpPr>
        <p:spPr>
          <a:xfrm>
            <a:off x="658368" y="2843784"/>
            <a:ext cx="5074920" cy="822960"/>
          </a:xfrm>
          <a:prstGeom prst="roundRect">
            <a:avLst>
              <a:gd name="adj" fmla="val 17778"/>
            </a:avLst>
          </a:prstGeom>
          <a:solidFill>
            <a:srgbClr val="EAF2FF"/>
          </a:solidFill>
          <a:ln w="12700">
            <a:solidFill>
              <a:srgbClr val="EAF2FF">
                <a:alpha val="0"/>
              </a:srgbClr>
            </a:solidFill>
            <a:prstDash val="solid"/>
          </a:ln>
        </p:spPr>
      </p:sp>
      <p:sp>
        <p:nvSpPr>
          <p:cNvPr id="16" name="Shape 14"/>
          <p:cNvSpPr/>
          <p:nvPr/>
        </p:nvSpPr>
        <p:spPr>
          <a:xfrm>
            <a:off x="841248" y="3026664"/>
            <a:ext cx="438912" cy="438912"/>
          </a:xfrm>
          <a:prstGeom prst="ellipse">
            <a:avLst/>
          </a:prstGeom>
          <a:solidFill>
            <a:srgbClr val="2E65C5"/>
          </a:solidFill>
          <a:ln w="12700">
            <a:solidFill>
              <a:srgbClr val="FFFFFF">
                <a:alpha val="0"/>
              </a:srgbClr>
            </a:solidFill>
            <a:prstDash val="solid"/>
          </a:ln>
        </p:spPr>
      </p:sp>
      <p:sp>
        <p:nvSpPr>
          <p:cNvPr id="17" name="Text 15"/>
          <p:cNvSpPr txBox="1"/>
          <p:nvPr/>
        </p:nvSpPr>
        <p:spPr>
          <a:xfrm>
            <a:off x="1435608" y="2980944"/>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Lakshmi Dudgikar</a:t>
            </a:r>
            <a:endParaRPr lang="en-US" sz="1500" dirty="0"/>
          </a:p>
        </p:txBody>
      </p:sp>
      <p:sp>
        <p:nvSpPr>
          <p:cNvPr id="18" name="Text 16"/>
          <p:cNvSpPr txBox="1"/>
          <p:nvPr/>
        </p:nvSpPr>
        <p:spPr>
          <a:xfrm>
            <a:off x="1435608" y="3255264"/>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Requirements and case-study mapping</a:t>
            </a:r>
            <a:endParaRPr lang="en-US" sz="1150" dirty="0"/>
          </a:p>
        </p:txBody>
      </p:sp>
      <p:sp>
        <p:nvSpPr>
          <p:cNvPr id="19" name="Shape 17"/>
          <p:cNvSpPr/>
          <p:nvPr/>
        </p:nvSpPr>
        <p:spPr>
          <a:xfrm>
            <a:off x="6190488" y="2843784"/>
            <a:ext cx="5074920" cy="822960"/>
          </a:xfrm>
          <a:prstGeom prst="roundRect">
            <a:avLst>
              <a:gd name="adj" fmla="val 17778"/>
            </a:avLst>
          </a:prstGeom>
          <a:solidFill>
            <a:srgbClr val="EAF9F7"/>
          </a:solidFill>
          <a:ln w="12700">
            <a:solidFill>
              <a:srgbClr val="EAF9F7">
                <a:alpha val="0"/>
              </a:srgbClr>
            </a:solidFill>
            <a:prstDash val="solid"/>
          </a:ln>
        </p:spPr>
      </p:sp>
      <p:sp>
        <p:nvSpPr>
          <p:cNvPr id="20" name="Shape 18"/>
          <p:cNvSpPr/>
          <p:nvPr/>
        </p:nvSpPr>
        <p:spPr>
          <a:xfrm>
            <a:off x="6373368" y="3026664"/>
            <a:ext cx="438912" cy="438912"/>
          </a:xfrm>
          <a:prstGeom prst="ellipse">
            <a:avLst/>
          </a:prstGeom>
          <a:solidFill>
            <a:srgbClr val="00A79D"/>
          </a:solidFill>
          <a:ln w="12700">
            <a:solidFill>
              <a:srgbClr val="FFFFFF">
                <a:alpha val="0"/>
              </a:srgbClr>
            </a:solidFill>
            <a:prstDash val="solid"/>
          </a:ln>
        </p:spPr>
      </p:sp>
      <p:sp>
        <p:nvSpPr>
          <p:cNvPr id="21" name="Text 19"/>
          <p:cNvSpPr txBox="1"/>
          <p:nvPr/>
        </p:nvSpPr>
        <p:spPr>
          <a:xfrm>
            <a:off x="6967728" y="2980944"/>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Rahul Sharma</a:t>
            </a:r>
            <a:endParaRPr lang="en-US" sz="1500" dirty="0"/>
          </a:p>
        </p:txBody>
      </p:sp>
      <p:sp>
        <p:nvSpPr>
          <p:cNvPr id="22" name="Text 20"/>
          <p:cNvSpPr txBox="1"/>
          <p:nvPr/>
        </p:nvSpPr>
        <p:spPr>
          <a:xfrm>
            <a:off x="6967728" y="3255264"/>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Quality assurance and edge cases</a:t>
            </a:r>
            <a:endParaRPr lang="en-US" sz="1150" dirty="0"/>
          </a:p>
        </p:txBody>
      </p:sp>
      <p:sp>
        <p:nvSpPr>
          <p:cNvPr id="23" name="Shape 21"/>
          <p:cNvSpPr/>
          <p:nvPr/>
        </p:nvSpPr>
        <p:spPr>
          <a:xfrm>
            <a:off x="658368" y="3904488"/>
            <a:ext cx="5074920" cy="822960"/>
          </a:xfrm>
          <a:prstGeom prst="roundRect">
            <a:avLst>
              <a:gd name="adj" fmla="val 17778"/>
            </a:avLst>
          </a:prstGeom>
          <a:solidFill>
            <a:srgbClr val="EAF2FF"/>
          </a:solidFill>
          <a:ln w="12700">
            <a:solidFill>
              <a:srgbClr val="EAF2FF">
                <a:alpha val="0"/>
              </a:srgbClr>
            </a:solidFill>
            <a:prstDash val="solid"/>
          </a:ln>
        </p:spPr>
      </p:sp>
      <p:sp>
        <p:nvSpPr>
          <p:cNvPr id="24" name="Shape 22"/>
          <p:cNvSpPr/>
          <p:nvPr/>
        </p:nvSpPr>
        <p:spPr>
          <a:xfrm>
            <a:off x="841248" y="4087368"/>
            <a:ext cx="438912" cy="438912"/>
          </a:xfrm>
          <a:prstGeom prst="ellipse">
            <a:avLst/>
          </a:prstGeom>
          <a:solidFill>
            <a:srgbClr val="2E65C5"/>
          </a:solidFill>
          <a:ln w="12700">
            <a:solidFill>
              <a:srgbClr val="FFFFFF">
                <a:alpha val="0"/>
              </a:srgbClr>
            </a:solidFill>
            <a:prstDash val="solid"/>
          </a:ln>
        </p:spPr>
      </p:sp>
      <p:sp>
        <p:nvSpPr>
          <p:cNvPr id="25" name="Text 23"/>
          <p:cNvSpPr txBox="1"/>
          <p:nvPr/>
        </p:nvSpPr>
        <p:spPr>
          <a:xfrm>
            <a:off x="1435608" y="4041648"/>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Laxman Singh</a:t>
            </a:r>
            <a:endParaRPr lang="en-US" sz="1500" dirty="0"/>
          </a:p>
        </p:txBody>
      </p:sp>
      <p:sp>
        <p:nvSpPr>
          <p:cNvPr id="26" name="Text 24"/>
          <p:cNvSpPr txBox="1"/>
          <p:nvPr/>
        </p:nvSpPr>
        <p:spPr>
          <a:xfrm>
            <a:off x="1435608" y="4315968"/>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User experience and product walkthrough</a:t>
            </a:r>
            <a:endParaRPr lang="en-US" sz="1150" dirty="0"/>
          </a:p>
        </p:txBody>
      </p:sp>
      <p:sp>
        <p:nvSpPr>
          <p:cNvPr id="27" name="Shape 25"/>
          <p:cNvSpPr/>
          <p:nvPr/>
        </p:nvSpPr>
        <p:spPr>
          <a:xfrm>
            <a:off x="6190488" y="3904488"/>
            <a:ext cx="5074920" cy="822960"/>
          </a:xfrm>
          <a:prstGeom prst="roundRect">
            <a:avLst>
              <a:gd name="adj" fmla="val 17778"/>
            </a:avLst>
          </a:prstGeom>
          <a:solidFill>
            <a:srgbClr val="EAF9F7"/>
          </a:solidFill>
          <a:ln w="12700">
            <a:solidFill>
              <a:srgbClr val="EAF9F7">
                <a:alpha val="0"/>
              </a:srgbClr>
            </a:solidFill>
            <a:prstDash val="solid"/>
          </a:ln>
        </p:spPr>
      </p:sp>
      <p:sp>
        <p:nvSpPr>
          <p:cNvPr id="28" name="Shape 26"/>
          <p:cNvSpPr/>
          <p:nvPr/>
        </p:nvSpPr>
        <p:spPr>
          <a:xfrm>
            <a:off x="6373368" y="4087368"/>
            <a:ext cx="438912" cy="438912"/>
          </a:xfrm>
          <a:prstGeom prst="ellipse">
            <a:avLst/>
          </a:prstGeom>
          <a:solidFill>
            <a:srgbClr val="00A79D"/>
          </a:solidFill>
          <a:ln w="12700">
            <a:solidFill>
              <a:srgbClr val="FFFFFF">
                <a:alpha val="0"/>
              </a:srgbClr>
            </a:solidFill>
            <a:prstDash val="solid"/>
          </a:ln>
        </p:spPr>
      </p:sp>
      <p:sp>
        <p:nvSpPr>
          <p:cNvPr id="29" name="Text 27"/>
          <p:cNvSpPr txBox="1"/>
          <p:nvPr/>
        </p:nvSpPr>
        <p:spPr>
          <a:xfrm>
            <a:off x="6967728" y="4041648"/>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Soumya</a:t>
            </a:r>
            <a:endParaRPr lang="en-US" sz="1500" dirty="0"/>
          </a:p>
        </p:txBody>
      </p:sp>
      <p:sp>
        <p:nvSpPr>
          <p:cNvPr id="30" name="Text 28"/>
          <p:cNvSpPr txBox="1"/>
          <p:nvPr/>
        </p:nvSpPr>
        <p:spPr>
          <a:xfrm>
            <a:off x="6967728" y="4315968"/>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Team coordination and presentation</a:t>
            </a:r>
            <a:endParaRPr lang="en-US" sz="1150" dirty="0"/>
          </a:p>
        </p:txBody>
      </p:sp>
      <p:sp>
        <p:nvSpPr>
          <p:cNvPr id="31" name="Shape 29"/>
          <p:cNvSpPr/>
          <p:nvPr/>
        </p:nvSpPr>
        <p:spPr>
          <a:xfrm>
            <a:off x="658368" y="4965192"/>
            <a:ext cx="5074920" cy="822960"/>
          </a:xfrm>
          <a:prstGeom prst="roundRect">
            <a:avLst>
              <a:gd name="adj" fmla="val 17778"/>
            </a:avLst>
          </a:prstGeom>
          <a:solidFill>
            <a:srgbClr val="EAF2FF"/>
          </a:solidFill>
          <a:ln w="12700">
            <a:solidFill>
              <a:srgbClr val="EAF2FF">
                <a:alpha val="0"/>
              </a:srgbClr>
            </a:solidFill>
            <a:prstDash val="solid"/>
          </a:ln>
        </p:spPr>
      </p:sp>
      <p:sp>
        <p:nvSpPr>
          <p:cNvPr id="32" name="Shape 30"/>
          <p:cNvSpPr/>
          <p:nvPr/>
        </p:nvSpPr>
        <p:spPr>
          <a:xfrm>
            <a:off x="841248" y="5148072"/>
            <a:ext cx="438912" cy="438912"/>
          </a:xfrm>
          <a:prstGeom prst="ellipse">
            <a:avLst/>
          </a:prstGeom>
          <a:solidFill>
            <a:srgbClr val="2E65C5"/>
          </a:solidFill>
          <a:ln w="12700">
            <a:solidFill>
              <a:srgbClr val="FFFFFF">
                <a:alpha val="0"/>
              </a:srgbClr>
            </a:solidFill>
            <a:prstDash val="solid"/>
          </a:ln>
        </p:spPr>
      </p:sp>
      <p:sp>
        <p:nvSpPr>
          <p:cNvPr id="33" name="Text 31"/>
          <p:cNvSpPr txBox="1"/>
          <p:nvPr/>
        </p:nvSpPr>
        <p:spPr>
          <a:xfrm>
            <a:off x="1435608" y="5102352"/>
            <a:ext cx="3611880" cy="210312"/>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Sweta Singh</a:t>
            </a:r>
            <a:endParaRPr lang="en-US" sz="1500" dirty="0"/>
          </a:p>
        </p:txBody>
      </p:sp>
      <p:sp>
        <p:nvSpPr>
          <p:cNvPr id="34" name="Text 32"/>
          <p:cNvSpPr txBox="1"/>
          <p:nvPr/>
        </p:nvSpPr>
        <p:spPr>
          <a:xfrm>
            <a:off x="1435608" y="5376672"/>
            <a:ext cx="3977640" cy="228600"/>
          </a:xfrm>
          <a:prstGeom prst="rect">
            <a:avLst/>
          </a:prstGeom>
          <a:noFill/>
          <a:ln/>
        </p:spPr>
        <p:txBody>
          <a:bodyPr wrap="square" lIns="0" tIns="0" rIns="0" bIns="0" rtlCol="0" anchor="ctr">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Course linkage and project explanation</a:t>
            </a:r>
            <a:endParaRPr lang="en-US" sz="1150" dirty="0"/>
          </a:p>
        </p:txBody>
      </p:sp>
      <p:sp>
        <p:nvSpPr>
          <p:cNvPr id="35" name="Text 33"/>
          <p:cNvSpPr txBox="1"/>
          <p:nvPr/>
        </p:nvSpPr>
        <p:spPr>
          <a:xfrm>
            <a:off x="658368" y="6099048"/>
            <a:ext cx="10789920" cy="210312"/>
          </a:xfrm>
          <a:prstGeom prst="rect">
            <a:avLst/>
          </a:prstGeom>
          <a:noFill/>
          <a:ln/>
        </p:spPr>
        <p:txBody>
          <a:bodyPr wrap="square" lIns="0" tIns="0" rIns="0" bIns="0" rtlCol="0" anchor="ctr">
            <a:normAutofit/>
          </a:bodyPr>
          <a:lstStyle/>
          <a:p>
            <a:pPr algn="l" indent="0" marL="0">
              <a:buNone/>
            </a:pPr>
            <a:r>
              <a:rPr lang="en-US" sz="1100" i="1" dirty="0">
                <a:solidFill>
                  <a:srgbClr val="63738D"/>
                </a:solidFill>
                <a:latin typeface="Arial" pitchFamily="34" charset="0"/>
                <a:ea typeface="Arial" pitchFamily="34" charset="-122"/>
                <a:cs typeface="Arial" pitchFamily="34" charset="-120"/>
              </a:rPr>
              <a:t>Contact details are intentionally excluded. Responsibilities describe planning and demonstration ownership, not system permissions.</a:t>
            </a:r>
            <a:endParaRPr lang="en-US" sz="1100" dirty="0"/>
          </a:p>
        </p:txBody>
      </p:sp>
    </p:spTree>
  </p:cSld>
  <p:clrMapOvr>
    <a:masterClrMapping/>
  </p:clrMapOvr>
  <p:transition spd="med" advClick="1">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PROGRAM STATEMENT</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A transparent evidence-to-decision capstone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3</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58368" y="1353312"/>
            <a:ext cx="10881360" cy="987552"/>
          </a:xfrm>
          <a:prstGeom prst="roundRect">
            <a:avLst>
              <a:gd name="adj" fmla="val 14815"/>
            </a:avLst>
          </a:prstGeom>
          <a:solidFill>
            <a:srgbClr val="173C78"/>
          </a:solidFill>
          <a:ln w="12700">
            <a:solidFill>
              <a:srgbClr val="173C78">
                <a:alpha val="0"/>
              </a:srgbClr>
            </a:solidFill>
            <a:prstDash val="solid"/>
          </a:ln>
        </p:spPr>
      </p:sp>
      <p:sp>
        <p:nvSpPr>
          <p:cNvPr id="7" name="Text 5"/>
          <p:cNvSpPr txBox="1"/>
          <p:nvPr/>
        </p:nvSpPr>
        <p:spPr>
          <a:xfrm>
            <a:off x="914400" y="1600200"/>
            <a:ext cx="10378440" cy="502920"/>
          </a:xfrm>
          <a:prstGeom prst="rect">
            <a:avLst/>
          </a:prstGeom>
          <a:noFill/>
          <a:ln/>
        </p:spPr>
        <p:txBody>
          <a:bodyPr wrap="square" lIns="0" tIns="0" rIns="0" bIns="0" rtlCol="0" anchor="ctr">
            <a:normAutofit/>
          </a:bodyPr>
          <a:lstStyle/>
          <a:p>
            <a:pPr algn="ctr" indent="0" marL="0">
              <a:buNone/>
            </a:pPr>
            <a:r>
              <a:rPr lang="en-US" sz="1900" b="1" dirty="0">
                <a:solidFill>
                  <a:srgbClr val="FFFFFF"/>
                </a:solidFill>
                <a:latin typeface="Arial" pitchFamily="34" charset="0"/>
                <a:ea typeface="Arial" pitchFamily="34" charset="-122"/>
                <a:cs typeface="Arial" pitchFamily="34" charset="-120"/>
              </a:rPr>
              <a:t>Design and demonstrate a fictional AML investigation workflow where every report claim can be traced to supplied material, every limitation is visible, and every workflow action remains a named human decision.</a:t>
            </a:r>
            <a:endParaRPr lang="en-US" sz="1900" dirty="0"/>
          </a:p>
        </p:txBody>
      </p:sp>
      <p:sp>
        <p:nvSpPr>
          <p:cNvPr id="8" name="Shape 6"/>
          <p:cNvSpPr/>
          <p:nvPr/>
        </p:nvSpPr>
        <p:spPr>
          <a:xfrm>
            <a:off x="713232" y="2788920"/>
            <a:ext cx="5175504" cy="896112"/>
          </a:xfrm>
          <a:prstGeom prst="roundRect">
            <a:avLst>
              <a:gd name="adj" fmla="val 16327"/>
            </a:avLst>
          </a:prstGeom>
          <a:solidFill>
            <a:srgbClr val="102B51"/>
          </a:solidFill>
          <a:ln w="12700">
            <a:solidFill>
              <a:srgbClr val="102B51">
                <a:alpha val="0"/>
              </a:srgbClr>
            </a:solidFill>
            <a:prstDash val="solid"/>
          </a:ln>
        </p:spPr>
      </p:sp>
      <p:sp>
        <p:nvSpPr>
          <p:cNvPr id="9" name="Text 7"/>
          <p:cNvSpPr txBox="1"/>
          <p:nvPr/>
        </p:nvSpPr>
        <p:spPr>
          <a:xfrm>
            <a:off x="932688" y="2953512"/>
            <a:ext cx="1417320" cy="173736"/>
          </a:xfrm>
          <a:prstGeom prst="rect">
            <a:avLst/>
          </a:prstGeom>
          <a:noFill/>
          <a:ln/>
        </p:spPr>
        <p:txBody>
          <a:bodyPr wrap="square" lIns="0" tIns="0" rIns="0" bIns="0" rtlCol="0" anchor="ctr">
            <a:normAutofit/>
          </a:bodyPr>
          <a:lstStyle/>
          <a:p>
            <a:pPr algn="l" indent="0" marL="0">
              <a:buNone/>
            </a:pPr>
            <a:r>
              <a:rPr lang="en-US" sz="1300" b="1" dirty="0">
                <a:solidFill>
                  <a:srgbClr val="78DCD4"/>
                </a:solidFill>
                <a:latin typeface="Arial" pitchFamily="34" charset="0"/>
                <a:ea typeface="Arial" pitchFamily="34" charset="-122"/>
                <a:cs typeface="Arial" pitchFamily="34" charset="-120"/>
              </a:rPr>
              <a:t>Problem</a:t>
            </a:r>
            <a:endParaRPr lang="en-US" sz="1300" dirty="0"/>
          </a:p>
        </p:txBody>
      </p:sp>
      <p:sp>
        <p:nvSpPr>
          <p:cNvPr id="10" name="Text 8"/>
          <p:cNvSpPr txBox="1"/>
          <p:nvPr/>
        </p:nvSpPr>
        <p:spPr>
          <a:xfrm>
            <a:off x="932688" y="3227832"/>
            <a:ext cx="4663440" cy="237744"/>
          </a:xfrm>
          <a:prstGeom prst="rect">
            <a:avLst/>
          </a:prstGeom>
          <a:noFill/>
          <a:ln/>
        </p:spPr>
        <p:txBody>
          <a:bodyPr wrap="square" lIns="0" tIns="0" rIns="0" bIns="0" rtlCol="0" anchor="t">
            <a:normAutofit/>
          </a:bodyPr>
          <a:lstStyle/>
          <a:p>
            <a:pPr algn="l" indent="0" marL="0">
              <a:buNone/>
            </a:pPr>
            <a:r>
              <a:rPr lang="en-US" sz="1140" dirty="0">
                <a:solidFill>
                  <a:srgbClr val="DDEBFF"/>
                </a:solidFill>
                <a:latin typeface="Arial" pitchFamily="34" charset="0"/>
                <a:ea typeface="Arial" pitchFamily="34" charset="-122"/>
                <a:cs typeface="Arial" pitchFamily="34" charset="-120"/>
              </a:rPr>
              <a:t>An alert alone lacks proof, context, and an accountable next step.</a:t>
            </a:r>
            <a:endParaRPr lang="en-US" sz="1140" dirty="0"/>
          </a:p>
        </p:txBody>
      </p:sp>
      <p:sp>
        <p:nvSpPr>
          <p:cNvPr id="11" name="Shape 9"/>
          <p:cNvSpPr/>
          <p:nvPr/>
        </p:nvSpPr>
        <p:spPr>
          <a:xfrm>
            <a:off x="6199632" y="2788920"/>
            <a:ext cx="5175504" cy="896112"/>
          </a:xfrm>
          <a:prstGeom prst="roundRect">
            <a:avLst>
              <a:gd name="adj" fmla="val 16327"/>
            </a:avLst>
          </a:prstGeom>
          <a:solidFill>
            <a:srgbClr val="102B51"/>
          </a:solidFill>
          <a:ln w="12700">
            <a:solidFill>
              <a:srgbClr val="102B51">
                <a:alpha val="0"/>
              </a:srgbClr>
            </a:solidFill>
            <a:prstDash val="solid"/>
          </a:ln>
        </p:spPr>
      </p:sp>
      <p:sp>
        <p:nvSpPr>
          <p:cNvPr id="12" name="Text 10"/>
          <p:cNvSpPr txBox="1"/>
          <p:nvPr/>
        </p:nvSpPr>
        <p:spPr>
          <a:xfrm>
            <a:off x="6419088" y="2953512"/>
            <a:ext cx="1417320" cy="173736"/>
          </a:xfrm>
          <a:prstGeom prst="rect">
            <a:avLst/>
          </a:prstGeom>
          <a:noFill/>
          <a:ln/>
        </p:spPr>
        <p:txBody>
          <a:bodyPr wrap="square" lIns="0" tIns="0" rIns="0" bIns="0" rtlCol="0" anchor="ctr">
            <a:normAutofit/>
          </a:bodyPr>
          <a:lstStyle/>
          <a:p>
            <a:pPr algn="l" indent="0" marL="0">
              <a:buNone/>
            </a:pPr>
            <a:r>
              <a:rPr lang="en-US" sz="1300" b="1" dirty="0">
                <a:solidFill>
                  <a:srgbClr val="78DCD4"/>
                </a:solidFill>
                <a:latin typeface="Arial" pitchFamily="34" charset="0"/>
                <a:ea typeface="Arial" pitchFamily="34" charset="-122"/>
                <a:cs typeface="Arial" pitchFamily="34" charset="-120"/>
              </a:rPr>
              <a:t>Program outcome</a:t>
            </a:r>
            <a:endParaRPr lang="en-US" sz="1300" dirty="0"/>
          </a:p>
        </p:txBody>
      </p:sp>
      <p:sp>
        <p:nvSpPr>
          <p:cNvPr id="13" name="Text 11"/>
          <p:cNvSpPr txBox="1"/>
          <p:nvPr/>
        </p:nvSpPr>
        <p:spPr>
          <a:xfrm>
            <a:off x="6419088" y="3227832"/>
            <a:ext cx="4663440" cy="237744"/>
          </a:xfrm>
          <a:prstGeom prst="rect">
            <a:avLst/>
          </a:prstGeom>
          <a:noFill/>
          <a:ln/>
        </p:spPr>
        <p:txBody>
          <a:bodyPr wrap="square" lIns="0" tIns="0" rIns="0" bIns="0" rtlCol="0" anchor="t">
            <a:normAutofit/>
          </a:bodyPr>
          <a:lstStyle/>
          <a:p>
            <a:pPr algn="l" indent="0" marL="0">
              <a:buNone/>
            </a:pPr>
            <a:r>
              <a:rPr lang="en-US" sz="1140" dirty="0">
                <a:solidFill>
                  <a:srgbClr val="DDEBFF"/>
                </a:solidFill>
                <a:latin typeface="Arial" pitchFamily="34" charset="0"/>
                <a:ea typeface="Arial" pitchFamily="34" charset="-122"/>
                <a:cs typeface="Arial" pitchFamily="34" charset="-120"/>
              </a:rPr>
              <a:t>Traceable evidence, bounded assistance, auditable human review.</a:t>
            </a:r>
            <a:endParaRPr lang="en-US" sz="1140" dirty="0"/>
          </a:p>
        </p:txBody>
      </p:sp>
      <p:sp>
        <p:nvSpPr>
          <p:cNvPr id="14" name="Shape 12"/>
          <p:cNvSpPr/>
          <p:nvPr/>
        </p:nvSpPr>
        <p:spPr>
          <a:xfrm>
            <a:off x="713232" y="4023360"/>
            <a:ext cx="5175504" cy="896112"/>
          </a:xfrm>
          <a:prstGeom prst="roundRect">
            <a:avLst>
              <a:gd name="adj" fmla="val 16327"/>
            </a:avLst>
          </a:prstGeom>
          <a:solidFill>
            <a:srgbClr val="173C78"/>
          </a:solidFill>
          <a:ln w="12700">
            <a:solidFill>
              <a:srgbClr val="173C78">
                <a:alpha val="0"/>
              </a:srgbClr>
            </a:solidFill>
            <a:prstDash val="solid"/>
          </a:ln>
        </p:spPr>
      </p:sp>
      <p:sp>
        <p:nvSpPr>
          <p:cNvPr id="15" name="Text 13"/>
          <p:cNvSpPr txBox="1"/>
          <p:nvPr/>
        </p:nvSpPr>
        <p:spPr>
          <a:xfrm>
            <a:off x="932688" y="4187952"/>
            <a:ext cx="1417320" cy="173736"/>
          </a:xfrm>
          <a:prstGeom prst="rect">
            <a:avLst/>
          </a:prstGeom>
          <a:noFill/>
          <a:ln/>
        </p:spPr>
        <p:txBody>
          <a:bodyPr wrap="square" lIns="0" tIns="0" rIns="0" bIns="0" rtlCol="0" anchor="ctr">
            <a:normAutofit/>
          </a:bodyPr>
          <a:lstStyle/>
          <a:p>
            <a:pPr algn="l" indent="0" marL="0">
              <a:buNone/>
            </a:pPr>
            <a:r>
              <a:rPr lang="en-US" sz="1300" b="1" dirty="0">
                <a:solidFill>
                  <a:srgbClr val="78DCD4"/>
                </a:solidFill>
                <a:latin typeface="Arial" pitchFamily="34" charset="0"/>
                <a:ea typeface="Arial" pitchFamily="34" charset="-122"/>
                <a:cs typeface="Arial" pitchFamily="34" charset="-120"/>
              </a:rPr>
              <a:t>Success measures</a:t>
            </a:r>
            <a:endParaRPr lang="en-US" sz="1300" dirty="0"/>
          </a:p>
        </p:txBody>
      </p:sp>
      <p:sp>
        <p:nvSpPr>
          <p:cNvPr id="16" name="Text 14"/>
          <p:cNvSpPr txBox="1"/>
          <p:nvPr/>
        </p:nvSpPr>
        <p:spPr>
          <a:xfrm>
            <a:off x="932688" y="4462272"/>
            <a:ext cx="4663440" cy="237744"/>
          </a:xfrm>
          <a:prstGeom prst="rect">
            <a:avLst/>
          </a:prstGeom>
          <a:noFill/>
          <a:ln/>
        </p:spPr>
        <p:txBody>
          <a:bodyPr wrap="square" lIns="0" tIns="0" rIns="0" bIns="0" rtlCol="0" anchor="t">
            <a:normAutofit/>
          </a:bodyPr>
          <a:lstStyle/>
          <a:p>
            <a:pPr algn="l" indent="0" marL="0">
              <a:buNone/>
            </a:pPr>
            <a:r>
              <a:rPr lang="en-US" sz="1140" dirty="0">
                <a:solidFill>
                  <a:srgbClr val="DDEBFF"/>
                </a:solidFill>
                <a:latin typeface="Arial" pitchFamily="34" charset="0"/>
                <a:ea typeface="Arial" pitchFamily="34" charset="-122"/>
                <a:cs typeface="Arial" pitchFamily="34" charset="-120"/>
              </a:rPr>
              <a:t>Source traceability, visible gaps, clear workflow states, required rationale.</a:t>
            </a:r>
            <a:endParaRPr lang="en-US" sz="1140" dirty="0"/>
          </a:p>
        </p:txBody>
      </p:sp>
      <p:sp>
        <p:nvSpPr>
          <p:cNvPr id="17" name="Shape 15"/>
          <p:cNvSpPr/>
          <p:nvPr/>
        </p:nvSpPr>
        <p:spPr>
          <a:xfrm>
            <a:off x="6199632" y="4023360"/>
            <a:ext cx="5175504" cy="896112"/>
          </a:xfrm>
          <a:prstGeom prst="roundRect">
            <a:avLst>
              <a:gd name="adj" fmla="val 16327"/>
            </a:avLst>
          </a:prstGeom>
          <a:solidFill>
            <a:srgbClr val="173C78"/>
          </a:solidFill>
          <a:ln w="12700">
            <a:solidFill>
              <a:srgbClr val="173C78">
                <a:alpha val="0"/>
              </a:srgbClr>
            </a:solidFill>
            <a:prstDash val="solid"/>
          </a:ln>
        </p:spPr>
      </p:sp>
      <p:sp>
        <p:nvSpPr>
          <p:cNvPr id="18" name="Text 16"/>
          <p:cNvSpPr txBox="1"/>
          <p:nvPr/>
        </p:nvSpPr>
        <p:spPr>
          <a:xfrm>
            <a:off x="6419088" y="4187952"/>
            <a:ext cx="1417320" cy="173736"/>
          </a:xfrm>
          <a:prstGeom prst="rect">
            <a:avLst/>
          </a:prstGeom>
          <a:noFill/>
          <a:ln/>
        </p:spPr>
        <p:txBody>
          <a:bodyPr wrap="square" lIns="0" tIns="0" rIns="0" bIns="0" rtlCol="0" anchor="ctr">
            <a:normAutofit/>
          </a:bodyPr>
          <a:lstStyle/>
          <a:p>
            <a:pPr algn="l" indent="0" marL="0">
              <a:buNone/>
            </a:pPr>
            <a:r>
              <a:rPr lang="en-US" sz="1300" b="1" dirty="0">
                <a:solidFill>
                  <a:srgbClr val="78DCD4"/>
                </a:solidFill>
                <a:latin typeface="Arial" pitchFamily="34" charset="0"/>
                <a:ea typeface="Arial" pitchFamily="34" charset="-122"/>
                <a:cs typeface="Arial" pitchFamily="34" charset="-120"/>
              </a:rPr>
              <a:t>Non-goals</a:t>
            </a:r>
            <a:endParaRPr lang="en-US" sz="1300" dirty="0"/>
          </a:p>
        </p:txBody>
      </p:sp>
      <p:sp>
        <p:nvSpPr>
          <p:cNvPr id="19" name="Text 17"/>
          <p:cNvSpPr txBox="1"/>
          <p:nvPr/>
        </p:nvSpPr>
        <p:spPr>
          <a:xfrm>
            <a:off x="6419088" y="4462272"/>
            <a:ext cx="4663440" cy="237744"/>
          </a:xfrm>
          <a:prstGeom prst="rect">
            <a:avLst/>
          </a:prstGeom>
          <a:noFill/>
          <a:ln/>
        </p:spPr>
        <p:txBody>
          <a:bodyPr wrap="square" lIns="0" tIns="0" rIns="0" bIns="0" rtlCol="0" anchor="t">
            <a:normAutofit/>
          </a:bodyPr>
          <a:lstStyle/>
          <a:p>
            <a:pPr algn="l" indent="0" marL="0">
              <a:buNone/>
            </a:pPr>
            <a:r>
              <a:rPr lang="en-US" sz="1140" dirty="0">
                <a:solidFill>
                  <a:srgbClr val="DDEBFF"/>
                </a:solidFill>
                <a:latin typeface="Arial" pitchFamily="34" charset="0"/>
                <a:ea typeface="Arial" pitchFamily="34" charset="-122"/>
                <a:cs typeface="Arial" pitchFamily="34" charset="-120"/>
              </a:rPr>
              <a:t>No real data, autonomous decision, legal conclusion, or external filing.</a:t>
            </a:r>
            <a:endParaRPr lang="en-US" sz="1140" dirty="0"/>
          </a:p>
        </p:txBody>
      </p:sp>
    </p:spTree>
  </p:cSld>
  <p:clrMapOvr>
    <a:masterClrMapping/>
  </p:clrMapOvr>
  <p:transition spd="med" advClick="1">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THE PROBLEM</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An alert alone does not make a case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4</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Text 4"/>
          <p:cNvSpPr txBox="1"/>
          <p:nvPr/>
        </p:nvSpPr>
        <p:spPr>
          <a:xfrm>
            <a:off x="640080" y="1417320"/>
            <a:ext cx="4709160" cy="1024128"/>
          </a:xfrm>
          <a:prstGeom prst="rect">
            <a:avLst/>
          </a:prstGeom>
          <a:noFill/>
          <a:ln/>
        </p:spPr>
        <p:txBody>
          <a:bodyPr wrap="square" lIns="0" tIns="0" rIns="0" bIns="0" rtlCol="0" anchor="t">
            <a:normAutofit/>
          </a:bodyPr>
          <a:lstStyle/>
          <a:p>
            <a:pPr algn="l" indent="0" marL="0">
              <a:buNone/>
            </a:pPr>
            <a:r>
              <a:rPr lang="en-US" sz="2200" dirty="0">
                <a:solidFill>
                  <a:srgbClr val="DDEBFF"/>
                </a:solidFill>
                <a:latin typeface="Arial" pitchFamily="34" charset="0"/>
                <a:ea typeface="Arial" pitchFamily="34" charset="-122"/>
                <a:cs typeface="Arial" pitchFamily="34" charset="-120"/>
              </a:rPr>
              <a:t>Investigators need to connect a monitoring signal with the source records, the missing evidence, the draft explanation, and the accountable next action.</a:t>
            </a:r>
            <a:endParaRPr lang="en-US" sz="2200" dirty="0"/>
          </a:p>
        </p:txBody>
      </p:sp>
      <p:sp>
        <p:nvSpPr>
          <p:cNvPr id="7" name="Shape 5"/>
          <p:cNvSpPr/>
          <p:nvPr/>
        </p:nvSpPr>
        <p:spPr>
          <a:xfrm>
            <a:off x="841248" y="2788920"/>
            <a:ext cx="438912" cy="438912"/>
          </a:xfrm>
          <a:prstGeom prst="ellipse">
            <a:avLst/>
          </a:prstGeom>
          <a:solidFill>
            <a:srgbClr val="447FE1"/>
          </a:solidFill>
          <a:ln w="12700">
            <a:solidFill>
              <a:srgbClr val="447FE1">
                <a:alpha val="0"/>
              </a:srgbClr>
            </a:solidFill>
            <a:prstDash val="solid"/>
          </a:ln>
        </p:spPr>
      </p:sp>
      <p:sp>
        <p:nvSpPr>
          <p:cNvPr id="8" name="Text 6"/>
          <p:cNvSpPr txBox="1"/>
          <p:nvPr/>
        </p:nvSpPr>
        <p:spPr>
          <a:xfrm>
            <a:off x="1527048" y="28072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Alert metadata</a:t>
            </a:r>
            <a:endParaRPr lang="en-US" sz="1500" dirty="0"/>
          </a:p>
        </p:txBody>
      </p:sp>
      <p:sp>
        <p:nvSpPr>
          <p:cNvPr id="9" name="Shape 7"/>
          <p:cNvSpPr/>
          <p:nvPr/>
        </p:nvSpPr>
        <p:spPr>
          <a:xfrm>
            <a:off x="841248" y="3611880"/>
            <a:ext cx="438912" cy="438912"/>
          </a:xfrm>
          <a:prstGeom prst="ellipse">
            <a:avLst/>
          </a:prstGeom>
          <a:solidFill>
            <a:srgbClr val="00A79D"/>
          </a:solidFill>
          <a:ln w="12700">
            <a:solidFill>
              <a:srgbClr val="00A79D">
                <a:alpha val="0"/>
              </a:srgbClr>
            </a:solidFill>
            <a:prstDash val="solid"/>
          </a:ln>
        </p:spPr>
      </p:sp>
      <p:sp>
        <p:nvSpPr>
          <p:cNvPr id="10" name="Text 8"/>
          <p:cNvSpPr txBox="1"/>
          <p:nvPr/>
        </p:nvSpPr>
        <p:spPr>
          <a:xfrm>
            <a:off x="1527048" y="363016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Source records</a:t>
            </a:r>
            <a:endParaRPr lang="en-US" sz="1500" dirty="0"/>
          </a:p>
        </p:txBody>
      </p:sp>
      <p:sp>
        <p:nvSpPr>
          <p:cNvPr id="11" name="Shape 9"/>
          <p:cNvSpPr/>
          <p:nvPr/>
        </p:nvSpPr>
        <p:spPr>
          <a:xfrm>
            <a:off x="841248" y="4434840"/>
            <a:ext cx="438912" cy="438912"/>
          </a:xfrm>
          <a:prstGeom prst="ellipse">
            <a:avLst/>
          </a:prstGeom>
          <a:solidFill>
            <a:srgbClr val="C68600"/>
          </a:solidFill>
          <a:ln w="12700">
            <a:solidFill>
              <a:srgbClr val="C68600">
                <a:alpha val="0"/>
              </a:srgbClr>
            </a:solidFill>
            <a:prstDash val="solid"/>
          </a:ln>
        </p:spPr>
      </p:sp>
      <p:sp>
        <p:nvSpPr>
          <p:cNvPr id="12" name="Text 10"/>
          <p:cNvSpPr txBox="1"/>
          <p:nvPr/>
        </p:nvSpPr>
        <p:spPr>
          <a:xfrm>
            <a:off x="1527048" y="445312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Human rationale</a:t>
            </a:r>
            <a:endParaRPr lang="en-US" sz="1500" dirty="0"/>
          </a:p>
        </p:txBody>
      </p:sp>
      <p:sp>
        <p:nvSpPr>
          <p:cNvPr id="13" name="Shape 11"/>
          <p:cNvSpPr/>
          <p:nvPr/>
        </p:nvSpPr>
        <p:spPr>
          <a:xfrm>
            <a:off x="5486400" y="1261872"/>
            <a:ext cx="6089904" cy="3465576"/>
          </a:xfrm>
          <a:prstGeom prst="roundRect">
            <a:avLst>
              <a:gd name="adj" fmla="val 4222"/>
            </a:avLst>
          </a:prstGeom>
          <a:solidFill>
            <a:srgbClr val="D9E7FC"/>
          </a:solidFill>
          <a:ln w="12700">
            <a:solidFill>
              <a:srgbClr val="D9E7FC">
                <a:alpha val="0"/>
              </a:srgbClr>
            </a:solidFill>
            <a:prstDash val="solid"/>
          </a:ln>
        </p:spPr>
      </p:sp>
      <p:pic>
        <p:nvPicPr>
          <p:cNvPr id="14" name="Image 0" descr="C:\D\IIT Mumbai\Capstone Blueprint\assets\walkthrough_screens\2026_case_queue_table.png">    </p:cNvPr>
          <p:cNvPicPr>
            <a:picLocks noChangeAspect="1"/>
          </p:cNvPicPr>
          <p:nvPr/>
        </p:nvPicPr>
        <p:blipFill>
          <a:blip r:embed="rId1"/>
          <a:stretch>
            <a:fillRect/>
          </a:stretch>
        </p:blipFill>
        <p:spPr>
          <a:xfrm>
            <a:off x="5532120" y="1307592"/>
            <a:ext cx="5998464" cy="3374136"/>
          </a:xfrm>
          <a:prstGeom prst="rect">
            <a:avLst/>
          </a:prstGeom>
        </p:spPr>
      </p:pic>
      <p:sp>
        <p:nvSpPr>
          <p:cNvPr id="15" name="Text 12"/>
          <p:cNvSpPr txBox="1"/>
          <p:nvPr/>
        </p:nvSpPr>
        <p:spPr>
          <a:xfrm>
            <a:off x="5532120" y="4983480"/>
            <a:ext cx="5669280" cy="457200"/>
          </a:xfrm>
          <a:prstGeom prst="rect">
            <a:avLst/>
          </a:prstGeom>
          <a:noFill/>
          <a:ln/>
        </p:spPr>
        <p:txBody>
          <a:bodyPr wrap="square" lIns="0" tIns="0" rIns="0" bIns="0" rtlCol="0" anchor="ctr">
            <a:normAutofit/>
          </a:bodyPr>
          <a:lstStyle/>
          <a:p>
            <a:pPr algn="l" indent="0" marL="0">
              <a:buNone/>
            </a:pPr>
            <a:r>
              <a:rPr lang="en-US" sz="1600" dirty="0">
                <a:solidFill>
                  <a:srgbClr val="C8D9F3"/>
                </a:solidFill>
                <a:latin typeface="Arial" pitchFamily="34" charset="0"/>
                <a:ea typeface="Arial" pitchFamily="34" charset="-122"/>
                <a:cs typeface="Arial" pitchFamily="34" charset="-120"/>
              </a:rPr>
              <a:t>InvestigateIQ keeps the queue, evidence, report, and human action connected on one product path.</a:t>
            </a:r>
            <a:endParaRPr lang="en-US" sz="1600" dirty="0"/>
          </a:p>
        </p:txBody>
      </p:sp>
    </p:spTree>
  </p:cSld>
  <p:clrMapOvr>
    <a:masterClrMapping/>
  </p:clrMapOvr>
  <p:transition spd="med" advClick="1">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PRODUCT WORKFLOW</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One case follows a visible evidence trail</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5</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02920" y="2240280"/>
            <a:ext cx="1965960" cy="1874520"/>
          </a:xfrm>
          <a:prstGeom prst="roundRect">
            <a:avLst>
              <a:gd name="adj" fmla="val 7805"/>
            </a:avLst>
          </a:prstGeom>
          <a:solidFill>
            <a:srgbClr val="FFFFFF"/>
          </a:solidFill>
          <a:ln w="12700">
            <a:solidFill>
              <a:srgbClr val="FFFFFF">
                <a:alpha val="0"/>
              </a:srgbClr>
            </a:solidFill>
            <a:prstDash val="solid"/>
          </a:ln>
        </p:spPr>
      </p:sp>
      <p:sp>
        <p:nvSpPr>
          <p:cNvPr id="7" name="Shape 5"/>
          <p:cNvSpPr/>
          <p:nvPr/>
        </p:nvSpPr>
        <p:spPr>
          <a:xfrm>
            <a:off x="667512" y="2450592"/>
            <a:ext cx="438912" cy="438912"/>
          </a:xfrm>
          <a:prstGeom prst="ellipse">
            <a:avLst/>
          </a:prstGeom>
          <a:solidFill>
            <a:srgbClr val="2E65C5"/>
          </a:solidFill>
          <a:ln w="12700">
            <a:solidFill>
              <a:srgbClr val="FFFFFF">
                <a:alpha val="0"/>
              </a:srgbClr>
            </a:solidFill>
            <a:prstDash val="solid"/>
          </a:ln>
        </p:spPr>
      </p:sp>
      <p:sp>
        <p:nvSpPr>
          <p:cNvPr id="8" name="Text 6"/>
          <p:cNvSpPr txBox="1"/>
          <p:nvPr/>
        </p:nvSpPr>
        <p:spPr>
          <a:xfrm>
            <a:off x="66751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9" name="Text 7"/>
          <p:cNvSpPr txBox="1"/>
          <p:nvPr/>
        </p:nvSpPr>
        <p:spPr>
          <a:xfrm>
            <a:off x="66751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Case Queue</a:t>
            </a:r>
            <a:endParaRPr lang="en-US" sz="1600" dirty="0"/>
          </a:p>
        </p:txBody>
      </p:sp>
      <p:sp>
        <p:nvSpPr>
          <p:cNvPr id="10" name="Text 8"/>
          <p:cNvSpPr txBox="1"/>
          <p:nvPr/>
        </p:nvSpPr>
        <p:spPr>
          <a:xfrm>
            <a:off x="66751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Find the fictional alert</a:t>
            </a:r>
            <a:endParaRPr lang="en-US" sz="1150" dirty="0"/>
          </a:p>
        </p:txBody>
      </p:sp>
      <p:sp>
        <p:nvSpPr>
          <p:cNvPr id="11" name="Shape 9"/>
          <p:cNvSpPr/>
          <p:nvPr/>
        </p:nvSpPr>
        <p:spPr>
          <a:xfrm>
            <a:off x="2496312" y="3172968"/>
            <a:ext cx="256032" cy="0"/>
          </a:xfrm>
          <a:prstGeom prst="line">
            <a:avLst/>
          </a:prstGeom>
          <a:noFill/>
          <a:ln w="25400">
            <a:solidFill>
              <a:srgbClr val="00A79D"/>
            </a:solidFill>
            <a:prstDash val="solid"/>
            <a:headEnd type="none"/>
            <a:tailEnd type="triangle"/>
          </a:ln>
        </p:spPr>
      </p:sp>
      <p:sp>
        <p:nvSpPr>
          <p:cNvPr id="12" name="Shape 10"/>
          <p:cNvSpPr/>
          <p:nvPr/>
        </p:nvSpPr>
        <p:spPr>
          <a:xfrm>
            <a:off x="2834640" y="2240280"/>
            <a:ext cx="1965960" cy="1874520"/>
          </a:xfrm>
          <a:prstGeom prst="roundRect">
            <a:avLst>
              <a:gd name="adj" fmla="val 7805"/>
            </a:avLst>
          </a:prstGeom>
          <a:solidFill>
            <a:srgbClr val="FFFFFF"/>
          </a:solidFill>
          <a:ln w="12700">
            <a:solidFill>
              <a:srgbClr val="FFFFFF">
                <a:alpha val="0"/>
              </a:srgbClr>
            </a:solidFill>
            <a:prstDash val="solid"/>
          </a:ln>
        </p:spPr>
      </p:sp>
      <p:sp>
        <p:nvSpPr>
          <p:cNvPr id="13" name="Shape 11"/>
          <p:cNvSpPr/>
          <p:nvPr/>
        </p:nvSpPr>
        <p:spPr>
          <a:xfrm>
            <a:off x="2999232" y="2450592"/>
            <a:ext cx="438912" cy="438912"/>
          </a:xfrm>
          <a:prstGeom prst="ellipse">
            <a:avLst/>
          </a:prstGeom>
          <a:solidFill>
            <a:srgbClr val="2E65C5"/>
          </a:solidFill>
          <a:ln w="12700">
            <a:solidFill>
              <a:srgbClr val="FFFFFF">
                <a:alpha val="0"/>
              </a:srgbClr>
            </a:solidFill>
            <a:prstDash val="solid"/>
          </a:ln>
        </p:spPr>
      </p:sp>
      <p:sp>
        <p:nvSpPr>
          <p:cNvPr id="14" name="Text 12"/>
          <p:cNvSpPr txBox="1"/>
          <p:nvPr/>
        </p:nvSpPr>
        <p:spPr>
          <a:xfrm>
            <a:off x="299923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299923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Workspace</a:t>
            </a:r>
            <a:endParaRPr lang="en-US" sz="1600" dirty="0"/>
          </a:p>
        </p:txBody>
      </p:sp>
      <p:sp>
        <p:nvSpPr>
          <p:cNvPr id="16" name="Text 14"/>
          <p:cNvSpPr txBox="1"/>
          <p:nvPr/>
        </p:nvSpPr>
        <p:spPr>
          <a:xfrm>
            <a:off x="299923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Build or replay the review</a:t>
            </a:r>
            <a:endParaRPr lang="en-US" sz="1150" dirty="0"/>
          </a:p>
        </p:txBody>
      </p:sp>
      <p:sp>
        <p:nvSpPr>
          <p:cNvPr id="17" name="Shape 15"/>
          <p:cNvSpPr/>
          <p:nvPr/>
        </p:nvSpPr>
        <p:spPr>
          <a:xfrm>
            <a:off x="4828032" y="3172968"/>
            <a:ext cx="256032" cy="0"/>
          </a:xfrm>
          <a:prstGeom prst="line">
            <a:avLst/>
          </a:prstGeom>
          <a:noFill/>
          <a:ln w="25400">
            <a:solidFill>
              <a:srgbClr val="00A79D"/>
            </a:solidFill>
            <a:prstDash val="solid"/>
            <a:headEnd type="none"/>
            <a:tailEnd type="triangle"/>
          </a:ln>
        </p:spPr>
      </p:sp>
      <p:sp>
        <p:nvSpPr>
          <p:cNvPr id="18" name="Shape 16"/>
          <p:cNvSpPr/>
          <p:nvPr/>
        </p:nvSpPr>
        <p:spPr>
          <a:xfrm>
            <a:off x="5166360" y="2240280"/>
            <a:ext cx="1965960" cy="1874520"/>
          </a:xfrm>
          <a:prstGeom prst="roundRect">
            <a:avLst>
              <a:gd name="adj" fmla="val 7805"/>
            </a:avLst>
          </a:prstGeom>
          <a:solidFill>
            <a:srgbClr val="E6F8F6"/>
          </a:solidFill>
          <a:ln w="12700">
            <a:solidFill>
              <a:srgbClr val="E6F8F6">
                <a:alpha val="0"/>
              </a:srgbClr>
            </a:solidFill>
            <a:prstDash val="solid"/>
          </a:ln>
        </p:spPr>
      </p:sp>
      <p:sp>
        <p:nvSpPr>
          <p:cNvPr id="19" name="Shape 17"/>
          <p:cNvSpPr/>
          <p:nvPr/>
        </p:nvSpPr>
        <p:spPr>
          <a:xfrm>
            <a:off x="5330952" y="2450592"/>
            <a:ext cx="438912" cy="438912"/>
          </a:xfrm>
          <a:prstGeom prst="ellipse">
            <a:avLst/>
          </a:prstGeom>
          <a:solidFill>
            <a:srgbClr val="00A79D"/>
          </a:solidFill>
          <a:ln w="12700">
            <a:solidFill>
              <a:srgbClr val="FFFFFF">
                <a:alpha val="0"/>
              </a:srgbClr>
            </a:solidFill>
            <a:prstDash val="solid"/>
          </a:ln>
        </p:spPr>
      </p:sp>
      <p:sp>
        <p:nvSpPr>
          <p:cNvPr id="20" name="Text 18"/>
          <p:cNvSpPr txBox="1"/>
          <p:nvPr/>
        </p:nvSpPr>
        <p:spPr>
          <a:xfrm>
            <a:off x="533095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21" name="Text 19"/>
          <p:cNvSpPr txBox="1"/>
          <p:nvPr/>
        </p:nvSpPr>
        <p:spPr>
          <a:xfrm>
            <a:off x="533095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Evidence &amp; RAG</a:t>
            </a:r>
            <a:endParaRPr lang="en-US" sz="1600" dirty="0"/>
          </a:p>
        </p:txBody>
      </p:sp>
      <p:sp>
        <p:nvSpPr>
          <p:cNvPr id="22" name="Text 20"/>
          <p:cNvSpPr txBox="1"/>
          <p:nvPr/>
        </p:nvSpPr>
        <p:spPr>
          <a:xfrm>
            <a:off x="533095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Read exact source material</a:t>
            </a:r>
            <a:endParaRPr lang="en-US" sz="1150" dirty="0"/>
          </a:p>
        </p:txBody>
      </p:sp>
      <p:sp>
        <p:nvSpPr>
          <p:cNvPr id="23" name="Shape 21"/>
          <p:cNvSpPr/>
          <p:nvPr/>
        </p:nvSpPr>
        <p:spPr>
          <a:xfrm>
            <a:off x="7159752" y="3172968"/>
            <a:ext cx="256032" cy="0"/>
          </a:xfrm>
          <a:prstGeom prst="line">
            <a:avLst/>
          </a:prstGeom>
          <a:noFill/>
          <a:ln w="25400">
            <a:solidFill>
              <a:srgbClr val="00A79D"/>
            </a:solidFill>
            <a:prstDash val="solid"/>
            <a:headEnd type="none"/>
            <a:tailEnd type="triangle"/>
          </a:ln>
        </p:spPr>
      </p:sp>
      <p:sp>
        <p:nvSpPr>
          <p:cNvPr id="24" name="Shape 22"/>
          <p:cNvSpPr/>
          <p:nvPr/>
        </p:nvSpPr>
        <p:spPr>
          <a:xfrm>
            <a:off x="7498080" y="2240280"/>
            <a:ext cx="1965960" cy="1874520"/>
          </a:xfrm>
          <a:prstGeom prst="roundRect">
            <a:avLst>
              <a:gd name="adj" fmla="val 7805"/>
            </a:avLst>
          </a:prstGeom>
          <a:solidFill>
            <a:srgbClr val="FFFFFF"/>
          </a:solidFill>
          <a:ln w="12700">
            <a:solidFill>
              <a:srgbClr val="FFFFFF">
                <a:alpha val="0"/>
              </a:srgbClr>
            </a:solidFill>
            <a:prstDash val="solid"/>
          </a:ln>
        </p:spPr>
      </p:sp>
      <p:sp>
        <p:nvSpPr>
          <p:cNvPr id="25" name="Shape 23"/>
          <p:cNvSpPr/>
          <p:nvPr/>
        </p:nvSpPr>
        <p:spPr>
          <a:xfrm>
            <a:off x="7662672" y="2450592"/>
            <a:ext cx="438912" cy="438912"/>
          </a:xfrm>
          <a:prstGeom prst="ellipse">
            <a:avLst/>
          </a:prstGeom>
          <a:solidFill>
            <a:srgbClr val="2E65C5"/>
          </a:solidFill>
          <a:ln w="12700">
            <a:solidFill>
              <a:srgbClr val="FFFFFF">
                <a:alpha val="0"/>
              </a:srgbClr>
            </a:solidFill>
            <a:prstDash val="solid"/>
          </a:ln>
        </p:spPr>
      </p:sp>
      <p:sp>
        <p:nvSpPr>
          <p:cNvPr id="26" name="Text 24"/>
          <p:cNvSpPr txBox="1"/>
          <p:nvPr/>
        </p:nvSpPr>
        <p:spPr>
          <a:xfrm>
            <a:off x="766267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4</a:t>
            </a:r>
            <a:endParaRPr lang="en-US" sz="1000" dirty="0"/>
          </a:p>
        </p:txBody>
      </p:sp>
      <p:sp>
        <p:nvSpPr>
          <p:cNvPr id="27" name="Text 25"/>
          <p:cNvSpPr txBox="1"/>
          <p:nvPr/>
        </p:nvSpPr>
        <p:spPr>
          <a:xfrm>
            <a:off x="766267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Human action</a:t>
            </a:r>
            <a:endParaRPr lang="en-US" sz="1600" dirty="0"/>
          </a:p>
        </p:txBody>
      </p:sp>
      <p:sp>
        <p:nvSpPr>
          <p:cNvPr id="28" name="Text 26"/>
          <p:cNvSpPr txBox="1"/>
          <p:nvPr/>
        </p:nvSpPr>
        <p:spPr>
          <a:xfrm>
            <a:off x="766267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Record a rationale</a:t>
            </a:r>
            <a:endParaRPr lang="en-US" sz="1150" dirty="0"/>
          </a:p>
        </p:txBody>
      </p:sp>
      <p:sp>
        <p:nvSpPr>
          <p:cNvPr id="29" name="Shape 27"/>
          <p:cNvSpPr/>
          <p:nvPr/>
        </p:nvSpPr>
        <p:spPr>
          <a:xfrm>
            <a:off x="9491472" y="3172968"/>
            <a:ext cx="256032" cy="0"/>
          </a:xfrm>
          <a:prstGeom prst="line">
            <a:avLst/>
          </a:prstGeom>
          <a:noFill/>
          <a:ln w="25400">
            <a:solidFill>
              <a:srgbClr val="00A79D"/>
            </a:solidFill>
            <a:prstDash val="solid"/>
            <a:headEnd type="none"/>
            <a:tailEnd type="triangle"/>
          </a:ln>
        </p:spPr>
      </p:sp>
      <p:sp>
        <p:nvSpPr>
          <p:cNvPr id="30" name="Shape 28"/>
          <p:cNvSpPr/>
          <p:nvPr/>
        </p:nvSpPr>
        <p:spPr>
          <a:xfrm>
            <a:off x="9829800" y="2240280"/>
            <a:ext cx="1965960" cy="1874520"/>
          </a:xfrm>
          <a:prstGeom prst="roundRect">
            <a:avLst>
              <a:gd name="adj" fmla="val 7805"/>
            </a:avLst>
          </a:prstGeom>
          <a:solidFill>
            <a:srgbClr val="FFFFFF"/>
          </a:solidFill>
          <a:ln w="12700">
            <a:solidFill>
              <a:srgbClr val="FFFFFF">
                <a:alpha val="0"/>
              </a:srgbClr>
            </a:solidFill>
            <a:prstDash val="solid"/>
          </a:ln>
        </p:spPr>
      </p:sp>
      <p:sp>
        <p:nvSpPr>
          <p:cNvPr id="31" name="Shape 29"/>
          <p:cNvSpPr/>
          <p:nvPr/>
        </p:nvSpPr>
        <p:spPr>
          <a:xfrm>
            <a:off x="9994392" y="2450592"/>
            <a:ext cx="438912" cy="438912"/>
          </a:xfrm>
          <a:prstGeom prst="ellipse">
            <a:avLst/>
          </a:prstGeom>
          <a:solidFill>
            <a:srgbClr val="2E65C5"/>
          </a:solidFill>
          <a:ln w="12700">
            <a:solidFill>
              <a:srgbClr val="FFFFFF">
                <a:alpha val="0"/>
              </a:srgbClr>
            </a:solidFill>
            <a:prstDash val="solid"/>
          </a:ln>
        </p:spPr>
      </p:sp>
      <p:sp>
        <p:nvSpPr>
          <p:cNvPr id="32" name="Text 30"/>
          <p:cNvSpPr txBox="1"/>
          <p:nvPr/>
        </p:nvSpPr>
        <p:spPr>
          <a:xfrm>
            <a:off x="9994392" y="2532888"/>
            <a:ext cx="438912" cy="146304"/>
          </a:xfrm>
          <a:prstGeom prst="rect">
            <a:avLst/>
          </a:prstGeom>
          <a:noFill/>
          <a:ln/>
        </p:spPr>
        <p:txBody>
          <a:bodyPr wrap="square" lIns="0" tIns="0" rIns="0" bIns="0" rtlCol="0" anchor="ctr">
            <a:normAutofit/>
          </a:bodyPr>
          <a:lstStyle/>
          <a:p>
            <a:pPr algn="ctr" indent="0" marL="0">
              <a:buNone/>
            </a:pPr>
            <a:r>
              <a:rPr lang="en-US" sz="1000" b="1" dirty="0">
                <a:solidFill>
                  <a:srgbClr val="FFFFFF"/>
                </a:solidFill>
                <a:latin typeface="Arial" pitchFamily="34" charset="0"/>
                <a:ea typeface="Arial" pitchFamily="34" charset="-122"/>
                <a:cs typeface="Arial" pitchFamily="34" charset="-120"/>
              </a:rPr>
              <a:t>5</a:t>
            </a:r>
            <a:endParaRPr lang="en-US" sz="1000" dirty="0"/>
          </a:p>
        </p:txBody>
      </p:sp>
      <p:sp>
        <p:nvSpPr>
          <p:cNvPr id="33" name="Text 31"/>
          <p:cNvSpPr txBox="1"/>
          <p:nvPr/>
        </p:nvSpPr>
        <p:spPr>
          <a:xfrm>
            <a:off x="9994392" y="3090672"/>
            <a:ext cx="1600200" cy="256032"/>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Compliance</a:t>
            </a:r>
            <a:endParaRPr lang="en-US" sz="1600" dirty="0"/>
          </a:p>
        </p:txBody>
      </p:sp>
      <p:sp>
        <p:nvSpPr>
          <p:cNvPr id="34" name="Text 32"/>
          <p:cNvSpPr txBox="1"/>
          <p:nvPr/>
        </p:nvSpPr>
        <p:spPr>
          <a:xfrm>
            <a:off x="9994392" y="3493008"/>
            <a:ext cx="1554480" cy="365760"/>
          </a:xfrm>
          <a:prstGeom prst="rect">
            <a:avLst/>
          </a:prstGeom>
          <a:noFill/>
          <a:ln/>
        </p:spPr>
        <p:txBody>
          <a:bodyPr wrap="square" lIns="0" tIns="0" rIns="0" bIns="0" rtlCol="0" anchor="t">
            <a:normAutofit/>
          </a:bodyPr>
          <a:lstStyle/>
          <a:p>
            <a:pPr algn="l" indent="0" marL="0">
              <a:buNone/>
            </a:pPr>
            <a:r>
              <a:rPr lang="en-US" sz="1150" dirty="0">
                <a:solidFill>
                  <a:srgbClr val="63738D"/>
                </a:solidFill>
                <a:latin typeface="Arial" pitchFamily="34" charset="0"/>
                <a:ea typeface="Arial" pitchFamily="34" charset="-122"/>
                <a:cs typeface="Arial" pitchFamily="34" charset="-120"/>
              </a:rPr>
              <a:t>Perform separate review</a:t>
            </a:r>
            <a:endParaRPr lang="en-US" sz="1150" dirty="0"/>
          </a:p>
        </p:txBody>
      </p:sp>
      <p:sp>
        <p:nvSpPr>
          <p:cNvPr id="35" name="Text 33"/>
          <p:cNvSpPr txBox="1"/>
          <p:nvPr/>
        </p:nvSpPr>
        <p:spPr>
          <a:xfrm>
            <a:off x="1234440" y="5047488"/>
            <a:ext cx="9738360" cy="310896"/>
          </a:xfrm>
          <a:prstGeom prst="rect">
            <a:avLst/>
          </a:prstGeom>
          <a:noFill/>
          <a:ln/>
        </p:spPr>
        <p:txBody>
          <a:bodyPr wrap="square" lIns="0" tIns="0" rIns="0" bIns="0" rtlCol="0" anchor="ctr">
            <a:normAutofit/>
          </a:bodyPr>
          <a:lstStyle/>
          <a:p>
            <a:pPr algn="ctr" indent="0" marL="0">
              <a:buNone/>
            </a:pPr>
            <a:r>
              <a:rPr lang="en-US" sz="1800" b="1" dirty="0">
                <a:solidFill>
                  <a:srgbClr val="0B1F3A"/>
                </a:solidFill>
                <a:latin typeface="Arial" pitchFamily="34" charset="0"/>
                <a:ea typeface="Arial" pitchFamily="34" charset="-122"/>
                <a:cs typeface="Arial" pitchFamily="34" charset="-120"/>
              </a:rPr>
              <a:t>The application supports investigation. It never submits, closes, escalates, or files an action automatically.</a:t>
            </a:r>
            <a:endParaRPr lang="en-US" sz="1800" dirty="0"/>
          </a:p>
        </p:txBody>
      </p:sp>
    </p:spTree>
  </p:cSld>
  <p:clrMapOvr>
    <a:masterClrMapping/>
  </p:clrMapOvr>
  <p:transition spd="med" advClick="1">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PRODUCT NAVIGATION</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The left navigation matches the investigation sequence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6</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80160"/>
            <a:ext cx="6583680" cy="3739896"/>
          </a:xfrm>
          <a:prstGeom prst="roundRect">
            <a:avLst>
              <a:gd name="adj" fmla="val 3912"/>
            </a:avLst>
          </a:prstGeom>
          <a:solidFill>
            <a:srgbClr val="D9E7FC"/>
          </a:solidFill>
          <a:ln w="12700">
            <a:solidFill>
              <a:srgbClr val="D9E7FC">
                <a:alpha val="0"/>
              </a:srgbClr>
            </a:solidFill>
            <a:prstDash val="solid"/>
          </a:ln>
        </p:spPr>
      </p:sp>
      <p:pic>
        <p:nvPicPr>
          <p:cNvPr id="7" name="Image 0" descr="C:\D\IIT Mumbai\Capstone Blueprint\assets\walkthrough_screens\2026_evidence_case_records.png">    </p:cNvPr>
          <p:cNvPicPr>
            <a:picLocks noChangeAspect="1"/>
          </p:cNvPicPr>
          <p:nvPr/>
        </p:nvPicPr>
        <p:blipFill>
          <a:blip r:embed="rId1"/>
          <a:stretch>
            <a:fillRect/>
          </a:stretch>
        </p:blipFill>
        <p:spPr>
          <a:xfrm>
            <a:off x="612648" y="1325880"/>
            <a:ext cx="6492240" cy="3648456"/>
          </a:xfrm>
          <a:prstGeom prst="rect">
            <a:avLst/>
          </a:prstGeom>
        </p:spPr>
      </p:pic>
      <p:sp>
        <p:nvSpPr>
          <p:cNvPr id="8" name="Text 5"/>
          <p:cNvSpPr txBox="1"/>
          <p:nvPr/>
        </p:nvSpPr>
        <p:spPr>
          <a:xfrm>
            <a:off x="7543800" y="1554480"/>
            <a:ext cx="3108960" cy="228600"/>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Core workspaces</a:t>
            </a:r>
            <a:endParaRPr lang="en-US" sz="1800" dirty="0"/>
          </a:p>
        </p:txBody>
      </p:sp>
      <p:sp>
        <p:nvSpPr>
          <p:cNvPr id="9" name="Shape 6"/>
          <p:cNvSpPr/>
          <p:nvPr/>
        </p:nvSpPr>
        <p:spPr>
          <a:xfrm>
            <a:off x="7589520" y="2011680"/>
            <a:ext cx="438912" cy="438912"/>
          </a:xfrm>
          <a:prstGeom prst="ellipse">
            <a:avLst/>
          </a:prstGeom>
          <a:solidFill>
            <a:srgbClr val="2E65C5"/>
          </a:solidFill>
          <a:ln w="12700">
            <a:solidFill>
              <a:srgbClr val="2E65C5">
                <a:alpha val="0"/>
              </a:srgbClr>
            </a:solidFill>
            <a:prstDash val="solid"/>
          </a:ln>
        </p:spPr>
      </p:sp>
      <p:sp>
        <p:nvSpPr>
          <p:cNvPr id="10" name="Text 7"/>
          <p:cNvSpPr txBox="1"/>
          <p:nvPr/>
        </p:nvSpPr>
        <p:spPr>
          <a:xfrm>
            <a:off x="8275320" y="202996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Home</a:t>
            </a:r>
            <a:endParaRPr lang="en-US" sz="1500" dirty="0"/>
          </a:p>
        </p:txBody>
      </p:sp>
      <p:sp>
        <p:nvSpPr>
          <p:cNvPr id="11" name="Text 8"/>
          <p:cNvSpPr txBox="1"/>
          <p:nvPr/>
        </p:nvSpPr>
        <p:spPr>
          <a:xfrm>
            <a:off x="8275320" y="235000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Workspace entry and product overview</a:t>
            </a:r>
            <a:endParaRPr lang="en-US" sz="1050" dirty="0"/>
          </a:p>
        </p:txBody>
      </p:sp>
      <p:sp>
        <p:nvSpPr>
          <p:cNvPr id="12" name="Shape 9"/>
          <p:cNvSpPr/>
          <p:nvPr/>
        </p:nvSpPr>
        <p:spPr>
          <a:xfrm>
            <a:off x="7589520" y="2651760"/>
            <a:ext cx="438912" cy="438912"/>
          </a:xfrm>
          <a:prstGeom prst="ellipse">
            <a:avLst/>
          </a:prstGeom>
          <a:solidFill>
            <a:srgbClr val="2E65C5"/>
          </a:solidFill>
          <a:ln w="12700">
            <a:solidFill>
              <a:srgbClr val="2E65C5">
                <a:alpha val="0"/>
              </a:srgbClr>
            </a:solidFill>
            <a:prstDash val="solid"/>
          </a:ln>
        </p:spPr>
      </p:sp>
      <p:sp>
        <p:nvSpPr>
          <p:cNvPr id="13" name="Text 10"/>
          <p:cNvSpPr txBox="1"/>
          <p:nvPr/>
        </p:nvSpPr>
        <p:spPr>
          <a:xfrm>
            <a:off x="8275320" y="267004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Case Queue</a:t>
            </a:r>
            <a:endParaRPr lang="en-US" sz="1500" dirty="0"/>
          </a:p>
        </p:txBody>
      </p:sp>
      <p:sp>
        <p:nvSpPr>
          <p:cNvPr id="14" name="Text 11"/>
          <p:cNvSpPr txBox="1"/>
          <p:nvPr/>
        </p:nvSpPr>
        <p:spPr>
          <a:xfrm>
            <a:off x="8275320" y="299008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Find and filter fictional alerts</a:t>
            </a:r>
            <a:endParaRPr lang="en-US" sz="1050" dirty="0"/>
          </a:p>
        </p:txBody>
      </p:sp>
      <p:sp>
        <p:nvSpPr>
          <p:cNvPr id="15" name="Shape 12"/>
          <p:cNvSpPr/>
          <p:nvPr/>
        </p:nvSpPr>
        <p:spPr>
          <a:xfrm>
            <a:off x="7589520" y="3291840"/>
            <a:ext cx="438912" cy="438912"/>
          </a:xfrm>
          <a:prstGeom prst="ellipse">
            <a:avLst/>
          </a:prstGeom>
          <a:solidFill>
            <a:srgbClr val="2E65C5"/>
          </a:solidFill>
          <a:ln w="12700">
            <a:solidFill>
              <a:srgbClr val="2E65C5">
                <a:alpha val="0"/>
              </a:srgbClr>
            </a:solidFill>
            <a:prstDash val="solid"/>
          </a:ln>
        </p:spPr>
      </p:sp>
      <p:sp>
        <p:nvSpPr>
          <p:cNvPr id="16" name="Text 13"/>
          <p:cNvSpPr txBox="1"/>
          <p:nvPr/>
        </p:nvSpPr>
        <p:spPr>
          <a:xfrm>
            <a:off x="8275320" y="331012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Investigation Workspace</a:t>
            </a:r>
            <a:endParaRPr lang="en-US" sz="1500" dirty="0"/>
          </a:p>
        </p:txBody>
      </p:sp>
      <p:sp>
        <p:nvSpPr>
          <p:cNvPr id="17" name="Text 14"/>
          <p:cNvSpPr txBox="1"/>
          <p:nvPr/>
        </p:nvSpPr>
        <p:spPr>
          <a:xfrm>
            <a:off x="8275320" y="363016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Read evidence and record an action</a:t>
            </a:r>
            <a:endParaRPr lang="en-US" sz="1050" dirty="0"/>
          </a:p>
        </p:txBody>
      </p:sp>
      <p:sp>
        <p:nvSpPr>
          <p:cNvPr id="18" name="Shape 15"/>
          <p:cNvSpPr/>
          <p:nvPr/>
        </p:nvSpPr>
        <p:spPr>
          <a:xfrm>
            <a:off x="7589520" y="3931920"/>
            <a:ext cx="438912" cy="438912"/>
          </a:xfrm>
          <a:prstGeom prst="ellipse">
            <a:avLst/>
          </a:prstGeom>
          <a:solidFill>
            <a:srgbClr val="00A79D"/>
          </a:solidFill>
          <a:ln w="12700">
            <a:solidFill>
              <a:srgbClr val="00A79D">
                <a:alpha val="0"/>
              </a:srgbClr>
            </a:solidFill>
            <a:prstDash val="solid"/>
          </a:ln>
        </p:spPr>
      </p:sp>
      <p:sp>
        <p:nvSpPr>
          <p:cNvPr id="19" name="Text 16"/>
          <p:cNvSpPr txBox="1"/>
          <p:nvPr/>
        </p:nvSpPr>
        <p:spPr>
          <a:xfrm>
            <a:off x="8275320" y="39502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Evidence &amp; RAG</a:t>
            </a:r>
            <a:endParaRPr lang="en-US" sz="1500" dirty="0"/>
          </a:p>
        </p:txBody>
      </p:sp>
      <p:sp>
        <p:nvSpPr>
          <p:cNvPr id="20" name="Text 17"/>
          <p:cNvSpPr txBox="1"/>
          <p:nvPr/>
        </p:nvSpPr>
        <p:spPr>
          <a:xfrm>
            <a:off x="8275320" y="427024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Inspect sources, chunks, and search</a:t>
            </a:r>
            <a:endParaRPr lang="en-US" sz="1050" dirty="0"/>
          </a:p>
        </p:txBody>
      </p:sp>
      <p:sp>
        <p:nvSpPr>
          <p:cNvPr id="21" name="Shape 18"/>
          <p:cNvSpPr/>
          <p:nvPr/>
        </p:nvSpPr>
        <p:spPr>
          <a:xfrm>
            <a:off x="7589520" y="4572000"/>
            <a:ext cx="438912" cy="438912"/>
          </a:xfrm>
          <a:prstGeom prst="ellipse">
            <a:avLst/>
          </a:prstGeom>
          <a:solidFill>
            <a:srgbClr val="2E65C5"/>
          </a:solidFill>
          <a:ln w="12700">
            <a:solidFill>
              <a:srgbClr val="2E65C5">
                <a:alpha val="0"/>
              </a:srgbClr>
            </a:solidFill>
            <a:prstDash val="solid"/>
          </a:ln>
        </p:spPr>
      </p:sp>
      <p:sp>
        <p:nvSpPr>
          <p:cNvPr id="22" name="Text 19"/>
          <p:cNvSpPr txBox="1"/>
          <p:nvPr/>
        </p:nvSpPr>
        <p:spPr>
          <a:xfrm>
            <a:off x="8275320" y="459028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Compliance / Analytics / Search</a:t>
            </a:r>
            <a:endParaRPr lang="en-US" sz="1500" dirty="0"/>
          </a:p>
        </p:txBody>
      </p:sp>
      <p:sp>
        <p:nvSpPr>
          <p:cNvPr id="23" name="Text 20"/>
          <p:cNvSpPr txBox="1"/>
          <p:nvPr/>
        </p:nvSpPr>
        <p:spPr>
          <a:xfrm>
            <a:off x="8275320" y="4910328"/>
            <a:ext cx="2834640" cy="164592"/>
          </a:xfrm>
          <a:prstGeom prst="rect">
            <a:avLst/>
          </a:prstGeom>
          <a:noFill/>
          <a:ln/>
        </p:spPr>
        <p:txBody>
          <a:bodyPr wrap="square" lIns="0" tIns="0" rIns="0" bIns="0" rtlCol="0" anchor="ctr">
            <a:normAutofit/>
          </a:bodyPr>
          <a:lstStyle/>
          <a:p>
            <a:pPr algn="l" indent="0" marL="0">
              <a:buNone/>
            </a:pPr>
            <a:r>
              <a:rPr lang="en-US" sz="1050" dirty="0">
                <a:solidFill>
                  <a:srgbClr val="63738D"/>
                </a:solidFill>
                <a:latin typeface="Arial" pitchFamily="34" charset="0"/>
                <a:ea typeface="Arial" pitchFamily="34" charset="-122"/>
                <a:cs typeface="Arial" pitchFamily="34" charset="-120"/>
              </a:rPr>
              <a:t>Second review, descriptive charts, context lookup</a:t>
            </a:r>
            <a:endParaRPr lang="en-US" sz="1050" dirty="0"/>
          </a:p>
        </p:txBody>
      </p:sp>
    </p:spTree>
  </p:cSld>
  <p:clrMapOvr>
    <a:masterClrMapping/>
  </p:clrMapOvr>
  <p:transition spd="med" advClick="1">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CASE QUEUE</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Stored alerts become a reviewable workload</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7</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80160"/>
            <a:ext cx="6766560" cy="3840480"/>
          </a:xfrm>
          <a:prstGeom prst="roundRect">
            <a:avLst>
              <a:gd name="adj" fmla="val 3810"/>
            </a:avLst>
          </a:prstGeom>
          <a:solidFill>
            <a:srgbClr val="D9E7FC"/>
          </a:solidFill>
          <a:ln w="12700">
            <a:solidFill>
              <a:srgbClr val="D9E7FC">
                <a:alpha val="0"/>
              </a:srgbClr>
            </a:solidFill>
            <a:prstDash val="solid"/>
          </a:ln>
        </p:spPr>
      </p:sp>
      <p:pic>
        <p:nvPicPr>
          <p:cNvPr id="7" name="Image 0" descr="C:\D\IIT Mumbai\Capstone Blueprint\assets\walkthrough_screens\2026_case_queue_table.png">    </p:cNvPr>
          <p:cNvPicPr>
            <a:picLocks noChangeAspect="1"/>
          </p:cNvPicPr>
          <p:nvPr/>
        </p:nvPicPr>
        <p:blipFill>
          <a:blip r:embed="rId1"/>
          <a:stretch>
            <a:fillRect/>
          </a:stretch>
        </p:blipFill>
        <p:spPr>
          <a:xfrm>
            <a:off x="612648" y="1325880"/>
            <a:ext cx="6675120" cy="3749040"/>
          </a:xfrm>
          <a:prstGeom prst="rect">
            <a:avLst/>
          </a:prstGeom>
        </p:spPr>
      </p:pic>
      <p:sp>
        <p:nvSpPr>
          <p:cNvPr id="8" name="Text 5"/>
          <p:cNvSpPr txBox="1"/>
          <p:nvPr/>
        </p:nvSpPr>
        <p:spPr>
          <a:xfrm>
            <a:off x="7699248" y="1508760"/>
            <a:ext cx="3337560" cy="274320"/>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What the queue separates</a:t>
            </a:r>
            <a:endParaRPr lang="en-US" sz="1900" dirty="0"/>
          </a:p>
        </p:txBody>
      </p:sp>
      <p:sp>
        <p:nvSpPr>
          <p:cNvPr id="9" name="Shape 6"/>
          <p:cNvSpPr/>
          <p:nvPr/>
        </p:nvSpPr>
        <p:spPr>
          <a:xfrm>
            <a:off x="7699248" y="2029968"/>
            <a:ext cx="3584448" cy="493776"/>
          </a:xfrm>
          <a:prstGeom prst="roundRect">
            <a:avLst>
              <a:gd name="adj" fmla="val 29630"/>
            </a:avLst>
          </a:prstGeom>
          <a:solidFill>
            <a:srgbClr val="173C78"/>
          </a:solidFill>
          <a:ln w="12700">
            <a:solidFill>
              <a:srgbClr val="173C78">
                <a:alpha val="0"/>
              </a:srgbClr>
            </a:solidFill>
            <a:prstDash val="solid"/>
          </a:ln>
        </p:spPr>
      </p:sp>
      <p:sp>
        <p:nvSpPr>
          <p:cNvPr id="10" name="Text 7"/>
          <p:cNvSpPr txBox="1"/>
          <p:nvPr/>
        </p:nvSpPr>
        <p:spPr>
          <a:xfrm>
            <a:off x="7891272" y="2139696"/>
            <a:ext cx="822960" cy="155448"/>
          </a:xfrm>
          <a:prstGeom prst="rect">
            <a:avLst/>
          </a:prstGeom>
          <a:noFill/>
          <a:ln/>
        </p:spPr>
        <p:txBody>
          <a:bodyPr wrap="square" lIns="0" tIns="0" rIns="0" bIns="0" rtlCol="0" anchor="ctr">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Severity</a:t>
            </a:r>
            <a:endParaRPr lang="en-US" sz="1250" dirty="0"/>
          </a:p>
        </p:txBody>
      </p:sp>
      <p:sp>
        <p:nvSpPr>
          <p:cNvPr id="11" name="Text 8"/>
          <p:cNvSpPr txBox="1"/>
          <p:nvPr/>
        </p:nvSpPr>
        <p:spPr>
          <a:xfrm>
            <a:off x="8732520" y="2112264"/>
            <a:ext cx="2331720" cy="201168"/>
          </a:xfrm>
          <a:prstGeom prst="rect">
            <a:avLst/>
          </a:prstGeom>
          <a:noFill/>
          <a:ln/>
        </p:spPr>
        <p:txBody>
          <a:bodyPr wrap="square" lIns="0" tIns="0" rIns="0" bIns="0" rtlCol="0" anchor="ctr">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Priority label from the fictional source</a:t>
            </a:r>
            <a:endParaRPr lang="en-US" sz="1060" dirty="0"/>
          </a:p>
        </p:txBody>
      </p:sp>
      <p:sp>
        <p:nvSpPr>
          <p:cNvPr id="12" name="Shape 9"/>
          <p:cNvSpPr/>
          <p:nvPr/>
        </p:nvSpPr>
        <p:spPr>
          <a:xfrm>
            <a:off x="7699248" y="2706624"/>
            <a:ext cx="3584448" cy="493776"/>
          </a:xfrm>
          <a:prstGeom prst="roundRect">
            <a:avLst>
              <a:gd name="adj" fmla="val 29630"/>
            </a:avLst>
          </a:prstGeom>
          <a:solidFill>
            <a:srgbClr val="173C78"/>
          </a:solidFill>
          <a:ln w="12700">
            <a:solidFill>
              <a:srgbClr val="173C78">
                <a:alpha val="0"/>
              </a:srgbClr>
            </a:solidFill>
            <a:prstDash val="solid"/>
          </a:ln>
        </p:spPr>
      </p:sp>
      <p:sp>
        <p:nvSpPr>
          <p:cNvPr id="13" name="Text 10"/>
          <p:cNvSpPr txBox="1"/>
          <p:nvPr/>
        </p:nvSpPr>
        <p:spPr>
          <a:xfrm>
            <a:off x="7891272" y="2816352"/>
            <a:ext cx="822960" cy="155448"/>
          </a:xfrm>
          <a:prstGeom prst="rect">
            <a:avLst/>
          </a:prstGeom>
          <a:noFill/>
          <a:ln/>
        </p:spPr>
        <p:txBody>
          <a:bodyPr wrap="square" lIns="0" tIns="0" rIns="0" bIns="0" rtlCol="0" anchor="ctr">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Status</a:t>
            </a:r>
            <a:endParaRPr lang="en-US" sz="1250" dirty="0"/>
          </a:p>
        </p:txBody>
      </p:sp>
      <p:sp>
        <p:nvSpPr>
          <p:cNvPr id="14" name="Text 11"/>
          <p:cNvSpPr txBox="1"/>
          <p:nvPr/>
        </p:nvSpPr>
        <p:spPr>
          <a:xfrm>
            <a:off x="8732520" y="2788920"/>
            <a:ext cx="2331720" cy="201168"/>
          </a:xfrm>
          <a:prstGeom prst="rect">
            <a:avLst/>
          </a:prstGeom>
          <a:noFill/>
          <a:ln/>
        </p:spPr>
        <p:txBody>
          <a:bodyPr wrap="square" lIns="0" tIns="0" rIns="0" bIns="0" rtlCol="0" anchor="ctr">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Current workflow state</a:t>
            </a:r>
            <a:endParaRPr lang="en-US" sz="1060" dirty="0"/>
          </a:p>
        </p:txBody>
      </p:sp>
      <p:sp>
        <p:nvSpPr>
          <p:cNvPr id="15" name="Shape 12"/>
          <p:cNvSpPr/>
          <p:nvPr/>
        </p:nvSpPr>
        <p:spPr>
          <a:xfrm>
            <a:off x="7699248" y="3383280"/>
            <a:ext cx="3584448" cy="493776"/>
          </a:xfrm>
          <a:prstGeom prst="roundRect">
            <a:avLst>
              <a:gd name="adj" fmla="val 29630"/>
            </a:avLst>
          </a:prstGeom>
          <a:solidFill>
            <a:srgbClr val="173C78"/>
          </a:solidFill>
          <a:ln w="12700">
            <a:solidFill>
              <a:srgbClr val="173C78">
                <a:alpha val="0"/>
              </a:srgbClr>
            </a:solidFill>
            <a:prstDash val="solid"/>
          </a:ln>
        </p:spPr>
      </p:sp>
      <p:sp>
        <p:nvSpPr>
          <p:cNvPr id="16" name="Text 13"/>
          <p:cNvSpPr txBox="1"/>
          <p:nvPr/>
        </p:nvSpPr>
        <p:spPr>
          <a:xfrm>
            <a:off x="7891272" y="3493008"/>
            <a:ext cx="822960" cy="155448"/>
          </a:xfrm>
          <a:prstGeom prst="rect">
            <a:avLst/>
          </a:prstGeom>
          <a:noFill/>
          <a:ln/>
        </p:spPr>
        <p:txBody>
          <a:bodyPr wrap="square" lIns="0" tIns="0" rIns="0" bIns="0" rtlCol="0" anchor="ctr">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Rule(s)</a:t>
            </a:r>
            <a:endParaRPr lang="en-US" sz="1250" dirty="0"/>
          </a:p>
        </p:txBody>
      </p:sp>
      <p:sp>
        <p:nvSpPr>
          <p:cNvPr id="17" name="Text 14"/>
          <p:cNvSpPr txBox="1"/>
          <p:nvPr/>
        </p:nvSpPr>
        <p:spPr>
          <a:xfrm>
            <a:off x="8732520" y="3465576"/>
            <a:ext cx="2331720" cy="201168"/>
          </a:xfrm>
          <a:prstGeom prst="rect">
            <a:avLst/>
          </a:prstGeom>
          <a:noFill/>
          <a:ln/>
        </p:spPr>
        <p:txBody>
          <a:bodyPr wrap="square" lIns="0" tIns="0" rIns="0" bIns="0" rtlCol="0" anchor="ctr">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Stored trigger metadata</a:t>
            </a:r>
            <a:endParaRPr lang="en-US" sz="1060" dirty="0"/>
          </a:p>
        </p:txBody>
      </p:sp>
      <p:sp>
        <p:nvSpPr>
          <p:cNvPr id="18" name="Shape 15"/>
          <p:cNvSpPr/>
          <p:nvPr/>
        </p:nvSpPr>
        <p:spPr>
          <a:xfrm>
            <a:off x="7699248" y="4059936"/>
            <a:ext cx="3584448" cy="493776"/>
          </a:xfrm>
          <a:prstGeom prst="roundRect">
            <a:avLst>
              <a:gd name="adj" fmla="val 29630"/>
            </a:avLst>
          </a:prstGeom>
          <a:solidFill>
            <a:srgbClr val="173C78"/>
          </a:solidFill>
          <a:ln w="12700">
            <a:solidFill>
              <a:srgbClr val="173C78">
                <a:alpha val="0"/>
              </a:srgbClr>
            </a:solidFill>
            <a:prstDash val="solid"/>
          </a:ln>
        </p:spPr>
      </p:sp>
      <p:sp>
        <p:nvSpPr>
          <p:cNvPr id="19" name="Text 16"/>
          <p:cNvSpPr txBox="1"/>
          <p:nvPr/>
        </p:nvSpPr>
        <p:spPr>
          <a:xfrm>
            <a:off x="7891272" y="4169664"/>
            <a:ext cx="822960" cy="155448"/>
          </a:xfrm>
          <a:prstGeom prst="rect">
            <a:avLst/>
          </a:prstGeom>
          <a:noFill/>
          <a:ln/>
        </p:spPr>
        <p:txBody>
          <a:bodyPr wrap="square" lIns="0" tIns="0" rIns="0" bIns="0" rtlCol="0" anchor="ctr">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Action</a:t>
            </a:r>
            <a:endParaRPr lang="en-US" sz="1250" dirty="0"/>
          </a:p>
        </p:txBody>
      </p:sp>
      <p:sp>
        <p:nvSpPr>
          <p:cNvPr id="20" name="Text 17"/>
          <p:cNvSpPr txBox="1"/>
          <p:nvPr/>
        </p:nvSpPr>
        <p:spPr>
          <a:xfrm>
            <a:off x="8732520" y="4142232"/>
            <a:ext cx="2331720" cy="201168"/>
          </a:xfrm>
          <a:prstGeom prst="rect">
            <a:avLst/>
          </a:prstGeom>
          <a:noFill/>
          <a:ln/>
        </p:spPr>
        <p:txBody>
          <a:bodyPr wrap="square" lIns="0" tIns="0" rIns="0" bIns="0" rtlCol="0" anchor="ctr">
            <a:normAutofit/>
          </a:bodyPr>
          <a:lstStyle/>
          <a:p>
            <a:pPr algn="l" indent="0" marL="0">
              <a:buNone/>
            </a:pPr>
            <a:r>
              <a:rPr lang="en-US" sz="1060" dirty="0">
                <a:solidFill>
                  <a:srgbClr val="DDEBFF"/>
                </a:solidFill>
                <a:latin typeface="Arial" pitchFamily="34" charset="0"/>
                <a:ea typeface="Arial" pitchFamily="34" charset="-122"/>
                <a:cs typeface="Arial" pitchFamily="34" charset="-120"/>
              </a:rPr>
              <a:t>Open a current case or inspect evidence</a:t>
            </a:r>
            <a:endParaRPr lang="en-US" sz="1060" dirty="0"/>
          </a:p>
        </p:txBody>
      </p:sp>
    </p:spTree>
  </p:cSld>
  <p:clrMapOvr>
    <a:masterClrMapping/>
  </p:clrMapOvr>
  <p:transition spd="med" advClick="1">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INVESTIGATION WORKSPACE</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The report stays connected to its evidence and limits</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8</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52728"/>
            <a:ext cx="6784848" cy="3858768"/>
          </a:xfrm>
          <a:prstGeom prst="roundRect">
            <a:avLst>
              <a:gd name="adj" fmla="val 3791"/>
            </a:avLst>
          </a:prstGeom>
          <a:solidFill>
            <a:srgbClr val="D9E7FC"/>
          </a:solidFill>
          <a:ln w="12700">
            <a:solidFill>
              <a:srgbClr val="D9E7FC">
                <a:alpha val="0"/>
              </a:srgbClr>
            </a:solidFill>
            <a:prstDash val="solid"/>
          </a:ln>
        </p:spPr>
      </p:sp>
      <p:pic>
        <p:nvPicPr>
          <p:cNvPr id="7" name="Image 0" descr="C:\D\IIT Mumbai\Capstone Blueprint\assets\walkthrough_screens\2026_workspace_current_report.png">    </p:cNvPr>
          <p:cNvPicPr>
            <a:picLocks noChangeAspect="1"/>
          </p:cNvPicPr>
          <p:nvPr/>
        </p:nvPicPr>
        <p:blipFill>
          <a:blip r:embed="rId1"/>
          <a:stretch>
            <a:fillRect/>
          </a:stretch>
        </p:blipFill>
        <p:spPr>
          <a:xfrm>
            <a:off x="612648" y="1298448"/>
            <a:ext cx="6693408" cy="3767328"/>
          </a:xfrm>
          <a:prstGeom prst="rect">
            <a:avLst/>
          </a:prstGeom>
        </p:spPr>
      </p:pic>
      <p:sp>
        <p:nvSpPr>
          <p:cNvPr id="8" name="Text 5"/>
          <p:cNvSpPr txBox="1"/>
          <p:nvPr/>
        </p:nvSpPr>
        <p:spPr>
          <a:xfrm>
            <a:off x="7680960" y="1481328"/>
            <a:ext cx="3200400" cy="228600"/>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Report controls</a:t>
            </a:r>
            <a:endParaRPr lang="en-US" sz="1800" dirty="0"/>
          </a:p>
        </p:txBody>
      </p:sp>
      <p:sp>
        <p:nvSpPr>
          <p:cNvPr id="9" name="Shape 6"/>
          <p:cNvSpPr/>
          <p:nvPr/>
        </p:nvSpPr>
        <p:spPr>
          <a:xfrm>
            <a:off x="7717536" y="2039112"/>
            <a:ext cx="438912" cy="438912"/>
          </a:xfrm>
          <a:prstGeom prst="ellipse">
            <a:avLst/>
          </a:prstGeom>
          <a:solidFill>
            <a:srgbClr val="2E65C5"/>
          </a:solidFill>
          <a:ln w="12700">
            <a:solidFill>
              <a:srgbClr val="2E65C5">
                <a:alpha val="0"/>
              </a:srgbClr>
            </a:solidFill>
            <a:prstDash val="solid"/>
          </a:ln>
        </p:spPr>
      </p:sp>
      <p:sp>
        <p:nvSpPr>
          <p:cNvPr id="10" name="Text 7"/>
          <p:cNvSpPr txBox="1"/>
          <p:nvPr/>
        </p:nvSpPr>
        <p:spPr>
          <a:xfrm>
            <a:off x="8403336" y="2057400"/>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Saved report</a:t>
            </a:r>
            <a:endParaRPr lang="en-US" sz="1500" dirty="0"/>
          </a:p>
        </p:txBody>
      </p:sp>
      <p:sp>
        <p:nvSpPr>
          <p:cNvPr id="11" name="Text 8"/>
          <p:cNvSpPr txBox="1"/>
          <p:nvPr/>
        </p:nvSpPr>
        <p:spPr>
          <a:xfrm>
            <a:off x="8394192" y="2377440"/>
            <a:ext cx="2651760" cy="164592"/>
          </a:xfrm>
          <a:prstGeom prst="rect">
            <a:avLst/>
          </a:prstGeom>
          <a:noFill/>
          <a:ln/>
        </p:spPr>
        <p:txBody>
          <a:bodyPr wrap="square" lIns="0" tIns="0" rIns="0" bIns="0" rtlCol="0" anchor="ctr">
            <a:normAutofit/>
          </a:bodyPr>
          <a:lstStyle/>
          <a:p>
            <a:pPr algn="l" indent="0" marL="0">
              <a:buNone/>
            </a:pPr>
            <a:r>
              <a:rPr lang="en-US" sz="1100" dirty="0">
                <a:solidFill>
                  <a:srgbClr val="63738D"/>
                </a:solidFill>
                <a:latin typeface="Arial" pitchFamily="34" charset="0"/>
                <a:ea typeface="Arial" pitchFamily="34" charset="-122"/>
                <a:cs typeface="Arial" pitchFamily="34" charset="-120"/>
              </a:rPr>
              <a:t>Repeatable historical snapshot</a:t>
            </a:r>
            <a:endParaRPr lang="en-US" sz="1100" dirty="0"/>
          </a:p>
        </p:txBody>
      </p:sp>
      <p:sp>
        <p:nvSpPr>
          <p:cNvPr id="12" name="Shape 9"/>
          <p:cNvSpPr/>
          <p:nvPr/>
        </p:nvSpPr>
        <p:spPr>
          <a:xfrm>
            <a:off x="7717536" y="2825496"/>
            <a:ext cx="438912" cy="438912"/>
          </a:xfrm>
          <a:prstGeom prst="ellipse">
            <a:avLst/>
          </a:prstGeom>
          <a:solidFill>
            <a:srgbClr val="2E65C5"/>
          </a:solidFill>
          <a:ln w="12700">
            <a:solidFill>
              <a:srgbClr val="2E65C5">
                <a:alpha val="0"/>
              </a:srgbClr>
            </a:solidFill>
            <a:prstDash val="solid"/>
          </a:ln>
        </p:spPr>
      </p:sp>
      <p:sp>
        <p:nvSpPr>
          <p:cNvPr id="13" name="Text 10"/>
          <p:cNvSpPr txBox="1"/>
          <p:nvPr/>
        </p:nvSpPr>
        <p:spPr>
          <a:xfrm>
            <a:off x="8403336" y="2843784"/>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Calculated mode</a:t>
            </a:r>
            <a:endParaRPr lang="en-US" sz="1500" dirty="0"/>
          </a:p>
        </p:txBody>
      </p:sp>
      <p:sp>
        <p:nvSpPr>
          <p:cNvPr id="14" name="Text 11"/>
          <p:cNvSpPr txBox="1"/>
          <p:nvPr/>
        </p:nvSpPr>
        <p:spPr>
          <a:xfrm>
            <a:off x="8394192" y="3163824"/>
            <a:ext cx="2651760" cy="164592"/>
          </a:xfrm>
          <a:prstGeom prst="rect">
            <a:avLst/>
          </a:prstGeom>
          <a:noFill/>
          <a:ln/>
        </p:spPr>
        <p:txBody>
          <a:bodyPr wrap="square" lIns="0" tIns="0" rIns="0" bIns="0" rtlCol="0" anchor="ctr">
            <a:normAutofit/>
          </a:bodyPr>
          <a:lstStyle/>
          <a:p>
            <a:pPr algn="l" indent="0" marL="0">
              <a:buNone/>
            </a:pPr>
            <a:r>
              <a:rPr lang="en-US" sz="1100" dirty="0">
                <a:solidFill>
                  <a:srgbClr val="63738D"/>
                </a:solidFill>
                <a:latin typeface="Arial" pitchFamily="34" charset="0"/>
                <a:ea typeface="Arial" pitchFamily="34" charset="-122"/>
                <a:cs typeface="Arial" pitchFamily="34" charset="-120"/>
              </a:rPr>
              <a:t>Current stored fictional rows</a:t>
            </a:r>
            <a:endParaRPr lang="en-US" sz="1100" dirty="0"/>
          </a:p>
        </p:txBody>
      </p:sp>
      <p:sp>
        <p:nvSpPr>
          <p:cNvPr id="15" name="Shape 12"/>
          <p:cNvSpPr/>
          <p:nvPr/>
        </p:nvSpPr>
        <p:spPr>
          <a:xfrm>
            <a:off x="7717536" y="3611880"/>
            <a:ext cx="438912" cy="438912"/>
          </a:xfrm>
          <a:prstGeom prst="ellipse">
            <a:avLst/>
          </a:prstGeom>
          <a:solidFill>
            <a:srgbClr val="B97800"/>
          </a:solidFill>
          <a:ln w="12700">
            <a:solidFill>
              <a:srgbClr val="B97800">
                <a:alpha val="0"/>
              </a:srgbClr>
            </a:solidFill>
            <a:prstDash val="solid"/>
          </a:ln>
        </p:spPr>
      </p:sp>
      <p:sp>
        <p:nvSpPr>
          <p:cNvPr id="16" name="Text 13"/>
          <p:cNvSpPr txBox="1"/>
          <p:nvPr/>
        </p:nvSpPr>
        <p:spPr>
          <a:xfrm>
            <a:off x="8403336" y="363016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Validator</a:t>
            </a:r>
            <a:endParaRPr lang="en-US" sz="1500" dirty="0"/>
          </a:p>
        </p:txBody>
      </p:sp>
      <p:sp>
        <p:nvSpPr>
          <p:cNvPr id="17" name="Text 14"/>
          <p:cNvSpPr txBox="1"/>
          <p:nvPr/>
        </p:nvSpPr>
        <p:spPr>
          <a:xfrm>
            <a:off x="8394192" y="3950208"/>
            <a:ext cx="2651760" cy="164592"/>
          </a:xfrm>
          <a:prstGeom prst="rect">
            <a:avLst/>
          </a:prstGeom>
          <a:noFill/>
          <a:ln/>
        </p:spPr>
        <p:txBody>
          <a:bodyPr wrap="square" lIns="0" tIns="0" rIns="0" bIns="0" rtlCol="0" anchor="ctr">
            <a:normAutofit/>
          </a:bodyPr>
          <a:lstStyle/>
          <a:p>
            <a:pPr algn="l" indent="0" marL="0">
              <a:buNone/>
            </a:pPr>
            <a:r>
              <a:rPr lang="en-US" sz="1100" dirty="0">
                <a:solidFill>
                  <a:srgbClr val="63738D"/>
                </a:solidFill>
                <a:latin typeface="Arial" pitchFamily="34" charset="0"/>
                <a:ea typeface="Arial" pitchFamily="34" charset="-122"/>
                <a:cs typeface="Arial" pitchFamily="34" charset="-120"/>
              </a:rPr>
              <a:t>Records notes before a decision</a:t>
            </a:r>
            <a:endParaRPr lang="en-US" sz="1100" dirty="0"/>
          </a:p>
        </p:txBody>
      </p:sp>
    </p:spTree>
  </p:cSld>
  <p:clrMapOvr>
    <a:masterClrMapping/>
  </p:clrMapOvr>
  <p:transition spd="med" advClick="1">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RESPONSIBLE AI</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Evidence confidence makes support gaps visible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9</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34440"/>
            <a:ext cx="6812280" cy="3877056"/>
          </a:xfrm>
          <a:prstGeom prst="roundRect">
            <a:avLst>
              <a:gd name="adj" fmla="val 3774"/>
            </a:avLst>
          </a:prstGeom>
          <a:solidFill>
            <a:srgbClr val="D9E7FC"/>
          </a:solidFill>
          <a:ln w="12700">
            <a:solidFill>
              <a:srgbClr val="D9E7FC">
                <a:alpha val="0"/>
              </a:srgbClr>
            </a:solidFill>
            <a:prstDash val="solid"/>
          </a:ln>
        </p:spPr>
      </p:sp>
      <p:pic>
        <p:nvPicPr>
          <p:cNvPr id="7" name="Image 0" descr="C:\D\IIT Mumbai\Capstone Blueprint\assets\walkthrough_screens\2026_workspace_confidence.png">    </p:cNvPr>
          <p:cNvPicPr>
            <a:picLocks noChangeAspect="1"/>
          </p:cNvPicPr>
          <p:nvPr/>
        </p:nvPicPr>
        <p:blipFill>
          <a:blip r:embed="rId1"/>
          <a:stretch>
            <a:fillRect/>
          </a:stretch>
        </p:blipFill>
        <p:spPr>
          <a:xfrm>
            <a:off x="612648" y="1280160"/>
            <a:ext cx="6720840" cy="3785616"/>
          </a:xfrm>
          <a:prstGeom prst="rect">
            <a:avLst/>
          </a:prstGeom>
        </p:spPr>
      </p:pic>
      <p:sp>
        <p:nvSpPr>
          <p:cNvPr id="8" name="Text 5"/>
          <p:cNvSpPr txBox="1"/>
          <p:nvPr/>
        </p:nvSpPr>
        <p:spPr>
          <a:xfrm>
            <a:off x="7726680" y="1618488"/>
            <a:ext cx="3108960" cy="566928"/>
          </a:xfrm>
          <a:prstGeom prst="rect">
            <a:avLst/>
          </a:prstGeom>
          <a:noFill/>
          <a:ln/>
        </p:spPr>
        <p:txBody>
          <a:bodyPr wrap="square" lIns="0" tIns="0" rIns="0" bIns="0" rtlCol="0" anchor="ctr">
            <a:normAutofit/>
          </a:bodyPr>
          <a:lstStyle/>
          <a:p>
            <a:pPr algn="l" indent="0" marL="0">
              <a:buNone/>
            </a:pPr>
            <a:r>
              <a:rPr lang="en-US" sz="3800" b="1" dirty="0">
                <a:solidFill>
                  <a:srgbClr val="78DCD4"/>
                </a:solidFill>
                <a:latin typeface="Arial" pitchFamily="34" charset="0"/>
                <a:ea typeface="Arial" pitchFamily="34" charset="-122"/>
                <a:cs typeface="Arial" pitchFamily="34" charset="-120"/>
              </a:rPr>
              <a:t>45 / 100</a:t>
            </a:r>
            <a:endParaRPr lang="en-US" sz="3800" dirty="0"/>
          </a:p>
        </p:txBody>
      </p:sp>
      <p:sp>
        <p:nvSpPr>
          <p:cNvPr id="9" name="Text 6"/>
          <p:cNvSpPr txBox="1"/>
          <p:nvPr/>
        </p:nvSpPr>
        <p:spPr>
          <a:xfrm>
            <a:off x="7744968" y="2221992"/>
            <a:ext cx="3337560" cy="256032"/>
          </a:xfrm>
          <a:prstGeom prst="rect">
            <a:avLst/>
          </a:prstGeom>
          <a:noFill/>
          <a:ln/>
        </p:spPr>
        <p:txBody>
          <a:bodyPr wrap="square" lIns="0" tIns="0" rIns="0" bIns="0" rtlCol="0" anchor="ctr">
            <a:normAutofit/>
          </a:bodyPr>
          <a:lstStyle/>
          <a:p>
            <a:pPr algn="l" indent="0" marL="0">
              <a:buNone/>
            </a:pPr>
            <a:r>
              <a:rPr lang="en-US" sz="1200" dirty="0">
                <a:solidFill>
                  <a:srgbClr val="C8D9F3"/>
                </a:solidFill>
                <a:latin typeface="Arial" pitchFamily="34" charset="0"/>
                <a:ea typeface="Arial" pitchFamily="34" charset="-122"/>
                <a:cs typeface="Arial" pitchFamily="34" charset="-120"/>
              </a:rPr>
              <a:t>Example support score shown in the product</a:t>
            </a:r>
            <a:endParaRPr lang="en-US" sz="1200" dirty="0"/>
          </a:p>
        </p:txBody>
      </p:sp>
      <p:sp>
        <p:nvSpPr>
          <p:cNvPr id="10" name="Shape 7"/>
          <p:cNvSpPr/>
          <p:nvPr/>
        </p:nvSpPr>
        <p:spPr>
          <a:xfrm>
            <a:off x="7726680" y="2743200"/>
            <a:ext cx="3520440" cy="466344"/>
          </a:xfrm>
          <a:prstGeom prst="roundRect">
            <a:avLst>
              <a:gd name="adj" fmla="val 31373"/>
            </a:avLst>
          </a:prstGeom>
          <a:solidFill>
            <a:srgbClr val="173C78"/>
          </a:solidFill>
          <a:ln w="12700">
            <a:solidFill>
              <a:srgbClr val="173C78">
                <a:alpha val="0"/>
              </a:srgbClr>
            </a:solidFill>
            <a:prstDash val="solid"/>
          </a:ln>
        </p:spPr>
      </p:sp>
      <p:sp>
        <p:nvSpPr>
          <p:cNvPr id="11" name="Text 8"/>
          <p:cNvSpPr txBox="1"/>
          <p:nvPr/>
        </p:nvSpPr>
        <p:spPr>
          <a:xfrm>
            <a:off x="7882128" y="2862072"/>
            <a:ext cx="804672" cy="137160"/>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Coverage</a:t>
            </a:r>
            <a:endParaRPr lang="en-US" sz="1150" dirty="0"/>
          </a:p>
        </p:txBody>
      </p:sp>
      <p:sp>
        <p:nvSpPr>
          <p:cNvPr id="12" name="Text 9"/>
          <p:cNvSpPr txBox="1"/>
          <p:nvPr/>
        </p:nvSpPr>
        <p:spPr>
          <a:xfrm>
            <a:off x="8705088" y="2816352"/>
            <a:ext cx="2304288" cy="237744"/>
          </a:xfrm>
          <a:prstGeom prst="rect">
            <a:avLst/>
          </a:prstGeom>
          <a:noFill/>
          <a:ln/>
        </p:spPr>
        <p:txBody>
          <a:bodyPr wrap="square" lIns="0" tIns="0" rIns="0" bIns="0" rtlCol="0" anchor="ctr">
            <a:normAutofit/>
          </a:bodyPr>
          <a:lstStyle/>
          <a:p>
            <a:pPr algn="l" indent="0" marL="0">
              <a:buNone/>
            </a:pPr>
            <a:r>
              <a:rPr lang="en-US" sz="980" dirty="0">
                <a:solidFill>
                  <a:srgbClr val="DDEBFF"/>
                </a:solidFill>
                <a:latin typeface="Arial" pitchFamily="34" charset="0"/>
                <a:ea typeface="Arial" pitchFamily="34" charset="-122"/>
                <a:cs typeface="Arial" pitchFamily="34" charset="-120"/>
              </a:rPr>
              <a:t>How well the supplied records and guidance support the draft</a:t>
            </a:r>
            <a:endParaRPr lang="en-US" sz="980" dirty="0"/>
          </a:p>
        </p:txBody>
      </p:sp>
      <p:sp>
        <p:nvSpPr>
          <p:cNvPr id="13" name="Shape 10"/>
          <p:cNvSpPr/>
          <p:nvPr/>
        </p:nvSpPr>
        <p:spPr>
          <a:xfrm>
            <a:off x="7726680" y="3355848"/>
            <a:ext cx="3520440" cy="466344"/>
          </a:xfrm>
          <a:prstGeom prst="roundRect">
            <a:avLst>
              <a:gd name="adj" fmla="val 31373"/>
            </a:avLst>
          </a:prstGeom>
          <a:solidFill>
            <a:srgbClr val="173C78"/>
          </a:solidFill>
          <a:ln w="12700">
            <a:solidFill>
              <a:srgbClr val="173C78">
                <a:alpha val="0"/>
              </a:srgbClr>
            </a:solidFill>
            <a:prstDash val="solid"/>
          </a:ln>
        </p:spPr>
      </p:sp>
      <p:sp>
        <p:nvSpPr>
          <p:cNvPr id="14" name="Text 11"/>
          <p:cNvSpPr txBox="1"/>
          <p:nvPr/>
        </p:nvSpPr>
        <p:spPr>
          <a:xfrm>
            <a:off x="7882128" y="3474720"/>
            <a:ext cx="804672" cy="137160"/>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Limitations</a:t>
            </a:r>
            <a:endParaRPr lang="en-US" sz="1150" dirty="0"/>
          </a:p>
        </p:txBody>
      </p:sp>
      <p:sp>
        <p:nvSpPr>
          <p:cNvPr id="15" name="Text 12"/>
          <p:cNvSpPr txBox="1"/>
          <p:nvPr/>
        </p:nvSpPr>
        <p:spPr>
          <a:xfrm>
            <a:off x="8705088" y="3429000"/>
            <a:ext cx="2304288" cy="237744"/>
          </a:xfrm>
          <a:prstGeom prst="rect">
            <a:avLst/>
          </a:prstGeom>
          <a:noFill/>
          <a:ln/>
        </p:spPr>
        <p:txBody>
          <a:bodyPr wrap="square" lIns="0" tIns="0" rIns="0" bIns="0" rtlCol="0" anchor="ctr">
            <a:normAutofit/>
          </a:bodyPr>
          <a:lstStyle/>
          <a:p>
            <a:pPr algn="l" indent="0" marL="0">
              <a:buNone/>
            </a:pPr>
            <a:r>
              <a:rPr lang="en-US" sz="980" dirty="0">
                <a:solidFill>
                  <a:srgbClr val="DDEBFF"/>
                </a:solidFill>
                <a:latin typeface="Arial" pitchFamily="34" charset="0"/>
                <a:ea typeface="Arial" pitchFamily="34" charset="-122"/>
                <a:cs typeface="Arial" pitchFamily="34" charset="-120"/>
              </a:rPr>
              <a:t>Known missing or unresolved evidence</a:t>
            </a:r>
            <a:endParaRPr lang="en-US" sz="980" dirty="0"/>
          </a:p>
        </p:txBody>
      </p:sp>
      <p:sp>
        <p:nvSpPr>
          <p:cNvPr id="16" name="Shape 13"/>
          <p:cNvSpPr/>
          <p:nvPr/>
        </p:nvSpPr>
        <p:spPr>
          <a:xfrm>
            <a:off x="7726680" y="3968496"/>
            <a:ext cx="3520440" cy="466344"/>
          </a:xfrm>
          <a:prstGeom prst="roundRect">
            <a:avLst>
              <a:gd name="adj" fmla="val 31373"/>
            </a:avLst>
          </a:prstGeom>
          <a:solidFill>
            <a:srgbClr val="173C78"/>
          </a:solidFill>
          <a:ln w="12700">
            <a:solidFill>
              <a:srgbClr val="173C78">
                <a:alpha val="0"/>
              </a:srgbClr>
            </a:solidFill>
            <a:prstDash val="solid"/>
          </a:ln>
        </p:spPr>
      </p:sp>
      <p:sp>
        <p:nvSpPr>
          <p:cNvPr id="17" name="Text 14"/>
          <p:cNvSpPr txBox="1"/>
          <p:nvPr/>
        </p:nvSpPr>
        <p:spPr>
          <a:xfrm>
            <a:off x="7882128" y="4087368"/>
            <a:ext cx="804672" cy="137160"/>
          </a:xfrm>
          <a:prstGeom prst="rect">
            <a:avLst/>
          </a:prstGeom>
          <a:noFill/>
          <a:ln/>
        </p:spPr>
        <p:txBody>
          <a:bodyPr wrap="square" lIns="0" tIns="0" rIns="0" bIns="0" rtlCol="0" anchor="ctr">
            <a:normAutofit/>
          </a:bodyPr>
          <a:lstStyle/>
          <a:p>
            <a:pPr algn="l" indent="0" marL="0">
              <a:buNone/>
            </a:pPr>
            <a:r>
              <a:rPr lang="en-US" sz="1150" b="1" dirty="0">
                <a:solidFill>
                  <a:srgbClr val="78DCD4"/>
                </a:solidFill>
                <a:latin typeface="Arial" pitchFamily="34" charset="0"/>
                <a:ea typeface="Arial" pitchFamily="34" charset="-122"/>
                <a:cs typeface="Arial" pitchFamily="34" charset="-120"/>
              </a:rPr>
              <a:t>Boundary</a:t>
            </a:r>
            <a:endParaRPr lang="en-US" sz="1150" dirty="0"/>
          </a:p>
        </p:txBody>
      </p:sp>
      <p:sp>
        <p:nvSpPr>
          <p:cNvPr id="18" name="Text 15"/>
          <p:cNvSpPr txBox="1"/>
          <p:nvPr/>
        </p:nvSpPr>
        <p:spPr>
          <a:xfrm>
            <a:off x="8705088" y="4041648"/>
            <a:ext cx="2304288" cy="237744"/>
          </a:xfrm>
          <a:prstGeom prst="rect">
            <a:avLst/>
          </a:prstGeom>
          <a:noFill/>
          <a:ln/>
        </p:spPr>
        <p:txBody>
          <a:bodyPr wrap="square" lIns="0" tIns="0" rIns="0" bIns="0" rtlCol="0" anchor="ctr">
            <a:normAutofit/>
          </a:bodyPr>
          <a:lstStyle/>
          <a:p>
            <a:pPr algn="l" indent="0" marL="0">
              <a:buNone/>
            </a:pPr>
            <a:r>
              <a:rPr lang="en-US" sz="980" dirty="0">
                <a:solidFill>
                  <a:srgbClr val="DDEBFF"/>
                </a:solidFill>
                <a:latin typeface="Arial" pitchFamily="34" charset="0"/>
                <a:ea typeface="Arial" pitchFamily="34" charset="-122"/>
                <a:cs typeface="Arial" pitchFamily="34" charset="-120"/>
              </a:rPr>
              <a:t>Never a probability of crime or a recommended outcome</a:t>
            </a:r>
            <a:endParaRPr lang="en-US" sz="980" dirty="0"/>
          </a:p>
        </p:txBody>
      </p:sp>
    </p:spTree>
  </p:cSld>
  <p:clrMapOvr>
    <a:masterClrMapping/>
  </p:clrMapOvr>
  <p:transition spd="med" advClick="1">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OKF, CHUNKS, AND RAG</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A citation opens the exact stored passage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10</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34440"/>
            <a:ext cx="6446520" cy="3666744"/>
          </a:xfrm>
          <a:prstGeom prst="roundRect">
            <a:avLst>
              <a:gd name="adj" fmla="val 3990"/>
            </a:avLst>
          </a:prstGeom>
          <a:solidFill>
            <a:srgbClr val="D9E7FC"/>
          </a:solidFill>
          <a:ln w="12700">
            <a:solidFill>
              <a:srgbClr val="D9E7FC">
                <a:alpha val="0"/>
              </a:srgbClr>
            </a:solidFill>
            <a:prstDash val="solid"/>
          </a:ln>
        </p:spPr>
      </p:sp>
      <p:pic>
        <p:nvPicPr>
          <p:cNvPr id="7" name="Image 0" descr="C:\D\IIT Mumbai\Capstone Blueprint\assets\walkthrough_screens\2026_evidence_source_chunks_detail.png">    </p:cNvPr>
          <p:cNvPicPr>
            <a:picLocks noChangeAspect="1"/>
          </p:cNvPicPr>
          <p:nvPr/>
        </p:nvPicPr>
        <p:blipFill>
          <a:blip r:embed="rId1"/>
          <a:stretch>
            <a:fillRect/>
          </a:stretch>
        </p:blipFill>
        <p:spPr>
          <a:xfrm>
            <a:off x="612648" y="1280160"/>
            <a:ext cx="6355080" cy="3575304"/>
          </a:xfrm>
          <a:prstGeom prst="rect">
            <a:avLst/>
          </a:prstGeom>
        </p:spPr>
      </p:pic>
      <p:sp>
        <p:nvSpPr>
          <p:cNvPr id="8" name="Text 5"/>
          <p:cNvSpPr txBox="1"/>
          <p:nvPr/>
        </p:nvSpPr>
        <p:spPr>
          <a:xfrm>
            <a:off x="7360920" y="1463040"/>
            <a:ext cx="3566160" cy="256032"/>
          </a:xfrm>
          <a:prstGeom prst="rect">
            <a:avLst/>
          </a:prstGeom>
          <a:noFill/>
          <a:ln/>
        </p:spPr>
        <p:txBody>
          <a:bodyPr wrap="square" lIns="0" tIns="0" rIns="0" bIns="0" rtlCol="0" anchor="ctr">
            <a:normAutofit/>
          </a:bodyPr>
          <a:lstStyle/>
          <a:p>
            <a:pPr algn="l" indent="0" marL="0">
              <a:buNone/>
            </a:pPr>
            <a:r>
              <a:rPr lang="en-US" sz="1900" b="1" dirty="0">
                <a:solidFill>
                  <a:srgbClr val="12233F"/>
                </a:solidFill>
                <a:latin typeface="Arial" pitchFamily="34" charset="0"/>
                <a:ea typeface="Arial" pitchFamily="34" charset="-122"/>
                <a:cs typeface="Arial" pitchFamily="34" charset="-120"/>
              </a:rPr>
              <a:t>Transparent retrieval path</a:t>
            </a:r>
            <a:endParaRPr lang="en-US" sz="1900" dirty="0"/>
          </a:p>
        </p:txBody>
      </p:sp>
      <p:sp>
        <p:nvSpPr>
          <p:cNvPr id="9" name="Shape 6"/>
          <p:cNvSpPr/>
          <p:nvPr/>
        </p:nvSpPr>
        <p:spPr>
          <a:xfrm>
            <a:off x="7370064" y="1938528"/>
            <a:ext cx="365760" cy="365760"/>
          </a:xfrm>
          <a:prstGeom prst="ellipse">
            <a:avLst/>
          </a:prstGeom>
          <a:solidFill>
            <a:srgbClr val="2E65C5"/>
          </a:solidFill>
          <a:ln w="12700">
            <a:solidFill>
              <a:srgbClr val="FFFFFF">
                <a:alpha val="0"/>
              </a:srgbClr>
            </a:solidFill>
            <a:prstDash val="solid"/>
          </a:ln>
        </p:spPr>
      </p:sp>
      <p:sp>
        <p:nvSpPr>
          <p:cNvPr id="10" name="Text 7"/>
          <p:cNvSpPr txBox="1"/>
          <p:nvPr/>
        </p:nvSpPr>
        <p:spPr>
          <a:xfrm>
            <a:off x="7370064" y="2020824"/>
            <a:ext cx="365760" cy="128016"/>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1</a:t>
            </a:r>
            <a:endParaRPr lang="en-US" sz="900" dirty="0"/>
          </a:p>
        </p:txBody>
      </p:sp>
      <p:sp>
        <p:nvSpPr>
          <p:cNvPr id="11" name="Text 8"/>
          <p:cNvSpPr txBox="1"/>
          <p:nvPr/>
        </p:nvSpPr>
        <p:spPr>
          <a:xfrm>
            <a:off x="7909560" y="1947672"/>
            <a:ext cx="960120" cy="182880"/>
          </a:xfrm>
          <a:prstGeom prst="rect">
            <a:avLst/>
          </a:prstGeom>
          <a:noFill/>
          <a:ln/>
        </p:spPr>
        <p:txBody>
          <a:bodyPr wrap="square" lIns="0" tIns="0" rIns="0" bIns="0" rtlCol="0" anchor="ctr">
            <a:normAutofit/>
          </a:bodyPr>
          <a:lstStyle/>
          <a:p>
            <a:pPr algn="l" indent="0" marL="0">
              <a:buNone/>
            </a:pPr>
            <a:r>
              <a:rPr lang="en-US" sz="1250" b="1" dirty="0">
                <a:solidFill>
                  <a:srgbClr val="12233F"/>
                </a:solidFill>
                <a:latin typeface="Arial" pitchFamily="34" charset="0"/>
                <a:ea typeface="Arial" pitchFamily="34" charset="-122"/>
                <a:cs typeface="Arial" pitchFamily="34" charset="-120"/>
              </a:rPr>
              <a:t>OKF source</a:t>
            </a:r>
            <a:endParaRPr lang="en-US" sz="1250" dirty="0"/>
          </a:p>
        </p:txBody>
      </p:sp>
      <p:sp>
        <p:nvSpPr>
          <p:cNvPr id="12" name="Text 9"/>
          <p:cNvSpPr txBox="1"/>
          <p:nvPr/>
        </p:nvSpPr>
        <p:spPr>
          <a:xfrm>
            <a:off x="8887968" y="1938528"/>
            <a:ext cx="2121408" cy="256032"/>
          </a:xfrm>
          <a:prstGeom prst="rect">
            <a:avLst/>
          </a:prstGeom>
          <a:noFill/>
          <a:ln/>
        </p:spPr>
        <p:txBody>
          <a:bodyPr wrap="square" lIns="0" tIns="0" rIns="0" bIns="0" rtlCol="0" anchor="ctr">
            <a:normAutofit/>
          </a:bodyPr>
          <a:lstStyle/>
          <a:p>
            <a:pPr algn="l" indent="0" marL="0">
              <a:buNone/>
            </a:pPr>
            <a:r>
              <a:rPr lang="en-US" sz="1000" dirty="0">
                <a:solidFill>
                  <a:srgbClr val="63738D"/>
                </a:solidFill>
                <a:latin typeface="Arial" pitchFamily="34" charset="0"/>
                <a:ea typeface="Arial" pitchFamily="34" charset="-122"/>
                <a:cs typeface="Arial" pitchFamily="34" charset="-120"/>
              </a:rPr>
              <a:t>ID, scenario, title, criteria, and body</a:t>
            </a:r>
            <a:endParaRPr lang="en-US" sz="1000" dirty="0"/>
          </a:p>
        </p:txBody>
      </p:sp>
      <p:sp>
        <p:nvSpPr>
          <p:cNvPr id="13" name="Shape 10"/>
          <p:cNvSpPr/>
          <p:nvPr/>
        </p:nvSpPr>
        <p:spPr>
          <a:xfrm>
            <a:off x="7370064" y="2551176"/>
            <a:ext cx="365760" cy="365760"/>
          </a:xfrm>
          <a:prstGeom prst="ellipse">
            <a:avLst/>
          </a:prstGeom>
          <a:solidFill>
            <a:srgbClr val="2E65C5"/>
          </a:solidFill>
          <a:ln w="12700">
            <a:solidFill>
              <a:srgbClr val="FFFFFF">
                <a:alpha val="0"/>
              </a:srgbClr>
            </a:solidFill>
            <a:prstDash val="solid"/>
          </a:ln>
        </p:spPr>
      </p:sp>
      <p:sp>
        <p:nvSpPr>
          <p:cNvPr id="14" name="Text 11"/>
          <p:cNvSpPr txBox="1"/>
          <p:nvPr/>
        </p:nvSpPr>
        <p:spPr>
          <a:xfrm>
            <a:off x="7370064" y="2633472"/>
            <a:ext cx="365760" cy="128016"/>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
        <p:nvSpPr>
          <p:cNvPr id="15" name="Text 12"/>
          <p:cNvSpPr txBox="1"/>
          <p:nvPr/>
        </p:nvSpPr>
        <p:spPr>
          <a:xfrm>
            <a:off x="7909560" y="2560320"/>
            <a:ext cx="960120" cy="182880"/>
          </a:xfrm>
          <a:prstGeom prst="rect">
            <a:avLst/>
          </a:prstGeom>
          <a:noFill/>
          <a:ln/>
        </p:spPr>
        <p:txBody>
          <a:bodyPr wrap="square" lIns="0" tIns="0" rIns="0" bIns="0" rtlCol="0" anchor="ctr">
            <a:normAutofit/>
          </a:bodyPr>
          <a:lstStyle/>
          <a:p>
            <a:pPr algn="l" indent="0" marL="0">
              <a:buNone/>
            </a:pPr>
            <a:r>
              <a:rPr lang="en-US" sz="1250" b="1" dirty="0">
                <a:solidFill>
                  <a:srgbClr val="12233F"/>
                </a:solidFill>
                <a:latin typeface="Arial" pitchFamily="34" charset="0"/>
                <a:ea typeface="Arial" pitchFamily="34" charset="-122"/>
                <a:cs typeface="Arial" pitchFamily="34" charset="-120"/>
              </a:rPr>
              <a:t>Chunker</a:t>
            </a:r>
            <a:endParaRPr lang="en-US" sz="1250" dirty="0"/>
          </a:p>
        </p:txBody>
      </p:sp>
      <p:sp>
        <p:nvSpPr>
          <p:cNvPr id="16" name="Text 13"/>
          <p:cNvSpPr txBox="1"/>
          <p:nvPr/>
        </p:nvSpPr>
        <p:spPr>
          <a:xfrm>
            <a:off x="8887968" y="2551176"/>
            <a:ext cx="2121408" cy="256032"/>
          </a:xfrm>
          <a:prstGeom prst="rect">
            <a:avLst/>
          </a:prstGeom>
          <a:noFill/>
          <a:ln/>
        </p:spPr>
        <p:txBody>
          <a:bodyPr wrap="square" lIns="0" tIns="0" rIns="0" bIns="0" rtlCol="0" anchor="ctr">
            <a:normAutofit/>
          </a:bodyPr>
          <a:lstStyle/>
          <a:p>
            <a:pPr algn="l" indent="0" marL="0">
              <a:buNone/>
            </a:pPr>
            <a:r>
              <a:rPr lang="en-US" sz="1000" dirty="0">
                <a:solidFill>
                  <a:srgbClr val="63738D"/>
                </a:solidFill>
                <a:latin typeface="Arial" pitchFamily="34" charset="0"/>
                <a:ea typeface="Arial" pitchFamily="34" charset="-122"/>
                <a:cs typeface="Arial" pitchFamily="34" charset="-120"/>
              </a:rPr>
              <a:t>C0 metadata + two-sentence passages</a:t>
            </a:r>
            <a:endParaRPr lang="en-US" sz="1000" dirty="0"/>
          </a:p>
        </p:txBody>
      </p:sp>
      <p:sp>
        <p:nvSpPr>
          <p:cNvPr id="17" name="Shape 14"/>
          <p:cNvSpPr/>
          <p:nvPr/>
        </p:nvSpPr>
        <p:spPr>
          <a:xfrm>
            <a:off x="7370064" y="3163824"/>
            <a:ext cx="365760" cy="365760"/>
          </a:xfrm>
          <a:prstGeom prst="ellipse">
            <a:avLst/>
          </a:prstGeom>
          <a:solidFill>
            <a:srgbClr val="00A79D"/>
          </a:solidFill>
          <a:ln w="12700">
            <a:solidFill>
              <a:srgbClr val="FFFFFF">
                <a:alpha val="0"/>
              </a:srgbClr>
            </a:solidFill>
            <a:prstDash val="solid"/>
          </a:ln>
        </p:spPr>
      </p:sp>
      <p:sp>
        <p:nvSpPr>
          <p:cNvPr id="18" name="Text 15"/>
          <p:cNvSpPr txBox="1"/>
          <p:nvPr/>
        </p:nvSpPr>
        <p:spPr>
          <a:xfrm>
            <a:off x="7370064" y="3246120"/>
            <a:ext cx="365760" cy="128016"/>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
        <p:nvSpPr>
          <p:cNvPr id="19" name="Text 16"/>
          <p:cNvSpPr txBox="1"/>
          <p:nvPr/>
        </p:nvSpPr>
        <p:spPr>
          <a:xfrm>
            <a:off x="7909560" y="3172968"/>
            <a:ext cx="960120" cy="182880"/>
          </a:xfrm>
          <a:prstGeom prst="rect">
            <a:avLst/>
          </a:prstGeom>
          <a:noFill/>
          <a:ln/>
        </p:spPr>
        <p:txBody>
          <a:bodyPr wrap="square" lIns="0" tIns="0" rIns="0" bIns="0" rtlCol="0" anchor="ctr">
            <a:normAutofit/>
          </a:bodyPr>
          <a:lstStyle/>
          <a:p>
            <a:pPr algn="l" indent="0" marL="0">
              <a:buNone/>
            </a:pPr>
            <a:r>
              <a:rPr lang="en-US" sz="1250" b="1" dirty="0">
                <a:solidFill>
                  <a:srgbClr val="12233F"/>
                </a:solidFill>
                <a:latin typeface="Arial" pitchFamily="34" charset="0"/>
                <a:ea typeface="Arial" pitchFamily="34" charset="-122"/>
                <a:cs typeface="Arial" pitchFamily="34" charset="-120"/>
              </a:rPr>
              <a:t>Index</a:t>
            </a:r>
            <a:endParaRPr lang="en-US" sz="1250" dirty="0"/>
          </a:p>
        </p:txBody>
      </p:sp>
      <p:sp>
        <p:nvSpPr>
          <p:cNvPr id="20" name="Text 17"/>
          <p:cNvSpPr txBox="1"/>
          <p:nvPr/>
        </p:nvSpPr>
        <p:spPr>
          <a:xfrm>
            <a:off x="8887968" y="3163824"/>
            <a:ext cx="2121408" cy="256032"/>
          </a:xfrm>
          <a:prstGeom prst="rect">
            <a:avLst/>
          </a:prstGeom>
          <a:noFill/>
          <a:ln/>
        </p:spPr>
        <p:txBody>
          <a:bodyPr wrap="square" lIns="0" tIns="0" rIns="0" bIns="0" rtlCol="0" anchor="ctr">
            <a:normAutofit/>
          </a:bodyPr>
          <a:lstStyle/>
          <a:p>
            <a:pPr algn="l" indent="0" marL="0">
              <a:buNone/>
            </a:pPr>
            <a:r>
              <a:rPr lang="en-US" sz="1000" dirty="0">
                <a:solidFill>
                  <a:srgbClr val="63738D"/>
                </a:solidFill>
                <a:latin typeface="Arial" pitchFamily="34" charset="0"/>
                <a:ea typeface="Arial" pitchFamily="34" charset="-122"/>
                <a:cs typeface="Arial" pitchFamily="34" charset="-120"/>
              </a:rPr>
              <a:t>SQLite FTS5 match + BM25 rank</a:t>
            </a:r>
            <a:endParaRPr lang="en-US" sz="1000" dirty="0"/>
          </a:p>
        </p:txBody>
      </p:sp>
      <p:sp>
        <p:nvSpPr>
          <p:cNvPr id="21" name="Shape 18"/>
          <p:cNvSpPr/>
          <p:nvPr/>
        </p:nvSpPr>
        <p:spPr>
          <a:xfrm>
            <a:off x="7370064" y="3776472"/>
            <a:ext cx="365760" cy="365760"/>
          </a:xfrm>
          <a:prstGeom prst="ellipse">
            <a:avLst/>
          </a:prstGeom>
          <a:solidFill>
            <a:srgbClr val="2E65C5"/>
          </a:solidFill>
          <a:ln w="12700">
            <a:solidFill>
              <a:srgbClr val="FFFFFF">
                <a:alpha val="0"/>
              </a:srgbClr>
            </a:solidFill>
            <a:prstDash val="solid"/>
          </a:ln>
        </p:spPr>
      </p:sp>
      <p:sp>
        <p:nvSpPr>
          <p:cNvPr id="22" name="Text 19"/>
          <p:cNvSpPr txBox="1"/>
          <p:nvPr/>
        </p:nvSpPr>
        <p:spPr>
          <a:xfrm>
            <a:off x="7370064" y="3858768"/>
            <a:ext cx="365760" cy="128016"/>
          </a:xfrm>
          <a:prstGeom prst="rect">
            <a:avLst/>
          </a:prstGeom>
          <a:noFill/>
          <a:ln/>
        </p:spPr>
        <p:txBody>
          <a:bodyPr wrap="square" lIns="0" tIns="0" rIns="0" bIns="0" rtlCol="0" anchor="ctr">
            <a:normAutofit/>
          </a:bodyP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
        <p:nvSpPr>
          <p:cNvPr id="23" name="Text 20"/>
          <p:cNvSpPr txBox="1"/>
          <p:nvPr/>
        </p:nvSpPr>
        <p:spPr>
          <a:xfrm>
            <a:off x="7909560" y="3785616"/>
            <a:ext cx="960120" cy="182880"/>
          </a:xfrm>
          <a:prstGeom prst="rect">
            <a:avLst/>
          </a:prstGeom>
          <a:noFill/>
          <a:ln/>
        </p:spPr>
        <p:txBody>
          <a:bodyPr wrap="square" lIns="0" tIns="0" rIns="0" bIns="0" rtlCol="0" anchor="ctr">
            <a:normAutofit/>
          </a:bodyPr>
          <a:lstStyle/>
          <a:p>
            <a:pPr algn="l" indent="0" marL="0">
              <a:buNone/>
            </a:pPr>
            <a:r>
              <a:rPr lang="en-US" sz="1250" b="1" dirty="0">
                <a:solidFill>
                  <a:srgbClr val="12233F"/>
                </a:solidFill>
                <a:latin typeface="Arial" pitchFamily="34" charset="0"/>
                <a:ea typeface="Arial" pitchFamily="34" charset="-122"/>
                <a:cs typeface="Arial" pitchFamily="34" charset="-120"/>
              </a:rPr>
              <a:t>RAG review</a:t>
            </a:r>
            <a:endParaRPr lang="en-US" sz="1250" dirty="0"/>
          </a:p>
        </p:txBody>
      </p:sp>
      <p:sp>
        <p:nvSpPr>
          <p:cNvPr id="24" name="Text 21"/>
          <p:cNvSpPr txBox="1"/>
          <p:nvPr/>
        </p:nvSpPr>
        <p:spPr>
          <a:xfrm>
            <a:off x="8887968" y="3776472"/>
            <a:ext cx="2121408" cy="256032"/>
          </a:xfrm>
          <a:prstGeom prst="rect">
            <a:avLst/>
          </a:prstGeom>
          <a:noFill/>
          <a:ln/>
        </p:spPr>
        <p:txBody>
          <a:bodyPr wrap="square" lIns="0" tIns="0" rIns="0" bIns="0" rtlCol="0" anchor="ctr">
            <a:normAutofit/>
          </a:bodyPr>
          <a:lstStyle/>
          <a:p>
            <a:pPr algn="l" indent="0" marL="0">
              <a:buNone/>
            </a:pPr>
            <a:r>
              <a:rPr lang="en-US" sz="1000" dirty="0">
                <a:solidFill>
                  <a:srgbClr val="63738D"/>
                </a:solidFill>
                <a:latin typeface="Arial" pitchFamily="34" charset="0"/>
                <a:ea typeface="Arial" pitchFamily="34" charset="-122"/>
                <a:cs typeface="Arial" pitchFamily="34" charset="-120"/>
              </a:rPr>
              <a:t>Retrieved IDs create cited, inspectable context</a:t>
            </a:r>
            <a:endParaRPr lang="en-US" sz="1000" dirty="0"/>
          </a:p>
        </p:txBody>
      </p:sp>
      <p:sp>
        <p:nvSpPr>
          <p:cNvPr id="25" name="Shape 22"/>
          <p:cNvSpPr/>
          <p:nvPr/>
        </p:nvSpPr>
        <p:spPr>
          <a:xfrm>
            <a:off x="658368" y="5166360"/>
            <a:ext cx="10881360" cy="429768"/>
          </a:xfrm>
          <a:prstGeom prst="roundRect">
            <a:avLst>
              <a:gd name="adj" fmla="val 34043"/>
            </a:avLst>
          </a:prstGeom>
          <a:solidFill>
            <a:srgbClr val="EAF9F7"/>
          </a:solidFill>
          <a:ln w="12700">
            <a:solidFill>
              <a:srgbClr val="EAF9F7">
                <a:alpha val="0"/>
              </a:srgbClr>
            </a:solidFill>
            <a:prstDash val="solid"/>
          </a:ln>
        </p:spPr>
      </p:sp>
      <p:sp>
        <p:nvSpPr>
          <p:cNvPr id="26" name="Text 23"/>
          <p:cNvSpPr txBox="1"/>
          <p:nvPr/>
        </p:nvSpPr>
        <p:spPr>
          <a:xfrm>
            <a:off x="850392" y="5285232"/>
            <a:ext cx="10469880" cy="146304"/>
          </a:xfrm>
          <a:prstGeom prst="rect">
            <a:avLst/>
          </a:prstGeom>
          <a:noFill/>
          <a:ln/>
        </p:spPr>
        <p:txBody>
          <a:bodyPr wrap="square" lIns="0" tIns="0" rIns="0" bIns="0" rtlCol="0" anchor="ctr">
            <a:normAutofit/>
          </a:bodyPr>
          <a:lstStyle/>
          <a:p>
            <a:pPr algn="ctr" indent="0" marL="0">
              <a:buNone/>
            </a:pPr>
            <a:r>
              <a:rPr lang="en-US" sz="1200" b="1" dirty="0">
                <a:solidFill>
                  <a:srgbClr val="00A79D"/>
                </a:solidFill>
                <a:latin typeface="Arial" pitchFamily="34" charset="0"/>
                <a:ea typeface="Arial" pitchFamily="34" charset="-122"/>
                <a:cs typeface="Arial" pitchFamily="34" charset="-120"/>
              </a:rPr>
              <a:t>OKF source  →  chunk builder  →  FTS5/BM25  →  retrieved IDs  →  cited response</a:t>
            </a:r>
            <a:endParaRPr lang="en-US" sz="1200" dirty="0"/>
          </a:p>
        </p:txBody>
      </p:sp>
    </p:spTree>
  </p:cSld>
  <p:clrMapOvr>
    <a:masterClrMapping/>
  </p:clrMapOvr>
  <p:transition spd="med" advClick="1">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INVESTIGATEIQ COPILOT</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Answers stay bounded by stored evidence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11</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48640" y="1252728"/>
            <a:ext cx="6629400" cy="3767328"/>
          </a:xfrm>
          <a:prstGeom prst="roundRect">
            <a:avLst>
              <a:gd name="adj" fmla="val 3883"/>
            </a:avLst>
          </a:prstGeom>
          <a:solidFill>
            <a:srgbClr val="D9E7FC"/>
          </a:solidFill>
          <a:ln w="12700">
            <a:solidFill>
              <a:srgbClr val="D9E7FC">
                <a:alpha val="0"/>
              </a:srgbClr>
            </a:solidFill>
            <a:prstDash val="solid"/>
          </a:ln>
        </p:spPr>
      </p:sp>
      <p:pic>
        <p:nvPicPr>
          <p:cNvPr id="7" name="Image 0" descr="C:\D\IIT Mumbai\Capstone Blueprint\assets\walkthrough_screens\2026_evidence_copilot_open.png">    </p:cNvPr>
          <p:cNvPicPr>
            <a:picLocks noChangeAspect="1"/>
          </p:cNvPicPr>
          <p:nvPr/>
        </p:nvPicPr>
        <p:blipFill>
          <a:blip r:embed="rId1"/>
          <a:stretch>
            <a:fillRect/>
          </a:stretch>
        </p:blipFill>
        <p:spPr>
          <a:xfrm>
            <a:off x="594360" y="1298448"/>
            <a:ext cx="6537960" cy="3675888"/>
          </a:xfrm>
          <a:prstGeom prst="rect">
            <a:avLst/>
          </a:prstGeom>
        </p:spPr>
      </p:pic>
      <p:sp>
        <p:nvSpPr>
          <p:cNvPr id="8" name="Text 5"/>
          <p:cNvSpPr txBox="1"/>
          <p:nvPr/>
        </p:nvSpPr>
        <p:spPr>
          <a:xfrm>
            <a:off x="7525512" y="1527048"/>
            <a:ext cx="3383280" cy="228600"/>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The Copilot can</a:t>
            </a:r>
            <a:endParaRPr lang="en-US" sz="1900" dirty="0"/>
          </a:p>
        </p:txBody>
      </p:sp>
      <p:sp>
        <p:nvSpPr>
          <p:cNvPr id="9" name="Shape 6"/>
          <p:cNvSpPr/>
          <p:nvPr/>
        </p:nvSpPr>
        <p:spPr>
          <a:xfrm>
            <a:off x="7543800" y="2057400"/>
            <a:ext cx="438912" cy="438912"/>
          </a:xfrm>
          <a:prstGeom prst="ellipse">
            <a:avLst/>
          </a:prstGeom>
          <a:solidFill>
            <a:srgbClr val="2E65C5"/>
          </a:solidFill>
          <a:ln w="12700">
            <a:solidFill>
              <a:srgbClr val="2E65C5">
                <a:alpha val="0"/>
              </a:srgbClr>
            </a:solidFill>
            <a:prstDash val="solid"/>
          </a:ln>
        </p:spPr>
      </p:sp>
      <p:sp>
        <p:nvSpPr>
          <p:cNvPr id="10" name="Text 7"/>
          <p:cNvSpPr txBox="1"/>
          <p:nvPr/>
        </p:nvSpPr>
        <p:spPr>
          <a:xfrm>
            <a:off x="8229600" y="207568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Summarize</a:t>
            </a:r>
            <a:endParaRPr lang="en-US" sz="1500" dirty="0"/>
          </a:p>
        </p:txBody>
      </p:sp>
      <p:sp>
        <p:nvSpPr>
          <p:cNvPr id="11" name="Text 8"/>
          <p:cNvSpPr txBox="1"/>
          <p:nvPr/>
        </p:nvSpPr>
        <p:spPr>
          <a:xfrm>
            <a:off x="8229600" y="2386584"/>
            <a:ext cx="2743200" cy="164592"/>
          </a:xfrm>
          <a:prstGeom prst="rect">
            <a:avLst/>
          </a:prstGeom>
          <a:noFill/>
          <a:ln/>
        </p:spPr>
        <p:txBody>
          <a:bodyPr wrap="square" lIns="0" tIns="0" rIns="0" bIns="0" rtlCol="0" anchor="ctr">
            <a:normAutofit/>
          </a:bodyPr>
          <a:lstStyle/>
          <a:p>
            <a:pPr algn="l" indent="0" marL="0">
              <a:buNone/>
            </a:pPr>
            <a:r>
              <a:rPr lang="en-US" sz="1080" dirty="0">
                <a:solidFill>
                  <a:srgbClr val="DDEBFF"/>
                </a:solidFill>
                <a:latin typeface="Arial" pitchFamily="34" charset="0"/>
                <a:ea typeface="Arial" pitchFamily="34" charset="-122"/>
                <a:cs typeface="Arial" pitchFamily="34" charset="-120"/>
              </a:rPr>
              <a:t>Stored fictional records and chunks</a:t>
            </a:r>
            <a:endParaRPr lang="en-US" sz="1080" dirty="0"/>
          </a:p>
        </p:txBody>
      </p:sp>
      <p:sp>
        <p:nvSpPr>
          <p:cNvPr id="12" name="Shape 9"/>
          <p:cNvSpPr/>
          <p:nvPr/>
        </p:nvSpPr>
        <p:spPr>
          <a:xfrm>
            <a:off x="7543800" y="2752344"/>
            <a:ext cx="438912" cy="438912"/>
          </a:xfrm>
          <a:prstGeom prst="ellipse">
            <a:avLst/>
          </a:prstGeom>
          <a:solidFill>
            <a:srgbClr val="00A79D"/>
          </a:solidFill>
          <a:ln w="12700">
            <a:solidFill>
              <a:srgbClr val="00A79D">
                <a:alpha val="0"/>
              </a:srgbClr>
            </a:solidFill>
            <a:prstDash val="solid"/>
          </a:ln>
        </p:spPr>
      </p:sp>
      <p:sp>
        <p:nvSpPr>
          <p:cNvPr id="13" name="Text 10"/>
          <p:cNvSpPr txBox="1"/>
          <p:nvPr/>
        </p:nvSpPr>
        <p:spPr>
          <a:xfrm>
            <a:off x="8229600" y="2770632"/>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Cite</a:t>
            </a:r>
            <a:endParaRPr lang="en-US" sz="1500" dirty="0"/>
          </a:p>
        </p:txBody>
      </p:sp>
      <p:sp>
        <p:nvSpPr>
          <p:cNvPr id="14" name="Text 11"/>
          <p:cNvSpPr txBox="1"/>
          <p:nvPr/>
        </p:nvSpPr>
        <p:spPr>
          <a:xfrm>
            <a:off x="8229600" y="3081528"/>
            <a:ext cx="2743200" cy="164592"/>
          </a:xfrm>
          <a:prstGeom prst="rect">
            <a:avLst/>
          </a:prstGeom>
          <a:noFill/>
          <a:ln/>
        </p:spPr>
        <p:txBody>
          <a:bodyPr wrap="square" lIns="0" tIns="0" rIns="0" bIns="0" rtlCol="0" anchor="ctr">
            <a:normAutofit/>
          </a:bodyPr>
          <a:lstStyle/>
          <a:p>
            <a:pPr algn="l" indent="0" marL="0">
              <a:buNone/>
            </a:pPr>
            <a:r>
              <a:rPr lang="en-US" sz="1080" dirty="0">
                <a:solidFill>
                  <a:srgbClr val="DDEBFF"/>
                </a:solidFill>
                <a:latin typeface="Arial" pitchFamily="34" charset="0"/>
                <a:ea typeface="Arial" pitchFamily="34" charset="-122"/>
                <a:cs typeface="Arial" pitchFamily="34" charset="-120"/>
              </a:rPr>
              <a:t>Source IDs and evidence gaps</a:t>
            </a:r>
            <a:endParaRPr lang="en-US" sz="1080" dirty="0"/>
          </a:p>
        </p:txBody>
      </p:sp>
      <p:sp>
        <p:nvSpPr>
          <p:cNvPr id="15" name="Shape 12"/>
          <p:cNvSpPr/>
          <p:nvPr/>
        </p:nvSpPr>
        <p:spPr>
          <a:xfrm>
            <a:off x="7543800" y="3447288"/>
            <a:ext cx="438912" cy="438912"/>
          </a:xfrm>
          <a:prstGeom prst="ellipse">
            <a:avLst/>
          </a:prstGeom>
          <a:solidFill>
            <a:srgbClr val="2E65C5"/>
          </a:solidFill>
          <a:ln w="12700">
            <a:solidFill>
              <a:srgbClr val="2E65C5">
                <a:alpha val="0"/>
              </a:srgbClr>
            </a:solidFill>
            <a:prstDash val="solid"/>
          </a:ln>
        </p:spPr>
      </p:sp>
      <p:sp>
        <p:nvSpPr>
          <p:cNvPr id="16" name="Text 13"/>
          <p:cNvSpPr txBox="1"/>
          <p:nvPr/>
        </p:nvSpPr>
        <p:spPr>
          <a:xfrm>
            <a:off x="8229600" y="3465576"/>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Explain</a:t>
            </a:r>
            <a:endParaRPr lang="en-US" sz="1500" dirty="0"/>
          </a:p>
        </p:txBody>
      </p:sp>
      <p:sp>
        <p:nvSpPr>
          <p:cNvPr id="17" name="Text 14"/>
          <p:cNvSpPr txBox="1"/>
          <p:nvPr/>
        </p:nvSpPr>
        <p:spPr>
          <a:xfrm>
            <a:off x="8229600" y="3776472"/>
            <a:ext cx="2743200" cy="164592"/>
          </a:xfrm>
          <a:prstGeom prst="rect">
            <a:avLst/>
          </a:prstGeom>
          <a:noFill/>
          <a:ln/>
        </p:spPr>
        <p:txBody>
          <a:bodyPr wrap="square" lIns="0" tIns="0" rIns="0" bIns="0" rtlCol="0" anchor="ctr">
            <a:normAutofit/>
          </a:bodyPr>
          <a:lstStyle/>
          <a:p>
            <a:pPr algn="l" indent="0" marL="0">
              <a:buNone/>
            </a:pPr>
            <a:r>
              <a:rPr lang="en-US" sz="1080" dirty="0">
                <a:solidFill>
                  <a:srgbClr val="DDEBFF"/>
                </a:solidFill>
                <a:latin typeface="Arial" pitchFamily="34" charset="0"/>
                <a:ea typeface="Arial" pitchFamily="34" charset="-122"/>
                <a:cs typeface="Arial" pitchFamily="34" charset="-120"/>
              </a:rPr>
              <a:t>The selected page and case context</a:t>
            </a:r>
            <a:endParaRPr lang="en-US" sz="1080" dirty="0"/>
          </a:p>
        </p:txBody>
      </p:sp>
      <p:sp>
        <p:nvSpPr>
          <p:cNvPr id="18" name="Text 15"/>
          <p:cNvSpPr txBox="1"/>
          <p:nvPr/>
        </p:nvSpPr>
        <p:spPr>
          <a:xfrm>
            <a:off x="7543800" y="4700016"/>
            <a:ext cx="3310128" cy="310896"/>
          </a:xfrm>
          <a:prstGeom prst="rect">
            <a:avLst/>
          </a:prstGeom>
          <a:noFill/>
          <a:ln/>
        </p:spPr>
        <p:txBody>
          <a:bodyPr wrap="square" lIns="0" tIns="0" rIns="0" bIns="0" rtlCol="0" anchor="ctr">
            <a:normAutofit/>
          </a:bodyPr>
          <a:lstStyle/>
          <a:p>
            <a:pPr algn="l" indent="0" marL="0">
              <a:buNone/>
            </a:pPr>
            <a:r>
              <a:rPr lang="en-US" sz="1500" b="1" dirty="0">
                <a:solidFill>
                  <a:srgbClr val="78DCD4"/>
                </a:solidFill>
                <a:latin typeface="Arial" pitchFamily="34" charset="0"/>
                <a:ea typeface="Arial" pitchFamily="34" charset="-122"/>
                <a:cs typeface="Arial" pitchFamily="34" charset="-120"/>
              </a:rPr>
              <a:t>It cannot submit or alter a human decision.</a:t>
            </a:r>
            <a:endParaRPr lang="en-US" sz="1500" dirty="0"/>
          </a:p>
        </p:txBody>
      </p:sp>
    </p:spTree>
  </p:cSld>
  <p:clrMapOvr>
    <a:masterClrMapping/>
  </p:clrMapOvr>
  <p:transition spd="med" advClick="1">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HUMAN DECISIONS AND COMPLIANCE</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Accountability belongs to named people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12</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76072" y="1252728"/>
            <a:ext cx="6400800" cy="3639312"/>
          </a:xfrm>
          <a:prstGeom prst="roundRect">
            <a:avLst>
              <a:gd name="adj" fmla="val 4020"/>
            </a:avLst>
          </a:prstGeom>
          <a:solidFill>
            <a:srgbClr val="D9E7FC"/>
          </a:solidFill>
          <a:ln w="12700">
            <a:solidFill>
              <a:srgbClr val="D9E7FC">
                <a:alpha val="0"/>
              </a:srgbClr>
            </a:solidFill>
            <a:prstDash val="solid"/>
          </a:ln>
        </p:spPr>
      </p:sp>
      <p:pic>
        <p:nvPicPr>
          <p:cNvPr id="7" name="Image 0" descr="C:\D\IIT Mumbai\Capstone Blueprint\assets\walkthrough_screens\2026_compliance_queue_detail.png">    </p:cNvPr>
          <p:cNvPicPr>
            <a:picLocks noChangeAspect="1"/>
          </p:cNvPicPr>
          <p:nvPr/>
        </p:nvPicPr>
        <p:blipFill>
          <a:blip r:embed="rId1"/>
          <a:stretch>
            <a:fillRect/>
          </a:stretch>
        </p:blipFill>
        <p:spPr>
          <a:xfrm>
            <a:off x="621792" y="1298448"/>
            <a:ext cx="6309360" cy="3547872"/>
          </a:xfrm>
          <a:prstGeom prst="rect">
            <a:avLst/>
          </a:prstGeom>
        </p:spPr>
      </p:pic>
      <p:sp>
        <p:nvSpPr>
          <p:cNvPr id="8" name="Text 5"/>
          <p:cNvSpPr txBox="1"/>
          <p:nvPr/>
        </p:nvSpPr>
        <p:spPr>
          <a:xfrm>
            <a:off x="7315200" y="1554480"/>
            <a:ext cx="1508760" cy="237744"/>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Investigator</a:t>
            </a:r>
            <a:endParaRPr lang="en-US" sz="1800" dirty="0"/>
          </a:p>
        </p:txBody>
      </p:sp>
      <p:sp>
        <p:nvSpPr>
          <p:cNvPr id="9" name="Text 6"/>
          <p:cNvSpPr txBox="1"/>
          <p:nvPr/>
        </p:nvSpPr>
        <p:spPr>
          <a:xfrm>
            <a:off x="7315200" y="1901952"/>
            <a:ext cx="3931920" cy="612648"/>
          </a:xfrm>
          <a:prstGeom prst="rect">
            <a:avLst/>
          </a:prstGeom>
          <a:noFill/>
          <a:ln/>
        </p:spPr>
        <p:txBody>
          <a:bodyPr wrap="square" lIns="0" tIns="0" rIns="0" bIns="0" rtlCol="0" anchor="t">
            <a:normAutofit/>
          </a:bodyPr>
          <a:lstStyle/>
          <a:p>
            <a:pPr algn="l" indent="0" marL="0">
              <a:buNone/>
            </a:pPr>
            <a:r>
              <a:rPr lang="en-US" sz="1400" dirty="0">
                <a:solidFill>
                  <a:srgbClr val="63738D"/>
                </a:solidFill>
                <a:latin typeface="Arial" pitchFamily="34" charset="0"/>
                <a:ea typeface="Arial" pitchFamily="34" charset="-122"/>
                <a:cs typeface="Arial" pitchFamily="34" charset="-120"/>
              </a:rPr>
              <a:t>Records a required rationale for more information or escalation. A completed action appears as an immutable recorded state.</a:t>
            </a:r>
            <a:endParaRPr lang="en-US" sz="1400" dirty="0"/>
          </a:p>
        </p:txBody>
      </p:sp>
      <p:sp>
        <p:nvSpPr>
          <p:cNvPr id="10" name="Text 7"/>
          <p:cNvSpPr txBox="1"/>
          <p:nvPr/>
        </p:nvSpPr>
        <p:spPr>
          <a:xfrm>
            <a:off x="7315200" y="2788920"/>
            <a:ext cx="2011680" cy="237744"/>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Compliance Officer</a:t>
            </a:r>
            <a:endParaRPr lang="en-US" sz="1800" dirty="0"/>
          </a:p>
        </p:txBody>
      </p:sp>
      <p:sp>
        <p:nvSpPr>
          <p:cNvPr id="11" name="Text 8"/>
          <p:cNvSpPr txBox="1"/>
          <p:nvPr/>
        </p:nvSpPr>
        <p:spPr>
          <a:xfrm>
            <a:off x="7315200" y="3136392"/>
            <a:ext cx="3977640" cy="612648"/>
          </a:xfrm>
          <a:prstGeom prst="rect">
            <a:avLst/>
          </a:prstGeom>
          <a:noFill/>
          <a:ln/>
        </p:spPr>
        <p:txBody>
          <a:bodyPr wrap="square" lIns="0" tIns="0" rIns="0" bIns="0" rtlCol="0" anchor="t">
            <a:normAutofit/>
          </a:bodyPr>
          <a:lstStyle/>
          <a:p>
            <a:pPr algn="l" indent="0" marL="0">
              <a:buNone/>
            </a:pPr>
            <a:r>
              <a:rPr lang="en-US" sz="1400" dirty="0">
                <a:solidFill>
                  <a:srgbClr val="63738D"/>
                </a:solidFill>
                <a:latin typeface="Arial" pitchFamily="34" charset="0"/>
                <a:ea typeface="Arial" pitchFamily="34" charset="-122"/>
                <a:cs typeface="Arial" pitchFamily="34" charset="-120"/>
              </a:rPr>
              <a:t>Acknowledges, returns, or records an onward referral. These outcomes map back to distinct case statuses and audit events.</a:t>
            </a:r>
            <a:endParaRPr lang="en-US" sz="1400" dirty="0"/>
          </a:p>
        </p:txBody>
      </p:sp>
      <p:sp>
        <p:nvSpPr>
          <p:cNvPr id="12" name="Shape 9"/>
          <p:cNvSpPr/>
          <p:nvPr/>
        </p:nvSpPr>
        <p:spPr>
          <a:xfrm>
            <a:off x="7315200" y="4315968"/>
            <a:ext cx="3977640" cy="566928"/>
          </a:xfrm>
          <a:prstGeom prst="roundRect">
            <a:avLst>
              <a:gd name="adj" fmla="val 25806"/>
            </a:avLst>
          </a:prstGeom>
          <a:solidFill>
            <a:srgbClr val="EAF9F7"/>
          </a:solidFill>
          <a:ln w="12700">
            <a:solidFill>
              <a:srgbClr val="EAF9F7">
                <a:alpha val="0"/>
              </a:srgbClr>
            </a:solidFill>
            <a:prstDash val="solid"/>
          </a:ln>
        </p:spPr>
      </p:sp>
      <p:sp>
        <p:nvSpPr>
          <p:cNvPr id="13" name="Text 10"/>
          <p:cNvSpPr txBox="1"/>
          <p:nvPr/>
        </p:nvSpPr>
        <p:spPr>
          <a:xfrm>
            <a:off x="7543800" y="4498848"/>
            <a:ext cx="3520440" cy="155448"/>
          </a:xfrm>
          <a:prstGeom prst="rect">
            <a:avLst/>
          </a:prstGeom>
          <a:noFill/>
          <a:ln/>
        </p:spPr>
        <p:txBody>
          <a:bodyPr wrap="square" lIns="0" tIns="0" rIns="0" bIns="0" rtlCol="0" anchor="ctr">
            <a:normAutofit/>
          </a:bodyPr>
          <a:lstStyle/>
          <a:p>
            <a:pPr algn="ctr" indent="0" marL="0">
              <a:buNone/>
            </a:pPr>
            <a:r>
              <a:rPr lang="en-US" sz="1200" b="1" dirty="0">
                <a:solidFill>
                  <a:srgbClr val="00A79D"/>
                </a:solidFill>
                <a:latin typeface="Arial" pitchFamily="34" charset="0"/>
                <a:ea typeface="Arial" pitchFamily="34" charset="-122"/>
                <a:cs typeface="Arial" pitchFamily="34" charset="-120"/>
              </a:rPr>
              <a:t>No automated close, escalation, referral, or external filing</a:t>
            </a:r>
            <a:endParaRPr lang="en-US" sz="1200" dirty="0"/>
          </a:p>
        </p:txBody>
      </p:sp>
    </p:spTree>
  </p:cSld>
  <p:clrMapOvr>
    <a:masterClrMapping/>
  </p:clrMapOvr>
  <p:transition spd="med" advClick="1">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ANALYTICS</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Each graph names its measure and limitation</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13</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66928" y="1234440"/>
            <a:ext cx="6858000" cy="3895344"/>
          </a:xfrm>
          <a:prstGeom prst="roundRect">
            <a:avLst>
              <a:gd name="adj" fmla="val 3756"/>
            </a:avLst>
          </a:prstGeom>
          <a:solidFill>
            <a:srgbClr val="D9E7FC"/>
          </a:solidFill>
          <a:ln w="12700">
            <a:solidFill>
              <a:srgbClr val="D9E7FC">
                <a:alpha val="0"/>
              </a:srgbClr>
            </a:solidFill>
            <a:prstDash val="solid"/>
          </a:ln>
        </p:spPr>
      </p:sp>
      <p:pic>
        <p:nvPicPr>
          <p:cNvPr id="7" name="Image 0" descr="C:\D\IIT Mumbai\Capstone Blueprint\assets\walkthrough_screens\2026_analytics_charts.png">    </p:cNvPr>
          <p:cNvPicPr>
            <a:picLocks noChangeAspect="1"/>
          </p:cNvPicPr>
          <p:nvPr/>
        </p:nvPicPr>
        <p:blipFill>
          <a:blip r:embed="rId1"/>
          <a:stretch>
            <a:fillRect/>
          </a:stretch>
        </p:blipFill>
        <p:spPr>
          <a:xfrm>
            <a:off x="612648" y="1280160"/>
            <a:ext cx="6766560" cy="3803904"/>
          </a:xfrm>
          <a:prstGeom prst="rect">
            <a:avLst/>
          </a:prstGeom>
        </p:spPr>
      </p:pic>
      <p:sp>
        <p:nvSpPr>
          <p:cNvPr id="8" name="Text 5"/>
          <p:cNvSpPr txBox="1"/>
          <p:nvPr/>
        </p:nvSpPr>
        <p:spPr>
          <a:xfrm>
            <a:off x="7754112" y="1527048"/>
            <a:ext cx="3337560" cy="246888"/>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What the charts describe</a:t>
            </a:r>
            <a:endParaRPr lang="en-US" sz="1900" dirty="0"/>
          </a:p>
        </p:txBody>
      </p:sp>
      <p:sp>
        <p:nvSpPr>
          <p:cNvPr id="9" name="Shape 6"/>
          <p:cNvSpPr/>
          <p:nvPr/>
        </p:nvSpPr>
        <p:spPr>
          <a:xfrm>
            <a:off x="7754112" y="1938528"/>
            <a:ext cx="3429000" cy="347472"/>
          </a:xfrm>
          <a:prstGeom prst="roundRect">
            <a:avLst>
              <a:gd name="adj" fmla="val 42105"/>
            </a:avLst>
          </a:prstGeom>
          <a:solidFill>
            <a:srgbClr val="173C78"/>
          </a:solidFill>
          <a:ln w="12700">
            <a:solidFill>
              <a:srgbClr val="173C78">
                <a:alpha val="0"/>
              </a:srgbClr>
            </a:solidFill>
            <a:prstDash val="solid"/>
          </a:ln>
        </p:spPr>
      </p:sp>
      <p:sp>
        <p:nvSpPr>
          <p:cNvPr id="10" name="Text 7"/>
          <p:cNvSpPr txBox="1"/>
          <p:nvPr/>
        </p:nvSpPr>
        <p:spPr>
          <a:xfrm>
            <a:off x="7909560" y="202996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Severity</a:t>
            </a:r>
            <a:endParaRPr lang="en-US" sz="1050" dirty="0"/>
          </a:p>
        </p:txBody>
      </p:sp>
      <p:sp>
        <p:nvSpPr>
          <p:cNvPr id="11" name="Text 8"/>
          <p:cNvSpPr txBox="1"/>
          <p:nvPr/>
        </p:nvSpPr>
        <p:spPr>
          <a:xfrm>
            <a:off x="8961120" y="202996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Stored labels</a:t>
            </a:r>
            <a:endParaRPr lang="en-US" sz="1050" dirty="0"/>
          </a:p>
        </p:txBody>
      </p:sp>
      <p:sp>
        <p:nvSpPr>
          <p:cNvPr id="12" name="Shape 9"/>
          <p:cNvSpPr/>
          <p:nvPr/>
        </p:nvSpPr>
        <p:spPr>
          <a:xfrm>
            <a:off x="7754112" y="2441448"/>
            <a:ext cx="3429000" cy="347472"/>
          </a:xfrm>
          <a:prstGeom prst="roundRect">
            <a:avLst>
              <a:gd name="adj" fmla="val 42105"/>
            </a:avLst>
          </a:prstGeom>
          <a:solidFill>
            <a:srgbClr val="173C78"/>
          </a:solidFill>
          <a:ln w="12700">
            <a:solidFill>
              <a:srgbClr val="173C78">
                <a:alpha val="0"/>
              </a:srgbClr>
            </a:solidFill>
            <a:prstDash val="solid"/>
          </a:ln>
        </p:spPr>
      </p:sp>
      <p:sp>
        <p:nvSpPr>
          <p:cNvPr id="13" name="Text 10"/>
          <p:cNvSpPr txBox="1"/>
          <p:nvPr/>
        </p:nvSpPr>
        <p:spPr>
          <a:xfrm>
            <a:off x="7909560" y="253288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Status</a:t>
            </a:r>
            <a:endParaRPr lang="en-US" sz="1050" dirty="0"/>
          </a:p>
        </p:txBody>
      </p:sp>
      <p:sp>
        <p:nvSpPr>
          <p:cNvPr id="14" name="Text 11"/>
          <p:cNvSpPr txBox="1"/>
          <p:nvPr/>
        </p:nvSpPr>
        <p:spPr>
          <a:xfrm>
            <a:off x="8961120" y="253288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Latest workflow state</a:t>
            </a:r>
            <a:endParaRPr lang="en-US" sz="1050" dirty="0"/>
          </a:p>
        </p:txBody>
      </p:sp>
      <p:sp>
        <p:nvSpPr>
          <p:cNvPr id="15" name="Shape 12"/>
          <p:cNvSpPr/>
          <p:nvPr/>
        </p:nvSpPr>
        <p:spPr>
          <a:xfrm>
            <a:off x="7754112" y="2944368"/>
            <a:ext cx="3429000" cy="347472"/>
          </a:xfrm>
          <a:prstGeom prst="roundRect">
            <a:avLst>
              <a:gd name="adj" fmla="val 42105"/>
            </a:avLst>
          </a:prstGeom>
          <a:solidFill>
            <a:srgbClr val="173C78"/>
          </a:solidFill>
          <a:ln w="12700">
            <a:solidFill>
              <a:srgbClr val="173C78">
                <a:alpha val="0"/>
              </a:srgbClr>
            </a:solidFill>
            <a:prstDash val="solid"/>
          </a:ln>
        </p:spPr>
      </p:sp>
      <p:sp>
        <p:nvSpPr>
          <p:cNvPr id="16" name="Text 13"/>
          <p:cNvSpPr txBox="1"/>
          <p:nvPr/>
        </p:nvSpPr>
        <p:spPr>
          <a:xfrm>
            <a:off x="7909560" y="303580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High share</a:t>
            </a:r>
            <a:endParaRPr lang="en-US" sz="1050" dirty="0"/>
          </a:p>
        </p:txBody>
      </p:sp>
      <p:sp>
        <p:nvSpPr>
          <p:cNvPr id="17" name="Text 14"/>
          <p:cNvSpPr txBox="1"/>
          <p:nvPr/>
        </p:nvSpPr>
        <p:spPr>
          <a:xfrm>
            <a:off x="8961120" y="303580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Percentage within a typology</a:t>
            </a:r>
            <a:endParaRPr lang="en-US" sz="1050" dirty="0"/>
          </a:p>
        </p:txBody>
      </p:sp>
      <p:sp>
        <p:nvSpPr>
          <p:cNvPr id="18" name="Shape 15"/>
          <p:cNvSpPr/>
          <p:nvPr/>
        </p:nvSpPr>
        <p:spPr>
          <a:xfrm>
            <a:off x="7754112" y="3447288"/>
            <a:ext cx="3429000" cy="347472"/>
          </a:xfrm>
          <a:prstGeom prst="roundRect">
            <a:avLst>
              <a:gd name="adj" fmla="val 42105"/>
            </a:avLst>
          </a:prstGeom>
          <a:solidFill>
            <a:srgbClr val="173C78"/>
          </a:solidFill>
          <a:ln w="12700">
            <a:solidFill>
              <a:srgbClr val="173C78">
                <a:alpha val="0"/>
              </a:srgbClr>
            </a:solidFill>
            <a:prstDash val="solid"/>
          </a:ln>
        </p:spPr>
      </p:sp>
      <p:sp>
        <p:nvSpPr>
          <p:cNvPr id="19" name="Text 16"/>
          <p:cNvSpPr txBox="1"/>
          <p:nvPr/>
        </p:nvSpPr>
        <p:spPr>
          <a:xfrm>
            <a:off x="7909560" y="353872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Monthly records</a:t>
            </a:r>
            <a:endParaRPr lang="en-US" sz="1050" dirty="0"/>
          </a:p>
        </p:txBody>
      </p:sp>
      <p:sp>
        <p:nvSpPr>
          <p:cNvPr id="20" name="Text 17"/>
          <p:cNvSpPr txBox="1"/>
          <p:nvPr/>
        </p:nvSpPr>
        <p:spPr>
          <a:xfrm>
            <a:off x="8961120" y="353872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Fictional source dates</a:t>
            </a:r>
            <a:endParaRPr lang="en-US" sz="1050" dirty="0"/>
          </a:p>
        </p:txBody>
      </p:sp>
      <p:sp>
        <p:nvSpPr>
          <p:cNvPr id="21" name="Shape 18"/>
          <p:cNvSpPr/>
          <p:nvPr/>
        </p:nvSpPr>
        <p:spPr>
          <a:xfrm>
            <a:off x="7754112" y="3950208"/>
            <a:ext cx="3429000" cy="347472"/>
          </a:xfrm>
          <a:prstGeom prst="roundRect">
            <a:avLst>
              <a:gd name="adj" fmla="val 42105"/>
            </a:avLst>
          </a:prstGeom>
          <a:solidFill>
            <a:srgbClr val="173C78"/>
          </a:solidFill>
          <a:ln w="12700">
            <a:solidFill>
              <a:srgbClr val="173C78">
                <a:alpha val="0"/>
              </a:srgbClr>
            </a:solidFill>
            <a:prstDash val="solid"/>
          </a:ln>
        </p:spPr>
      </p:sp>
      <p:sp>
        <p:nvSpPr>
          <p:cNvPr id="22" name="Text 19"/>
          <p:cNvSpPr txBox="1"/>
          <p:nvPr/>
        </p:nvSpPr>
        <p:spPr>
          <a:xfrm>
            <a:off x="7909560" y="4041648"/>
            <a:ext cx="1005840" cy="137160"/>
          </a:xfrm>
          <a:prstGeom prst="rect">
            <a:avLst/>
          </a:prstGeom>
          <a:noFill/>
          <a:ln/>
        </p:spPr>
        <p:txBody>
          <a:bodyPr wrap="square" lIns="0" tIns="0" rIns="0" bIns="0" rtlCol="0" anchor="ctr">
            <a:normAutofit/>
          </a:bodyPr>
          <a:lstStyle/>
          <a:p>
            <a:pPr algn="l" indent="0" marL="0">
              <a:buNone/>
            </a:pPr>
            <a:r>
              <a:rPr lang="en-US" sz="1050" b="1" dirty="0">
                <a:solidFill>
                  <a:srgbClr val="78DCD4"/>
                </a:solidFill>
                <a:latin typeface="Arial" pitchFamily="34" charset="0"/>
                <a:ea typeface="Arial" pitchFamily="34" charset="-122"/>
                <a:cs typeface="Arial" pitchFamily="34" charset="-120"/>
              </a:rPr>
              <a:t>Actions</a:t>
            </a:r>
            <a:endParaRPr lang="en-US" sz="1050" dirty="0"/>
          </a:p>
        </p:txBody>
      </p:sp>
      <p:sp>
        <p:nvSpPr>
          <p:cNvPr id="23" name="Text 20"/>
          <p:cNvSpPr txBox="1"/>
          <p:nvPr/>
        </p:nvSpPr>
        <p:spPr>
          <a:xfrm>
            <a:off x="8961120" y="4041648"/>
            <a:ext cx="1965960" cy="137160"/>
          </a:xfrm>
          <a:prstGeom prst="rect">
            <a:avLst/>
          </a:prstGeom>
          <a:noFill/>
          <a:ln/>
        </p:spPr>
        <p:txBody>
          <a:bodyPr wrap="square" lIns="0" tIns="0" rIns="0" bIns="0" rtlCol="0" anchor="ctr">
            <a:normAutofit/>
          </a:bodyPr>
          <a:lstStyle/>
          <a:p>
            <a:pPr algn="l" indent="0" marL="0">
              <a:buNone/>
            </a:pPr>
            <a:r>
              <a:rPr lang="en-US" sz="1050" dirty="0">
                <a:solidFill>
                  <a:srgbClr val="DDEBFF"/>
                </a:solidFill>
                <a:latin typeface="Arial" pitchFamily="34" charset="0"/>
                <a:ea typeface="Arial" pitchFamily="34" charset="-122"/>
                <a:cs typeface="Arial" pitchFamily="34" charset="-120"/>
              </a:rPr>
              <a:t>Saved human events</a:t>
            </a:r>
            <a:endParaRPr lang="en-US" sz="1050" dirty="0"/>
          </a:p>
        </p:txBody>
      </p:sp>
      <p:sp>
        <p:nvSpPr>
          <p:cNvPr id="24" name="Text 21"/>
          <p:cNvSpPr txBox="1"/>
          <p:nvPr/>
        </p:nvSpPr>
        <p:spPr>
          <a:xfrm>
            <a:off x="7754112" y="4663440"/>
            <a:ext cx="3401568" cy="384048"/>
          </a:xfrm>
          <a:prstGeom prst="rect">
            <a:avLst/>
          </a:prstGeom>
          <a:noFill/>
          <a:ln/>
        </p:spPr>
        <p:txBody>
          <a:bodyPr wrap="square" lIns="0" tIns="0" rIns="0" bIns="0" rtlCol="0" anchor="t">
            <a:normAutofit/>
          </a:bodyPr>
          <a:lstStyle/>
          <a:p>
            <a:pPr algn="l" indent="0" marL="0">
              <a:buNone/>
            </a:pPr>
            <a:r>
              <a:rPr lang="en-US" sz="1250" b="1" dirty="0">
                <a:solidFill>
                  <a:srgbClr val="78DCD4"/>
                </a:solidFill>
                <a:latin typeface="Arial" pitchFamily="34" charset="0"/>
                <a:ea typeface="Arial" pitchFamily="34" charset="-122"/>
                <a:cs typeface="Arial" pitchFamily="34" charset="-120"/>
              </a:rPr>
              <a:t>Descriptive charts do not predict crime, assess staff productivity, or measure model accuracy.</a:t>
            </a:r>
            <a:endParaRPr lang="en-US" sz="1250" dirty="0"/>
          </a:p>
        </p:txBody>
      </p:sp>
    </p:spTree>
  </p:cSld>
  <p:clrMapOvr>
    <a:masterClrMapping/>
  </p:clrMapOvr>
  <p:transition spd="med" advClick="1">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CONTEXT AND OWNERSHIP</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Search finds records; the team owns the explanation</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14</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76072" y="1261872"/>
            <a:ext cx="5440680" cy="3099816"/>
          </a:xfrm>
          <a:prstGeom prst="roundRect">
            <a:avLst>
              <a:gd name="adj" fmla="val 4720"/>
            </a:avLst>
          </a:prstGeom>
          <a:solidFill>
            <a:srgbClr val="D9E7FC"/>
          </a:solidFill>
          <a:ln w="12700">
            <a:solidFill>
              <a:srgbClr val="D9E7FC">
                <a:alpha val="0"/>
              </a:srgbClr>
            </a:solidFill>
            <a:prstDash val="solid"/>
          </a:ln>
        </p:spPr>
      </p:sp>
      <p:pic>
        <p:nvPicPr>
          <p:cNvPr id="7" name="Image 0" descr="C:\D\IIT Mumbai\Capstone Blueprint\assets\walkthrough_screens\2026_global_search.png">    </p:cNvPr>
          <p:cNvPicPr>
            <a:picLocks noChangeAspect="1"/>
          </p:cNvPicPr>
          <p:nvPr/>
        </p:nvPicPr>
        <p:blipFill>
          <a:blip r:embed="rId1"/>
          <a:stretch>
            <a:fillRect/>
          </a:stretch>
        </p:blipFill>
        <p:spPr>
          <a:xfrm>
            <a:off x="621792" y="1307592"/>
            <a:ext cx="5349240" cy="3008376"/>
          </a:xfrm>
          <a:prstGeom prst="rect">
            <a:avLst/>
          </a:prstGeom>
        </p:spPr>
      </p:pic>
      <p:sp>
        <p:nvSpPr>
          <p:cNvPr id="8" name="Shape 5"/>
          <p:cNvSpPr/>
          <p:nvPr/>
        </p:nvSpPr>
        <p:spPr>
          <a:xfrm>
            <a:off x="6245352" y="1261872"/>
            <a:ext cx="5367528" cy="3063240"/>
          </a:xfrm>
          <a:prstGeom prst="roundRect">
            <a:avLst>
              <a:gd name="adj" fmla="val 4776"/>
            </a:avLst>
          </a:prstGeom>
          <a:solidFill>
            <a:srgbClr val="D9E7FC"/>
          </a:solidFill>
          <a:ln w="12700">
            <a:solidFill>
              <a:srgbClr val="D9E7FC">
                <a:alpha val="0"/>
              </a:srgbClr>
            </a:solidFill>
            <a:prstDash val="solid"/>
          </a:ln>
        </p:spPr>
      </p:sp>
      <p:pic>
        <p:nvPicPr>
          <p:cNvPr id="9" name="Image 1" descr="C:\D\IIT Mumbai\Capstone Blueprint\assets\walkthrough_screens\2026_project_team_roles.png">    </p:cNvPr>
          <p:cNvPicPr>
            <a:picLocks noChangeAspect="1"/>
          </p:cNvPicPr>
          <p:nvPr/>
        </p:nvPicPr>
        <p:blipFill>
          <a:blip r:embed="rId2"/>
          <a:stretch>
            <a:fillRect/>
          </a:stretch>
        </p:blipFill>
        <p:spPr>
          <a:xfrm>
            <a:off x="6291072" y="1307592"/>
            <a:ext cx="5276088" cy="2971800"/>
          </a:xfrm>
          <a:prstGeom prst="rect">
            <a:avLst/>
          </a:prstGeom>
        </p:spPr>
      </p:pic>
      <p:sp>
        <p:nvSpPr>
          <p:cNvPr id="10" name="Text 6"/>
          <p:cNvSpPr txBox="1"/>
          <p:nvPr/>
        </p:nvSpPr>
        <p:spPr>
          <a:xfrm>
            <a:off x="658368" y="4572000"/>
            <a:ext cx="2011680" cy="246888"/>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Global Search</a:t>
            </a:r>
            <a:endParaRPr lang="en-US" sz="1800" dirty="0"/>
          </a:p>
        </p:txBody>
      </p:sp>
      <p:sp>
        <p:nvSpPr>
          <p:cNvPr id="11" name="Text 7"/>
          <p:cNvSpPr txBox="1"/>
          <p:nvPr/>
        </p:nvSpPr>
        <p:spPr>
          <a:xfrm>
            <a:off x="658368" y="4910328"/>
            <a:ext cx="5166360" cy="438912"/>
          </a:xfrm>
          <a:prstGeom prst="rect">
            <a:avLst/>
          </a:prstGeom>
          <a:noFill/>
          <a:ln/>
        </p:spPr>
        <p:txBody>
          <a:bodyPr wrap="square" lIns="0" tIns="0" rIns="0" bIns="0" rtlCol="0" anchor="t">
            <a:normAutofit/>
          </a:bodyPr>
          <a:lstStyle/>
          <a:p>
            <a:pPr algn="l" indent="0" marL="0">
              <a:buNone/>
            </a:pPr>
            <a:r>
              <a:rPr lang="en-US" sz="1350" dirty="0">
                <a:solidFill>
                  <a:srgbClr val="63738D"/>
                </a:solidFill>
                <a:latin typeface="Arial" pitchFamily="34" charset="0"/>
                <a:ea typeface="Arial" pitchFamily="34" charset="-122"/>
                <a:cs typeface="Arial" pitchFamily="34" charset="-120"/>
              </a:rPr>
              <a:t>Find a fictional customer, account, transaction, or case, then return to the relevant context.</a:t>
            </a:r>
            <a:endParaRPr lang="en-US" sz="1350" dirty="0"/>
          </a:p>
        </p:txBody>
      </p:sp>
      <p:sp>
        <p:nvSpPr>
          <p:cNvPr id="12" name="Text 8"/>
          <p:cNvSpPr txBox="1"/>
          <p:nvPr/>
        </p:nvSpPr>
        <p:spPr>
          <a:xfrm>
            <a:off x="6327648" y="4572000"/>
            <a:ext cx="2011680" cy="246888"/>
          </a:xfrm>
          <a:prstGeom prst="rect">
            <a:avLst/>
          </a:prstGeom>
          <a:noFill/>
          <a:ln/>
        </p:spPr>
        <p:txBody>
          <a:bodyPr wrap="square" lIns="0" tIns="0" rIns="0" bIns="0" rtlCol="0" anchor="ctr">
            <a:normAutofit/>
          </a:bodyPr>
          <a:lstStyle/>
          <a:p>
            <a:pPr algn="l" indent="0" marL="0">
              <a:buNone/>
            </a:pPr>
            <a:r>
              <a:rPr lang="en-US" sz="1800" b="1" dirty="0">
                <a:solidFill>
                  <a:srgbClr val="12233F"/>
                </a:solidFill>
                <a:latin typeface="Arial" pitchFamily="34" charset="0"/>
                <a:ea typeface="Arial" pitchFamily="34" charset="-122"/>
                <a:cs typeface="Arial" pitchFamily="34" charset="-120"/>
              </a:rPr>
              <a:t>Role guide</a:t>
            </a:r>
            <a:endParaRPr lang="en-US" sz="1800" dirty="0"/>
          </a:p>
        </p:txBody>
      </p:sp>
      <p:sp>
        <p:nvSpPr>
          <p:cNvPr id="13" name="Text 9"/>
          <p:cNvSpPr txBox="1"/>
          <p:nvPr/>
        </p:nvSpPr>
        <p:spPr>
          <a:xfrm>
            <a:off x="6327648" y="4910328"/>
            <a:ext cx="5029200" cy="438912"/>
          </a:xfrm>
          <a:prstGeom prst="rect">
            <a:avLst/>
          </a:prstGeom>
          <a:noFill/>
          <a:ln/>
        </p:spPr>
        <p:txBody>
          <a:bodyPr wrap="square" lIns="0" tIns="0" rIns="0" bIns="0" rtlCol="0" anchor="t">
            <a:normAutofit/>
          </a:bodyPr>
          <a:lstStyle/>
          <a:p>
            <a:pPr algn="l" indent="0" marL="0">
              <a:buNone/>
            </a:pPr>
            <a:r>
              <a:rPr lang="en-US" sz="1350" dirty="0">
                <a:solidFill>
                  <a:srgbClr val="63738D"/>
                </a:solidFill>
                <a:latin typeface="Arial" pitchFamily="34" charset="0"/>
                <a:ea typeface="Arial" pitchFamily="34" charset="-122"/>
                <a:cs typeface="Arial" pitchFamily="34" charset="-120"/>
              </a:rPr>
              <a:t>Workflow role labels explain responsibilities. They do not authenticate a person or grant protected Admin access.</a:t>
            </a:r>
            <a:endParaRPr lang="en-US" sz="1350" dirty="0"/>
          </a:p>
        </p:txBody>
      </p:sp>
    </p:spTree>
  </p:cSld>
  <p:clrMapOvr>
    <a:masterClrMapping/>
  </p:clrMapOvr>
  <p:transition spd="med" advClick="1">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TECHNICAL ARCHITECTURE AND CODE LOGIC</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A transparent Streamlit and SQLite implementation</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15</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85800" y="1508760"/>
            <a:ext cx="3401568" cy="1261872"/>
          </a:xfrm>
          <a:prstGeom prst="roundRect">
            <a:avLst>
              <a:gd name="adj" fmla="val 11594"/>
            </a:avLst>
          </a:prstGeom>
          <a:solidFill>
            <a:srgbClr val="FFFFFF"/>
          </a:solidFill>
          <a:ln w="12700">
            <a:solidFill>
              <a:srgbClr val="FFFFFF">
                <a:alpha val="0"/>
              </a:srgbClr>
            </a:solidFill>
            <a:prstDash val="solid"/>
          </a:ln>
        </p:spPr>
      </p:sp>
      <p:sp>
        <p:nvSpPr>
          <p:cNvPr id="7" name="Shape 5"/>
          <p:cNvSpPr/>
          <p:nvPr/>
        </p:nvSpPr>
        <p:spPr>
          <a:xfrm>
            <a:off x="886968" y="1728216"/>
            <a:ext cx="411480" cy="411480"/>
          </a:xfrm>
          <a:prstGeom prst="ellipse">
            <a:avLst/>
          </a:prstGeom>
          <a:solidFill>
            <a:srgbClr val="2E65C5"/>
          </a:solidFill>
          <a:ln w="12700">
            <a:solidFill>
              <a:srgbClr val="FFFFFF">
                <a:alpha val="0"/>
              </a:srgbClr>
            </a:solidFill>
            <a:prstDash val="solid"/>
          </a:ln>
        </p:spPr>
      </p:sp>
      <p:sp>
        <p:nvSpPr>
          <p:cNvPr id="8" name="Text 6"/>
          <p:cNvSpPr txBox="1"/>
          <p:nvPr/>
        </p:nvSpPr>
        <p:spPr>
          <a:xfrm>
            <a:off x="1463040" y="1709928"/>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Streamlit router</a:t>
            </a:r>
            <a:endParaRPr lang="en-US" sz="1400" dirty="0"/>
          </a:p>
        </p:txBody>
      </p:sp>
      <p:sp>
        <p:nvSpPr>
          <p:cNvPr id="9" name="Text 7"/>
          <p:cNvSpPr txBox="1"/>
          <p:nvPr/>
        </p:nvSpPr>
        <p:spPr>
          <a:xfrm>
            <a:off x="896112" y="2221992"/>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Routes each left-navigation choice to a page module</a:t>
            </a:r>
            <a:endParaRPr lang="en-US" sz="1120" dirty="0"/>
          </a:p>
        </p:txBody>
      </p:sp>
      <p:sp>
        <p:nvSpPr>
          <p:cNvPr id="10" name="Shape 8"/>
          <p:cNvSpPr/>
          <p:nvPr/>
        </p:nvSpPr>
        <p:spPr>
          <a:xfrm>
            <a:off x="4507992" y="1508760"/>
            <a:ext cx="3401568" cy="1261872"/>
          </a:xfrm>
          <a:prstGeom prst="roundRect">
            <a:avLst>
              <a:gd name="adj" fmla="val 11594"/>
            </a:avLst>
          </a:prstGeom>
          <a:solidFill>
            <a:srgbClr val="FFFFFF"/>
          </a:solidFill>
          <a:ln w="12700">
            <a:solidFill>
              <a:srgbClr val="FFFFFF">
                <a:alpha val="0"/>
              </a:srgbClr>
            </a:solidFill>
            <a:prstDash val="solid"/>
          </a:ln>
        </p:spPr>
      </p:sp>
      <p:sp>
        <p:nvSpPr>
          <p:cNvPr id="11" name="Shape 9"/>
          <p:cNvSpPr/>
          <p:nvPr/>
        </p:nvSpPr>
        <p:spPr>
          <a:xfrm>
            <a:off x="4709160" y="1728216"/>
            <a:ext cx="411480" cy="411480"/>
          </a:xfrm>
          <a:prstGeom prst="ellipse">
            <a:avLst/>
          </a:prstGeom>
          <a:solidFill>
            <a:srgbClr val="2E65C5"/>
          </a:solidFill>
          <a:ln w="12700">
            <a:solidFill>
              <a:srgbClr val="FFFFFF">
                <a:alpha val="0"/>
              </a:srgbClr>
            </a:solidFill>
            <a:prstDash val="solid"/>
          </a:ln>
        </p:spPr>
      </p:sp>
      <p:sp>
        <p:nvSpPr>
          <p:cNvPr id="12" name="Text 10"/>
          <p:cNvSpPr txBox="1"/>
          <p:nvPr/>
        </p:nvSpPr>
        <p:spPr>
          <a:xfrm>
            <a:off x="5285232" y="1709928"/>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Page modules</a:t>
            </a:r>
            <a:endParaRPr lang="en-US" sz="1400" dirty="0"/>
          </a:p>
        </p:txBody>
      </p:sp>
      <p:sp>
        <p:nvSpPr>
          <p:cNvPr id="13" name="Text 11"/>
          <p:cNvSpPr txBox="1"/>
          <p:nvPr/>
        </p:nvSpPr>
        <p:spPr>
          <a:xfrm>
            <a:off x="4718304" y="2221992"/>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Read active case state; render queue, report, evidence, or review</a:t>
            </a:r>
            <a:endParaRPr lang="en-US" sz="1120" dirty="0"/>
          </a:p>
        </p:txBody>
      </p:sp>
      <p:sp>
        <p:nvSpPr>
          <p:cNvPr id="14" name="Shape 12"/>
          <p:cNvSpPr/>
          <p:nvPr/>
        </p:nvSpPr>
        <p:spPr>
          <a:xfrm>
            <a:off x="8330184" y="1508760"/>
            <a:ext cx="3401568" cy="1261872"/>
          </a:xfrm>
          <a:prstGeom prst="roundRect">
            <a:avLst>
              <a:gd name="adj" fmla="val 11594"/>
            </a:avLst>
          </a:prstGeom>
          <a:solidFill>
            <a:srgbClr val="FFFFFF"/>
          </a:solidFill>
          <a:ln w="12700">
            <a:solidFill>
              <a:srgbClr val="FFFFFF">
                <a:alpha val="0"/>
              </a:srgbClr>
            </a:solidFill>
            <a:prstDash val="solid"/>
          </a:ln>
        </p:spPr>
      </p:sp>
      <p:sp>
        <p:nvSpPr>
          <p:cNvPr id="15" name="Shape 13"/>
          <p:cNvSpPr/>
          <p:nvPr/>
        </p:nvSpPr>
        <p:spPr>
          <a:xfrm>
            <a:off x="8531352" y="1728216"/>
            <a:ext cx="411480" cy="411480"/>
          </a:xfrm>
          <a:prstGeom prst="ellipse">
            <a:avLst/>
          </a:prstGeom>
          <a:solidFill>
            <a:srgbClr val="2E65C5"/>
          </a:solidFill>
          <a:ln w="12700">
            <a:solidFill>
              <a:srgbClr val="FFFFFF">
                <a:alpha val="0"/>
              </a:srgbClr>
            </a:solidFill>
            <a:prstDash val="solid"/>
          </a:ln>
        </p:spPr>
      </p:sp>
      <p:sp>
        <p:nvSpPr>
          <p:cNvPr id="16" name="Text 14"/>
          <p:cNvSpPr txBox="1"/>
          <p:nvPr/>
        </p:nvSpPr>
        <p:spPr>
          <a:xfrm>
            <a:off x="9107424" y="1709928"/>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Shared UI</a:t>
            </a:r>
            <a:endParaRPr lang="en-US" sz="1400" dirty="0"/>
          </a:p>
        </p:txBody>
      </p:sp>
      <p:sp>
        <p:nvSpPr>
          <p:cNvPr id="17" name="Text 15"/>
          <p:cNvSpPr txBox="1"/>
          <p:nvPr/>
        </p:nvSpPr>
        <p:spPr>
          <a:xfrm>
            <a:off x="8540496" y="2221992"/>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Reusable banners, tooltips, themes, badges, and Copilot controls</a:t>
            </a:r>
            <a:endParaRPr lang="en-US" sz="1120" dirty="0"/>
          </a:p>
        </p:txBody>
      </p:sp>
      <p:sp>
        <p:nvSpPr>
          <p:cNvPr id="18" name="Shape 16"/>
          <p:cNvSpPr/>
          <p:nvPr/>
        </p:nvSpPr>
        <p:spPr>
          <a:xfrm>
            <a:off x="685800" y="3456432"/>
            <a:ext cx="3401568" cy="1261872"/>
          </a:xfrm>
          <a:prstGeom prst="roundRect">
            <a:avLst>
              <a:gd name="adj" fmla="val 11594"/>
            </a:avLst>
          </a:prstGeom>
          <a:solidFill>
            <a:srgbClr val="FFFFFF"/>
          </a:solidFill>
          <a:ln w="12700">
            <a:solidFill>
              <a:srgbClr val="FFFFFF">
                <a:alpha val="0"/>
              </a:srgbClr>
            </a:solidFill>
            <a:prstDash val="solid"/>
          </a:ln>
        </p:spPr>
      </p:sp>
      <p:sp>
        <p:nvSpPr>
          <p:cNvPr id="19" name="Shape 17"/>
          <p:cNvSpPr/>
          <p:nvPr/>
        </p:nvSpPr>
        <p:spPr>
          <a:xfrm>
            <a:off x="886968" y="3675888"/>
            <a:ext cx="411480" cy="411480"/>
          </a:xfrm>
          <a:prstGeom prst="ellipse">
            <a:avLst/>
          </a:prstGeom>
          <a:solidFill>
            <a:srgbClr val="2E65C5"/>
          </a:solidFill>
          <a:ln w="12700">
            <a:solidFill>
              <a:srgbClr val="FFFFFF">
                <a:alpha val="0"/>
              </a:srgbClr>
            </a:solidFill>
            <a:prstDash val="solid"/>
          </a:ln>
        </p:spPr>
      </p:sp>
      <p:sp>
        <p:nvSpPr>
          <p:cNvPr id="20" name="Text 18"/>
          <p:cNvSpPr txBox="1"/>
          <p:nvPr/>
        </p:nvSpPr>
        <p:spPr>
          <a:xfrm>
            <a:off x="1463040" y="3657600"/>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SQLite stores</a:t>
            </a:r>
            <a:endParaRPr lang="en-US" sz="1400" dirty="0"/>
          </a:p>
        </p:txBody>
      </p:sp>
      <p:sp>
        <p:nvSpPr>
          <p:cNvPr id="21" name="Text 19"/>
          <p:cNvSpPr txBox="1"/>
          <p:nvPr/>
        </p:nvSpPr>
        <p:spPr>
          <a:xfrm>
            <a:off x="896112" y="4169664"/>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Fictional alerts, sources, chunks, audit events, and case scope</a:t>
            </a:r>
            <a:endParaRPr lang="en-US" sz="1120" dirty="0"/>
          </a:p>
        </p:txBody>
      </p:sp>
      <p:sp>
        <p:nvSpPr>
          <p:cNvPr id="22" name="Shape 20"/>
          <p:cNvSpPr/>
          <p:nvPr/>
        </p:nvSpPr>
        <p:spPr>
          <a:xfrm>
            <a:off x="4507992" y="3456432"/>
            <a:ext cx="3401568" cy="1261872"/>
          </a:xfrm>
          <a:prstGeom prst="roundRect">
            <a:avLst>
              <a:gd name="adj" fmla="val 11594"/>
            </a:avLst>
          </a:prstGeom>
          <a:solidFill>
            <a:srgbClr val="E6F8F6"/>
          </a:solidFill>
          <a:ln w="12700">
            <a:solidFill>
              <a:srgbClr val="E6F8F6">
                <a:alpha val="0"/>
              </a:srgbClr>
            </a:solidFill>
            <a:prstDash val="solid"/>
          </a:ln>
        </p:spPr>
      </p:sp>
      <p:sp>
        <p:nvSpPr>
          <p:cNvPr id="23" name="Shape 21"/>
          <p:cNvSpPr/>
          <p:nvPr/>
        </p:nvSpPr>
        <p:spPr>
          <a:xfrm>
            <a:off x="4709160" y="3675888"/>
            <a:ext cx="411480" cy="411480"/>
          </a:xfrm>
          <a:prstGeom prst="ellipse">
            <a:avLst/>
          </a:prstGeom>
          <a:solidFill>
            <a:srgbClr val="00A79D"/>
          </a:solidFill>
          <a:ln w="12700">
            <a:solidFill>
              <a:srgbClr val="FFFFFF">
                <a:alpha val="0"/>
              </a:srgbClr>
            </a:solidFill>
            <a:prstDash val="solid"/>
          </a:ln>
        </p:spPr>
      </p:sp>
      <p:sp>
        <p:nvSpPr>
          <p:cNvPr id="24" name="Text 22"/>
          <p:cNvSpPr txBox="1"/>
          <p:nvPr/>
        </p:nvSpPr>
        <p:spPr>
          <a:xfrm>
            <a:off x="5285232" y="3657600"/>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Retrieval + checks</a:t>
            </a:r>
            <a:endParaRPr lang="en-US" sz="1400" dirty="0"/>
          </a:p>
        </p:txBody>
      </p:sp>
      <p:sp>
        <p:nvSpPr>
          <p:cNvPr id="25" name="Text 23"/>
          <p:cNvSpPr txBox="1"/>
          <p:nvPr/>
        </p:nvSpPr>
        <p:spPr>
          <a:xfrm>
            <a:off x="4718304" y="4169664"/>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FTS5/BM25, cited IDs, and deterministic evidence confidence</a:t>
            </a:r>
            <a:endParaRPr lang="en-US" sz="1120" dirty="0"/>
          </a:p>
        </p:txBody>
      </p:sp>
      <p:sp>
        <p:nvSpPr>
          <p:cNvPr id="26" name="Shape 24"/>
          <p:cNvSpPr/>
          <p:nvPr/>
        </p:nvSpPr>
        <p:spPr>
          <a:xfrm>
            <a:off x="8330184" y="3456432"/>
            <a:ext cx="3401568" cy="1261872"/>
          </a:xfrm>
          <a:prstGeom prst="roundRect">
            <a:avLst>
              <a:gd name="adj" fmla="val 11594"/>
            </a:avLst>
          </a:prstGeom>
          <a:solidFill>
            <a:srgbClr val="FFFFFF"/>
          </a:solidFill>
          <a:ln w="12700">
            <a:solidFill>
              <a:srgbClr val="FFFFFF">
                <a:alpha val="0"/>
              </a:srgbClr>
            </a:solidFill>
            <a:prstDash val="solid"/>
          </a:ln>
        </p:spPr>
      </p:sp>
      <p:sp>
        <p:nvSpPr>
          <p:cNvPr id="27" name="Shape 25"/>
          <p:cNvSpPr/>
          <p:nvPr/>
        </p:nvSpPr>
        <p:spPr>
          <a:xfrm>
            <a:off x="8531352" y="3675888"/>
            <a:ext cx="411480" cy="411480"/>
          </a:xfrm>
          <a:prstGeom prst="ellipse">
            <a:avLst/>
          </a:prstGeom>
          <a:solidFill>
            <a:srgbClr val="2E65C5"/>
          </a:solidFill>
          <a:ln w="12700">
            <a:solidFill>
              <a:srgbClr val="FFFFFF">
                <a:alpha val="0"/>
              </a:srgbClr>
            </a:solidFill>
            <a:prstDash val="solid"/>
          </a:ln>
        </p:spPr>
      </p:sp>
      <p:sp>
        <p:nvSpPr>
          <p:cNvPr id="28" name="Text 26"/>
          <p:cNvSpPr txBox="1"/>
          <p:nvPr/>
        </p:nvSpPr>
        <p:spPr>
          <a:xfrm>
            <a:off x="9107424" y="3657600"/>
            <a:ext cx="2377440" cy="201168"/>
          </a:xfrm>
          <a:prstGeom prst="rect">
            <a:avLst/>
          </a:prstGeom>
          <a:noFill/>
          <a:ln/>
        </p:spPr>
        <p:txBody>
          <a:bodyPr wrap="square" lIns="0" tIns="0" rIns="0" bIns="0" rtlCol="0" anchor="ctr">
            <a:normAutofit/>
          </a:bodyPr>
          <a:lstStyle/>
          <a:p>
            <a:pPr algn="l" indent="0" marL="0">
              <a:buNone/>
            </a:pPr>
            <a:r>
              <a:rPr lang="en-US" sz="1400" b="1" dirty="0">
                <a:solidFill>
                  <a:srgbClr val="12233F"/>
                </a:solidFill>
                <a:latin typeface="Arial" pitchFamily="34" charset="0"/>
                <a:ea typeface="Arial" pitchFamily="34" charset="-122"/>
                <a:cs typeface="Arial" pitchFamily="34" charset="-120"/>
              </a:rPr>
              <a:t>Release assets</a:t>
            </a:r>
            <a:endParaRPr lang="en-US" sz="1400" dirty="0"/>
          </a:p>
        </p:txBody>
      </p:sp>
      <p:sp>
        <p:nvSpPr>
          <p:cNvPr id="29" name="Text 27"/>
          <p:cNvSpPr txBox="1"/>
          <p:nvPr/>
        </p:nvSpPr>
        <p:spPr>
          <a:xfrm>
            <a:off x="8540496" y="4169664"/>
            <a:ext cx="2852928" cy="329184"/>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Captures and builders; GitHub main to Railway verification</a:t>
            </a:r>
            <a:endParaRPr lang="en-US" sz="1120" dirty="0"/>
          </a:p>
        </p:txBody>
      </p:sp>
      <p:sp>
        <p:nvSpPr>
          <p:cNvPr id="30" name="Text 28"/>
          <p:cNvSpPr txBox="1"/>
          <p:nvPr/>
        </p:nvSpPr>
        <p:spPr>
          <a:xfrm>
            <a:off x="1033272" y="5650992"/>
            <a:ext cx="10058400" cy="274320"/>
          </a:xfrm>
          <a:prstGeom prst="rect">
            <a:avLst/>
          </a:prstGeom>
          <a:noFill/>
          <a:ln/>
        </p:spPr>
        <p:txBody>
          <a:bodyPr wrap="square" lIns="0" tIns="0" rIns="0" bIns="0" rtlCol="0" anchor="ctr">
            <a:normAutofit/>
          </a:bodyPr>
          <a:lstStyle/>
          <a:p>
            <a:pPr algn="ctr" indent="0" marL="0">
              <a:buNone/>
            </a:pPr>
            <a:r>
              <a:rPr lang="en-US" sz="1600" b="1" dirty="0">
                <a:solidFill>
                  <a:srgbClr val="0B1F3A"/>
                </a:solidFill>
                <a:latin typeface="Arial" pitchFamily="34" charset="0"/>
                <a:ea typeface="Arial" pitchFamily="34" charset="-122"/>
                <a:cs typeface="Arial" pitchFamily="34" charset="-120"/>
              </a:rPr>
              <a:t>route → active case → SQLite / FTS5 → cited report → append-only human audit event</a:t>
            </a:r>
            <a:endParaRPr lang="en-US" sz="1600" dirty="0"/>
          </a:p>
        </p:txBody>
      </p:sp>
    </p:spTree>
  </p:cSld>
  <p:clrMapOvr>
    <a:masterClrMapping/>
  </p:clrMapOvr>
  <p:transition spd="med" advClick="1">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78DCD4"/>
                </a:solidFill>
                <a:latin typeface="Arial" pitchFamily="34" charset="0"/>
                <a:ea typeface="Arial" pitchFamily="34" charset="-122"/>
                <a:cs typeface="Arial" pitchFamily="34" charset="-120"/>
              </a:rPr>
              <a:t>PROTECTED ADMINISTRATION</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FFFFFF"/>
                </a:solidFill>
                <a:latin typeface="Arial" pitchFamily="34" charset="0"/>
                <a:ea typeface="Arial" pitchFamily="34" charset="-122"/>
                <a:cs typeface="Arial" pitchFamily="34" charset="-120"/>
              </a:rPr>
              <a:t>Admin tools remain visibly separate</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16</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576072" y="1252728"/>
            <a:ext cx="6400800" cy="3639312"/>
          </a:xfrm>
          <a:prstGeom prst="roundRect">
            <a:avLst>
              <a:gd name="adj" fmla="val 4020"/>
            </a:avLst>
          </a:prstGeom>
          <a:solidFill>
            <a:srgbClr val="D9E7FC"/>
          </a:solidFill>
          <a:ln w="12700">
            <a:solidFill>
              <a:srgbClr val="D9E7FC">
                <a:alpha val="0"/>
              </a:srgbClr>
            </a:solidFill>
            <a:prstDash val="solid"/>
          </a:ln>
        </p:spPr>
      </p:sp>
      <p:pic>
        <p:nvPicPr>
          <p:cNvPr id="7" name="Image 0" descr="C:\D\IIT Mumbai\Capstone Blueprint\assets\walkthrough_screens\2026_admin_knowledge_locked.png">    </p:cNvPr>
          <p:cNvPicPr>
            <a:picLocks noChangeAspect="1"/>
          </p:cNvPicPr>
          <p:nvPr/>
        </p:nvPicPr>
        <p:blipFill>
          <a:blip r:embed="rId1"/>
          <a:stretch>
            <a:fillRect/>
          </a:stretch>
        </p:blipFill>
        <p:spPr>
          <a:xfrm>
            <a:off x="621792" y="1298448"/>
            <a:ext cx="6309360" cy="3547872"/>
          </a:xfrm>
          <a:prstGeom prst="rect">
            <a:avLst/>
          </a:prstGeom>
        </p:spPr>
      </p:pic>
      <p:sp>
        <p:nvSpPr>
          <p:cNvPr id="8" name="Text 5"/>
          <p:cNvSpPr txBox="1"/>
          <p:nvPr/>
        </p:nvSpPr>
        <p:spPr>
          <a:xfrm>
            <a:off x="7333488" y="1572768"/>
            <a:ext cx="3154680" cy="219456"/>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Knowledge Base</a:t>
            </a:r>
            <a:endParaRPr lang="en-US" sz="1900" dirty="0"/>
          </a:p>
        </p:txBody>
      </p:sp>
      <p:sp>
        <p:nvSpPr>
          <p:cNvPr id="9" name="Text 6"/>
          <p:cNvSpPr txBox="1"/>
          <p:nvPr/>
        </p:nvSpPr>
        <p:spPr>
          <a:xfrm>
            <a:off x="7333488" y="1938528"/>
            <a:ext cx="3730752" cy="594360"/>
          </a:xfrm>
          <a:prstGeom prst="rect">
            <a:avLst/>
          </a:prstGeom>
          <a:noFill/>
          <a:ln/>
        </p:spPr>
        <p:txBody>
          <a:bodyPr wrap="square" lIns="0" tIns="0" rIns="0" bIns="0" rtlCol="0" anchor="t">
            <a:normAutofit/>
          </a:bodyPr>
          <a:lstStyle/>
          <a:p>
            <a:pPr algn="l" indent="0" marL="0">
              <a:buNone/>
            </a:pPr>
            <a:r>
              <a:rPr lang="en-US" sz="1500" dirty="0">
                <a:solidFill>
                  <a:srgbClr val="DDEBFF"/>
                </a:solidFill>
                <a:latin typeface="Arial" pitchFamily="34" charset="0"/>
                <a:ea typeface="Arial" pitchFamily="34" charset="-122"/>
                <a:cs typeface="Arial" pitchFamily="34" charset="-120"/>
              </a:rPr>
              <a:t>Source and chunk inspection live behind a separate masked passcode. The Blueprint and demo never reveal or automate the passcode.</a:t>
            </a:r>
            <a:endParaRPr lang="en-US" sz="1500" dirty="0"/>
          </a:p>
        </p:txBody>
      </p:sp>
      <p:sp>
        <p:nvSpPr>
          <p:cNvPr id="10" name="Text 7"/>
          <p:cNvSpPr txBox="1"/>
          <p:nvPr/>
        </p:nvSpPr>
        <p:spPr>
          <a:xfrm>
            <a:off x="7333488" y="2971800"/>
            <a:ext cx="3154680" cy="219456"/>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Arial" pitchFamily="34" charset="0"/>
                <a:ea typeface="Arial" pitchFamily="34" charset="-122"/>
                <a:cs typeface="Arial" pitchFamily="34" charset="-120"/>
              </a:rPr>
              <a:t>Rule Config</a:t>
            </a:r>
            <a:endParaRPr lang="en-US" sz="1900" dirty="0"/>
          </a:p>
        </p:txBody>
      </p:sp>
      <p:sp>
        <p:nvSpPr>
          <p:cNvPr id="11" name="Text 8"/>
          <p:cNvSpPr txBox="1"/>
          <p:nvPr/>
        </p:nvSpPr>
        <p:spPr>
          <a:xfrm>
            <a:off x="7333488" y="3328416"/>
            <a:ext cx="3749040" cy="594360"/>
          </a:xfrm>
          <a:prstGeom prst="rect">
            <a:avLst/>
          </a:prstGeom>
          <a:noFill/>
          <a:ln/>
        </p:spPr>
        <p:txBody>
          <a:bodyPr wrap="square" lIns="0" tIns="0" rIns="0" bIns="0" rtlCol="0" anchor="t">
            <a:normAutofit/>
          </a:bodyPr>
          <a:lstStyle/>
          <a:p>
            <a:pPr algn="l" indent="0" marL="0">
              <a:buNone/>
            </a:pPr>
            <a:r>
              <a:rPr lang="en-US" sz="1500" dirty="0">
                <a:solidFill>
                  <a:srgbClr val="DDEBFF"/>
                </a:solidFill>
                <a:latin typeface="Arial" pitchFamily="34" charset="0"/>
                <a:ea typeface="Arial" pitchFamily="34" charset="-122"/>
                <a:cs typeface="Arial" pitchFamily="34" charset="-120"/>
              </a:rPr>
              <a:t>Rule previews explain fictional settings without silently regenerating case alerts. Restricted controls preserve a visible boundary in the demo.</a:t>
            </a:r>
            <a:endParaRPr lang="en-US" sz="1500" dirty="0"/>
          </a:p>
        </p:txBody>
      </p:sp>
    </p:spTree>
  </p:cSld>
  <p:clrMapOvr>
    <a:masterClrMapping/>
  </p:clrMapOvr>
  <p:transition spd="med" advClick="1">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VALIDATION AND DEPLOYMENT</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The product and walkthrough follow reproducible checks</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17</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777240" y="1572768"/>
            <a:ext cx="5029200" cy="1152144"/>
          </a:xfrm>
          <a:prstGeom prst="roundRect">
            <a:avLst>
              <a:gd name="adj" fmla="val 12698"/>
            </a:avLst>
          </a:prstGeom>
          <a:solidFill>
            <a:srgbClr val="FFFFFF"/>
          </a:solidFill>
          <a:ln w="12700">
            <a:solidFill>
              <a:srgbClr val="FFFFFF">
                <a:alpha val="0"/>
              </a:srgbClr>
            </a:solidFill>
            <a:prstDash val="solid"/>
          </a:ln>
        </p:spPr>
      </p:sp>
      <p:sp>
        <p:nvSpPr>
          <p:cNvPr id="7" name="Text 5"/>
          <p:cNvSpPr txBox="1"/>
          <p:nvPr/>
        </p:nvSpPr>
        <p:spPr>
          <a:xfrm>
            <a:off x="1005840" y="1828800"/>
            <a:ext cx="384048" cy="256032"/>
          </a:xfrm>
          <a:prstGeom prst="rect">
            <a:avLst/>
          </a:prstGeom>
          <a:noFill/>
          <a:ln/>
        </p:spPr>
        <p:txBody>
          <a:bodyPr wrap="square" lIns="0" tIns="0" rIns="0" bIns="0" rtlCol="0" anchor="ctr">
            <a:normAutofit/>
          </a:bodyPr>
          <a:lstStyle/>
          <a:p>
            <a:pPr algn="ctr" indent="0" marL="0">
              <a:buNone/>
            </a:pPr>
            <a:r>
              <a:rPr lang="en-US" sz="2000" b="1" dirty="0">
                <a:solidFill>
                  <a:srgbClr val="2E65C5"/>
                </a:solidFill>
                <a:latin typeface="Arial" pitchFamily="34" charset="0"/>
                <a:ea typeface="Arial" pitchFamily="34" charset="-122"/>
                <a:cs typeface="Arial" pitchFamily="34" charset="-120"/>
              </a:rPr>
              <a:t>1</a:t>
            </a:r>
            <a:endParaRPr lang="en-US" sz="2000" dirty="0"/>
          </a:p>
        </p:txBody>
      </p:sp>
      <p:sp>
        <p:nvSpPr>
          <p:cNvPr id="8" name="Text 6"/>
          <p:cNvSpPr txBox="1"/>
          <p:nvPr/>
        </p:nvSpPr>
        <p:spPr>
          <a:xfrm>
            <a:off x="1554480" y="1783080"/>
            <a:ext cx="3566160" cy="228600"/>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Local validation</a:t>
            </a:r>
            <a:endParaRPr lang="en-US" sz="1600" dirty="0"/>
          </a:p>
        </p:txBody>
      </p:sp>
      <p:sp>
        <p:nvSpPr>
          <p:cNvPr id="9" name="Text 7"/>
          <p:cNvSpPr txBox="1"/>
          <p:nvPr/>
        </p:nvSpPr>
        <p:spPr>
          <a:xfrm>
            <a:off x="1554480" y="2157984"/>
            <a:ext cx="3840480" cy="274320"/>
          </a:xfrm>
          <a:prstGeom prst="rect">
            <a:avLst/>
          </a:prstGeom>
          <a:noFill/>
          <a:ln/>
        </p:spPr>
        <p:txBody>
          <a:bodyPr wrap="square" lIns="0" tIns="0" rIns="0" bIns="0" rtlCol="0" anchor="ctr">
            <a:normAutofit/>
          </a:bodyPr>
          <a:lstStyle/>
          <a:p>
            <a:pPr algn="l" indent="0" marL="0">
              <a:buNone/>
            </a:pPr>
            <a:r>
              <a:rPr lang="en-US" sz="1200" dirty="0">
                <a:solidFill>
                  <a:srgbClr val="63738D"/>
                </a:solidFill>
                <a:latin typeface="Arial" pitchFamily="34" charset="0"/>
                <a:ea typeface="Arial" pitchFamily="34" charset="-122"/>
                <a:cs typeface="Arial" pitchFamily="34" charset="-120"/>
              </a:rPr>
              <a:t>Exercise the changed screen before release</a:t>
            </a:r>
            <a:endParaRPr lang="en-US" sz="1200" dirty="0"/>
          </a:p>
        </p:txBody>
      </p:sp>
      <p:sp>
        <p:nvSpPr>
          <p:cNvPr id="10" name="Shape 8"/>
          <p:cNvSpPr/>
          <p:nvPr/>
        </p:nvSpPr>
        <p:spPr>
          <a:xfrm>
            <a:off x="6400800" y="1572768"/>
            <a:ext cx="5029200" cy="1152144"/>
          </a:xfrm>
          <a:prstGeom prst="roundRect">
            <a:avLst>
              <a:gd name="adj" fmla="val 12698"/>
            </a:avLst>
          </a:prstGeom>
          <a:solidFill>
            <a:srgbClr val="FFFFFF"/>
          </a:solidFill>
          <a:ln w="12700">
            <a:solidFill>
              <a:srgbClr val="FFFFFF">
                <a:alpha val="0"/>
              </a:srgbClr>
            </a:solidFill>
            <a:prstDash val="solid"/>
          </a:ln>
        </p:spPr>
      </p:sp>
      <p:sp>
        <p:nvSpPr>
          <p:cNvPr id="11" name="Text 9"/>
          <p:cNvSpPr txBox="1"/>
          <p:nvPr/>
        </p:nvSpPr>
        <p:spPr>
          <a:xfrm>
            <a:off x="6629400" y="1828800"/>
            <a:ext cx="384048" cy="256032"/>
          </a:xfrm>
          <a:prstGeom prst="rect">
            <a:avLst/>
          </a:prstGeom>
          <a:noFill/>
          <a:ln/>
        </p:spPr>
        <p:txBody>
          <a:bodyPr wrap="square" lIns="0" tIns="0" rIns="0" bIns="0" rtlCol="0" anchor="ctr">
            <a:normAutofit/>
          </a:bodyPr>
          <a:lstStyle/>
          <a:p>
            <a:pPr algn="ctr" indent="0" marL="0">
              <a:buNone/>
            </a:pPr>
            <a:r>
              <a:rPr lang="en-US" sz="2000" b="1" dirty="0">
                <a:solidFill>
                  <a:srgbClr val="2E65C5"/>
                </a:solidFill>
                <a:latin typeface="Arial" pitchFamily="34" charset="0"/>
                <a:ea typeface="Arial" pitchFamily="34" charset="-122"/>
                <a:cs typeface="Arial" pitchFamily="34" charset="-120"/>
              </a:rPr>
              <a:t>2</a:t>
            </a:r>
            <a:endParaRPr lang="en-US" sz="2000" dirty="0"/>
          </a:p>
        </p:txBody>
      </p:sp>
      <p:sp>
        <p:nvSpPr>
          <p:cNvPr id="12" name="Text 10"/>
          <p:cNvSpPr txBox="1"/>
          <p:nvPr/>
        </p:nvSpPr>
        <p:spPr>
          <a:xfrm>
            <a:off x="7178040" y="1783080"/>
            <a:ext cx="3566160" cy="228600"/>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Workflow protection</a:t>
            </a:r>
            <a:endParaRPr lang="en-US" sz="1600" dirty="0"/>
          </a:p>
        </p:txBody>
      </p:sp>
      <p:sp>
        <p:nvSpPr>
          <p:cNvPr id="13" name="Text 11"/>
          <p:cNvSpPr txBox="1"/>
          <p:nvPr/>
        </p:nvSpPr>
        <p:spPr>
          <a:xfrm>
            <a:off x="7178040" y="2157984"/>
            <a:ext cx="3840480" cy="274320"/>
          </a:xfrm>
          <a:prstGeom prst="rect">
            <a:avLst/>
          </a:prstGeom>
          <a:noFill/>
          <a:ln/>
        </p:spPr>
        <p:txBody>
          <a:bodyPr wrap="square" lIns="0" tIns="0" rIns="0" bIns="0" rtlCol="0" anchor="ctr">
            <a:normAutofit/>
          </a:bodyPr>
          <a:lstStyle/>
          <a:p>
            <a:pPr algn="l" indent="0" marL="0">
              <a:buNone/>
            </a:pPr>
            <a:r>
              <a:rPr lang="en-US" sz="1200" dirty="0">
                <a:solidFill>
                  <a:srgbClr val="63738D"/>
                </a:solidFill>
                <a:latin typeface="Arial" pitchFamily="34" charset="0"/>
                <a:ea typeface="Arial" pitchFamily="34" charset="-122"/>
                <a:cs typeface="Arial" pitchFamily="34" charset="-120"/>
              </a:rPr>
              <a:t>Avoid creating decisions, intake cases, or Compliance actions during a demo</a:t>
            </a:r>
            <a:endParaRPr lang="en-US" sz="1200" dirty="0"/>
          </a:p>
        </p:txBody>
      </p:sp>
      <p:sp>
        <p:nvSpPr>
          <p:cNvPr id="14" name="Shape 12"/>
          <p:cNvSpPr/>
          <p:nvPr/>
        </p:nvSpPr>
        <p:spPr>
          <a:xfrm>
            <a:off x="777240" y="3236976"/>
            <a:ext cx="5029200" cy="1152144"/>
          </a:xfrm>
          <a:prstGeom prst="roundRect">
            <a:avLst>
              <a:gd name="adj" fmla="val 12698"/>
            </a:avLst>
          </a:prstGeom>
          <a:solidFill>
            <a:srgbClr val="E6F8F6"/>
          </a:solidFill>
          <a:ln w="12700">
            <a:solidFill>
              <a:srgbClr val="E6F8F6">
                <a:alpha val="0"/>
              </a:srgbClr>
            </a:solidFill>
            <a:prstDash val="solid"/>
          </a:ln>
        </p:spPr>
      </p:sp>
      <p:sp>
        <p:nvSpPr>
          <p:cNvPr id="15" name="Text 13"/>
          <p:cNvSpPr txBox="1"/>
          <p:nvPr/>
        </p:nvSpPr>
        <p:spPr>
          <a:xfrm>
            <a:off x="1005840" y="3493008"/>
            <a:ext cx="384048" cy="256032"/>
          </a:xfrm>
          <a:prstGeom prst="rect">
            <a:avLst/>
          </a:prstGeom>
          <a:noFill/>
          <a:ln/>
        </p:spPr>
        <p:txBody>
          <a:bodyPr wrap="square" lIns="0" tIns="0" rIns="0" bIns="0" rtlCol="0" anchor="ctr">
            <a:normAutofit/>
          </a:bodyPr>
          <a:lstStyle/>
          <a:p>
            <a:pPr algn="ctr" indent="0" marL="0">
              <a:buNone/>
            </a:pPr>
            <a:r>
              <a:rPr lang="en-US" sz="2000" b="1" dirty="0">
                <a:solidFill>
                  <a:srgbClr val="00A79D"/>
                </a:solidFill>
                <a:latin typeface="Arial" pitchFamily="34" charset="0"/>
                <a:ea typeface="Arial" pitchFamily="34" charset="-122"/>
                <a:cs typeface="Arial" pitchFamily="34" charset="-120"/>
              </a:rPr>
              <a:t>3</a:t>
            </a:r>
            <a:endParaRPr lang="en-US" sz="2000" dirty="0"/>
          </a:p>
        </p:txBody>
      </p:sp>
      <p:sp>
        <p:nvSpPr>
          <p:cNvPr id="16" name="Text 14"/>
          <p:cNvSpPr txBox="1"/>
          <p:nvPr/>
        </p:nvSpPr>
        <p:spPr>
          <a:xfrm>
            <a:off x="1554480" y="3447288"/>
            <a:ext cx="3566160" cy="228600"/>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Visual QA</a:t>
            </a:r>
            <a:endParaRPr lang="en-US" sz="1600" dirty="0"/>
          </a:p>
        </p:txBody>
      </p:sp>
      <p:sp>
        <p:nvSpPr>
          <p:cNvPr id="17" name="Text 15"/>
          <p:cNvSpPr txBox="1"/>
          <p:nvPr/>
        </p:nvSpPr>
        <p:spPr>
          <a:xfrm>
            <a:off x="1554480" y="3822192"/>
            <a:ext cx="3840480" cy="274320"/>
          </a:xfrm>
          <a:prstGeom prst="rect">
            <a:avLst/>
          </a:prstGeom>
          <a:noFill/>
          <a:ln/>
        </p:spPr>
        <p:txBody>
          <a:bodyPr wrap="square" lIns="0" tIns="0" rIns="0" bIns="0" rtlCol="0" anchor="ctr">
            <a:normAutofit/>
          </a:bodyPr>
          <a:lstStyle/>
          <a:p>
            <a:pPr algn="l" indent="0" marL="0">
              <a:buNone/>
            </a:pPr>
            <a:r>
              <a:rPr lang="en-US" sz="1200" dirty="0">
                <a:solidFill>
                  <a:srgbClr val="63738D"/>
                </a:solidFill>
                <a:latin typeface="Arial" pitchFamily="34" charset="0"/>
                <a:ea typeface="Arial" pitchFamily="34" charset="-122"/>
                <a:cs typeface="Arial" pitchFamily="34" charset="-120"/>
              </a:rPr>
              <a:t>Check light/dark contrast, tooltips, tables, charts, and pointer targets</a:t>
            </a:r>
            <a:endParaRPr lang="en-US" sz="1200" dirty="0"/>
          </a:p>
        </p:txBody>
      </p:sp>
      <p:sp>
        <p:nvSpPr>
          <p:cNvPr id="18" name="Shape 16"/>
          <p:cNvSpPr/>
          <p:nvPr/>
        </p:nvSpPr>
        <p:spPr>
          <a:xfrm>
            <a:off x="6400800" y="3236976"/>
            <a:ext cx="5029200" cy="1152144"/>
          </a:xfrm>
          <a:prstGeom prst="roundRect">
            <a:avLst>
              <a:gd name="adj" fmla="val 12698"/>
            </a:avLst>
          </a:prstGeom>
          <a:solidFill>
            <a:srgbClr val="FFFFFF"/>
          </a:solidFill>
          <a:ln w="12700">
            <a:solidFill>
              <a:srgbClr val="FFFFFF">
                <a:alpha val="0"/>
              </a:srgbClr>
            </a:solidFill>
            <a:prstDash val="solid"/>
          </a:ln>
        </p:spPr>
      </p:sp>
      <p:sp>
        <p:nvSpPr>
          <p:cNvPr id="19" name="Text 17"/>
          <p:cNvSpPr txBox="1"/>
          <p:nvPr/>
        </p:nvSpPr>
        <p:spPr>
          <a:xfrm>
            <a:off x="6629400" y="3493008"/>
            <a:ext cx="384048" cy="256032"/>
          </a:xfrm>
          <a:prstGeom prst="rect">
            <a:avLst/>
          </a:prstGeom>
          <a:noFill/>
          <a:ln/>
        </p:spPr>
        <p:txBody>
          <a:bodyPr wrap="square" lIns="0" tIns="0" rIns="0" bIns="0" rtlCol="0" anchor="ctr">
            <a:normAutofit/>
          </a:bodyPr>
          <a:lstStyle/>
          <a:p>
            <a:pPr algn="ctr" indent="0" marL="0">
              <a:buNone/>
            </a:pPr>
            <a:r>
              <a:rPr lang="en-US" sz="2000" b="1" dirty="0">
                <a:solidFill>
                  <a:srgbClr val="2E65C5"/>
                </a:solidFill>
                <a:latin typeface="Arial" pitchFamily="34" charset="0"/>
                <a:ea typeface="Arial" pitchFamily="34" charset="-122"/>
                <a:cs typeface="Arial" pitchFamily="34" charset="-120"/>
              </a:rPr>
              <a:t>4</a:t>
            </a:r>
            <a:endParaRPr lang="en-US" sz="2000" dirty="0"/>
          </a:p>
        </p:txBody>
      </p:sp>
      <p:sp>
        <p:nvSpPr>
          <p:cNvPr id="20" name="Text 18"/>
          <p:cNvSpPr txBox="1"/>
          <p:nvPr/>
        </p:nvSpPr>
        <p:spPr>
          <a:xfrm>
            <a:off x="7178040" y="3447288"/>
            <a:ext cx="3566160" cy="228600"/>
          </a:xfrm>
          <a:prstGeom prst="rect">
            <a:avLst/>
          </a:prstGeom>
          <a:noFill/>
          <a:ln/>
        </p:spPr>
        <p:txBody>
          <a:bodyPr wrap="square" lIns="0" tIns="0" rIns="0" bIns="0" rtlCol="0" anchor="ctr">
            <a:normAutofit/>
          </a:bodyPr>
          <a:lstStyle/>
          <a:p>
            <a:pPr algn="l" indent="0" marL="0">
              <a:buNone/>
            </a:pPr>
            <a:r>
              <a:rPr lang="en-US" sz="1600" b="1" dirty="0">
                <a:solidFill>
                  <a:srgbClr val="12233F"/>
                </a:solidFill>
                <a:latin typeface="Arial" pitchFamily="34" charset="0"/>
                <a:ea typeface="Arial" pitchFamily="34" charset="-122"/>
                <a:cs typeface="Arial" pitchFamily="34" charset="-120"/>
              </a:rPr>
              <a:t>Release</a:t>
            </a:r>
            <a:endParaRPr lang="en-US" sz="1600" dirty="0"/>
          </a:p>
        </p:txBody>
      </p:sp>
      <p:sp>
        <p:nvSpPr>
          <p:cNvPr id="21" name="Text 19"/>
          <p:cNvSpPr txBox="1"/>
          <p:nvPr/>
        </p:nvSpPr>
        <p:spPr>
          <a:xfrm>
            <a:off x="7178040" y="3822192"/>
            <a:ext cx="3840480" cy="274320"/>
          </a:xfrm>
          <a:prstGeom prst="rect">
            <a:avLst/>
          </a:prstGeom>
          <a:noFill/>
          <a:ln/>
        </p:spPr>
        <p:txBody>
          <a:bodyPr wrap="square" lIns="0" tIns="0" rIns="0" bIns="0" rtlCol="0" anchor="ctr">
            <a:normAutofit/>
          </a:bodyPr>
          <a:lstStyle/>
          <a:p>
            <a:pPr algn="l" indent="0" marL="0">
              <a:buNone/>
            </a:pPr>
            <a:r>
              <a:rPr lang="en-US" sz="1200" dirty="0">
                <a:solidFill>
                  <a:srgbClr val="63738D"/>
                </a:solidFill>
                <a:latin typeface="Arial" pitchFamily="34" charset="0"/>
                <a:ea typeface="Arial" pitchFamily="34" charset="-122"/>
                <a:cs typeface="Arial" pitchFamily="34" charset="-120"/>
              </a:rPr>
              <a:t>Commit intended files, push main, verify the Railway response</a:t>
            </a:r>
            <a:endParaRPr lang="en-US" sz="1200" dirty="0"/>
          </a:p>
        </p:txBody>
      </p:sp>
      <p:sp>
        <p:nvSpPr>
          <p:cNvPr id="22" name="Text 20"/>
          <p:cNvSpPr txBox="1"/>
          <p:nvPr/>
        </p:nvSpPr>
        <p:spPr>
          <a:xfrm>
            <a:off x="960120" y="5330952"/>
            <a:ext cx="10195560" cy="320040"/>
          </a:xfrm>
          <a:prstGeom prst="rect">
            <a:avLst/>
          </a:prstGeom>
          <a:noFill/>
          <a:ln/>
        </p:spPr>
        <p:txBody>
          <a:bodyPr wrap="square" lIns="0" tIns="0" rIns="0" bIns="0" rtlCol="0" anchor="ctr">
            <a:normAutofit/>
          </a:bodyPr>
          <a:lstStyle/>
          <a:p>
            <a:pPr algn="ctr" indent="0" marL="0">
              <a:buNone/>
            </a:pPr>
            <a:r>
              <a:rPr lang="en-US" sz="1600" b="1" dirty="0">
                <a:solidFill>
                  <a:srgbClr val="0B1F3A"/>
                </a:solidFill>
                <a:latin typeface="Arial" pitchFamily="34" charset="0"/>
                <a:ea typeface="Arial" pitchFamily="34" charset="-122"/>
                <a:cs typeface="Arial" pitchFamily="34" charset="-120"/>
              </a:rPr>
              <a:t>The current product walkthrough has been rebuilt from current native screens, captioned, and deployed with the updated navigation.</a:t>
            </a:r>
            <a:endParaRPr lang="en-US" sz="1600" dirty="0"/>
          </a:p>
        </p:txBody>
      </p:sp>
    </p:spTree>
  </p:cSld>
  <p:clrMapOvr>
    <a:masterClrMapping/>
  </p:clrMapOvr>
  <p:transition spd="med" advClick="1">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9FE"/>
        </a:solidFill>
      </p:bgPr>
    </p:bg>
    <p:spTree>
      <p:nvGrpSpPr>
        <p:cNvPr id="1" name=""/>
        <p:cNvGrpSpPr/>
        <p:nvPr/>
      </p:nvGrpSpPr>
      <p:grpSpPr>
        <a:xfrm>
          <a:off x="0" y="0"/>
          <a:ext cx="0" cy="0"/>
          <a:chOff x="0" y="0"/>
          <a:chExt cx="0" cy="0"/>
        </a:xfrm>
      </p:grpSpPr>
      <p:sp>
        <p:nvSpPr>
          <p:cNvPr id="2" name="Text 0"/>
          <p:cNvSpPr txBox="1"/>
          <p:nvPr/>
        </p:nvSpPr>
        <p:spPr>
          <a:xfrm>
            <a:off x="621792" y="384048"/>
            <a:ext cx="4572000" cy="210312"/>
          </a:xfrm>
          <a:prstGeom prst="rect">
            <a:avLst/>
          </a:prstGeom>
          <a:noFill/>
          <a:ln/>
        </p:spPr>
        <p:txBody>
          <a:bodyPr wrap="square" lIns="0" tIns="0" rIns="0" bIns="0" rtlCol="0" anchor="ctr">
            <a:normAutofit/>
          </a:bodyPr>
          <a:lstStyle/>
          <a:p>
            <a:pPr algn="l" indent="0" marL="0">
              <a:buNone/>
            </a:pPr>
            <a:r>
              <a:rPr lang="en-US" sz="1000" b="1" dirty="0">
                <a:solidFill>
                  <a:srgbClr val="00A79D"/>
                </a:solidFill>
                <a:latin typeface="Arial" pitchFamily="34" charset="0"/>
                <a:ea typeface="Arial" pitchFamily="34" charset="-122"/>
                <a:cs typeface="Arial" pitchFamily="34" charset="-120"/>
              </a:rPr>
              <a:t>VALUE REALIZATION, ROI, AND ROADMAP</a:t>
            </a:r>
            <a:endParaRPr lang="en-US" sz="1000" dirty="0"/>
          </a:p>
        </p:txBody>
      </p:sp>
      <p:sp>
        <p:nvSpPr>
          <p:cNvPr id="3" name="Text 1"/>
          <p:cNvSpPr txBox="1"/>
          <p:nvPr/>
        </p:nvSpPr>
        <p:spPr>
          <a:xfrm>
            <a:off x="621792" y="658368"/>
            <a:ext cx="10881360" cy="493776"/>
          </a:xfrm>
          <a:prstGeom prst="rect">
            <a:avLst/>
          </a:prstGeom>
          <a:noFill/>
          <a:ln/>
        </p:spPr>
        <p:txBody>
          <a:bodyPr wrap="square" lIns="0" tIns="0" rIns="0" bIns="0" rtlCol="0" anchor="ctr">
            <a:normAutofit/>
          </a:bodyPr>
          <a:lstStyle/>
          <a:p>
            <a:pPr algn="l" indent="0" marL="0">
              <a:buNone/>
            </a:pPr>
            <a:r>
              <a:rPr lang="en-US" sz="3100" b="1" dirty="0">
                <a:solidFill>
                  <a:srgbClr val="0B1F3A"/>
                </a:solidFill>
                <a:latin typeface="Arial" pitchFamily="34" charset="0"/>
                <a:ea typeface="Arial" pitchFamily="34" charset="-122"/>
                <a:cs typeface="Arial" pitchFamily="34" charset="-120"/>
              </a:rPr>
              <a:t>Measure the benefit first; do not claim it from fictional data</a:t>
            </a:r>
            <a:endParaRPr lang="en-US" sz="3100" dirty="0"/>
          </a:p>
        </p:txBody>
      </p:sp>
      <p:sp>
        <p:nvSpPr>
          <p:cNvPr id="4" name="Text 2"/>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63738D"/>
                </a:solidFill>
                <a:latin typeface="Arial" pitchFamily="34" charset="0"/>
                <a:ea typeface="Arial" pitchFamily="34" charset="-122"/>
                <a:cs typeface="Arial" pitchFamily="34" charset="-120"/>
              </a:rPr>
              <a:t>InvestigateIQ  |  Capstone Group 7  |  18</a:t>
            </a:r>
            <a:endParaRPr lang="en-US" sz="850" dirty="0"/>
          </a:p>
        </p:txBody>
      </p:sp>
      <p:sp>
        <p:nvSpPr>
          <p:cNvPr id="5" name="Text 3"/>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63738D"/>
                </a:solidFill>
                <a:latin typeface="Arial" pitchFamily="34" charset="0"/>
                <a:ea typeface="Arial" pitchFamily="34" charset="-122"/>
                <a:cs typeface="Arial" pitchFamily="34" charset="-120"/>
              </a:rPr>
              <a:t>Fictional AML investigation learning environment</a:t>
            </a:r>
            <a:endParaRPr lang="en-US" sz="850" dirty="0"/>
          </a:p>
        </p:txBody>
      </p:sp>
      <p:sp>
        <p:nvSpPr>
          <p:cNvPr id="6" name="Shape 4"/>
          <p:cNvSpPr/>
          <p:nvPr/>
        </p:nvSpPr>
        <p:spPr>
          <a:xfrm>
            <a:off x="685800" y="1417320"/>
            <a:ext cx="5029200" cy="868680"/>
          </a:xfrm>
          <a:prstGeom prst="roundRect">
            <a:avLst>
              <a:gd name="adj" fmla="val 16842"/>
            </a:avLst>
          </a:prstGeom>
          <a:solidFill>
            <a:srgbClr val="FFFFFF"/>
          </a:solidFill>
          <a:ln w="12700">
            <a:solidFill>
              <a:srgbClr val="FFFFFF">
                <a:alpha val="0"/>
              </a:srgbClr>
            </a:solidFill>
            <a:prstDash val="solid"/>
          </a:ln>
        </p:spPr>
      </p:sp>
      <p:sp>
        <p:nvSpPr>
          <p:cNvPr id="7" name="Text 5"/>
          <p:cNvSpPr txBox="1"/>
          <p:nvPr/>
        </p:nvSpPr>
        <p:spPr>
          <a:xfrm>
            <a:off x="886968" y="1581912"/>
            <a:ext cx="1325880" cy="182880"/>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Efficiency</a:t>
            </a:r>
            <a:endParaRPr lang="en-US" sz="1400" dirty="0"/>
          </a:p>
        </p:txBody>
      </p:sp>
      <p:sp>
        <p:nvSpPr>
          <p:cNvPr id="8" name="Text 6"/>
          <p:cNvSpPr txBox="1"/>
          <p:nvPr/>
        </p:nvSpPr>
        <p:spPr>
          <a:xfrm>
            <a:off x="2103120" y="1554480"/>
            <a:ext cx="3337560" cy="411480"/>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Measure verified minutes saved locating a case record or exact source passage.</a:t>
            </a:r>
            <a:endParaRPr lang="en-US" sz="1120" dirty="0"/>
          </a:p>
        </p:txBody>
      </p:sp>
      <p:sp>
        <p:nvSpPr>
          <p:cNvPr id="9" name="Shape 7"/>
          <p:cNvSpPr/>
          <p:nvPr/>
        </p:nvSpPr>
        <p:spPr>
          <a:xfrm>
            <a:off x="6245352" y="1417320"/>
            <a:ext cx="5029200" cy="868680"/>
          </a:xfrm>
          <a:prstGeom prst="roundRect">
            <a:avLst>
              <a:gd name="adj" fmla="val 16842"/>
            </a:avLst>
          </a:prstGeom>
          <a:solidFill>
            <a:srgbClr val="FFFFFF"/>
          </a:solidFill>
          <a:ln w="12700">
            <a:solidFill>
              <a:srgbClr val="FFFFFF">
                <a:alpha val="0"/>
              </a:srgbClr>
            </a:solidFill>
            <a:prstDash val="solid"/>
          </a:ln>
        </p:spPr>
      </p:sp>
      <p:sp>
        <p:nvSpPr>
          <p:cNvPr id="10" name="Text 8"/>
          <p:cNvSpPr txBox="1"/>
          <p:nvPr/>
        </p:nvSpPr>
        <p:spPr>
          <a:xfrm>
            <a:off x="6446520" y="1581912"/>
            <a:ext cx="1325880" cy="182880"/>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Rework</a:t>
            </a:r>
            <a:endParaRPr lang="en-US" sz="1400" dirty="0"/>
          </a:p>
        </p:txBody>
      </p:sp>
      <p:sp>
        <p:nvSpPr>
          <p:cNvPr id="11" name="Text 9"/>
          <p:cNvSpPr txBox="1"/>
          <p:nvPr/>
        </p:nvSpPr>
        <p:spPr>
          <a:xfrm>
            <a:off x="7662672" y="1554480"/>
            <a:ext cx="3337560" cy="411480"/>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Measure avoided Compliance returns and repeated evidence requests.</a:t>
            </a:r>
            <a:endParaRPr lang="en-US" sz="1120" dirty="0"/>
          </a:p>
        </p:txBody>
      </p:sp>
      <p:sp>
        <p:nvSpPr>
          <p:cNvPr id="12" name="Shape 10"/>
          <p:cNvSpPr/>
          <p:nvPr/>
        </p:nvSpPr>
        <p:spPr>
          <a:xfrm>
            <a:off x="685800" y="2542032"/>
            <a:ext cx="5029200" cy="868680"/>
          </a:xfrm>
          <a:prstGeom prst="roundRect">
            <a:avLst>
              <a:gd name="adj" fmla="val 16842"/>
            </a:avLst>
          </a:prstGeom>
          <a:solidFill>
            <a:srgbClr val="FFFFFF"/>
          </a:solidFill>
          <a:ln w="12700">
            <a:solidFill>
              <a:srgbClr val="FFFFFF">
                <a:alpha val="0"/>
              </a:srgbClr>
            </a:solidFill>
            <a:prstDash val="solid"/>
          </a:ln>
        </p:spPr>
      </p:sp>
      <p:sp>
        <p:nvSpPr>
          <p:cNvPr id="13" name="Text 11"/>
          <p:cNvSpPr txBox="1"/>
          <p:nvPr/>
        </p:nvSpPr>
        <p:spPr>
          <a:xfrm>
            <a:off x="886968" y="2706624"/>
            <a:ext cx="1325880" cy="182880"/>
          </a:xfrm>
          <a:prstGeom prst="rect">
            <a:avLst/>
          </a:prstGeom>
          <a:noFill/>
          <a:ln/>
        </p:spPr>
        <p:txBody>
          <a:bodyPr wrap="square" lIns="0" tIns="0" rIns="0" bIns="0" rtlCol="0" anchor="ctr">
            <a:normAutofit/>
          </a:bodyPr>
          <a:lstStyle/>
          <a:p>
            <a:pPr algn="l" indent="0" marL="0">
              <a:buNone/>
            </a:pPr>
            <a:r>
              <a:rPr lang="en-US" sz="1400" b="1" dirty="0">
                <a:solidFill>
                  <a:srgbClr val="2E65C5"/>
                </a:solidFill>
                <a:latin typeface="Arial" pitchFamily="34" charset="0"/>
                <a:ea typeface="Arial" pitchFamily="34" charset="-122"/>
                <a:cs typeface="Arial" pitchFamily="34" charset="-120"/>
              </a:rPr>
              <a:t>Audit readiness</a:t>
            </a:r>
            <a:endParaRPr lang="en-US" sz="1400" dirty="0"/>
          </a:p>
        </p:txBody>
      </p:sp>
      <p:sp>
        <p:nvSpPr>
          <p:cNvPr id="14" name="Text 12"/>
          <p:cNvSpPr txBox="1"/>
          <p:nvPr/>
        </p:nvSpPr>
        <p:spPr>
          <a:xfrm>
            <a:off x="2103120" y="2679192"/>
            <a:ext cx="3337560" cy="411480"/>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Measure time to reconstruct evidence, rationale, and outcome.</a:t>
            </a:r>
            <a:endParaRPr lang="en-US" sz="1120" dirty="0"/>
          </a:p>
        </p:txBody>
      </p:sp>
      <p:sp>
        <p:nvSpPr>
          <p:cNvPr id="15" name="Shape 13"/>
          <p:cNvSpPr/>
          <p:nvPr/>
        </p:nvSpPr>
        <p:spPr>
          <a:xfrm>
            <a:off x="6245352" y="2542032"/>
            <a:ext cx="5029200" cy="868680"/>
          </a:xfrm>
          <a:prstGeom prst="roundRect">
            <a:avLst>
              <a:gd name="adj" fmla="val 16842"/>
            </a:avLst>
          </a:prstGeom>
          <a:solidFill>
            <a:srgbClr val="E6F8F6"/>
          </a:solidFill>
          <a:ln w="12700">
            <a:solidFill>
              <a:srgbClr val="E6F8F6">
                <a:alpha val="0"/>
              </a:srgbClr>
            </a:solidFill>
            <a:prstDash val="solid"/>
          </a:ln>
        </p:spPr>
      </p:sp>
      <p:sp>
        <p:nvSpPr>
          <p:cNvPr id="16" name="Text 14"/>
          <p:cNvSpPr txBox="1"/>
          <p:nvPr/>
        </p:nvSpPr>
        <p:spPr>
          <a:xfrm>
            <a:off x="6446520" y="2706624"/>
            <a:ext cx="1325880" cy="182880"/>
          </a:xfrm>
          <a:prstGeom prst="rect">
            <a:avLst/>
          </a:prstGeom>
          <a:noFill/>
          <a:ln/>
        </p:spPr>
        <p:txBody>
          <a:bodyPr wrap="square" lIns="0" tIns="0" rIns="0" bIns="0" rtlCol="0" anchor="ctr">
            <a:normAutofit/>
          </a:bodyPr>
          <a:lstStyle/>
          <a:p>
            <a:pPr algn="l" indent="0" marL="0">
              <a:buNone/>
            </a:pPr>
            <a:r>
              <a:rPr lang="en-US" sz="1400" b="1" dirty="0">
                <a:solidFill>
                  <a:srgbClr val="00A79D"/>
                </a:solidFill>
                <a:latin typeface="Arial" pitchFamily="34" charset="0"/>
                <a:ea typeface="Arial" pitchFamily="34" charset="-122"/>
                <a:cs typeface="Arial" pitchFamily="34" charset="-120"/>
              </a:rPr>
              <a:t>Safety</a:t>
            </a:r>
            <a:endParaRPr lang="en-US" sz="1400" dirty="0"/>
          </a:p>
        </p:txBody>
      </p:sp>
      <p:sp>
        <p:nvSpPr>
          <p:cNvPr id="17" name="Text 15"/>
          <p:cNvSpPr txBox="1"/>
          <p:nvPr/>
        </p:nvSpPr>
        <p:spPr>
          <a:xfrm>
            <a:off x="7662672" y="2679192"/>
            <a:ext cx="3337560" cy="411480"/>
          </a:xfrm>
          <a:prstGeom prst="rect">
            <a:avLst/>
          </a:prstGeom>
          <a:noFill/>
          <a:ln/>
        </p:spPr>
        <p:txBody>
          <a:bodyPr wrap="square" lIns="0" tIns="0" rIns="0" bIns="0" rtlCol="0" anchor="t">
            <a:normAutofit/>
          </a:bodyPr>
          <a:lstStyle/>
          <a:p>
            <a:pPr algn="l" indent="0" marL="0">
              <a:buNone/>
            </a:pPr>
            <a:r>
              <a:rPr lang="en-US" sz="1120" dirty="0">
                <a:solidFill>
                  <a:srgbClr val="63738D"/>
                </a:solidFill>
                <a:latin typeface="Arial" pitchFamily="34" charset="0"/>
                <a:ea typeface="Arial" pitchFamily="34" charset="-122"/>
                <a:cs typeface="Arial" pitchFamily="34" charset="-120"/>
              </a:rPr>
              <a:t>Measure unsupported claims, broken citations, and unclear states found in review.</a:t>
            </a:r>
            <a:endParaRPr lang="en-US" sz="1120" dirty="0"/>
          </a:p>
        </p:txBody>
      </p:sp>
      <p:sp>
        <p:nvSpPr>
          <p:cNvPr id="18" name="Shape 16"/>
          <p:cNvSpPr/>
          <p:nvPr/>
        </p:nvSpPr>
        <p:spPr>
          <a:xfrm>
            <a:off x="685800" y="3913632"/>
            <a:ext cx="10789920" cy="530352"/>
          </a:xfrm>
          <a:prstGeom prst="roundRect">
            <a:avLst>
              <a:gd name="adj" fmla="val 27586"/>
            </a:avLst>
          </a:prstGeom>
          <a:solidFill>
            <a:srgbClr val="173C78"/>
          </a:solidFill>
          <a:ln w="12700">
            <a:solidFill>
              <a:srgbClr val="173C78">
                <a:alpha val="0"/>
              </a:srgbClr>
            </a:solidFill>
            <a:prstDash val="solid"/>
          </a:ln>
        </p:spPr>
      </p:sp>
      <p:sp>
        <p:nvSpPr>
          <p:cNvPr id="19" name="Text 17"/>
          <p:cNvSpPr txBox="1"/>
          <p:nvPr/>
        </p:nvSpPr>
        <p:spPr>
          <a:xfrm>
            <a:off x="896112" y="4087368"/>
            <a:ext cx="10369296" cy="164592"/>
          </a:xfrm>
          <a:prstGeom prst="rect">
            <a:avLst/>
          </a:prstGeom>
          <a:noFill/>
          <a:ln/>
        </p:spPr>
        <p:txBody>
          <a:bodyPr wrap="square" lIns="0" tIns="0" rIns="0" bIns="0" rtlCol="0" anchor="ctr">
            <a:normAutofit/>
          </a:bodyPr>
          <a:lstStyle/>
          <a:p>
            <a:pPr algn="ctr" indent="0" marL="0">
              <a:buNone/>
            </a:pPr>
            <a:r>
              <a:rPr lang="en-US" sz="1300" b="1" dirty="0">
                <a:solidFill>
                  <a:srgbClr val="FFFFFF"/>
                </a:solidFill>
                <a:latin typeface="Arial" pitchFamily="34" charset="0"/>
                <a:ea typeface="Arial" pitchFamily="34" charset="-122"/>
                <a:cs typeface="Arial" pitchFamily="34" charset="-120"/>
              </a:rPr>
              <a:t>ROI % = (verified annual benefit − implementation and run cost) ÷ implementation and run cost × 100</a:t>
            </a:r>
            <a:endParaRPr lang="en-US" sz="1300" dirty="0"/>
          </a:p>
        </p:txBody>
      </p:sp>
      <p:sp>
        <p:nvSpPr>
          <p:cNvPr id="20" name="Text 18"/>
          <p:cNvSpPr txBox="1"/>
          <p:nvPr/>
        </p:nvSpPr>
        <p:spPr>
          <a:xfrm>
            <a:off x="822960" y="4901184"/>
            <a:ext cx="10515600" cy="320040"/>
          </a:xfrm>
          <a:prstGeom prst="rect">
            <a:avLst/>
          </a:prstGeom>
          <a:noFill/>
          <a:ln/>
        </p:spPr>
        <p:txBody>
          <a:bodyPr wrap="square" lIns="0" tIns="0" rIns="0" bIns="0" rtlCol="0" anchor="ctr">
            <a:normAutofit/>
          </a:bodyPr>
          <a:lstStyle/>
          <a:p>
            <a:pPr algn="ctr" indent="0" marL="0">
              <a:buNone/>
            </a:pPr>
            <a:r>
              <a:rPr lang="en-US" sz="1600" b="1" dirty="0">
                <a:solidFill>
                  <a:srgbClr val="0B1F3A"/>
                </a:solidFill>
                <a:latin typeface="Arial" pitchFamily="34" charset="0"/>
                <a:ea typeface="Arial" pitchFamily="34" charset="-122"/>
                <a:cs typeface="Arial" pitchFamily="34" charset="-120"/>
              </a:rPr>
              <a:t>Next: 1) test fixtures and citation evaluation, 2) authentication and lineage versioning, 3) governed ingestion and approved integrations.</a:t>
            </a:r>
            <a:endParaRPr lang="en-US" sz="1600" dirty="0"/>
          </a:p>
        </p:txBody>
      </p:sp>
      <p:sp>
        <p:nvSpPr>
          <p:cNvPr id="21" name="Text 19"/>
          <p:cNvSpPr txBox="1"/>
          <p:nvPr/>
        </p:nvSpPr>
        <p:spPr>
          <a:xfrm>
            <a:off x="822960" y="5358384"/>
            <a:ext cx="10515600" cy="219456"/>
          </a:xfrm>
          <a:prstGeom prst="rect">
            <a:avLst/>
          </a:prstGeom>
          <a:noFill/>
          <a:ln/>
        </p:spPr>
        <p:txBody>
          <a:bodyPr wrap="square" lIns="0" tIns="0" rIns="0" bIns="0" rtlCol="0" anchor="ctr">
            <a:normAutofit/>
          </a:bodyPr>
          <a:lstStyle/>
          <a:p>
            <a:pPr algn="ctr" indent="0" marL="0">
              <a:buNone/>
            </a:pPr>
            <a:r>
              <a:rPr lang="en-US" sz="1150" i="1" dirty="0">
                <a:solidFill>
                  <a:srgbClr val="63738D"/>
                </a:solidFill>
                <a:latin typeface="Arial" pitchFamily="34" charset="0"/>
                <a:ea typeface="Arial" pitchFamily="34" charset="-122"/>
                <a:cs typeface="Arial" pitchFamily="34" charset="-120"/>
              </a:rPr>
              <a:t>Planning model only: a real ROI requires a baseline, approved cost boundary, pilot evidence, and verified outcomes.</a:t>
            </a:r>
            <a:endParaRPr lang="en-US" sz="1150" dirty="0"/>
          </a:p>
        </p:txBody>
      </p:sp>
    </p:spTree>
  </p:cSld>
  <p:clrMapOvr>
    <a:masterClrMapping/>
  </p:clrMapOvr>
  <p:transition spd="med" advClick="1">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Text 0"/>
          <p:cNvSpPr txBox="1"/>
          <p:nvPr/>
        </p:nvSpPr>
        <p:spPr>
          <a:xfrm>
            <a:off x="713232" y="768096"/>
            <a:ext cx="4754880" cy="502920"/>
          </a:xfrm>
          <a:prstGeom prst="rect">
            <a:avLst/>
          </a:prstGeom>
          <a:noFill/>
          <a:ln/>
        </p:spPr>
        <p:txBody>
          <a:bodyPr wrap="square" lIns="0" tIns="0" rIns="0" bIns="0" rtlCol="0" anchor="ctr">
            <a:normAutofit/>
          </a:bodyPr>
          <a:lstStyle/>
          <a:p>
            <a:pPr algn="l" indent="0" marL="0">
              <a:buNone/>
            </a:pPr>
            <a:r>
              <a:rPr lang="en-US" sz="3500" b="1" dirty="0">
                <a:solidFill>
                  <a:srgbClr val="FFFFFF"/>
                </a:solidFill>
                <a:latin typeface="Arial" pitchFamily="34" charset="0"/>
                <a:ea typeface="Arial" pitchFamily="34" charset="-122"/>
                <a:cs typeface="Arial" pitchFamily="34" charset="-120"/>
              </a:rPr>
              <a:t>InvestigateIQ</a:t>
            </a:r>
            <a:endParaRPr lang="en-US" sz="3500" dirty="0"/>
          </a:p>
        </p:txBody>
      </p:sp>
      <p:sp>
        <p:nvSpPr>
          <p:cNvPr id="3" name="Text 1"/>
          <p:cNvSpPr txBox="1"/>
          <p:nvPr/>
        </p:nvSpPr>
        <p:spPr>
          <a:xfrm>
            <a:off x="731520" y="1463040"/>
            <a:ext cx="5303520" cy="329184"/>
          </a:xfrm>
          <a:prstGeom prst="rect">
            <a:avLst/>
          </a:prstGeom>
          <a:noFill/>
          <a:ln/>
        </p:spPr>
        <p:txBody>
          <a:bodyPr wrap="square" lIns="0" tIns="0" rIns="0" bIns="0" rtlCol="0" anchor="ctr">
            <a:normAutofit/>
          </a:bodyPr>
          <a:lstStyle/>
          <a:p>
            <a:pPr algn="l" indent="0" marL="0">
              <a:buNone/>
            </a:pPr>
            <a:r>
              <a:rPr lang="en-US" sz="1800" dirty="0">
                <a:solidFill>
                  <a:srgbClr val="C8D9F3"/>
                </a:solidFill>
                <a:latin typeface="Arial" pitchFamily="34" charset="0"/>
                <a:ea typeface="Arial" pitchFamily="34" charset="-122"/>
                <a:cs typeface="Arial" pitchFamily="34" charset="-120"/>
              </a:rPr>
              <a:t>A transparent review workflow for fictional AML investigations</a:t>
            </a:r>
            <a:endParaRPr lang="en-US" sz="1800" dirty="0"/>
          </a:p>
        </p:txBody>
      </p:sp>
      <p:sp>
        <p:nvSpPr>
          <p:cNvPr id="4" name="Shape 2"/>
          <p:cNvSpPr/>
          <p:nvPr/>
        </p:nvSpPr>
        <p:spPr>
          <a:xfrm>
            <a:off x="6126480" y="777240"/>
            <a:ext cx="5468112" cy="3118104"/>
          </a:xfrm>
          <a:prstGeom prst="roundRect">
            <a:avLst>
              <a:gd name="adj" fmla="val 4692"/>
            </a:avLst>
          </a:prstGeom>
          <a:solidFill>
            <a:srgbClr val="D9E7FC"/>
          </a:solidFill>
          <a:ln w="12700">
            <a:solidFill>
              <a:srgbClr val="D9E7FC">
                <a:alpha val="0"/>
              </a:srgbClr>
            </a:solidFill>
            <a:prstDash val="solid"/>
          </a:ln>
        </p:spPr>
      </p:sp>
      <p:pic>
        <p:nvPicPr>
          <p:cNvPr id="5" name="Image 0" descr="C:\D\IIT Mumbai\Capstone Blueprint\assets\walkthrough_screens\2026_workspace_confidence.png">    </p:cNvPr>
          <p:cNvPicPr>
            <a:picLocks noChangeAspect="1"/>
          </p:cNvPicPr>
          <p:nvPr/>
        </p:nvPicPr>
        <p:blipFill>
          <a:blip r:embed="rId1"/>
          <a:stretch>
            <a:fillRect/>
          </a:stretch>
        </p:blipFill>
        <p:spPr>
          <a:xfrm>
            <a:off x="6172200" y="822960"/>
            <a:ext cx="5376672" cy="3026664"/>
          </a:xfrm>
          <a:prstGeom prst="rect">
            <a:avLst/>
          </a:prstGeom>
        </p:spPr>
      </p:pic>
      <p:sp>
        <p:nvSpPr>
          <p:cNvPr id="6" name="Text 3"/>
          <p:cNvSpPr txBox="1"/>
          <p:nvPr/>
        </p:nvSpPr>
        <p:spPr>
          <a:xfrm>
            <a:off x="731520" y="2331720"/>
            <a:ext cx="3840480" cy="237744"/>
          </a:xfrm>
          <a:prstGeom prst="rect">
            <a:avLst/>
          </a:prstGeom>
          <a:noFill/>
          <a:ln/>
        </p:spPr>
        <p:txBody>
          <a:bodyPr wrap="square" lIns="0" tIns="0" rIns="0" bIns="0" rtlCol="0" anchor="ctr">
            <a:normAutofit/>
          </a:bodyPr>
          <a:lstStyle/>
          <a:p>
            <a:pPr algn="l" indent="0" marL="0">
              <a:buNone/>
            </a:pPr>
            <a:r>
              <a:rPr lang="en-US" sz="1800" b="1" dirty="0">
                <a:solidFill>
                  <a:srgbClr val="78DCD4"/>
                </a:solidFill>
                <a:latin typeface="Arial" pitchFamily="34" charset="0"/>
                <a:ea typeface="Arial" pitchFamily="34" charset="-122"/>
                <a:cs typeface="Arial" pitchFamily="34" charset="-120"/>
              </a:rPr>
              <a:t>What we demonstrate</a:t>
            </a:r>
            <a:endParaRPr lang="en-US" sz="1800" dirty="0"/>
          </a:p>
        </p:txBody>
      </p:sp>
      <p:sp>
        <p:nvSpPr>
          <p:cNvPr id="7" name="Shape 4"/>
          <p:cNvSpPr/>
          <p:nvPr/>
        </p:nvSpPr>
        <p:spPr>
          <a:xfrm>
            <a:off x="749808" y="2788920"/>
            <a:ext cx="438912" cy="438912"/>
          </a:xfrm>
          <a:prstGeom prst="ellipse">
            <a:avLst/>
          </a:prstGeom>
          <a:solidFill>
            <a:srgbClr val="2E65C5"/>
          </a:solidFill>
          <a:ln w="12700">
            <a:solidFill>
              <a:srgbClr val="2E65C5">
                <a:alpha val="0"/>
              </a:srgbClr>
            </a:solidFill>
            <a:prstDash val="solid"/>
          </a:ln>
        </p:spPr>
      </p:sp>
      <p:sp>
        <p:nvSpPr>
          <p:cNvPr id="8" name="Text 5"/>
          <p:cNvSpPr txBox="1"/>
          <p:nvPr/>
        </p:nvSpPr>
        <p:spPr>
          <a:xfrm>
            <a:off x="1435608" y="28072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Evidence traceability</a:t>
            </a:r>
            <a:endParaRPr lang="en-US" sz="1500" dirty="0"/>
          </a:p>
        </p:txBody>
      </p:sp>
      <p:sp>
        <p:nvSpPr>
          <p:cNvPr id="9" name="Text 6"/>
          <p:cNvSpPr txBox="1"/>
          <p:nvPr/>
        </p:nvSpPr>
        <p:spPr>
          <a:xfrm>
            <a:off x="1426464" y="3127248"/>
            <a:ext cx="4297680" cy="18288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Sources, chunks, searches, and visible gaps</a:t>
            </a:r>
            <a:endParaRPr lang="en-US" sz="1150" dirty="0"/>
          </a:p>
        </p:txBody>
      </p:sp>
      <p:sp>
        <p:nvSpPr>
          <p:cNvPr id="10" name="Shape 7"/>
          <p:cNvSpPr/>
          <p:nvPr/>
        </p:nvSpPr>
        <p:spPr>
          <a:xfrm>
            <a:off x="749808" y="3474720"/>
            <a:ext cx="438912" cy="438912"/>
          </a:xfrm>
          <a:prstGeom prst="ellipse">
            <a:avLst/>
          </a:prstGeom>
          <a:solidFill>
            <a:srgbClr val="00A79D"/>
          </a:solidFill>
          <a:ln w="12700">
            <a:solidFill>
              <a:srgbClr val="00A79D">
                <a:alpha val="0"/>
              </a:srgbClr>
            </a:solidFill>
            <a:prstDash val="solid"/>
          </a:ln>
        </p:spPr>
      </p:sp>
      <p:sp>
        <p:nvSpPr>
          <p:cNvPr id="11" name="Text 8"/>
          <p:cNvSpPr txBox="1"/>
          <p:nvPr/>
        </p:nvSpPr>
        <p:spPr>
          <a:xfrm>
            <a:off x="1435608" y="34930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Responsible AI</a:t>
            </a:r>
            <a:endParaRPr lang="en-US" sz="1500" dirty="0"/>
          </a:p>
        </p:txBody>
      </p:sp>
      <p:sp>
        <p:nvSpPr>
          <p:cNvPr id="12" name="Text 9"/>
          <p:cNvSpPr txBox="1"/>
          <p:nvPr/>
        </p:nvSpPr>
        <p:spPr>
          <a:xfrm>
            <a:off x="1426464" y="3813048"/>
            <a:ext cx="4297680" cy="18288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Evidence confidence and explicit limitations</a:t>
            </a:r>
            <a:endParaRPr lang="en-US" sz="1150" dirty="0"/>
          </a:p>
        </p:txBody>
      </p:sp>
      <p:sp>
        <p:nvSpPr>
          <p:cNvPr id="13" name="Shape 10"/>
          <p:cNvSpPr/>
          <p:nvPr/>
        </p:nvSpPr>
        <p:spPr>
          <a:xfrm>
            <a:off x="749808" y="4160520"/>
            <a:ext cx="438912" cy="438912"/>
          </a:xfrm>
          <a:prstGeom prst="ellipse">
            <a:avLst/>
          </a:prstGeom>
          <a:solidFill>
            <a:srgbClr val="2E65C5"/>
          </a:solidFill>
          <a:ln w="12700">
            <a:solidFill>
              <a:srgbClr val="2E65C5">
                <a:alpha val="0"/>
              </a:srgbClr>
            </a:solidFill>
            <a:prstDash val="solid"/>
          </a:ln>
        </p:spPr>
      </p:sp>
      <p:sp>
        <p:nvSpPr>
          <p:cNvPr id="14" name="Text 11"/>
          <p:cNvSpPr txBox="1"/>
          <p:nvPr/>
        </p:nvSpPr>
        <p:spPr>
          <a:xfrm>
            <a:off x="1435608" y="4178808"/>
            <a:ext cx="1828800" cy="329184"/>
          </a:xfrm>
          <a:prstGeom prst="rect">
            <a:avLst/>
          </a:prstGeom>
          <a:noFill/>
          <a:ln/>
        </p:spPr>
        <p:txBody>
          <a:bodyPr wrap="square" lIns="0" tIns="0" rIns="0" bIns="0" rtlCol="0" anchor="ctr">
            <a:normAutofit/>
          </a:bodyPr>
          <a:lstStyle/>
          <a:p>
            <a:pPr algn="l" indent="0" marL="0">
              <a:buNone/>
            </a:pPr>
            <a:r>
              <a:rPr lang="en-US" sz="1500" b="1" dirty="0">
                <a:solidFill>
                  <a:srgbClr val="12233F"/>
                </a:solidFill>
                <a:latin typeface="Arial" pitchFamily="34" charset="0"/>
                <a:ea typeface="Arial" pitchFamily="34" charset="-122"/>
                <a:cs typeface="Arial" pitchFamily="34" charset="-120"/>
              </a:rPr>
              <a:t>Human accountability</a:t>
            </a:r>
            <a:endParaRPr lang="en-US" sz="1500" dirty="0"/>
          </a:p>
        </p:txBody>
      </p:sp>
      <p:sp>
        <p:nvSpPr>
          <p:cNvPr id="15" name="Text 12"/>
          <p:cNvSpPr txBox="1"/>
          <p:nvPr/>
        </p:nvSpPr>
        <p:spPr>
          <a:xfrm>
            <a:off x="1426464" y="4498848"/>
            <a:ext cx="4297680" cy="182880"/>
          </a:xfrm>
          <a:prstGeom prst="rect">
            <a:avLst/>
          </a:prstGeom>
          <a:noFill/>
          <a:ln/>
        </p:spPr>
        <p:txBody>
          <a:bodyPr wrap="square" lIns="0" tIns="0" rIns="0" bIns="0" rtlCol="0" anchor="ctr">
            <a:normAutofit/>
          </a:bodyPr>
          <a:lstStyle/>
          <a:p>
            <a:pPr algn="l" indent="0" marL="0">
              <a:buNone/>
            </a:pPr>
            <a:r>
              <a:rPr lang="en-US" sz="1150" dirty="0">
                <a:solidFill>
                  <a:srgbClr val="DDEBFF"/>
                </a:solidFill>
                <a:latin typeface="Arial" pitchFamily="34" charset="0"/>
                <a:ea typeface="Arial" pitchFamily="34" charset="-122"/>
                <a:cs typeface="Arial" pitchFamily="34" charset="-120"/>
              </a:rPr>
              <a:t>Named rationale, recorded actions, separate Compliance review</a:t>
            </a:r>
            <a:endParaRPr lang="en-US" sz="1150" dirty="0"/>
          </a:p>
        </p:txBody>
      </p:sp>
      <p:sp>
        <p:nvSpPr>
          <p:cNvPr id="16" name="Text 13"/>
          <p:cNvSpPr txBox="1"/>
          <p:nvPr/>
        </p:nvSpPr>
        <p:spPr>
          <a:xfrm>
            <a:off x="731520" y="5687568"/>
            <a:ext cx="6629400" cy="365760"/>
          </a:xfrm>
          <a:prstGeom prst="rect">
            <a:avLst/>
          </a:prstGeom>
          <a:noFill/>
          <a:ln/>
        </p:spPr>
        <p:txBody>
          <a:bodyPr wrap="square" lIns="0" tIns="0" rIns="0" bIns="0" rtlCol="0" anchor="ctr">
            <a:normAutofit/>
          </a:bodyPr>
          <a:lstStyle/>
          <a:p>
            <a:pPr algn="l" indent="0" marL="0">
              <a:buNone/>
            </a:pPr>
            <a:r>
              <a:rPr lang="en-US" sz="2400" b="1" dirty="0">
                <a:solidFill>
                  <a:srgbClr val="FFFFFF"/>
                </a:solidFill>
                <a:latin typeface="Arial" pitchFamily="34" charset="0"/>
                <a:ea typeface="Arial" pitchFamily="34" charset="-122"/>
                <a:cs typeface="Arial" pitchFamily="34" charset="-120"/>
              </a:rPr>
              <a:t>Trace the evidence. Own the decision.</a:t>
            </a:r>
            <a:endParaRPr lang="en-US" sz="2400" dirty="0"/>
          </a:p>
        </p:txBody>
      </p:sp>
      <p:sp>
        <p:nvSpPr>
          <p:cNvPr id="17" name="Text 14"/>
          <p:cNvSpPr txBox="1"/>
          <p:nvPr/>
        </p:nvSpPr>
        <p:spPr>
          <a:xfrm>
            <a:off x="502920" y="6510528"/>
            <a:ext cx="4572000" cy="164592"/>
          </a:xfrm>
          <a:prstGeom prst="rect">
            <a:avLst/>
          </a:prstGeom>
          <a:noFill/>
          <a:ln/>
        </p:spPr>
        <p:txBody>
          <a:bodyPr wrap="square" lIns="0" tIns="0" rIns="0" bIns="0" rtlCol="0" anchor="ctr">
            <a:normAutofit/>
          </a:bodyPr>
          <a:lstStyle/>
          <a:p>
            <a:pPr algn="l" indent="0" marL="0">
              <a:buNone/>
            </a:pPr>
            <a:r>
              <a:rPr lang="en-US" sz="850" dirty="0">
                <a:solidFill>
                  <a:srgbClr val="AFC9EC"/>
                </a:solidFill>
                <a:latin typeface="Arial" pitchFamily="34" charset="0"/>
                <a:ea typeface="Arial" pitchFamily="34" charset="-122"/>
                <a:cs typeface="Arial" pitchFamily="34" charset="-120"/>
              </a:rPr>
              <a:t>InvestigateIQ  |  Capstone Group 7  |  19</a:t>
            </a:r>
            <a:endParaRPr lang="en-US" sz="850" dirty="0"/>
          </a:p>
        </p:txBody>
      </p:sp>
      <p:sp>
        <p:nvSpPr>
          <p:cNvPr id="18" name="Text 15"/>
          <p:cNvSpPr txBox="1"/>
          <p:nvPr/>
        </p:nvSpPr>
        <p:spPr>
          <a:xfrm>
            <a:off x="7315200" y="6510528"/>
            <a:ext cx="4343400" cy="164592"/>
          </a:xfrm>
          <a:prstGeom prst="rect">
            <a:avLst/>
          </a:prstGeom>
          <a:noFill/>
          <a:ln/>
        </p:spPr>
        <p:txBody>
          <a:bodyPr wrap="square" lIns="0" tIns="0" rIns="0" bIns="0" rtlCol="0" anchor="ctr">
            <a:normAutofit/>
          </a:bodyPr>
          <a:lstStyle/>
          <a:p>
            <a:pPr algn="r" indent="0" marL="0">
              <a:buNone/>
            </a:pPr>
            <a:r>
              <a:rPr lang="en-US" sz="850" dirty="0">
                <a:solidFill>
                  <a:srgbClr val="AFC9EC"/>
                </a:solidFill>
                <a:latin typeface="Arial" pitchFamily="34" charset="0"/>
                <a:ea typeface="Arial" pitchFamily="34" charset="-122"/>
                <a:cs typeface="Arial" pitchFamily="34" charset="-120"/>
              </a:rPr>
              <a:t>Fictional AML investigation learning environment</a:t>
            </a:r>
            <a:endParaRPr lang="en-US" sz="850" dirty="0"/>
          </a:p>
        </p:txBody>
      </p:sp>
    </p:spTree>
  </p:cSld>
  <p:clrMapOvr>
    <a:masterClrMapping/>
  </p:clrMapOvr>
  <p:transition spd="med"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IIT Bombay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InvestigateIQ: Product Blueprint and Demonstration</dc:title>
  <dc:subject>InvestigateIQ product presentation</dc:subject>
  <dc:creator>Capstone Group 7</dc:creator>
  <cp:lastModifiedBy>Capstone Group 7</cp:lastModifiedBy>
  <cp:revision>1</cp:revision>
  <dcterms:created xsi:type="dcterms:W3CDTF">2026-10-09T17:14:41Z</dcterms:created>
  <dcterms:modified xsi:type="dcterms:W3CDTF">2026-10-09T17:14:41Z</dcterms:modified>
</cp:coreProperties>
</file>