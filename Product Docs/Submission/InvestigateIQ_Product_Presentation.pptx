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opens in 25 seconds. State that this is a fictional AML learning product and that the session uses 7 minutes 10 seconds of slides, 4 minutes 50 seconds of live demo, and 3 minutes of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35 seconds. Read the statement, selected track, and non-goals. Introduce the team in the displayed order and state that one presenter will handle the full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30 seconds. Move left to right through the flow. Emphasize human decision ownership and separate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40 seconds. Define evidence confidence as deterministic support coverage. It is not a risk score, probability of crime, legality assessment, or recommended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55 seconds. OKF is Open Knowledge Format: a source record with stable metadata and body text. Explain C0 metadata and two-sentence chunks, then local SQLite FTS5 keyword search and BM25 ranking. Say retrieval finds text; it does not prove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55 seconds. Give the code flow: Streamlit routes pages, session state holds an active case, SQLite stores fictional data, FTS5/BM25 returns chunks, checks constrain citations and confidence, and a human rationale creates an append-only audit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45 seconds to explain the demo plan, then performs it. Use one case. Navigate and expand only. Do not submit an investigator or Compliance action, create intake data, or reveal an Admin passcode. Speak only about what is under the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50 seconds. Say this is an ROI measurement framework, not an invented financial result. Name the four value levers and future sequence. A real ROI needs a baseline, approved costs, and verified pilot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presenter uses 30 seconds. Recap the three pillars, then begin the live demo exactly as planned. Reserve the final 3 minutes for panel Q&amp;A; the same presenter remains the sole speaker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C:\D\IIT Mumbai\Capstone Blueprint\assets\walkthrough_screens\2026_home_guest.png">    </p:cNvPr>
          <p:cNvPicPr>
            <a:picLocks noChangeAspect="1"/>
          </p:cNvPicPr>
          <p:nvPr/>
        </p:nvPicPr>
        <p:blipFill>
          <a:blip r:embed="rId1">
            <a:alphaModFix amt="79000"/>
          </a:blip>
          <a:stretch>
            <a:fillRect/>
          </a:stretch>
        </p:blipFill>
        <p:spPr>
          <a:xfrm>
            <a:off x="6492240" y="0"/>
            <a:ext cx="5696712" cy="6858000"/>
          </a:xfrm>
          <a:prstGeom prst="rect">
            <a:avLst/>
          </a:prstGeom>
        </p:spPr>
      </p:pic>
      <p:sp>
        <p:nvSpPr>
          <p:cNvPr id="3" name="Shape 0"/>
          <p:cNvSpPr/>
          <p:nvPr/>
        </p:nvSpPr>
        <p:spPr>
          <a:xfrm>
            <a:off x="0" y="0"/>
            <a:ext cx="7132320" cy="6858000"/>
          </a:xfrm>
          <a:prstGeom prst="rect">
            <a:avLst/>
          </a:prstGeom>
          <a:solidFill>
            <a:srgbClr val="0B1F3A">
              <a:alpha val="99000"/>
            </a:srgbClr>
          </a:solidFill>
          <a:ln w="12700">
            <a:solidFill>
              <a:srgbClr val="0B1F3A">
                <a:alpha val="0"/>
              </a:srgbClr>
            </a:solidFill>
            <a:prstDash val="solid"/>
          </a:ln>
        </p:spPr>
      </p:sp>
      <p:sp>
        <p:nvSpPr>
          <p:cNvPr id="4" name="Shape 1"/>
          <p:cNvSpPr/>
          <p:nvPr/>
        </p:nvSpPr>
        <p:spPr>
          <a:xfrm>
            <a:off x="676656" y="694944"/>
            <a:ext cx="1737360" cy="292608"/>
          </a:xfrm>
          <a:prstGeom prst="roundRect">
            <a:avLst>
              <a:gd name="adj" fmla="val 37500"/>
            </a:avLst>
          </a:prstGeom>
          <a:solidFill>
            <a:srgbClr val="00A79D"/>
          </a:solidFill>
          <a:ln w="12700">
            <a:solidFill>
              <a:srgbClr val="00A79D">
                <a:alpha val="0"/>
              </a:srgbClr>
            </a:solidFill>
            <a:prstDash val="solid"/>
          </a:ln>
        </p:spPr>
      </p:sp>
      <p:sp>
        <p:nvSpPr>
          <p:cNvPr id="5" name="Text 2"/>
          <p:cNvSpPr txBox="1"/>
          <p:nvPr/>
        </p:nvSpPr>
        <p:spPr>
          <a:xfrm>
            <a:off x="768096" y="740664"/>
            <a:ext cx="1554480" cy="1371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CAPSTONE GROUP 7</a:t>
            </a:r>
            <a:endParaRPr lang="en-US" sz="1000" dirty="0"/>
          </a:p>
        </p:txBody>
      </p:sp>
      <p:sp>
        <p:nvSpPr>
          <p:cNvPr id="6" name="Text 3"/>
          <p:cNvSpPr txBox="1"/>
          <p:nvPr/>
        </p:nvSpPr>
        <p:spPr>
          <a:xfrm>
            <a:off x="676656" y="1298448"/>
            <a:ext cx="5120640" cy="566928"/>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InvestigateIQ</a:t>
            </a:r>
            <a:endParaRPr lang="en-US" sz="4200" dirty="0"/>
          </a:p>
        </p:txBody>
      </p:sp>
      <p:sp>
        <p:nvSpPr>
          <p:cNvPr id="7" name="Text 4"/>
          <p:cNvSpPr txBox="1"/>
          <p:nvPr/>
        </p:nvSpPr>
        <p:spPr>
          <a:xfrm>
            <a:off x="704088" y="2084832"/>
            <a:ext cx="4937760" cy="320040"/>
          </a:xfrm>
          <a:prstGeom prst="rect">
            <a:avLst/>
          </a:prstGeom>
          <a:noFill/>
          <a:ln/>
        </p:spPr>
        <p:txBody>
          <a:bodyPr wrap="square" lIns="0" tIns="0" rIns="0" bIns="0" rtlCol="0" anchor="ctr">
            <a:normAutofit/>
          </a:bodyPr>
          <a:lstStyle/>
          <a:p>
            <a:pPr algn="l" indent="0" marL="0">
              <a:buNone/>
            </a:pPr>
            <a:r>
              <a:rPr lang="en-US" sz="2200" b="1" dirty="0">
                <a:solidFill>
                  <a:srgbClr val="78DCD4"/>
                </a:solidFill>
                <a:latin typeface="Arial" pitchFamily="34" charset="0"/>
                <a:ea typeface="Arial" pitchFamily="34" charset="-122"/>
                <a:cs typeface="Arial" pitchFamily="34" charset="-120"/>
              </a:rPr>
              <a:t>Trace the evidence. Own the decision.</a:t>
            </a:r>
            <a:endParaRPr lang="en-US" sz="2200" dirty="0"/>
          </a:p>
        </p:txBody>
      </p:sp>
      <p:sp>
        <p:nvSpPr>
          <p:cNvPr id="8" name="Text 5"/>
          <p:cNvSpPr txBox="1"/>
          <p:nvPr/>
        </p:nvSpPr>
        <p:spPr>
          <a:xfrm>
            <a:off x="704088" y="2670048"/>
            <a:ext cx="4937760" cy="566928"/>
          </a:xfrm>
          <a:prstGeom prst="rect">
            <a:avLst/>
          </a:prstGeom>
          <a:noFill/>
          <a:ln/>
        </p:spPr>
        <p:txBody>
          <a:bodyPr wrap="square" lIns="0" tIns="0" rIns="0" bIns="0" rtlCol="0" anchor="t">
            <a:normAutofit/>
          </a:bodyPr>
          <a:lstStyle/>
          <a:p>
            <a:pPr algn="l" indent="0" marL="0">
              <a:buNone/>
            </a:pPr>
            <a:r>
              <a:rPr lang="en-US" sz="1800" dirty="0">
                <a:solidFill>
                  <a:srgbClr val="DDEBFF"/>
                </a:solidFill>
                <a:latin typeface="Arial" pitchFamily="34" charset="0"/>
                <a:ea typeface="Arial" pitchFamily="34" charset="-122"/>
                <a:cs typeface="Arial" pitchFamily="34" charset="-120"/>
              </a:rPr>
              <a:t>A transparent, AI-assisted workflow for fictional AML case investigations.</a:t>
            </a:r>
            <a:endParaRPr lang="en-US" sz="1800" dirty="0"/>
          </a:p>
        </p:txBody>
      </p:sp>
      <p:sp>
        <p:nvSpPr>
          <p:cNvPr id="9" name="Text 6"/>
          <p:cNvSpPr txBox="1"/>
          <p:nvPr/>
        </p:nvSpPr>
        <p:spPr>
          <a:xfrm>
            <a:off x="704088" y="5321808"/>
            <a:ext cx="4389120" cy="182880"/>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Arial" pitchFamily="34" charset="0"/>
                <a:ea typeface="Arial" pitchFamily="34" charset="-122"/>
                <a:cs typeface="Arial" pitchFamily="34" charset="-120"/>
              </a:rPr>
              <a:t>Single presenter — to be confirmed</a:t>
            </a:r>
            <a:endParaRPr lang="en-US" sz="1300" dirty="0"/>
          </a:p>
        </p:txBody>
      </p:sp>
      <p:sp>
        <p:nvSpPr>
          <p:cNvPr id="10" name="Text 7"/>
          <p:cNvSpPr txBox="1"/>
          <p:nvPr/>
        </p:nvSpPr>
        <p:spPr>
          <a:xfrm>
            <a:off x="704088" y="5715000"/>
            <a:ext cx="5029200" cy="182880"/>
          </a:xfrm>
          <a:prstGeom prst="rect">
            <a:avLst/>
          </a:prstGeom>
          <a:noFill/>
          <a:ln/>
        </p:spPr>
        <p:txBody>
          <a:bodyPr wrap="square" lIns="0" tIns="0" rIns="0" bIns="0" rtlCol="0" anchor="ctr">
            <a:normAutofit/>
          </a:bodyPr>
          <a:lstStyle/>
          <a:p>
            <a:pPr algn="l" indent="0" marL="0">
              <a:buNone/>
            </a:pPr>
            <a:r>
              <a:rPr lang="en-US" sz="1300" dirty="0">
                <a:solidFill>
                  <a:srgbClr val="AFC9EC"/>
                </a:solidFill>
                <a:latin typeface="Arial" pitchFamily="34" charset="0"/>
                <a:ea typeface="Arial" pitchFamily="34" charset="-122"/>
                <a:cs typeface="Arial" pitchFamily="34" charset="-120"/>
              </a:rPr>
              <a:t>7:10 slides  •  4:50 live demo  •  3:00 panel Q&amp;A</a:t>
            </a:r>
            <a:endParaRPr lang="en-US" sz="1300" dirty="0"/>
          </a:p>
        </p:txBody>
      </p:sp>
      <p:sp>
        <p:nvSpPr>
          <p:cNvPr id="11" name="Text 8"/>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 of 9</a:t>
            </a:r>
            <a:endParaRPr lang="en-US" sz="850" dirty="0"/>
          </a:p>
        </p:txBody>
      </p:sp>
      <p:sp>
        <p:nvSpPr>
          <p:cNvPr id="12" name="Text 9"/>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PROGRAM STATEMENT</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What this capstone will deliver—and what it will not</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2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58368" y="1298448"/>
            <a:ext cx="10881360" cy="941832"/>
          </a:xfrm>
          <a:prstGeom prst="roundRect">
            <a:avLst>
              <a:gd name="adj" fmla="val 11650"/>
            </a:avLst>
          </a:prstGeom>
          <a:solidFill>
            <a:srgbClr val="173C78"/>
          </a:solidFill>
          <a:ln w="12700">
            <a:solidFill>
              <a:srgbClr val="173C78">
                <a:alpha val="0"/>
              </a:srgbClr>
            </a:solidFill>
            <a:prstDash val="solid"/>
          </a:ln>
        </p:spPr>
      </p:sp>
      <p:sp>
        <p:nvSpPr>
          <p:cNvPr id="7" name="Text 5"/>
          <p:cNvSpPr txBox="1"/>
          <p:nvPr/>
        </p:nvSpPr>
        <p:spPr>
          <a:xfrm>
            <a:off x="914400" y="1554480"/>
            <a:ext cx="10378440" cy="420624"/>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rial" pitchFamily="34" charset="0"/>
                <a:ea typeface="Arial" pitchFamily="34" charset="-122"/>
                <a:cs typeface="Arial" pitchFamily="34" charset="-120"/>
              </a:rPr>
              <a:t>Design and demonstrate a fictional AML review workflow where every report claim is traceable to supplied material, limitations stay visible, and workflow actions remain named human decisions.</a:t>
            </a:r>
            <a:endParaRPr lang="en-US" sz="1800" dirty="0"/>
          </a:p>
        </p:txBody>
      </p:sp>
      <p:sp>
        <p:nvSpPr>
          <p:cNvPr id="8" name="Shape 6"/>
          <p:cNvSpPr/>
          <p:nvPr/>
        </p:nvSpPr>
        <p:spPr>
          <a:xfrm>
            <a:off x="749808" y="2615184"/>
            <a:ext cx="3401568" cy="960120"/>
          </a:xfrm>
          <a:prstGeom prst="roundRect">
            <a:avLst>
              <a:gd name="adj" fmla="val 11429"/>
            </a:avLst>
          </a:prstGeom>
          <a:solidFill>
            <a:srgbClr val="FFFFFF"/>
          </a:solidFill>
          <a:ln w="12700">
            <a:solidFill>
              <a:srgbClr val="FFFFFF">
                <a:alpha val="0"/>
              </a:srgbClr>
            </a:solidFill>
            <a:prstDash val="solid"/>
          </a:ln>
        </p:spPr>
      </p:sp>
      <p:sp>
        <p:nvSpPr>
          <p:cNvPr id="9" name="Text 7"/>
          <p:cNvSpPr txBox="1"/>
          <p:nvPr/>
        </p:nvSpPr>
        <p:spPr>
          <a:xfrm>
            <a:off x="95097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Track</a:t>
            </a:r>
            <a:endParaRPr lang="en-US" sz="1300" dirty="0"/>
          </a:p>
        </p:txBody>
      </p:sp>
      <p:sp>
        <p:nvSpPr>
          <p:cNvPr id="10" name="Text 8"/>
          <p:cNvSpPr txBox="1"/>
          <p:nvPr/>
        </p:nvSpPr>
        <p:spPr>
          <a:xfrm>
            <a:off x="95097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Blueprint + Prototype + Detailed code + Final results</a:t>
            </a:r>
            <a:endParaRPr lang="en-US" sz="1050" dirty="0"/>
          </a:p>
        </p:txBody>
      </p:sp>
      <p:sp>
        <p:nvSpPr>
          <p:cNvPr id="11" name="Shape 9"/>
          <p:cNvSpPr/>
          <p:nvPr/>
        </p:nvSpPr>
        <p:spPr>
          <a:xfrm>
            <a:off x="4498848" y="2615184"/>
            <a:ext cx="3401568" cy="960120"/>
          </a:xfrm>
          <a:prstGeom prst="roundRect">
            <a:avLst>
              <a:gd name="adj" fmla="val 11429"/>
            </a:avLst>
          </a:prstGeom>
          <a:solidFill>
            <a:srgbClr val="E6F8F6"/>
          </a:solidFill>
          <a:ln w="12700">
            <a:solidFill>
              <a:srgbClr val="E6F8F6">
                <a:alpha val="0"/>
              </a:srgbClr>
            </a:solidFill>
            <a:prstDash val="solid"/>
          </a:ln>
        </p:spPr>
      </p:sp>
      <p:sp>
        <p:nvSpPr>
          <p:cNvPr id="12" name="Text 10"/>
          <p:cNvSpPr txBox="1"/>
          <p:nvPr/>
        </p:nvSpPr>
        <p:spPr>
          <a:xfrm>
            <a:off x="470001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00A79D"/>
                </a:solidFill>
                <a:latin typeface="Arial" pitchFamily="34" charset="0"/>
                <a:ea typeface="Arial" pitchFamily="34" charset="-122"/>
                <a:cs typeface="Arial" pitchFamily="34" charset="-120"/>
              </a:rPr>
              <a:t>Measures</a:t>
            </a:r>
            <a:endParaRPr lang="en-US" sz="1300" dirty="0"/>
          </a:p>
        </p:txBody>
      </p:sp>
      <p:sp>
        <p:nvSpPr>
          <p:cNvPr id="13" name="Text 11"/>
          <p:cNvSpPr txBox="1"/>
          <p:nvPr/>
        </p:nvSpPr>
        <p:spPr>
          <a:xfrm>
            <a:off x="470001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Traceability, visible gaps, clear states, and required rationale</a:t>
            </a:r>
            <a:endParaRPr lang="en-US" sz="1050" dirty="0"/>
          </a:p>
        </p:txBody>
      </p:sp>
      <p:sp>
        <p:nvSpPr>
          <p:cNvPr id="14" name="Shape 12"/>
          <p:cNvSpPr/>
          <p:nvPr/>
        </p:nvSpPr>
        <p:spPr>
          <a:xfrm>
            <a:off x="8247888" y="2615184"/>
            <a:ext cx="3401568" cy="960120"/>
          </a:xfrm>
          <a:prstGeom prst="roundRect">
            <a:avLst>
              <a:gd name="adj" fmla="val 11429"/>
            </a:avLst>
          </a:prstGeom>
          <a:solidFill>
            <a:srgbClr val="FFFFFF"/>
          </a:solidFill>
          <a:ln w="12700">
            <a:solidFill>
              <a:srgbClr val="FFFFFF">
                <a:alpha val="0"/>
              </a:srgbClr>
            </a:solidFill>
            <a:prstDash val="solid"/>
          </a:ln>
        </p:spPr>
      </p:sp>
      <p:sp>
        <p:nvSpPr>
          <p:cNvPr id="15" name="Text 13"/>
          <p:cNvSpPr txBox="1"/>
          <p:nvPr/>
        </p:nvSpPr>
        <p:spPr>
          <a:xfrm>
            <a:off x="844905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Non-goals</a:t>
            </a:r>
            <a:endParaRPr lang="en-US" sz="1300" dirty="0"/>
          </a:p>
        </p:txBody>
      </p:sp>
      <p:sp>
        <p:nvSpPr>
          <p:cNvPr id="16" name="Text 14"/>
          <p:cNvSpPr txBox="1"/>
          <p:nvPr/>
        </p:nvSpPr>
        <p:spPr>
          <a:xfrm>
            <a:off x="844905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No real data, autonomous decision, legal conclusion, or external filing</a:t>
            </a:r>
            <a:endParaRPr lang="en-US" sz="1050" dirty="0"/>
          </a:p>
        </p:txBody>
      </p:sp>
      <p:sp>
        <p:nvSpPr>
          <p:cNvPr id="17" name="Text 15"/>
          <p:cNvSpPr txBox="1"/>
          <p:nvPr/>
        </p:nvSpPr>
        <p:spPr>
          <a:xfrm>
            <a:off x="786384" y="4261104"/>
            <a:ext cx="10469880" cy="201168"/>
          </a:xfrm>
          <a:prstGeom prst="rect">
            <a:avLst/>
          </a:prstGeom>
          <a:noFill/>
          <a:ln/>
        </p:spPr>
        <p:txBody>
          <a:bodyPr wrap="square" lIns="0" tIns="0" rIns="0" bIns="0" rtlCol="0" anchor="ctr">
            <a:normAutofit/>
          </a:bodyPr>
          <a:lstStyle/>
          <a:p>
            <a:pPr algn="ctr" indent="0" marL="0">
              <a:buNone/>
            </a:pPr>
            <a:r>
              <a:rPr lang="en-US" sz="1300" b="1" dirty="0">
                <a:solidFill>
                  <a:srgbClr val="0B1F3A"/>
                </a:solidFill>
                <a:latin typeface="Arial" pitchFamily="34" charset="0"/>
                <a:ea typeface="Arial" pitchFamily="34" charset="-122"/>
                <a:cs typeface="Arial" pitchFamily="34" charset="-120"/>
              </a:rPr>
              <a:t>Team: Rahul Chainani · Pankaj Bharsakale · Lakshmi Dudgikar · Rahul Sharma · Laxman Singh · Soumya · Sweta Singh</a:t>
            </a:r>
            <a:endParaRPr lang="en-US" sz="1300" dirty="0"/>
          </a:p>
        </p:txBody>
      </p:sp>
      <p:sp>
        <p:nvSpPr>
          <p:cNvPr id="18" name="Text 16"/>
          <p:cNvSpPr txBox="1"/>
          <p:nvPr/>
        </p:nvSpPr>
        <p:spPr>
          <a:xfrm>
            <a:off x="786384" y="4690872"/>
            <a:ext cx="10469880" cy="182880"/>
          </a:xfrm>
          <a:prstGeom prst="rect">
            <a:avLst/>
          </a:prstGeom>
          <a:noFill/>
          <a:ln/>
        </p:spPr>
        <p:txBody>
          <a:bodyPr wrap="square" lIns="0" tIns="0" rIns="0" bIns="0" rtlCol="0" anchor="ctr">
            <a:normAutofit/>
          </a:bodyPr>
          <a:lstStyle/>
          <a:p>
            <a:pPr algn="ctr" indent="0" marL="0">
              <a:buNone/>
            </a:pPr>
            <a:r>
              <a:rPr lang="en-US" sz="1200" i="1" dirty="0">
                <a:solidFill>
                  <a:srgbClr val="63738D"/>
                </a:solidFill>
                <a:latin typeface="Arial" pitchFamily="34" charset="0"/>
                <a:ea typeface="Arial" pitchFamily="34" charset="-122"/>
                <a:cs typeface="Arial" pitchFamily="34" charset="-120"/>
              </a:rPr>
              <a:t>One team member will present the full session; the presenter will be confirmed tomorrow.</a:t>
            </a:r>
            <a:endParaRPr lang="en-US" sz="12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THE PRODUCT</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From a stored alert to an accountable human action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3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12064"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7" name="Shape 5"/>
          <p:cNvSpPr/>
          <p:nvPr/>
        </p:nvSpPr>
        <p:spPr>
          <a:xfrm>
            <a:off x="676656" y="2148840"/>
            <a:ext cx="402336" cy="402336"/>
          </a:xfrm>
          <a:prstGeom prst="ellipse">
            <a:avLst/>
          </a:prstGeom>
          <a:solidFill>
            <a:srgbClr val="2E65C5"/>
          </a:solidFill>
          <a:ln w="12700">
            <a:solidFill>
              <a:srgbClr val="FFFFFF">
                <a:alpha val="0"/>
              </a:srgbClr>
            </a:solidFill>
            <a:prstDash val="solid"/>
          </a:ln>
        </p:spPr>
      </p:sp>
      <p:sp>
        <p:nvSpPr>
          <p:cNvPr id="8" name="Text 6"/>
          <p:cNvSpPr txBox="1"/>
          <p:nvPr/>
        </p:nvSpPr>
        <p:spPr>
          <a:xfrm>
            <a:off x="676656"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9" name="Text 7"/>
          <p:cNvSpPr txBox="1"/>
          <p:nvPr/>
        </p:nvSpPr>
        <p:spPr>
          <a:xfrm>
            <a:off x="713232"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Queue</a:t>
            </a:r>
            <a:endParaRPr lang="en-US" sz="1600" dirty="0"/>
          </a:p>
        </p:txBody>
      </p:sp>
      <p:sp>
        <p:nvSpPr>
          <p:cNvPr id="10" name="Text 8"/>
          <p:cNvSpPr txBox="1"/>
          <p:nvPr/>
        </p:nvSpPr>
        <p:spPr>
          <a:xfrm>
            <a:off x="713232"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Find and filter the fictional alert</a:t>
            </a:r>
            <a:endParaRPr lang="en-US" sz="1060" dirty="0"/>
          </a:p>
        </p:txBody>
      </p:sp>
      <p:sp>
        <p:nvSpPr>
          <p:cNvPr id="11" name="Shape 9"/>
          <p:cNvSpPr/>
          <p:nvPr/>
        </p:nvSpPr>
        <p:spPr>
          <a:xfrm>
            <a:off x="2523744" y="2706624"/>
            <a:ext cx="246888" cy="0"/>
          </a:xfrm>
          <a:prstGeom prst="line">
            <a:avLst/>
          </a:prstGeom>
          <a:noFill/>
          <a:ln w="25400">
            <a:solidFill>
              <a:srgbClr val="00A79D"/>
            </a:solidFill>
            <a:prstDash val="solid"/>
            <a:tailEnd type="triangle"/>
          </a:ln>
        </p:spPr>
      </p:sp>
      <p:sp>
        <p:nvSpPr>
          <p:cNvPr id="12" name="Shape 10"/>
          <p:cNvSpPr/>
          <p:nvPr/>
        </p:nvSpPr>
        <p:spPr>
          <a:xfrm>
            <a:off x="2852928"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13" name="Shape 11"/>
          <p:cNvSpPr/>
          <p:nvPr/>
        </p:nvSpPr>
        <p:spPr>
          <a:xfrm>
            <a:off x="3017520" y="2148840"/>
            <a:ext cx="402336" cy="402336"/>
          </a:xfrm>
          <a:prstGeom prst="ellipse">
            <a:avLst/>
          </a:prstGeom>
          <a:solidFill>
            <a:srgbClr val="2E65C5"/>
          </a:solidFill>
          <a:ln w="12700">
            <a:solidFill>
              <a:srgbClr val="FFFFFF">
                <a:alpha val="0"/>
              </a:srgbClr>
            </a:solidFill>
            <a:prstDash val="solid"/>
          </a:ln>
        </p:spPr>
      </p:sp>
      <p:sp>
        <p:nvSpPr>
          <p:cNvPr id="14" name="Text 12"/>
          <p:cNvSpPr txBox="1"/>
          <p:nvPr/>
        </p:nvSpPr>
        <p:spPr>
          <a:xfrm>
            <a:off x="3017520"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15" name="Text 13"/>
          <p:cNvSpPr txBox="1"/>
          <p:nvPr/>
        </p:nvSpPr>
        <p:spPr>
          <a:xfrm>
            <a:off x="3054096"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Workspace</a:t>
            </a:r>
            <a:endParaRPr lang="en-US" sz="1600" dirty="0"/>
          </a:p>
        </p:txBody>
      </p:sp>
      <p:sp>
        <p:nvSpPr>
          <p:cNvPr id="16" name="Text 14"/>
          <p:cNvSpPr txBox="1"/>
          <p:nvPr/>
        </p:nvSpPr>
        <p:spPr>
          <a:xfrm>
            <a:off x="3054096"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Build or replay the review</a:t>
            </a:r>
            <a:endParaRPr lang="en-US" sz="1060" dirty="0"/>
          </a:p>
        </p:txBody>
      </p:sp>
      <p:sp>
        <p:nvSpPr>
          <p:cNvPr id="17" name="Shape 15"/>
          <p:cNvSpPr/>
          <p:nvPr/>
        </p:nvSpPr>
        <p:spPr>
          <a:xfrm>
            <a:off x="4864608" y="2706624"/>
            <a:ext cx="246888" cy="0"/>
          </a:xfrm>
          <a:prstGeom prst="line">
            <a:avLst/>
          </a:prstGeom>
          <a:noFill/>
          <a:ln w="25400">
            <a:solidFill>
              <a:srgbClr val="00A79D"/>
            </a:solidFill>
            <a:prstDash val="solid"/>
            <a:tailEnd type="triangle"/>
          </a:ln>
        </p:spPr>
      </p:sp>
      <p:sp>
        <p:nvSpPr>
          <p:cNvPr id="18" name="Shape 16"/>
          <p:cNvSpPr/>
          <p:nvPr/>
        </p:nvSpPr>
        <p:spPr>
          <a:xfrm>
            <a:off x="5193792" y="1920240"/>
            <a:ext cx="1993392" cy="1572768"/>
          </a:xfrm>
          <a:prstGeom prst="roundRect">
            <a:avLst>
              <a:gd name="adj" fmla="val 6977"/>
            </a:avLst>
          </a:prstGeom>
          <a:solidFill>
            <a:srgbClr val="E6F8F6"/>
          </a:solidFill>
          <a:ln w="12700">
            <a:solidFill>
              <a:srgbClr val="E6F8F6">
                <a:alpha val="0"/>
              </a:srgbClr>
            </a:solidFill>
            <a:prstDash val="solid"/>
          </a:ln>
        </p:spPr>
      </p:sp>
      <p:sp>
        <p:nvSpPr>
          <p:cNvPr id="19" name="Shape 17"/>
          <p:cNvSpPr/>
          <p:nvPr/>
        </p:nvSpPr>
        <p:spPr>
          <a:xfrm>
            <a:off x="5358384" y="2148840"/>
            <a:ext cx="402336" cy="402336"/>
          </a:xfrm>
          <a:prstGeom prst="ellipse">
            <a:avLst/>
          </a:prstGeom>
          <a:solidFill>
            <a:srgbClr val="00A79D"/>
          </a:solidFill>
          <a:ln w="12700">
            <a:solidFill>
              <a:srgbClr val="FFFFFF">
                <a:alpha val="0"/>
              </a:srgbClr>
            </a:solidFill>
            <a:prstDash val="solid"/>
          </a:ln>
        </p:spPr>
      </p:sp>
      <p:sp>
        <p:nvSpPr>
          <p:cNvPr id="20" name="Text 18"/>
          <p:cNvSpPr txBox="1"/>
          <p:nvPr/>
        </p:nvSpPr>
        <p:spPr>
          <a:xfrm>
            <a:off x="5358384"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21" name="Text 19"/>
          <p:cNvSpPr txBox="1"/>
          <p:nvPr/>
        </p:nvSpPr>
        <p:spPr>
          <a:xfrm>
            <a:off x="5394960"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Evidence</a:t>
            </a:r>
            <a:endParaRPr lang="en-US" sz="1600" dirty="0"/>
          </a:p>
        </p:txBody>
      </p:sp>
      <p:sp>
        <p:nvSpPr>
          <p:cNvPr id="22" name="Text 20"/>
          <p:cNvSpPr txBox="1"/>
          <p:nvPr/>
        </p:nvSpPr>
        <p:spPr>
          <a:xfrm>
            <a:off x="5394960"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Read exact records and chunks</a:t>
            </a:r>
            <a:endParaRPr lang="en-US" sz="1060" dirty="0"/>
          </a:p>
        </p:txBody>
      </p:sp>
      <p:sp>
        <p:nvSpPr>
          <p:cNvPr id="23" name="Shape 21"/>
          <p:cNvSpPr/>
          <p:nvPr/>
        </p:nvSpPr>
        <p:spPr>
          <a:xfrm>
            <a:off x="7205472" y="2706624"/>
            <a:ext cx="246888" cy="0"/>
          </a:xfrm>
          <a:prstGeom prst="line">
            <a:avLst/>
          </a:prstGeom>
          <a:noFill/>
          <a:ln w="25400">
            <a:solidFill>
              <a:srgbClr val="00A79D"/>
            </a:solidFill>
            <a:prstDash val="solid"/>
            <a:tailEnd type="triangle"/>
          </a:ln>
        </p:spPr>
      </p:sp>
      <p:sp>
        <p:nvSpPr>
          <p:cNvPr id="24" name="Shape 22"/>
          <p:cNvSpPr/>
          <p:nvPr/>
        </p:nvSpPr>
        <p:spPr>
          <a:xfrm>
            <a:off x="7534656"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25" name="Shape 23"/>
          <p:cNvSpPr/>
          <p:nvPr/>
        </p:nvSpPr>
        <p:spPr>
          <a:xfrm>
            <a:off x="7699248" y="2148840"/>
            <a:ext cx="402336" cy="402336"/>
          </a:xfrm>
          <a:prstGeom prst="ellipse">
            <a:avLst/>
          </a:prstGeom>
          <a:solidFill>
            <a:srgbClr val="2E65C5"/>
          </a:solidFill>
          <a:ln w="12700">
            <a:solidFill>
              <a:srgbClr val="FFFFFF">
                <a:alpha val="0"/>
              </a:srgbClr>
            </a:solidFill>
            <a:prstDash val="solid"/>
          </a:ln>
        </p:spPr>
      </p:sp>
      <p:sp>
        <p:nvSpPr>
          <p:cNvPr id="26" name="Text 24"/>
          <p:cNvSpPr txBox="1"/>
          <p:nvPr/>
        </p:nvSpPr>
        <p:spPr>
          <a:xfrm>
            <a:off x="7699248"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4</a:t>
            </a:r>
            <a:endParaRPr lang="en-US" sz="800" dirty="0"/>
          </a:p>
        </p:txBody>
      </p:sp>
      <p:sp>
        <p:nvSpPr>
          <p:cNvPr id="27" name="Text 25"/>
          <p:cNvSpPr txBox="1"/>
          <p:nvPr/>
        </p:nvSpPr>
        <p:spPr>
          <a:xfrm>
            <a:off x="7735824"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Decision</a:t>
            </a:r>
            <a:endParaRPr lang="en-US" sz="1600" dirty="0"/>
          </a:p>
        </p:txBody>
      </p:sp>
      <p:sp>
        <p:nvSpPr>
          <p:cNvPr id="28" name="Text 26"/>
          <p:cNvSpPr txBox="1"/>
          <p:nvPr/>
        </p:nvSpPr>
        <p:spPr>
          <a:xfrm>
            <a:off x="7735824"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Record a required rationale</a:t>
            </a:r>
            <a:endParaRPr lang="en-US" sz="1060" dirty="0"/>
          </a:p>
        </p:txBody>
      </p:sp>
      <p:sp>
        <p:nvSpPr>
          <p:cNvPr id="29" name="Shape 27"/>
          <p:cNvSpPr/>
          <p:nvPr/>
        </p:nvSpPr>
        <p:spPr>
          <a:xfrm>
            <a:off x="9546336" y="2706624"/>
            <a:ext cx="246888" cy="0"/>
          </a:xfrm>
          <a:prstGeom prst="line">
            <a:avLst/>
          </a:prstGeom>
          <a:noFill/>
          <a:ln w="25400">
            <a:solidFill>
              <a:srgbClr val="00A79D"/>
            </a:solidFill>
            <a:prstDash val="solid"/>
            <a:tailEnd type="triangle"/>
          </a:ln>
        </p:spPr>
      </p:sp>
      <p:sp>
        <p:nvSpPr>
          <p:cNvPr id="30" name="Shape 28"/>
          <p:cNvSpPr/>
          <p:nvPr/>
        </p:nvSpPr>
        <p:spPr>
          <a:xfrm>
            <a:off x="9875520"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31" name="Shape 29"/>
          <p:cNvSpPr/>
          <p:nvPr/>
        </p:nvSpPr>
        <p:spPr>
          <a:xfrm>
            <a:off x="10040112" y="2148840"/>
            <a:ext cx="402336" cy="402336"/>
          </a:xfrm>
          <a:prstGeom prst="ellipse">
            <a:avLst/>
          </a:prstGeom>
          <a:solidFill>
            <a:srgbClr val="2E65C5"/>
          </a:solidFill>
          <a:ln w="12700">
            <a:solidFill>
              <a:srgbClr val="FFFFFF">
                <a:alpha val="0"/>
              </a:srgbClr>
            </a:solidFill>
            <a:prstDash val="solid"/>
          </a:ln>
        </p:spPr>
      </p:sp>
      <p:sp>
        <p:nvSpPr>
          <p:cNvPr id="32" name="Text 30"/>
          <p:cNvSpPr txBox="1"/>
          <p:nvPr/>
        </p:nvSpPr>
        <p:spPr>
          <a:xfrm>
            <a:off x="10040112"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5</a:t>
            </a:r>
            <a:endParaRPr lang="en-US" sz="800" dirty="0"/>
          </a:p>
        </p:txBody>
      </p:sp>
      <p:sp>
        <p:nvSpPr>
          <p:cNvPr id="33" name="Text 31"/>
          <p:cNvSpPr txBox="1"/>
          <p:nvPr/>
        </p:nvSpPr>
        <p:spPr>
          <a:xfrm>
            <a:off x="10076688"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Compliance</a:t>
            </a:r>
            <a:endParaRPr lang="en-US" sz="1600" dirty="0"/>
          </a:p>
        </p:txBody>
      </p:sp>
      <p:sp>
        <p:nvSpPr>
          <p:cNvPr id="34" name="Text 32"/>
          <p:cNvSpPr txBox="1"/>
          <p:nvPr/>
        </p:nvSpPr>
        <p:spPr>
          <a:xfrm>
            <a:off x="10076688"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Perform a second human review</a:t>
            </a:r>
            <a:endParaRPr lang="en-US" sz="1060" dirty="0"/>
          </a:p>
        </p:txBody>
      </p:sp>
      <p:sp>
        <p:nvSpPr>
          <p:cNvPr id="35" name="Text 33"/>
          <p:cNvSpPr txBox="1"/>
          <p:nvPr/>
        </p:nvSpPr>
        <p:spPr>
          <a:xfrm>
            <a:off x="1097280" y="4892040"/>
            <a:ext cx="9966960" cy="274320"/>
          </a:xfrm>
          <a:prstGeom prst="rect">
            <a:avLst/>
          </a:prstGeom>
          <a:noFill/>
          <a:ln/>
        </p:spPr>
        <p:txBody>
          <a:bodyPr wrap="square" lIns="0" tIns="0" rIns="0" bIns="0" rtlCol="0" anchor="ctr">
            <a:normAutofit/>
          </a:bodyPr>
          <a:lstStyle/>
          <a:p>
            <a:pPr algn="ctr" indent="0" marL="0">
              <a:buNone/>
            </a:pPr>
            <a:r>
              <a:rPr lang="en-US" sz="1700" b="1" dirty="0">
                <a:solidFill>
                  <a:srgbClr val="0B1F3A"/>
                </a:solidFill>
                <a:latin typeface="Arial" pitchFamily="34" charset="0"/>
                <a:ea typeface="Arial" pitchFamily="34" charset="-122"/>
                <a:cs typeface="Arial" pitchFamily="34" charset="-120"/>
              </a:rPr>
              <a:t>The application supports investigation. It never closes, escalates, refers, or files an action automatically.</a:t>
            </a:r>
            <a:endParaRPr lang="en-US" sz="1700" dirty="0"/>
          </a:p>
        </p:txBody>
      </p:sp>
    </p:spTree>
  </p:cSld>
  <p:clrMapOvr>
    <a:masterClrMapping/>
  </p:clrMapOvr>
  <p:transition spd="med" advClick="1">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RESPONSIBLE AI</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Evidence confidence exposes support gaps—it does not predict wrongdoing</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4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03504" y="1243584"/>
            <a:ext cx="6428232" cy="3648456"/>
          </a:xfrm>
          <a:prstGeom prst="roundRect">
            <a:avLst>
              <a:gd name="adj" fmla="val 3008"/>
            </a:avLst>
          </a:prstGeom>
          <a:solidFill>
            <a:srgbClr val="D9E7FC"/>
          </a:solidFill>
          <a:ln w="12700">
            <a:solidFill>
              <a:srgbClr val="D9E7FC">
                <a:alpha val="0"/>
              </a:srgbClr>
            </a:solidFill>
            <a:prstDash val="solid"/>
          </a:ln>
        </p:spPr>
      </p:sp>
      <p:pic>
        <p:nvPicPr>
          <p:cNvPr id="7" name="Image 0" descr="C:\D\IIT Mumbai\Capstone Blueprint\assets\walkthrough_screens\2026_workspace_confidence.png">    </p:cNvPr>
          <p:cNvPicPr>
            <a:picLocks noChangeAspect="1"/>
          </p:cNvPicPr>
          <p:nvPr/>
        </p:nvPicPr>
        <p:blipFill>
          <a:blip r:embed="rId1"/>
          <a:stretch>
            <a:fillRect/>
          </a:stretch>
        </p:blipFill>
        <p:spPr>
          <a:xfrm>
            <a:off x="640080" y="1280160"/>
            <a:ext cx="6355080" cy="3575304"/>
          </a:xfrm>
          <a:prstGeom prst="rect">
            <a:avLst/>
          </a:prstGeom>
        </p:spPr>
      </p:pic>
      <p:sp>
        <p:nvSpPr>
          <p:cNvPr id="8" name="Shape 5"/>
          <p:cNvSpPr/>
          <p:nvPr/>
        </p:nvSpPr>
        <p:spPr>
          <a:xfrm>
            <a:off x="7388352" y="1554480"/>
            <a:ext cx="3749040" cy="585216"/>
          </a:xfrm>
          <a:prstGeom prst="roundRect">
            <a:avLst>
              <a:gd name="adj" fmla="val 18750"/>
            </a:avLst>
          </a:prstGeom>
          <a:solidFill>
            <a:srgbClr val="173C78"/>
          </a:solidFill>
          <a:ln w="12700">
            <a:solidFill>
              <a:srgbClr val="173C78">
                <a:alpha val="0"/>
              </a:srgbClr>
            </a:solidFill>
            <a:prstDash val="solid"/>
          </a:ln>
        </p:spPr>
      </p:sp>
      <p:sp>
        <p:nvSpPr>
          <p:cNvPr id="9" name="Text 6"/>
          <p:cNvSpPr txBox="1"/>
          <p:nvPr/>
        </p:nvSpPr>
        <p:spPr>
          <a:xfrm>
            <a:off x="7589520" y="1673352"/>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Coverage</a:t>
            </a:r>
            <a:endParaRPr lang="en-US" sz="1200" dirty="0"/>
          </a:p>
        </p:txBody>
      </p:sp>
      <p:sp>
        <p:nvSpPr>
          <p:cNvPr id="10" name="Text 7"/>
          <p:cNvSpPr txBox="1"/>
          <p:nvPr/>
        </p:nvSpPr>
        <p:spPr>
          <a:xfrm>
            <a:off x="8613648" y="1618488"/>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Supplied records and guidance that support the draft</a:t>
            </a:r>
            <a:endParaRPr lang="en-US" sz="1050" dirty="0"/>
          </a:p>
        </p:txBody>
      </p:sp>
      <p:sp>
        <p:nvSpPr>
          <p:cNvPr id="11" name="Shape 8"/>
          <p:cNvSpPr/>
          <p:nvPr/>
        </p:nvSpPr>
        <p:spPr>
          <a:xfrm>
            <a:off x="7388352" y="2395728"/>
            <a:ext cx="3749040" cy="585216"/>
          </a:xfrm>
          <a:prstGeom prst="roundRect">
            <a:avLst>
              <a:gd name="adj" fmla="val 18750"/>
            </a:avLst>
          </a:prstGeom>
          <a:solidFill>
            <a:srgbClr val="173C78"/>
          </a:solidFill>
          <a:ln w="12700">
            <a:solidFill>
              <a:srgbClr val="173C78">
                <a:alpha val="0"/>
              </a:srgbClr>
            </a:solidFill>
            <a:prstDash val="solid"/>
          </a:ln>
        </p:spPr>
      </p:sp>
      <p:sp>
        <p:nvSpPr>
          <p:cNvPr id="12" name="Text 9"/>
          <p:cNvSpPr txBox="1"/>
          <p:nvPr/>
        </p:nvSpPr>
        <p:spPr>
          <a:xfrm>
            <a:off x="7589520" y="2514600"/>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Limitations</a:t>
            </a:r>
            <a:endParaRPr lang="en-US" sz="1200" dirty="0"/>
          </a:p>
        </p:txBody>
      </p:sp>
      <p:sp>
        <p:nvSpPr>
          <p:cNvPr id="13" name="Text 10"/>
          <p:cNvSpPr txBox="1"/>
          <p:nvPr/>
        </p:nvSpPr>
        <p:spPr>
          <a:xfrm>
            <a:off x="8613648" y="2459736"/>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Known missing or unresolved evidence</a:t>
            </a:r>
            <a:endParaRPr lang="en-US" sz="1050" dirty="0"/>
          </a:p>
        </p:txBody>
      </p:sp>
      <p:sp>
        <p:nvSpPr>
          <p:cNvPr id="14" name="Shape 11"/>
          <p:cNvSpPr/>
          <p:nvPr/>
        </p:nvSpPr>
        <p:spPr>
          <a:xfrm>
            <a:off x="7388352" y="3236976"/>
            <a:ext cx="3749040" cy="585216"/>
          </a:xfrm>
          <a:prstGeom prst="roundRect">
            <a:avLst>
              <a:gd name="adj" fmla="val 18750"/>
            </a:avLst>
          </a:prstGeom>
          <a:solidFill>
            <a:srgbClr val="173C78"/>
          </a:solidFill>
          <a:ln w="12700">
            <a:solidFill>
              <a:srgbClr val="173C78">
                <a:alpha val="0"/>
              </a:srgbClr>
            </a:solidFill>
            <a:prstDash val="solid"/>
          </a:ln>
        </p:spPr>
      </p:sp>
      <p:sp>
        <p:nvSpPr>
          <p:cNvPr id="15" name="Text 12"/>
          <p:cNvSpPr txBox="1"/>
          <p:nvPr/>
        </p:nvSpPr>
        <p:spPr>
          <a:xfrm>
            <a:off x="7589520" y="3355848"/>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Boundary</a:t>
            </a:r>
            <a:endParaRPr lang="en-US" sz="1200" dirty="0"/>
          </a:p>
        </p:txBody>
      </p:sp>
      <p:sp>
        <p:nvSpPr>
          <p:cNvPr id="16" name="Text 13"/>
          <p:cNvSpPr txBox="1"/>
          <p:nvPr/>
        </p:nvSpPr>
        <p:spPr>
          <a:xfrm>
            <a:off x="8613648" y="3300984"/>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Not a crime, legality, or outcome probability</a:t>
            </a:r>
            <a:endParaRPr lang="en-US" sz="105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OKF, CHUNKS, AND RAG</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The coding logic keeps the source trail inspectable</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5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85216" y="1225296"/>
            <a:ext cx="6364224" cy="3611880"/>
          </a:xfrm>
          <a:prstGeom prst="roundRect">
            <a:avLst>
              <a:gd name="adj" fmla="val 3038"/>
            </a:avLst>
          </a:prstGeom>
          <a:solidFill>
            <a:srgbClr val="D9E7FC"/>
          </a:solidFill>
          <a:ln w="12700">
            <a:solidFill>
              <a:srgbClr val="D9E7FC">
                <a:alpha val="0"/>
              </a:srgbClr>
            </a:solidFill>
            <a:prstDash val="solid"/>
          </a:ln>
        </p:spPr>
      </p:sp>
      <p:pic>
        <p:nvPicPr>
          <p:cNvPr id="7" name="Image 0" descr="C:\D\IIT Mumbai\Capstone Blueprint\assets\walkthrough_screens\2026_evidence_source_chunks_detail.png">    </p:cNvPr>
          <p:cNvPicPr>
            <a:picLocks noChangeAspect="1"/>
          </p:cNvPicPr>
          <p:nvPr/>
        </p:nvPicPr>
        <p:blipFill>
          <a:blip r:embed="rId1"/>
          <a:stretch>
            <a:fillRect/>
          </a:stretch>
        </p:blipFill>
        <p:spPr>
          <a:xfrm>
            <a:off x="621792" y="1261872"/>
            <a:ext cx="6291072" cy="3538728"/>
          </a:xfrm>
          <a:prstGeom prst="rect">
            <a:avLst/>
          </a:prstGeom>
        </p:spPr>
      </p:pic>
      <p:sp>
        <p:nvSpPr>
          <p:cNvPr id="8" name="Shape 5"/>
          <p:cNvSpPr/>
          <p:nvPr/>
        </p:nvSpPr>
        <p:spPr>
          <a:xfrm>
            <a:off x="7360920" y="1325880"/>
            <a:ext cx="347472" cy="347472"/>
          </a:xfrm>
          <a:prstGeom prst="ellipse">
            <a:avLst/>
          </a:prstGeom>
          <a:solidFill>
            <a:srgbClr val="2E65C5"/>
          </a:solidFill>
          <a:ln w="12700">
            <a:solidFill>
              <a:srgbClr val="2E65C5">
                <a:alpha val="0"/>
              </a:srgbClr>
            </a:solidFill>
            <a:prstDash val="solid"/>
          </a:ln>
        </p:spPr>
      </p:sp>
      <p:sp>
        <p:nvSpPr>
          <p:cNvPr id="9" name="Text 6"/>
          <p:cNvSpPr txBox="1"/>
          <p:nvPr/>
        </p:nvSpPr>
        <p:spPr>
          <a:xfrm>
            <a:off x="7360920" y="1408176"/>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10" name="Text 7"/>
          <p:cNvSpPr txBox="1"/>
          <p:nvPr/>
        </p:nvSpPr>
        <p:spPr>
          <a:xfrm>
            <a:off x="7872984" y="1325880"/>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OKF source</a:t>
            </a:r>
            <a:endParaRPr lang="en-US" sz="1300" dirty="0"/>
          </a:p>
        </p:txBody>
      </p:sp>
      <p:sp>
        <p:nvSpPr>
          <p:cNvPr id="11" name="Text 8"/>
          <p:cNvSpPr txBox="1"/>
          <p:nvPr/>
        </p:nvSpPr>
        <p:spPr>
          <a:xfrm>
            <a:off x="7872984" y="1554480"/>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ID, scenario, title, criteria, body</a:t>
            </a:r>
            <a:endParaRPr lang="en-US" sz="1050" dirty="0"/>
          </a:p>
        </p:txBody>
      </p:sp>
      <p:sp>
        <p:nvSpPr>
          <p:cNvPr id="12" name="Shape 9"/>
          <p:cNvSpPr/>
          <p:nvPr/>
        </p:nvSpPr>
        <p:spPr>
          <a:xfrm>
            <a:off x="7360920" y="2093976"/>
            <a:ext cx="347472" cy="347472"/>
          </a:xfrm>
          <a:prstGeom prst="ellipse">
            <a:avLst/>
          </a:prstGeom>
          <a:solidFill>
            <a:srgbClr val="2E65C5"/>
          </a:solidFill>
          <a:ln w="12700">
            <a:solidFill>
              <a:srgbClr val="2E65C5">
                <a:alpha val="0"/>
              </a:srgbClr>
            </a:solidFill>
            <a:prstDash val="solid"/>
          </a:ln>
        </p:spPr>
      </p:sp>
      <p:sp>
        <p:nvSpPr>
          <p:cNvPr id="13" name="Text 10"/>
          <p:cNvSpPr txBox="1"/>
          <p:nvPr/>
        </p:nvSpPr>
        <p:spPr>
          <a:xfrm>
            <a:off x="7360920" y="2176272"/>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14" name="Text 11"/>
          <p:cNvSpPr txBox="1"/>
          <p:nvPr/>
        </p:nvSpPr>
        <p:spPr>
          <a:xfrm>
            <a:off x="7872984" y="2093976"/>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Chunk builder</a:t>
            </a:r>
            <a:endParaRPr lang="en-US" sz="1300" dirty="0"/>
          </a:p>
        </p:txBody>
      </p:sp>
      <p:sp>
        <p:nvSpPr>
          <p:cNvPr id="15" name="Text 12"/>
          <p:cNvSpPr txBox="1"/>
          <p:nvPr/>
        </p:nvSpPr>
        <p:spPr>
          <a:xfrm>
            <a:off x="7872984" y="2322576"/>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C0 metadata + two-sentence body chunks</a:t>
            </a:r>
            <a:endParaRPr lang="en-US" sz="1050" dirty="0"/>
          </a:p>
        </p:txBody>
      </p:sp>
      <p:sp>
        <p:nvSpPr>
          <p:cNvPr id="16" name="Shape 13"/>
          <p:cNvSpPr/>
          <p:nvPr/>
        </p:nvSpPr>
        <p:spPr>
          <a:xfrm>
            <a:off x="7360920" y="2862072"/>
            <a:ext cx="347472" cy="347472"/>
          </a:xfrm>
          <a:prstGeom prst="ellipse">
            <a:avLst/>
          </a:prstGeom>
          <a:solidFill>
            <a:srgbClr val="00A79D"/>
          </a:solidFill>
          <a:ln w="12700">
            <a:solidFill>
              <a:srgbClr val="00A79D">
                <a:alpha val="0"/>
              </a:srgbClr>
            </a:solidFill>
            <a:prstDash val="solid"/>
          </a:ln>
        </p:spPr>
      </p:sp>
      <p:sp>
        <p:nvSpPr>
          <p:cNvPr id="17" name="Text 14"/>
          <p:cNvSpPr txBox="1"/>
          <p:nvPr/>
        </p:nvSpPr>
        <p:spPr>
          <a:xfrm>
            <a:off x="7360920" y="2944368"/>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18" name="Text 15"/>
          <p:cNvSpPr txBox="1"/>
          <p:nvPr/>
        </p:nvSpPr>
        <p:spPr>
          <a:xfrm>
            <a:off x="7872984" y="2862072"/>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FTS5 + BM25</a:t>
            </a:r>
            <a:endParaRPr lang="en-US" sz="1300" dirty="0"/>
          </a:p>
        </p:txBody>
      </p:sp>
      <p:sp>
        <p:nvSpPr>
          <p:cNvPr id="19" name="Text 16"/>
          <p:cNvSpPr txBox="1"/>
          <p:nvPr/>
        </p:nvSpPr>
        <p:spPr>
          <a:xfrm>
            <a:off x="7872984" y="3090672"/>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Local keyword match and rank</a:t>
            </a:r>
            <a:endParaRPr lang="en-US" sz="1050" dirty="0"/>
          </a:p>
        </p:txBody>
      </p:sp>
      <p:sp>
        <p:nvSpPr>
          <p:cNvPr id="20" name="Shape 17"/>
          <p:cNvSpPr/>
          <p:nvPr/>
        </p:nvSpPr>
        <p:spPr>
          <a:xfrm>
            <a:off x="7360920" y="3630168"/>
            <a:ext cx="347472" cy="347472"/>
          </a:xfrm>
          <a:prstGeom prst="ellipse">
            <a:avLst/>
          </a:prstGeom>
          <a:solidFill>
            <a:srgbClr val="2E65C5"/>
          </a:solidFill>
          <a:ln w="12700">
            <a:solidFill>
              <a:srgbClr val="2E65C5">
                <a:alpha val="0"/>
              </a:srgbClr>
            </a:solidFill>
            <a:prstDash val="solid"/>
          </a:ln>
        </p:spPr>
      </p:sp>
      <p:sp>
        <p:nvSpPr>
          <p:cNvPr id="21" name="Text 18"/>
          <p:cNvSpPr txBox="1"/>
          <p:nvPr/>
        </p:nvSpPr>
        <p:spPr>
          <a:xfrm>
            <a:off x="7360920" y="3712464"/>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4</a:t>
            </a:r>
            <a:endParaRPr lang="en-US" sz="850" dirty="0"/>
          </a:p>
        </p:txBody>
      </p:sp>
      <p:sp>
        <p:nvSpPr>
          <p:cNvPr id="22" name="Text 19"/>
          <p:cNvSpPr txBox="1"/>
          <p:nvPr/>
        </p:nvSpPr>
        <p:spPr>
          <a:xfrm>
            <a:off x="7872984" y="3630168"/>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RAG context</a:t>
            </a:r>
            <a:endParaRPr lang="en-US" sz="1300" dirty="0"/>
          </a:p>
        </p:txBody>
      </p:sp>
      <p:sp>
        <p:nvSpPr>
          <p:cNvPr id="23" name="Text 20"/>
          <p:cNvSpPr txBox="1"/>
          <p:nvPr/>
        </p:nvSpPr>
        <p:spPr>
          <a:xfrm>
            <a:off x="7872984" y="3858768"/>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Retrieved IDs produce a cited, reviewable answer</a:t>
            </a:r>
            <a:endParaRPr lang="en-US" sz="1050" dirty="0"/>
          </a:p>
        </p:txBody>
      </p:sp>
      <p:sp>
        <p:nvSpPr>
          <p:cNvPr id="24" name="Shape 21"/>
          <p:cNvSpPr/>
          <p:nvPr/>
        </p:nvSpPr>
        <p:spPr>
          <a:xfrm>
            <a:off x="749808" y="5257800"/>
            <a:ext cx="10652760" cy="384048"/>
          </a:xfrm>
          <a:prstGeom prst="roundRect">
            <a:avLst>
              <a:gd name="adj" fmla="val 28571"/>
            </a:avLst>
          </a:prstGeom>
          <a:solidFill>
            <a:srgbClr val="E6F8F6"/>
          </a:solidFill>
          <a:ln w="12700">
            <a:solidFill>
              <a:srgbClr val="E6F8F6">
                <a:alpha val="0"/>
              </a:srgbClr>
            </a:solidFill>
            <a:prstDash val="solid"/>
          </a:ln>
        </p:spPr>
      </p:sp>
      <p:sp>
        <p:nvSpPr>
          <p:cNvPr id="25" name="Text 22"/>
          <p:cNvSpPr txBox="1"/>
          <p:nvPr/>
        </p:nvSpPr>
        <p:spPr>
          <a:xfrm>
            <a:off x="914400" y="5376672"/>
            <a:ext cx="10314432" cy="118872"/>
          </a:xfrm>
          <a:prstGeom prst="rect">
            <a:avLst/>
          </a:prstGeom>
          <a:noFill/>
          <a:ln/>
        </p:spPr>
        <p:txBody>
          <a:bodyPr wrap="square" lIns="0" tIns="0" rIns="0" bIns="0" rtlCol="0" anchor="ctr">
            <a:normAutofit/>
          </a:bodyPr>
          <a:lstStyle/>
          <a:p>
            <a:pPr algn="ctr" indent="0" marL="0">
              <a:buNone/>
            </a:pPr>
            <a:r>
              <a:rPr lang="en-US" sz="1150" b="1" dirty="0">
                <a:solidFill>
                  <a:srgbClr val="00A79D"/>
                </a:solidFill>
                <a:latin typeface="Arial" pitchFamily="34" charset="0"/>
                <a:ea typeface="Arial" pitchFamily="34" charset="-122"/>
                <a:cs typeface="Arial" pitchFamily="34" charset="-120"/>
              </a:rPr>
              <a:t>OKF source  →  chunk builder  →  FTS5/BM25  →  retrieved IDs  →  cited response</a:t>
            </a:r>
            <a:endParaRPr lang="en-US" sz="115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TECHNICAL DESIGN</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Inspectable page logic instead of hidden autonomous behavior</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6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94944" y="1417320"/>
            <a:ext cx="3273552" cy="1024128"/>
          </a:xfrm>
          <a:prstGeom prst="roundRect">
            <a:avLst>
              <a:gd name="adj" fmla="val 10714"/>
            </a:avLst>
          </a:prstGeom>
          <a:solidFill>
            <a:srgbClr val="FFFFFF"/>
          </a:solidFill>
          <a:ln w="12700">
            <a:solidFill>
              <a:srgbClr val="FFFFFF">
                <a:alpha val="0"/>
              </a:srgbClr>
            </a:solidFill>
            <a:prstDash val="solid"/>
          </a:ln>
        </p:spPr>
      </p:sp>
      <p:sp>
        <p:nvSpPr>
          <p:cNvPr id="7" name="Text 5"/>
          <p:cNvSpPr txBox="1"/>
          <p:nvPr/>
        </p:nvSpPr>
        <p:spPr>
          <a:xfrm>
            <a:off x="905256" y="1609344"/>
            <a:ext cx="274320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Streamlit router</a:t>
            </a:r>
            <a:endParaRPr lang="en-US" sz="1400" dirty="0"/>
          </a:p>
        </p:txBody>
      </p:sp>
      <p:sp>
        <p:nvSpPr>
          <p:cNvPr id="8" name="Text 6"/>
          <p:cNvSpPr txBox="1"/>
          <p:nvPr/>
        </p:nvSpPr>
        <p:spPr>
          <a:xfrm>
            <a:off x="905256" y="1984248"/>
            <a:ext cx="2788920" cy="228600"/>
          </a:xfrm>
          <a:prstGeom prst="rect">
            <a:avLst/>
          </a:prstGeom>
          <a:noFill/>
          <a:ln/>
        </p:spPr>
        <p:txBody>
          <a:bodyPr wrap="square" lIns="0" tIns="0" rIns="0" bIns="0" rtlCol="0" anchor="t">
            <a:normAutofit/>
          </a:bodyPr>
          <a:lstStyle/>
          <a:p>
            <a:pPr algn="l" indent="0" marL="0">
              <a:buNone/>
            </a:pPr>
            <a:r>
              <a:rPr lang="en-US" sz="1070" dirty="0">
                <a:solidFill>
                  <a:srgbClr val="63738D"/>
                </a:solidFill>
                <a:latin typeface="Arial" pitchFamily="34" charset="0"/>
                <a:ea typeface="Arial" pitchFamily="34" charset="-122"/>
                <a:cs typeface="Arial" pitchFamily="34" charset="-120"/>
              </a:rPr>
              <a:t>Navigation routes to page modules</a:t>
            </a:r>
            <a:endParaRPr lang="en-US" sz="1070" dirty="0"/>
          </a:p>
        </p:txBody>
      </p:sp>
      <p:sp>
        <p:nvSpPr>
          <p:cNvPr id="9" name="Shape 7"/>
          <p:cNvSpPr/>
          <p:nvPr/>
        </p:nvSpPr>
        <p:spPr>
          <a:xfrm>
            <a:off x="4471416" y="1417320"/>
            <a:ext cx="3273552" cy="1024128"/>
          </a:xfrm>
          <a:prstGeom prst="roundRect">
            <a:avLst>
              <a:gd name="adj" fmla="val 10714"/>
            </a:avLst>
          </a:prstGeom>
          <a:solidFill>
            <a:srgbClr val="FFFFFF"/>
          </a:solidFill>
          <a:ln w="12700">
            <a:solidFill>
              <a:srgbClr val="FFFFFF">
                <a:alpha val="0"/>
              </a:srgbClr>
            </a:solidFill>
            <a:prstDash val="solid"/>
          </a:ln>
        </p:spPr>
      </p:sp>
      <p:sp>
        <p:nvSpPr>
          <p:cNvPr id="10" name="Text 8"/>
          <p:cNvSpPr txBox="1"/>
          <p:nvPr/>
        </p:nvSpPr>
        <p:spPr>
          <a:xfrm>
            <a:off x="4681728" y="1609344"/>
            <a:ext cx="274320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Case scope</a:t>
            </a:r>
            <a:endParaRPr lang="en-US" sz="1400" dirty="0"/>
          </a:p>
        </p:txBody>
      </p:sp>
      <p:sp>
        <p:nvSpPr>
          <p:cNvPr id="11" name="Text 9"/>
          <p:cNvSpPr txBox="1"/>
          <p:nvPr/>
        </p:nvSpPr>
        <p:spPr>
          <a:xfrm>
            <a:off x="4681728" y="1984248"/>
            <a:ext cx="2788920" cy="228600"/>
          </a:xfrm>
          <a:prstGeom prst="rect">
            <a:avLst/>
          </a:prstGeom>
          <a:noFill/>
          <a:ln/>
        </p:spPr>
        <p:txBody>
          <a:bodyPr wrap="square" lIns="0" tIns="0" rIns="0" bIns="0" rtlCol="0" anchor="t">
            <a:normAutofit/>
          </a:bodyPr>
          <a:lstStyle/>
          <a:p>
            <a:pPr algn="l" indent="0" marL="0">
              <a:buNone/>
            </a:pPr>
            <a:r>
              <a:rPr lang="en-US" sz="1070" dirty="0">
                <a:solidFill>
                  <a:srgbClr val="63738D"/>
                </a:solidFill>
                <a:latin typeface="Arial" pitchFamily="34" charset="0"/>
                <a:ea typeface="Arial" pitchFamily="34" charset="-122"/>
                <a:cs typeface="Arial" pitchFamily="34" charset="-120"/>
              </a:rPr>
              <a:t>Session keeps the active fictional case</a:t>
            </a:r>
            <a:endParaRPr lang="en-US" sz="1070" dirty="0"/>
          </a:p>
        </p:txBody>
      </p:sp>
      <p:sp>
        <p:nvSpPr>
          <p:cNvPr id="12" name="Shape 10"/>
          <p:cNvSpPr/>
          <p:nvPr/>
        </p:nvSpPr>
        <p:spPr>
          <a:xfrm>
            <a:off x="8247888" y="1417320"/>
            <a:ext cx="3273552" cy="1024128"/>
          </a:xfrm>
          <a:prstGeom prst="roundRect">
            <a:avLst>
              <a:gd name="adj" fmla="val 10714"/>
            </a:avLst>
          </a:prstGeom>
          <a:solidFill>
            <a:srgbClr val="FFFFFF"/>
          </a:solidFill>
          <a:ln w="12700">
            <a:solidFill>
              <a:srgbClr val="FFFFFF">
                <a:alpha val="0"/>
              </a:srgbClr>
            </a:solidFill>
            <a:prstDash val="solid"/>
          </a:ln>
        </p:spPr>
      </p:sp>
      <p:sp>
        <p:nvSpPr>
          <p:cNvPr id="13" name="Text 11"/>
          <p:cNvSpPr txBox="1"/>
          <p:nvPr/>
        </p:nvSpPr>
        <p:spPr>
          <a:xfrm>
            <a:off x="8458200" y="1609344"/>
            <a:ext cx="274320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SQLite</a:t>
            </a:r>
            <a:endParaRPr lang="en-US" sz="1400" dirty="0"/>
          </a:p>
        </p:txBody>
      </p:sp>
      <p:sp>
        <p:nvSpPr>
          <p:cNvPr id="14" name="Text 12"/>
          <p:cNvSpPr txBox="1"/>
          <p:nvPr/>
        </p:nvSpPr>
        <p:spPr>
          <a:xfrm>
            <a:off x="8458200" y="1984248"/>
            <a:ext cx="2788920" cy="228600"/>
          </a:xfrm>
          <a:prstGeom prst="rect">
            <a:avLst/>
          </a:prstGeom>
          <a:noFill/>
          <a:ln/>
        </p:spPr>
        <p:txBody>
          <a:bodyPr wrap="square" lIns="0" tIns="0" rIns="0" bIns="0" rtlCol="0" anchor="t">
            <a:normAutofit/>
          </a:bodyPr>
          <a:lstStyle/>
          <a:p>
            <a:pPr algn="l" indent="0" marL="0">
              <a:buNone/>
            </a:pPr>
            <a:r>
              <a:rPr lang="en-US" sz="1070" dirty="0">
                <a:solidFill>
                  <a:srgbClr val="63738D"/>
                </a:solidFill>
                <a:latin typeface="Arial" pitchFamily="34" charset="0"/>
                <a:ea typeface="Arial" pitchFamily="34" charset="-122"/>
                <a:cs typeface="Arial" pitchFamily="34" charset="-120"/>
              </a:rPr>
              <a:t>Alerts, sources, chunks, audit events</a:t>
            </a:r>
            <a:endParaRPr lang="en-US" sz="1070" dirty="0"/>
          </a:p>
        </p:txBody>
      </p:sp>
      <p:sp>
        <p:nvSpPr>
          <p:cNvPr id="15" name="Shape 13"/>
          <p:cNvSpPr/>
          <p:nvPr/>
        </p:nvSpPr>
        <p:spPr>
          <a:xfrm>
            <a:off x="694944" y="2990088"/>
            <a:ext cx="3273552" cy="1024128"/>
          </a:xfrm>
          <a:prstGeom prst="roundRect">
            <a:avLst>
              <a:gd name="adj" fmla="val 10714"/>
            </a:avLst>
          </a:prstGeom>
          <a:solidFill>
            <a:srgbClr val="E6F8F6"/>
          </a:solidFill>
          <a:ln w="12700">
            <a:solidFill>
              <a:srgbClr val="E6F8F6">
                <a:alpha val="0"/>
              </a:srgbClr>
            </a:solidFill>
            <a:prstDash val="solid"/>
          </a:ln>
        </p:spPr>
      </p:sp>
      <p:sp>
        <p:nvSpPr>
          <p:cNvPr id="16" name="Text 14"/>
          <p:cNvSpPr txBox="1"/>
          <p:nvPr/>
        </p:nvSpPr>
        <p:spPr>
          <a:xfrm>
            <a:off x="905256" y="3182112"/>
            <a:ext cx="2743200" cy="182880"/>
          </a:xfrm>
          <a:prstGeom prst="rect">
            <a:avLst/>
          </a:prstGeom>
          <a:noFill/>
          <a:ln/>
        </p:spPr>
        <p:txBody>
          <a:bodyPr wrap="square" lIns="0" tIns="0" rIns="0" bIns="0" rtlCol="0" anchor="ctr">
            <a:normAutofit/>
          </a:bodyPr>
          <a:lstStyle/>
          <a:p>
            <a:pPr algn="l" indent="0" marL="0">
              <a:buNone/>
            </a:pPr>
            <a:r>
              <a:rPr lang="en-US" sz="1400" b="1" dirty="0">
                <a:solidFill>
                  <a:srgbClr val="00A79D"/>
                </a:solidFill>
                <a:latin typeface="Arial" pitchFamily="34" charset="0"/>
                <a:ea typeface="Arial" pitchFamily="34" charset="-122"/>
                <a:cs typeface="Arial" pitchFamily="34" charset="-120"/>
              </a:rPr>
              <a:t>Checks</a:t>
            </a:r>
            <a:endParaRPr lang="en-US" sz="1400" dirty="0"/>
          </a:p>
        </p:txBody>
      </p:sp>
      <p:sp>
        <p:nvSpPr>
          <p:cNvPr id="17" name="Text 15"/>
          <p:cNvSpPr txBox="1"/>
          <p:nvPr/>
        </p:nvSpPr>
        <p:spPr>
          <a:xfrm>
            <a:off x="905256" y="3557016"/>
            <a:ext cx="2788920" cy="228600"/>
          </a:xfrm>
          <a:prstGeom prst="rect">
            <a:avLst/>
          </a:prstGeom>
          <a:noFill/>
          <a:ln/>
        </p:spPr>
        <p:txBody>
          <a:bodyPr wrap="square" lIns="0" tIns="0" rIns="0" bIns="0" rtlCol="0" anchor="t">
            <a:normAutofit/>
          </a:bodyPr>
          <a:lstStyle/>
          <a:p>
            <a:pPr algn="l" indent="0" marL="0">
              <a:buNone/>
            </a:pPr>
            <a:r>
              <a:rPr lang="en-US" sz="1070" dirty="0">
                <a:solidFill>
                  <a:srgbClr val="63738D"/>
                </a:solidFill>
                <a:latin typeface="Arial" pitchFamily="34" charset="0"/>
                <a:ea typeface="Arial" pitchFamily="34" charset="-122"/>
                <a:cs typeface="Arial" pitchFamily="34" charset="-120"/>
              </a:rPr>
              <a:t>Citations and deterministic confidence</a:t>
            </a:r>
            <a:endParaRPr lang="en-US" sz="1070" dirty="0"/>
          </a:p>
        </p:txBody>
      </p:sp>
      <p:sp>
        <p:nvSpPr>
          <p:cNvPr id="18" name="Shape 16"/>
          <p:cNvSpPr/>
          <p:nvPr/>
        </p:nvSpPr>
        <p:spPr>
          <a:xfrm>
            <a:off x="4471416" y="2990088"/>
            <a:ext cx="3273552" cy="1024128"/>
          </a:xfrm>
          <a:prstGeom prst="roundRect">
            <a:avLst>
              <a:gd name="adj" fmla="val 10714"/>
            </a:avLst>
          </a:prstGeom>
          <a:solidFill>
            <a:srgbClr val="FFFFFF"/>
          </a:solidFill>
          <a:ln w="12700">
            <a:solidFill>
              <a:srgbClr val="FFFFFF">
                <a:alpha val="0"/>
              </a:srgbClr>
            </a:solidFill>
            <a:prstDash val="solid"/>
          </a:ln>
        </p:spPr>
      </p:sp>
      <p:sp>
        <p:nvSpPr>
          <p:cNvPr id="19" name="Text 17"/>
          <p:cNvSpPr txBox="1"/>
          <p:nvPr/>
        </p:nvSpPr>
        <p:spPr>
          <a:xfrm>
            <a:off x="4681728" y="3182112"/>
            <a:ext cx="274320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Audit state</a:t>
            </a:r>
            <a:endParaRPr lang="en-US" sz="1400" dirty="0"/>
          </a:p>
        </p:txBody>
      </p:sp>
      <p:sp>
        <p:nvSpPr>
          <p:cNvPr id="20" name="Text 18"/>
          <p:cNvSpPr txBox="1"/>
          <p:nvPr/>
        </p:nvSpPr>
        <p:spPr>
          <a:xfrm>
            <a:off x="4681728" y="3557016"/>
            <a:ext cx="2788920" cy="228600"/>
          </a:xfrm>
          <a:prstGeom prst="rect">
            <a:avLst/>
          </a:prstGeom>
          <a:noFill/>
          <a:ln/>
        </p:spPr>
        <p:txBody>
          <a:bodyPr wrap="square" lIns="0" tIns="0" rIns="0" bIns="0" rtlCol="0" anchor="t">
            <a:normAutofit/>
          </a:bodyPr>
          <a:lstStyle/>
          <a:p>
            <a:pPr algn="l" indent="0" marL="0">
              <a:buNone/>
            </a:pPr>
            <a:r>
              <a:rPr lang="en-US" sz="1070" dirty="0">
                <a:solidFill>
                  <a:srgbClr val="63738D"/>
                </a:solidFill>
                <a:latin typeface="Arial" pitchFamily="34" charset="0"/>
                <a:ea typeface="Arial" pitchFamily="34" charset="-122"/>
                <a:cs typeface="Arial" pitchFamily="34" charset="-120"/>
              </a:rPr>
              <a:t>Named rationale becomes append-only record</a:t>
            </a:r>
            <a:endParaRPr lang="en-US" sz="1070" dirty="0"/>
          </a:p>
        </p:txBody>
      </p:sp>
      <p:sp>
        <p:nvSpPr>
          <p:cNvPr id="21" name="Shape 19"/>
          <p:cNvSpPr/>
          <p:nvPr/>
        </p:nvSpPr>
        <p:spPr>
          <a:xfrm>
            <a:off x="8247888" y="2990088"/>
            <a:ext cx="3273552" cy="1024128"/>
          </a:xfrm>
          <a:prstGeom prst="roundRect">
            <a:avLst>
              <a:gd name="adj" fmla="val 10714"/>
            </a:avLst>
          </a:prstGeom>
          <a:solidFill>
            <a:srgbClr val="FFFFFF"/>
          </a:solidFill>
          <a:ln w="12700">
            <a:solidFill>
              <a:srgbClr val="FFFFFF">
                <a:alpha val="0"/>
              </a:srgbClr>
            </a:solidFill>
            <a:prstDash val="solid"/>
          </a:ln>
        </p:spPr>
      </p:sp>
      <p:sp>
        <p:nvSpPr>
          <p:cNvPr id="22" name="Text 20"/>
          <p:cNvSpPr txBox="1"/>
          <p:nvPr/>
        </p:nvSpPr>
        <p:spPr>
          <a:xfrm>
            <a:off x="8458200" y="3182112"/>
            <a:ext cx="274320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Release</a:t>
            </a:r>
            <a:endParaRPr lang="en-US" sz="1400" dirty="0"/>
          </a:p>
        </p:txBody>
      </p:sp>
      <p:sp>
        <p:nvSpPr>
          <p:cNvPr id="23" name="Text 21"/>
          <p:cNvSpPr txBox="1"/>
          <p:nvPr/>
        </p:nvSpPr>
        <p:spPr>
          <a:xfrm>
            <a:off x="8458200" y="3557016"/>
            <a:ext cx="2788920" cy="228600"/>
          </a:xfrm>
          <a:prstGeom prst="rect">
            <a:avLst/>
          </a:prstGeom>
          <a:noFill/>
          <a:ln/>
        </p:spPr>
        <p:txBody>
          <a:bodyPr wrap="square" lIns="0" tIns="0" rIns="0" bIns="0" rtlCol="0" anchor="t">
            <a:normAutofit/>
          </a:bodyPr>
          <a:lstStyle/>
          <a:p>
            <a:pPr algn="l" indent="0" marL="0">
              <a:buNone/>
            </a:pPr>
            <a:r>
              <a:rPr lang="en-US" sz="1070" dirty="0">
                <a:solidFill>
                  <a:srgbClr val="63738D"/>
                </a:solidFill>
                <a:latin typeface="Arial" pitchFamily="34" charset="0"/>
                <a:ea typeface="Arial" pitchFamily="34" charset="-122"/>
                <a:cs typeface="Arial" pitchFamily="34" charset="-120"/>
              </a:rPr>
              <a:t>Local validation → GitHub main → Railway check</a:t>
            </a:r>
            <a:endParaRPr lang="en-US" sz="1070" dirty="0"/>
          </a:p>
        </p:txBody>
      </p:sp>
      <p:sp>
        <p:nvSpPr>
          <p:cNvPr id="24" name="Shape 22"/>
          <p:cNvSpPr/>
          <p:nvPr/>
        </p:nvSpPr>
        <p:spPr>
          <a:xfrm>
            <a:off x="804672" y="4983480"/>
            <a:ext cx="10570464" cy="502920"/>
          </a:xfrm>
          <a:prstGeom prst="roundRect">
            <a:avLst>
              <a:gd name="adj" fmla="val 21818"/>
            </a:avLst>
          </a:prstGeom>
          <a:solidFill>
            <a:srgbClr val="173C78"/>
          </a:solidFill>
          <a:ln w="12700">
            <a:solidFill>
              <a:srgbClr val="173C78">
                <a:alpha val="0"/>
              </a:srgbClr>
            </a:solidFill>
            <a:prstDash val="solid"/>
          </a:ln>
        </p:spPr>
      </p:sp>
      <p:sp>
        <p:nvSpPr>
          <p:cNvPr id="25" name="Text 23"/>
          <p:cNvSpPr txBox="1"/>
          <p:nvPr/>
        </p:nvSpPr>
        <p:spPr>
          <a:xfrm>
            <a:off x="987552" y="5157216"/>
            <a:ext cx="10204704" cy="146304"/>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route → active case → SQLite / FTS5 → cited report → append-only human audit event</a:t>
            </a:r>
            <a:endParaRPr lang="en-US" sz="130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LIVE DEMONSTRATION FLOW</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One case, read-only navigation, no decision submitted</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7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31520" y="1307592"/>
            <a:ext cx="10716768" cy="512064"/>
          </a:xfrm>
          <a:prstGeom prst="roundRect">
            <a:avLst>
              <a:gd name="adj" fmla="val 21429"/>
            </a:avLst>
          </a:prstGeom>
          <a:solidFill>
            <a:srgbClr val="102B51"/>
          </a:solidFill>
          <a:ln w="12700">
            <a:solidFill>
              <a:srgbClr val="102B51">
                <a:alpha val="0"/>
              </a:srgbClr>
            </a:solidFill>
            <a:prstDash val="solid"/>
          </a:ln>
        </p:spPr>
      </p:sp>
      <p:sp>
        <p:nvSpPr>
          <p:cNvPr id="7" name="Text 5"/>
          <p:cNvSpPr txBox="1"/>
          <p:nvPr/>
        </p:nvSpPr>
        <p:spPr>
          <a:xfrm>
            <a:off x="941832" y="1472184"/>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0:00–0:25</a:t>
            </a:r>
            <a:endParaRPr lang="en-US" sz="1150" dirty="0"/>
          </a:p>
        </p:txBody>
      </p:sp>
      <p:sp>
        <p:nvSpPr>
          <p:cNvPr id="8" name="Text 6"/>
          <p:cNvSpPr txBox="1"/>
          <p:nvPr/>
        </p:nvSpPr>
        <p:spPr>
          <a:xfrm>
            <a:off x="2148840" y="1472184"/>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Case Queue</a:t>
            </a:r>
            <a:endParaRPr lang="en-US" sz="1250" dirty="0"/>
          </a:p>
        </p:txBody>
      </p:sp>
      <p:sp>
        <p:nvSpPr>
          <p:cNvPr id="9" name="Text 7"/>
          <p:cNvSpPr txBox="1"/>
          <p:nvPr/>
        </p:nvSpPr>
        <p:spPr>
          <a:xfrm>
            <a:off x="4023360" y="1426464"/>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Filter or identify one open case; distinguish Status from Action.</a:t>
            </a:r>
            <a:endParaRPr lang="en-US" sz="1060" dirty="0"/>
          </a:p>
        </p:txBody>
      </p:sp>
      <p:sp>
        <p:nvSpPr>
          <p:cNvPr id="10" name="Shape 8"/>
          <p:cNvSpPr/>
          <p:nvPr/>
        </p:nvSpPr>
        <p:spPr>
          <a:xfrm>
            <a:off x="731520" y="2020824"/>
            <a:ext cx="10716768" cy="512064"/>
          </a:xfrm>
          <a:prstGeom prst="roundRect">
            <a:avLst>
              <a:gd name="adj" fmla="val 21429"/>
            </a:avLst>
          </a:prstGeom>
          <a:solidFill>
            <a:srgbClr val="102B51"/>
          </a:solidFill>
          <a:ln w="12700">
            <a:solidFill>
              <a:srgbClr val="102B51">
                <a:alpha val="0"/>
              </a:srgbClr>
            </a:solidFill>
            <a:prstDash val="solid"/>
          </a:ln>
        </p:spPr>
      </p:sp>
      <p:sp>
        <p:nvSpPr>
          <p:cNvPr id="11" name="Text 9"/>
          <p:cNvSpPr txBox="1"/>
          <p:nvPr/>
        </p:nvSpPr>
        <p:spPr>
          <a:xfrm>
            <a:off x="941832" y="2185416"/>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0:25–1:10</a:t>
            </a:r>
            <a:endParaRPr lang="en-US" sz="1150" dirty="0"/>
          </a:p>
        </p:txBody>
      </p:sp>
      <p:sp>
        <p:nvSpPr>
          <p:cNvPr id="12" name="Text 10"/>
          <p:cNvSpPr txBox="1"/>
          <p:nvPr/>
        </p:nvSpPr>
        <p:spPr>
          <a:xfrm>
            <a:off x="2148840" y="2185416"/>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Workspace</a:t>
            </a:r>
            <a:endParaRPr lang="en-US" sz="1250" dirty="0"/>
          </a:p>
        </p:txBody>
      </p:sp>
      <p:sp>
        <p:nvSpPr>
          <p:cNvPr id="13" name="Text 11"/>
          <p:cNvSpPr txBox="1"/>
          <p:nvPr/>
        </p:nvSpPr>
        <p:spPr>
          <a:xfrm>
            <a:off x="4023360" y="2139696"/>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it; show report mode, validator, and evidence-confidence boundary.</a:t>
            </a:r>
            <a:endParaRPr lang="en-US" sz="1060" dirty="0"/>
          </a:p>
        </p:txBody>
      </p:sp>
      <p:sp>
        <p:nvSpPr>
          <p:cNvPr id="14" name="Shape 12"/>
          <p:cNvSpPr/>
          <p:nvPr/>
        </p:nvSpPr>
        <p:spPr>
          <a:xfrm>
            <a:off x="731520" y="2734056"/>
            <a:ext cx="10716768" cy="512064"/>
          </a:xfrm>
          <a:prstGeom prst="roundRect">
            <a:avLst>
              <a:gd name="adj" fmla="val 21429"/>
            </a:avLst>
          </a:prstGeom>
          <a:solidFill>
            <a:srgbClr val="173C78"/>
          </a:solidFill>
          <a:ln w="12700">
            <a:solidFill>
              <a:srgbClr val="173C78">
                <a:alpha val="0"/>
              </a:srgbClr>
            </a:solidFill>
            <a:prstDash val="solid"/>
          </a:ln>
        </p:spPr>
      </p:sp>
      <p:sp>
        <p:nvSpPr>
          <p:cNvPr id="15" name="Text 13"/>
          <p:cNvSpPr txBox="1"/>
          <p:nvPr/>
        </p:nvSpPr>
        <p:spPr>
          <a:xfrm>
            <a:off x="941832" y="2898648"/>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1:10–2:10</a:t>
            </a:r>
            <a:endParaRPr lang="en-US" sz="1150" dirty="0"/>
          </a:p>
        </p:txBody>
      </p:sp>
      <p:sp>
        <p:nvSpPr>
          <p:cNvPr id="16" name="Text 14"/>
          <p:cNvSpPr txBox="1"/>
          <p:nvPr/>
        </p:nvSpPr>
        <p:spPr>
          <a:xfrm>
            <a:off x="2148840" y="2898648"/>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Evidence &amp; RAG</a:t>
            </a:r>
            <a:endParaRPr lang="en-US" sz="1250" dirty="0"/>
          </a:p>
        </p:txBody>
      </p:sp>
      <p:sp>
        <p:nvSpPr>
          <p:cNvPr id="17" name="Text 15"/>
          <p:cNvSpPr txBox="1"/>
          <p:nvPr/>
        </p:nvSpPr>
        <p:spPr>
          <a:xfrm>
            <a:off x="4023360" y="2852928"/>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Source &amp; chunks; trace one chunk and run one keyword search.</a:t>
            </a:r>
            <a:endParaRPr lang="en-US" sz="1060" dirty="0"/>
          </a:p>
        </p:txBody>
      </p:sp>
      <p:sp>
        <p:nvSpPr>
          <p:cNvPr id="18" name="Shape 16"/>
          <p:cNvSpPr/>
          <p:nvPr/>
        </p:nvSpPr>
        <p:spPr>
          <a:xfrm>
            <a:off x="731520" y="3447288"/>
            <a:ext cx="10716768" cy="512064"/>
          </a:xfrm>
          <a:prstGeom prst="roundRect">
            <a:avLst>
              <a:gd name="adj" fmla="val 21429"/>
            </a:avLst>
          </a:prstGeom>
          <a:solidFill>
            <a:srgbClr val="102B51"/>
          </a:solidFill>
          <a:ln w="12700">
            <a:solidFill>
              <a:srgbClr val="102B51">
                <a:alpha val="0"/>
              </a:srgbClr>
            </a:solidFill>
            <a:prstDash val="solid"/>
          </a:ln>
        </p:spPr>
      </p:sp>
      <p:sp>
        <p:nvSpPr>
          <p:cNvPr id="19" name="Text 17"/>
          <p:cNvSpPr txBox="1"/>
          <p:nvPr/>
        </p:nvSpPr>
        <p:spPr>
          <a:xfrm>
            <a:off x="941832" y="3611880"/>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2:10–2:55</a:t>
            </a:r>
            <a:endParaRPr lang="en-US" sz="1150" dirty="0"/>
          </a:p>
        </p:txBody>
      </p:sp>
      <p:sp>
        <p:nvSpPr>
          <p:cNvPr id="20" name="Text 18"/>
          <p:cNvSpPr txBox="1"/>
          <p:nvPr/>
        </p:nvSpPr>
        <p:spPr>
          <a:xfrm>
            <a:off x="2148840" y="3611880"/>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Copilot</a:t>
            </a:r>
            <a:endParaRPr lang="en-US" sz="1250" dirty="0"/>
          </a:p>
        </p:txBody>
      </p:sp>
      <p:sp>
        <p:nvSpPr>
          <p:cNvPr id="21" name="Text 19"/>
          <p:cNvSpPr txBox="1"/>
          <p:nvPr/>
        </p:nvSpPr>
        <p:spPr>
          <a:xfrm>
            <a:off x="4023360" y="3566160"/>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Ask one bounded case question; point to citations and limitations.</a:t>
            </a:r>
            <a:endParaRPr lang="en-US" sz="1060" dirty="0"/>
          </a:p>
        </p:txBody>
      </p:sp>
      <p:sp>
        <p:nvSpPr>
          <p:cNvPr id="22" name="Shape 20"/>
          <p:cNvSpPr/>
          <p:nvPr/>
        </p:nvSpPr>
        <p:spPr>
          <a:xfrm>
            <a:off x="731520" y="4160520"/>
            <a:ext cx="10716768" cy="512064"/>
          </a:xfrm>
          <a:prstGeom prst="roundRect">
            <a:avLst>
              <a:gd name="adj" fmla="val 21429"/>
            </a:avLst>
          </a:prstGeom>
          <a:solidFill>
            <a:srgbClr val="102B51"/>
          </a:solidFill>
          <a:ln w="12700">
            <a:solidFill>
              <a:srgbClr val="102B51">
                <a:alpha val="0"/>
              </a:srgbClr>
            </a:solidFill>
            <a:prstDash val="solid"/>
          </a:ln>
        </p:spPr>
      </p:sp>
      <p:sp>
        <p:nvSpPr>
          <p:cNvPr id="23" name="Text 21"/>
          <p:cNvSpPr txBox="1"/>
          <p:nvPr/>
        </p:nvSpPr>
        <p:spPr>
          <a:xfrm>
            <a:off x="941832" y="4325112"/>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2:55–3:40</a:t>
            </a:r>
            <a:endParaRPr lang="en-US" sz="1150" dirty="0"/>
          </a:p>
        </p:txBody>
      </p:sp>
      <p:sp>
        <p:nvSpPr>
          <p:cNvPr id="24" name="Text 22"/>
          <p:cNvSpPr txBox="1"/>
          <p:nvPr/>
        </p:nvSpPr>
        <p:spPr>
          <a:xfrm>
            <a:off x="2148840" y="4325112"/>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Human / Compliance</a:t>
            </a:r>
            <a:endParaRPr lang="en-US" sz="1250" dirty="0"/>
          </a:p>
        </p:txBody>
      </p:sp>
      <p:sp>
        <p:nvSpPr>
          <p:cNvPr id="25" name="Text 23"/>
          <p:cNvSpPr txBox="1"/>
          <p:nvPr/>
        </p:nvSpPr>
        <p:spPr>
          <a:xfrm>
            <a:off x="4023360" y="4279392"/>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Show required rationale and recorded-state behavior without submitting.</a:t>
            </a:r>
            <a:endParaRPr lang="en-US" sz="1060" dirty="0"/>
          </a:p>
        </p:txBody>
      </p:sp>
      <p:sp>
        <p:nvSpPr>
          <p:cNvPr id="26" name="Shape 24"/>
          <p:cNvSpPr/>
          <p:nvPr/>
        </p:nvSpPr>
        <p:spPr>
          <a:xfrm>
            <a:off x="731520" y="4873752"/>
            <a:ext cx="10716768" cy="512064"/>
          </a:xfrm>
          <a:prstGeom prst="roundRect">
            <a:avLst>
              <a:gd name="adj" fmla="val 21429"/>
            </a:avLst>
          </a:prstGeom>
          <a:solidFill>
            <a:srgbClr val="102B51"/>
          </a:solidFill>
          <a:ln w="12700">
            <a:solidFill>
              <a:srgbClr val="102B51">
                <a:alpha val="0"/>
              </a:srgbClr>
            </a:solidFill>
            <a:prstDash val="solid"/>
          </a:ln>
        </p:spPr>
      </p:sp>
      <p:sp>
        <p:nvSpPr>
          <p:cNvPr id="27" name="Text 25"/>
          <p:cNvSpPr txBox="1"/>
          <p:nvPr/>
        </p:nvSpPr>
        <p:spPr>
          <a:xfrm>
            <a:off x="941832" y="5038344"/>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3:40–4:50</a:t>
            </a:r>
            <a:endParaRPr lang="en-US" sz="1150" dirty="0"/>
          </a:p>
        </p:txBody>
      </p:sp>
      <p:sp>
        <p:nvSpPr>
          <p:cNvPr id="28" name="Text 26"/>
          <p:cNvSpPr txBox="1"/>
          <p:nvPr/>
        </p:nvSpPr>
        <p:spPr>
          <a:xfrm>
            <a:off x="2148840" y="5038344"/>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Analytics / Search</a:t>
            </a:r>
            <a:endParaRPr lang="en-US" sz="1250" dirty="0"/>
          </a:p>
        </p:txBody>
      </p:sp>
      <p:sp>
        <p:nvSpPr>
          <p:cNvPr id="29" name="Text 27"/>
          <p:cNvSpPr txBox="1"/>
          <p:nvPr/>
        </p:nvSpPr>
        <p:spPr>
          <a:xfrm>
            <a:off x="4023360" y="4992624"/>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Read one chart axis; use search to return to related case context.</a:t>
            </a:r>
            <a:endParaRPr lang="en-US" sz="106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VALUE REALIZATION AND ROADMAP</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Measure the benefit before claiming ROI</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8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417320"/>
            <a:ext cx="5001768" cy="749808"/>
          </a:xfrm>
          <a:prstGeom prst="roundRect">
            <a:avLst>
              <a:gd name="adj" fmla="val 14634"/>
            </a:avLst>
          </a:prstGeom>
          <a:solidFill>
            <a:srgbClr val="FFFFFF"/>
          </a:solidFill>
          <a:ln w="12700">
            <a:solidFill>
              <a:srgbClr val="FFFFFF">
                <a:alpha val="0"/>
              </a:srgbClr>
            </a:solidFill>
            <a:prstDash val="solid"/>
          </a:ln>
        </p:spPr>
      </p:sp>
      <p:sp>
        <p:nvSpPr>
          <p:cNvPr id="7" name="Text 5"/>
          <p:cNvSpPr txBox="1"/>
          <p:nvPr/>
        </p:nvSpPr>
        <p:spPr>
          <a:xfrm>
            <a:off x="950976" y="158191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Efficiency</a:t>
            </a:r>
            <a:endParaRPr lang="en-US" sz="1300" dirty="0"/>
          </a:p>
        </p:txBody>
      </p:sp>
      <p:sp>
        <p:nvSpPr>
          <p:cNvPr id="8" name="Text 6"/>
          <p:cNvSpPr txBox="1"/>
          <p:nvPr/>
        </p:nvSpPr>
        <p:spPr>
          <a:xfrm>
            <a:off x="2139696" y="154533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Verified minutes saved locating case records and source passages</a:t>
            </a:r>
            <a:endParaRPr lang="en-US" sz="1050" dirty="0"/>
          </a:p>
        </p:txBody>
      </p:sp>
      <p:sp>
        <p:nvSpPr>
          <p:cNvPr id="9" name="Shape 7"/>
          <p:cNvSpPr/>
          <p:nvPr/>
        </p:nvSpPr>
        <p:spPr>
          <a:xfrm>
            <a:off x="6254496" y="1417320"/>
            <a:ext cx="5001768" cy="749808"/>
          </a:xfrm>
          <a:prstGeom prst="roundRect">
            <a:avLst>
              <a:gd name="adj" fmla="val 14634"/>
            </a:avLst>
          </a:prstGeom>
          <a:solidFill>
            <a:srgbClr val="FFFFFF"/>
          </a:solidFill>
          <a:ln w="12700">
            <a:solidFill>
              <a:srgbClr val="FFFFFF">
                <a:alpha val="0"/>
              </a:srgbClr>
            </a:solidFill>
            <a:prstDash val="solid"/>
          </a:ln>
        </p:spPr>
      </p:sp>
      <p:sp>
        <p:nvSpPr>
          <p:cNvPr id="10" name="Text 8"/>
          <p:cNvSpPr txBox="1"/>
          <p:nvPr/>
        </p:nvSpPr>
        <p:spPr>
          <a:xfrm>
            <a:off x="6455664" y="158191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Rework</a:t>
            </a:r>
            <a:endParaRPr lang="en-US" sz="1300" dirty="0"/>
          </a:p>
        </p:txBody>
      </p:sp>
      <p:sp>
        <p:nvSpPr>
          <p:cNvPr id="11" name="Text 9"/>
          <p:cNvSpPr txBox="1"/>
          <p:nvPr/>
        </p:nvSpPr>
        <p:spPr>
          <a:xfrm>
            <a:off x="7644384" y="154533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Avoided evidence requests and Compliance returns</a:t>
            </a:r>
            <a:endParaRPr lang="en-US" sz="1050" dirty="0"/>
          </a:p>
        </p:txBody>
      </p:sp>
      <p:sp>
        <p:nvSpPr>
          <p:cNvPr id="12" name="Shape 10"/>
          <p:cNvSpPr/>
          <p:nvPr/>
        </p:nvSpPr>
        <p:spPr>
          <a:xfrm>
            <a:off x="749808" y="2423160"/>
            <a:ext cx="5001768" cy="749808"/>
          </a:xfrm>
          <a:prstGeom prst="roundRect">
            <a:avLst>
              <a:gd name="adj" fmla="val 14634"/>
            </a:avLst>
          </a:prstGeom>
          <a:solidFill>
            <a:srgbClr val="FFFFFF"/>
          </a:solidFill>
          <a:ln w="12700">
            <a:solidFill>
              <a:srgbClr val="FFFFFF">
                <a:alpha val="0"/>
              </a:srgbClr>
            </a:solidFill>
            <a:prstDash val="solid"/>
          </a:ln>
        </p:spPr>
      </p:sp>
      <p:sp>
        <p:nvSpPr>
          <p:cNvPr id="13" name="Text 11"/>
          <p:cNvSpPr txBox="1"/>
          <p:nvPr/>
        </p:nvSpPr>
        <p:spPr>
          <a:xfrm>
            <a:off x="950976" y="258775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Audit readiness</a:t>
            </a:r>
            <a:endParaRPr lang="en-US" sz="1300" dirty="0"/>
          </a:p>
        </p:txBody>
      </p:sp>
      <p:sp>
        <p:nvSpPr>
          <p:cNvPr id="14" name="Text 12"/>
          <p:cNvSpPr txBox="1"/>
          <p:nvPr/>
        </p:nvSpPr>
        <p:spPr>
          <a:xfrm>
            <a:off x="2139696" y="255117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Time to reconstruct evidence, rationale, and outcome</a:t>
            </a:r>
            <a:endParaRPr lang="en-US" sz="1050" dirty="0"/>
          </a:p>
        </p:txBody>
      </p:sp>
      <p:sp>
        <p:nvSpPr>
          <p:cNvPr id="15" name="Shape 13"/>
          <p:cNvSpPr/>
          <p:nvPr/>
        </p:nvSpPr>
        <p:spPr>
          <a:xfrm>
            <a:off x="6254496" y="2423160"/>
            <a:ext cx="5001768" cy="749808"/>
          </a:xfrm>
          <a:prstGeom prst="roundRect">
            <a:avLst>
              <a:gd name="adj" fmla="val 14634"/>
            </a:avLst>
          </a:prstGeom>
          <a:solidFill>
            <a:srgbClr val="E6F8F6"/>
          </a:solidFill>
          <a:ln w="12700">
            <a:solidFill>
              <a:srgbClr val="E6F8F6">
                <a:alpha val="0"/>
              </a:srgbClr>
            </a:solidFill>
            <a:prstDash val="solid"/>
          </a:ln>
        </p:spPr>
      </p:sp>
      <p:sp>
        <p:nvSpPr>
          <p:cNvPr id="16" name="Text 14"/>
          <p:cNvSpPr txBox="1"/>
          <p:nvPr/>
        </p:nvSpPr>
        <p:spPr>
          <a:xfrm>
            <a:off x="6455664" y="258775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00A79D"/>
                </a:solidFill>
                <a:latin typeface="Arial" pitchFamily="34" charset="0"/>
                <a:ea typeface="Arial" pitchFamily="34" charset="-122"/>
                <a:cs typeface="Arial" pitchFamily="34" charset="-120"/>
              </a:rPr>
              <a:t>Safety</a:t>
            </a:r>
            <a:endParaRPr lang="en-US" sz="1300" dirty="0"/>
          </a:p>
        </p:txBody>
      </p:sp>
      <p:sp>
        <p:nvSpPr>
          <p:cNvPr id="17" name="Text 15"/>
          <p:cNvSpPr txBox="1"/>
          <p:nvPr/>
        </p:nvSpPr>
        <p:spPr>
          <a:xfrm>
            <a:off x="7644384" y="255117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Unsupported claims, broken citations, unclear states found in review</a:t>
            </a:r>
            <a:endParaRPr lang="en-US" sz="1050" dirty="0"/>
          </a:p>
        </p:txBody>
      </p:sp>
      <p:sp>
        <p:nvSpPr>
          <p:cNvPr id="18" name="Shape 16"/>
          <p:cNvSpPr/>
          <p:nvPr/>
        </p:nvSpPr>
        <p:spPr>
          <a:xfrm>
            <a:off x="749808" y="3904488"/>
            <a:ext cx="10497312" cy="493776"/>
          </a:xfrm>
          <a:prstGeom prst="roundRect">
            <a:avLst>
              <a:gd name="adj" fmla="val 22222"/>
            </a:avLst>
          </a:prstGeom>
          <a:solidFill>
            <a:srgbClr val="173C78"/>
          </a:solidFill>
          <a:ln w="12700">
            <a:solidFill>
              <a:srgbClr val="173C78">
                <a:alpha val="0"/>
              </a:srgbClr>
            </a:solidFill>
            <a:prstDash val="solid"/>
          </a:ln>
        </p:spPr>
      </p:sp>
      <p:sp>
        <p:nvSpPr>
          <p:cNvPr id="19" name="Text 17"/>
          <p:cNvSpPr txBox="1"/>
          <p:nvPr/>
        </p:nvSpPr>
        <p:spPr>
          <a:xfrm>
            <a:off x="950976" y="4078224"/>
            <a:ext cx="10104120" cy="146304"/>
          </a:xfrm>
          <a:prstGeom prst="rect">
            <a:avLst/>
          </a:prstGeom>
          <a:noFill/>
          <a:ln/>
        </p:spPr>
        <p:txBody>
          <a:bodyPr wrap="square" lIns="0" tIns="0" rIns="0" bIns="0" rtlCol="0" anchor="ctr">
            <a:normAutofit/>
          </a:bodyPr>
          <a:lstStyle/>
          <a:p>
            <a:pPr algn="ctr" indent="0" marL="0">
              <a:buNone/>
            </a:pPr>
            <a:r>
              <a:rPr lang="en-US" sz="1250" b="1" dirty="0">
                <a:solidFill>
                  <a:srgbClr val="FFFFFF"/>
                </a:solidFill>
                <a:latin typeface="Arial" pitchFamily="34" charset="0"/>
                <a:ea typeface="Arial" pitchFamily="34" charset="-122"/>
                <a:cs typeface="Arial" pitchFamily="34" charset="-120"/>
              </a:rPr>
              <a:t>ROI % = (verified annual benefit − implementation and run cost) ÷ implementation and run cost × 100</a:t>
            </a:r>
            <a:endParaRPr lang="en-US" sz="1250" dirty="0"/>
          </a:p>
        </p:txBody>
      </p:sp>
      <p:sp>
        <p:nvSpPr>
          <p:cNvPr id="20" name="Text 18"/>
          <p:cNvSpPr txBox="1"/>
          <p:nvPr/>
        </p:nvSpPr>
        <p:spPr>
          <a:xfrm>
            <a:off x="841248" y="4892040"/>
            <a:ext cx="10405872" cy="329184"/>
          </a:xfrm>
          <a:prstGeom prst="rect">
            <a:avLst/>
          </a:prstGeom>
          <a:noFill/>
          <a:ln/>
        </p:spPr>
        <p:txBody>
          <a:bodyPr wrap="square" lIns="0" tIns="0" rIns="0" bIns="0" rtlCol="0" anchor="ctr">
            <a:normAutofit/>
          </a:bodyPr>
          <a:lstStyle/>
          <a:p>
            <a:pPr algn="ctr" indent="0" marL="0">
              <a:buNone/>
            </a:pPr>
            <a:r>
              <a:rPr lang="en-US" sz="1500" b="1" dirty="0">
                <a:solidFill>
                  <a:srgbClr val="0B1F3A"/>
                </a:solidFill>
                <a:latin typeface="Arial" pitchFamily="34" charset="0"/>
                <a:ea typeface="Arial" pitchFamily="34" charset="-122"/>
                <a:cs typeface="Arial" pitchFamily="34" charset="-120"/>
              </a:rPr>
              <a:t>Roadmap: test fixtures + citation evaluation  →  authentication + lineage versioning  →  governed ingestion + approved integrations</a:t>
            </a:r>
            <a:endParaRPr lang="en-US" sz="1500" dirty="0"/>
          </a:p>
        </p:txBody>
      </p:sp>
      <p:sp>
        <p:nvSpPr>
          <p:cNvPr id="21" name="Text 19"/>
          <p:cNvSpPr txBox="1"/>
          <p:nvPr/>
        </p:nvSpPr>
        <p:spPr>
          <a:xfrm>
            <a:off x="841248" y="5367528"/>
            <a:ext cx="10405872" cy="164592"/>
          </a:xfrm>
          <a:prstGeom prst="rect">
            <a:avLst/>
          </a:prstGeom>
          <a:noFill/>
          <a:ln/>
        </p:spPr>
        <p:txBody>
          <a:bodyPr wrap="square" lIns="0" tIns="0" rIns="0" bIns="0" rtlCol="0" anchor="ctr">
            <a:normAutofit/>
          </a:bodyPr>
          <a:lstStyle/>
          <a:p>
            <a:pPr algn="ctr" indent="0" marL="0">
              <a:buNone/>
            </a:pPr>
            <a:r>
              <a:rPr lang="en-US" sz="1100" i="1" dirty="0">
                <a:solidFill>
                  <a:srgbClr val="63738D"/>
                </a:solidFill>
                <a:latin typeface="Arial" pitchFamily="34" charset="0"/>
                <a:ea typeface="Arial" pitchFamily="34" charset="-122"/>
                <a:cs typeface="Arial" pitchFamily="34" charset="-120"/>
              </a:rPr>
              <a:t>Planning model only: calculate ROI only after a baseline, approved cost boundary, and verified pilot outcomes.</a:t>
            </a:r>
            <a:endParaRPr lang="en-US" sz="11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CLOSING</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Trace the evidence. Own the decision.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9 of 9</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409944" y="1133856"/>
            <a:ext cx="5193792" cy="2953512"/>
          </a:xfrm>
          <a:prstGeom prst="roundRect">
            <a:avLst>
              <a:gd name="adj" fmla="val 3715"/>
            </a:avLst>
          </a:prstGeom>
          <a:solidFill>
            <a:srgbClr val="D9E7FC"/>
          </a:solidFill>
          <a:ln w="12700">
            <a:solidFill>
              <a:srgbClr val="D9E7FC">
                <a:alpha val="0"/>
              </a:srgbClr>
            </a:solidFill>
            <a:prstDash val="solid"/>
          </a:ln>
        </p:spPr>
      </p:sp>
      <p:pic>
        <p:nvPicPr>
          <p:cNvPr id="7" name="Image 0" descr="C:\D\IIT Mumbai\Capstone Blueprint\assets\walkthrough_screens\2026_workspace_current_report.png">    </p:cNvPr>
          <p:cNvPicPr>
            <a:picLocks noChangeAspect="1"/>
          </p:cNvPicPr>
          <p:nvPr/>
        </p:nvPicPr>
        <p:blipFill>
          <a:blip r:embed="rId1"/>
          <a:stretch>
            <a:fillRect/>
          </a:stretch>
        </p:blipFill>
        <p:spPr>
          <a:xfrm>
            <a:off x="6446520" y="1170432"/>
            <a:ext cx="5120640" cy="2880360"/>
          </a:xfrm>
          <a:prstGeom prst="rect">
            <a:avLst/>
          </a:prstGeom>
        </p:spPr>
      </p:pic>
      <p:sp>
        <p:nvSpPr>
          <p:cNvPr id="8" name="Text 5"/>
          <p:cNvSpPr txBox="1"/>
          <p:nvPr/>
        </p:nvSpPr>
        <p:spPr>
          <a:xfrm>
            <a:off x="777240" y="157276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Traceable evidence</a:t>
            </a:r>
            <a:endParaRPr lang="en-US" sz="1600" dirty="0"/>
          </a:p>
        </p:txBody>
      </p:sp>
      <p:sp>
        <p:nvSpPr>
          <p:cNvPr id="9" name="Text 6"/>
          <p:cNvSpPr txBox="1"/>
          <p:nvPr/>
        </p:nvSpPr>
        <p:spPr>
          <a:xfrm>
            <a:off x="777240" y="190195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Records, chunks, citations, and visible gaps</a:t>
            </a:r>
            <a:endParaRPr lang="en-US" sz="1150" dirty="0"/>
          </a:p>
        </p:txBody>
      </p:sp>
      <p:sp>
        <p:nvSpPr>
          <p:cNvPr id="10" name="Text 7"/>
          <p:cNvSpPr txBox="1"/>
          <p:nvPr/>
        </p:nvSpPr>
        <p:spPr>
          <a:xfrm>
            <a:off x="777240" y="244144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78DCD4"/>
                </a:solidFill>
                <a:latin typeface="Arial" pitchFamily="34" charset="0"/>
                <a:ea typeface="Arial" pitchFamily="34" charset="-122"/>
                <a:cs typeface="Arial" pitchFamily="34" charset="-120"/>
              </a:rPr>
              <a:t>Responsible AI</a:t>
            </a:r>
            <a:endParaRPr lang="en-US" sz="1600" dirty="0"/>
          </a:p>
        </p:txBody>
      </p:sp>
      <p:sp>
        <p:nvSpPr>
          <p:cNvPr id="11" name="Text 8"/>
          <p:cNvSpPr txBox="1"/>
          <p:nvPr/>
        </p:nvSpPr>
        <p:spPr>
          <a:xfrm>
            <a:off x="777240" y="277063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Confidence limitations, not automated judgement</a:t>
            </a:r>
            <a:endParaRPr lang="en-US" sz="1150" dirty="0"/>
          </a:p>
        </p:txBody>
      </p:sp>
      <p:sp>
        <p:nvSpPr>
          <p:cNvPr id="12" name="Text 9"/>
          <p:cNvSpPr txBox="1"/>
          <p:nvPr/>
        </p:nvSpPr>
        <p:spPr>
          <a:xfrm>
            <a:off x="777240" y="331012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Human accountability</a:t>
            </a:r>
            <a:endParaRPr lang="en-US" sz="1600" dirty="0"/>
          </a:p>
        </p:txBody>
      </p:sp>
      <p:sp>
        <p:nvSpPr>
          <p:cNvPr id="13" name="Text 10"/>
          <p:cNvSpPr txBox="1"/>
          <p:nvPr/>
        </p:nvSpPr>
        <p:spPr>
          <a:xfrm>
            <a:off x="777240" y="363931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Named rationale and separate Compliance review</a:t>
            </a:r>
            <a:endParaRPr lang="en-US" sz="1150" dirty="0"/>
          </a:p>
        </p:txBody>
      </p:sp>
      <p:sp>
        <p:nvSpPr>
          <p:cNvPr id="14" name="Text 11"/>
          <p:cNvSpPr txBox="1"/>
          <p:nvPr/>
        </p:nvSpPr>
        <p:spPr>
          <a:xfrm>
            <a:off x="777240" y="5074920"/>
            <a:ext cx="5074920" cy="320040"/>
          </a:xfrm>
          <a:prstGeom prst="rect">
            <a:avLst/>
          </a:prstGeom>
          <a:noFill/>
          <a:ln/>
        </p:spPr>
        <p:txBody>
          <a:bodyPr wrap="square" lIns="0" tIns="0" rIns="0" bIns="0" rtlCol="0" anchor="t">
            <a:normAutofit/>
          </a:bodyPr>
          <a:lstStyle/>
          <a:p>
            <a:pPr algn="l" indent="0" marL="0">
              <a:buNone/>
            </a:pPr>
            <a:r>
              <a:rPr lang="en-US" sz="1800" b="1" dirty="0">
                <a:solidFill>
                  <a:srgbClr val="78DCD4"/>
                </a:solidFill>
                <a:latin typeface="Arial" pitchFamily="34" charset="0"/>
                <a:ea typeface="Arial" pitchFamily="34" charset="-122"/>
                <a:cs typeface="Arial" pitchFamily="34" charset="-120"/>
              </a:rPr>
              <a:t>We will now show the same path live, using one fictional case.</a:t>
            </a:r>
            <a:endParaRPr lang="en-US" sz="1800" dirty="0"/>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IIT Bombay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InvestigateIQ: concise product presentation and live demo</dc:title>
  <dc:subject>InvestigateIQ concise product presentation</dc:subject>
  <dc:creator>Capstone Group 7</dc:creator>
  <cp:lastModifiedBy>Capstone Group 7</cp:lastModifiedBy>
  <cp:revision>1</cp:revision>
  <dcterms:created xsi:type="dcterms:W3CDTF">2026-10-09T17:28:01Z</dcterms:created>
  <dcterms:modified xsi:type="dcterms:W3CDTF">2026-10-09T17:28:01Z</dcterms:modified>
</cp:coreProperties>
</file>